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70" Type="http://schemas.openxmlformats.org/officeDocument/2006/relationships/viewProps" Target="viewProps.xml" /><Relationship Id="rId69" Type="http://schemas.openxmlformats.org/officeDocument/2006/relationships/presProps" Target="presProps.xml" /><Relationship Id="rId1" Type="http://schemas.openxmlformats.org/officeDocument/2006/relationships/slideMaster" Target="slideMasters/slideMaster1.xml" /><Relationship Id="rId72" Type="http://schemas.openxmlformats.org/officeDocument/2006/relationships/tableStyles" Target="tableStyles.xml" /><Relationship Id="rId7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4.png" /><Relationship Id="rId2" Type="http://schemas.openxmlformats.org/officeDocument/2006/relationships/image" Target="../media/image13.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6.png" /><Relationship Id="rId2" Type="http://schemas.openxmlformats.org/officeDocument/2006/relationships/image" Target="../media/image1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Deciding the estimand before outcomes</a:t>
            </a:r>
            <a:br/>
            <a:br/>
            <a:r>
              <a:rPr/>
              <a:t>Andrew Mertens</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 this package works on</a:t>
            </a:r>
          </a:p>
        </p:txBody>
      </p:sp>
      <p:sp>
        <p:nvSpPr>
          <p:cNvPr id="3" name="Content Placeholder 2"/>
          <p:cNvSpPr>
            <a:spLocks noGrp="1"/>
          </p:cNvSpPr>
          <p:nvPr>
            <p:ph idx="1"/>
          </p:nvPr>
        </p:nvSpPr>
        <p:spPr/>
        <p:txBody>
          <a:bodyPr/>
          <a:lstStyle/>
          <a:p>
            <a:pPr lvl="0" indent="0" marL="0">
              <a:buNone/>
            </a:pPr>
            <a:r>
              <a:rPr/>
              <a:t>Two failures poison comparative analyses of routine health data. The first is analyst degrees of freedom: when the person choosing the model can see how each choice moves the answer, the estimate carries those peeks. The second is quieter and worse. Some comparisons are not estimable at all, and the estimator does not say so.</a:t>
            </a:r>
          </a:p>
          <a:p>
            <a:pPr lvl="0" indent="0" marL="0">
              <a:buNone/>
            </a:pPr>
            <a:r>
              <a:rPr/>
              <a:t>A clean-room design fixes the first. cleanTMLE also answers the second, during the blind phase: is this comparison estimable, and with which estimand?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talk</a:t>
            </a:r>
          </a:p>
        </p:txBody>
      </p:sp>
      <p:sp>
        <p:nvSpPr>
          <p:cNvPr id="3" name="Content Placeholder 2"/>
          <p:cNvSpPr>
            <a:spLocks noGrp="1"/>
          </p:cNvSpPr>
          <p:nvPr>
            <p:ph idx="1"/>
          </p:nvPr>
        </p:nvSpPr>
        <p:spPr/>
        <p:txBody>
          <a:bodyPr/>
          <a:lstStyle/>
          <a:p>
            <a:pPr lvl="0" indent="-342900" marL="342900">
              <a:buAutoNum type="arabicPeriod"/>
            </a:pPr>
            <a:r>
              <a:rPr/>
              <a:t>The two failures, and a real analysis that fell into the second one.</a:t>
            </a:r>
          </a:p>
          <a:p>
            <a:pPr lvl="0" indent="-342900" marL="342900">
              <a:buAutoNum type="arabicPeriod"/>
            </a:pPr>
            <a:r>
              <a:rPr/>
              <a:t>The design stage, in five verbs.</a:t>
            </a:r>
          </a:p>
          <a:p>
            <a:pPr lvl="0" indent="-342900" marL="342900">
              <a:buAutoNum type="arabicPeriod"/>
            </a:pPr>
            <a:r>
              <a:rPr/>
              <a:t>What the simulations showed.</a:t>
            </a:r>
          </a:p>
          <a:p>
            <a:pPr lvl="0" indent="-342900" marL="342900">
              <a:buAutoNum type="arabicPeriod"/>
            </a:pPr>
            <a:r>
              <a:rPr/>
              <a:t>Five ambulance-transport contrasts in Nairobi, and what the design stage refused to estimate.</a:t>
            </a:r>
          </a:p>
          <a:p>
            <a:pPr lvl="0" indent="-342900" marL="342900">
              <a:buAutoNum type="arabicPeriod"/>
            </a:pPr>
            <a:r>
              <a:rPr/>
              <a:t>Where this sits among existing tools.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Peeking</a:t>
            </a:r>
          </a:p>
        </p:txBody>
      </p:sp>
      <p:sp>
        <p:nvSpPr>
          <p:cNvPr id="3" name="Content Placeholder 2"/>
          <p:cNvSpPr>
            <a:spLocks noGrp="1"/>
          </p:cNvSpPr>
          <p:nvPr>
            <p:ph idx="1"/>
          </p:nvPr>
        </p:nvSpPr>
        <p:spPr/>
        <p:txBody>
          <a:bodyPr/>
          <a:lstStyle/>
          <a:p>
            <a:pPr lvl="0" indent="0" marL="0">
              <a:buNone/>
            </a:pPr>
            <a:r>
              <a:rPr/>
              <a:t>Even with a written analysis plan, execution forces choices: sparse events, convergence failures, unexpected missingness. If those choices are made after the analyst has glimpsed the treatment-outcome association, the analysis is no longer prespecified, however honest the analyst.</a:t>
            </a:r>
          </a:p>
          <a:p>
            <a:pPr lvl="0" indent="0" marL="0">
              <a:buNone/>
            </a:pPr>
            <a:r>
              <a:rPr/>
              <a:t>The clean-room design of Muntner et al. (2024) addresses this. A design team builds the cohort, the propensity model, and the diagnostics without seeing the outcome. Only then does an outcome team estimate.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failure blinding cannot touch</a:t>
            </a:r>
          </a:p>
        </p:txBody>
      </p:sp>
      <p:sp>
        <p:nvSpPr>
          <p:cNvPr id="3" name="Content Placeholder 2"/>
          <p:cNvSpPr>
            <a:spLocks noGrp="1"/>
          </p:cNvSpPr>
          <p:nvPr>
            <p:ph idx="1"/>
          </p:nvPr>
        </p:nvSpPr>
        <p:spPr/>
        <p:txBody>
          <a:bodyPr/>
          <a:lstStyle/>
          <a:p>
            <a:pPr lvl="0" indent="0" marL="0">
              <a:buNone/>
            </a:pPr>
            <a:r>
              <a:rPr/>
              <a:t>The average treatment effect asks what would happen if everyone received treatment versus no one. Answering it requires every kind of patient to have had a real chance of landing in either arm.</a:t>
            </a:r>
          </a:p>
          <a:p>
            <a:pPr lvl="0" indent="0" marL="0">
              <a:buNone/>
            </a:pPr>
            <a:r>
              <a:rPr/>
              <a:t>When a whole stratum essentially never receives one treatment, the estimator does not refuse. It extrapolates. Truncating the weights caps the variance without restoring information.</a:t>
            </a:r>
          </a:p>
          <a:p>
            <a:pPr lvl="0" indent="0" marL="0">
              <a:buNone/>
            </a:pPr>
            <a:r>
              <a:rPr/>
              <a:t>A perfectly blinded team can still promise an estimand the data cannot deliver, and the lock makes the promise binding.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know because it happened to us</a:t>
            </a:r>
          </a:p>
        </p:txBody>
      </p:sp>
      <p:sp>
        <p:nvSpPr>
          <p:cNvPr id="3" name="Content Placeholder 2"/>
          <p:cNvSpPr>
            <a:spLocks noGrp="1"/>
          </p:cNvSpPr>
          <p:nvPr>
            <p:ph idx="1"/>
          </p:nvPr>
        </p:nvSpPr>
        <p:spPr/>
        <p:txBody>
          <a:bodyPr/>
          <a:lstStyle/>
          <a:p>
            <a:pPr lvl="0" indent="0" marL="0">
              <a:buNone/>
            </a:pPr>
            <a:r>
              <a:rPr/>
              <a:t>An earlier analysis of time to ambulance arrival, on a cohort where some patients essentially never receive the studied service:</a:t>
            </a:r>
          </a:p>
          <a:p>
            <a:pPr lvl="0"/>
            <a:r>
              <a:rPr/>
              <a:t>estimated effect </a:t>
            </a:r>
            <a:r>
              <a:rPr b="1"/>
              <a:t>+14,637 minutes</a:t>
            </a:r>
            <a:r>
              <a:rPr/>
              <a:t>, tight confidence interval</a:t>
            </a:r>
          </a:p>
          <a:p>
            <a:pPr lvl="0"/>
            <a:r>
              <a:rPr/>
              <a:t>crude difference </a:t>
            </a:r>
            <a:r>
              <a:rPr b="1"/>
              <a:t>about 7 hours the other way</a:t>
            </a:r>
          </a:p>
          <a:p>
            <a:pPr lvl="0" indent="0" marL="0">
              <a:buNone/>
            </a:pPr>
            <a:r>
              <a:rPr/>
              <a:t>Nothing in the estimator’s own output flagged it.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blind phase should establish</a:t>
            </a:r>
          </a:p>
        </p:txBody>
      </p:sp>
      <p:sp>
        <p:nvSpPr>
          <p:cNvPr id="3" name="Content Placeholder 2"/>
          <p:cNvSpPr>
            <a:spLocks noGrp="1"/>
          </p:cNvSpPr>
          <p:nvPr>
            <p:ph idx="1"/>
          </p:nvPr>
        </p:nvSpPr>
        <p:spPr/>
        <p:txBody>
          <a:bodyPr/>
          <a:lstStyle/>
          <a:p>
            <a:pPr lvl="0" indent="-342900" marL="342900">
              <a:buAutoNum type="arabicPeriod"/>
            </a:pPr>
            <a:r>
              <a:rPr/>
              <a:t>The cohort, treatment, outcome, and time horizon were fixed in advance.</a:t>
            </a:r>
          </a:p>
          <a:p>
            <a:pPr lvl="0" indent="-342900" marL="342900">
              <a:buAutoNum type="arabicPeriod"/>
            </a:pPr>
            <a:r>
              <a:rPr/>
              <a:t>The declared comparison is estimable. If not, which neighbouring estimand is.</a:t>
            </a:r>
          </a:p>
          <a:p>
            <a:pPr lvl="0" indent="-342900" marL="342900">
              <a:buAutoNum type="arabicPeriod"/>
            </a:pPr>
            <a:r>
              <a:rPr/>
              <a:t>The estimator was prespecified and screened against realistic data problems.</a:t>
            </a:r>
          </a:p>
          <a:p>
            <a:pPr lvl="0" indent="-342900" marL="342900">
              <a:buAutoNum type="arabicPeriod"/>
            </a:pPr>
            <a:r>
              <a:rPr/>
              <a:t>Any switch of estimand followed a rule declared before outcome access, and everything is on the record.</a:t>
            </a:r>
          </a:p>
          <a:p>
            <a:pPr lvl="0" indent="0" marL="0">
              <a:buNone/>
            </a:pPr>
            <a:r>
              <a:rPr>
                <a:latin typeface="Courier"/>
              </a:rPr>
              <a:t>design_report()</a:t>
            </a:r>
            <a:r>
              <a:rPr/>
              <a:t> bundles the evidence for all four into the document a review team reads before outcomes are unlocked.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verbs</a:t>
            </a:r>
          </a:p>
        </p:txBody>
      </p:sp>
      <p:sp>
        <p:nvSpPr>
          <p:cNvPr id="3" name="Content Placeholder 2"/>
          <p:cNvSpPr>
            <a:spLocks noGrp="1"/>
          </p:cNvSpPr>
          <p:nvPr>
            <p:ph idx="1"/>
          </p:nvPr>
        </p:nvSpPr>
        <p:spPr/>
        <p:txBody>
          <a:bodyPr/>
          <a:lstStyle/>
          <a:p>
            <a:pPr lvl="0" indent="0">
              <a:buNone/>
            </a:pPr>
            <a:r>
              <a:rPr>
                <a:solidFill>
                  <a:srgbClr val="003B4F"/>
                </a:solidFill>
                <a:latin typeface="Courier"/>
              </a:rPr>
              <a:t>lock &lt;- </a:t>
            </a:r>
            <a:r>
              <a:rPr>
                <a:solidFill>
                  <a:srgbClr val="4758AB"/>
                </a:solidFill>
                <a:latin typeface="Courier"/>
              </a:rPr>
              <a:t>create_analysis_lock</a:t>
            </a:r>
            <a:r>
              <a:rPr>
                <a:solidFill>
                  <a:srgbClr val="003B4F"/>
                </a:solidFill>
                <a:latin typeface="Courier"/>
              </a:rPr>
              <a:t>(data, </a:t>
            </a:r>
            <a:r>
              <a:rPr>
                <a:solidFill>
                  <a:srgbClr val="20794D"/>
                </a:solidFill>
                <a:latin typeface="Courier"/>
              </a:rPr>
              <a:t>"treatment"</a:t>
            </a:r>
            <a:r>
              <a:rPr>
                <a:solidFill>
                  <a:srgbClr val="003B4F"/>
                </a:solidFill>
                <a:latin typeface="Courier"/>
              </a:rPr>
              <a:t>, </a:t>
            </a:r>
            <a:r>
              <a:rPr>
                <a:solidFill>
                  <a:srgbClr val="20794D"/>
                </a:solidFill>
                <a:latin typeface="Courier"/>
              </a:rPr>
              <a:t>"outcome"</a:t>
            </a:r>
            <a:r>
              <a:rPr>
                <a:solidFill>
                  <a:srgbClr val="003B4F"/>
                </a:solidFill>
                <a:latin typeface="Courier"/>
              </a:rPr>
              <a:t>, covariates,</a:t>
            </a:r>
            <a:br/>
            <a:r>
              <a:rPr>
                <a:solidFill>
                  <a:srgbClr val="003B4F"/>
                </a:solidFill>
                <a:latin typeface="Courier"/>
              </a:rPr>
              <a:t>                             </a:t>
            </a:r>
            <a:r>
              <a:rPr>
                <a:solidFill>
                  <a:srgbClr val="657422"/>
                </a:solidFill>
                <a:latin typeface="Courier"/>
              </a:rPr>
              <a:t>negative_controls =</a:t>
            </a:r>
            <a:r>
              <a:rPr>
                <a:solidFill>
                  <a:srgbClr val="003B4F"/>
                </a:solidFill>
                <a:latin typeface="Courier"/>
              </a:rPr>
              <a:t> ncs, </a:t>
            </a:r>
            <a:r>
              <a:rPr>
                <a:solidFill>
                  <a:srgbClr val="657422"/>
                </a:solidFill>
                <a:latin typeface="Courier"/>
              </a:rPr>
              <a:t>mask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 </a:t>
            </a:r>
            <a:r>
              <a:rPr>
                <a:solidFill>
                  <a:srgbClr val="20794D"/>
                </a:solidFill>
                <a:latin typeface="Courier"/>
              </a:rPr>
              <a:t>"ATO"</a:t>
            </a:r>
            <a:r>
              <a:rPr>
                <a:solidFill>
                  <a:srgbClr val="003B4F"/>
                </a:solidFill>
                <a:latin typeface="Courier"/>
              </a:rPr>
              <a:t>),</a:t>
            </a:r>
            <a:b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a:t>
            </a:r>
            <a:br/>
            <a:br/>
            <a:r>
              <a:rPr>
                <a:solidFill>
                  <a:srgbClr val="003B4F"/>
                </a:solidFill>
                <a:latin typeface="Courier"/>
              </a:rPr>
              <a:t>ps  &lt;- </a:t>
            </a:r>
            <a:r>
              <a:rPr>
                <a:solidFill>
                  <a:srgbClr val="4758AB"/>
                </a:solidFill>
                <a:latin typeface="Courier"/>
              </a:rPr>
              <a:t>fit_ps</a:t>
            </a:r>
            <a:r>
              <a:rPr>
                <a:solidFill>
                  <a:srgbClr val="003B4F"/>
                </a:solidFill>
                <a:latin typeface="Courier"/>
              </a:rPr>
              <a:t>(lock)                </a:t>
            </a:r>
            <a:r>
              <a:rPr>
                <a:solidFill>
                  <a:srgbClr val="5E5E5E"/>
                </a:solidFill>
                <a:latin typeface="Courier"/>
              </a:rPr>
              <a:t># SuperLearner, GLM, or external</a:t>
            </a:r>
            <a:br/>
            <a:r>
              <a:rPr>
                <a:solidFill>
                  <a:srgbClr val="003B4F"/>
                </a:solidFill>
                <a:latin typeface="Courier"/>
              </a:rPr>
              <a:t>sup &lt;- </a:t>
            </a:r>
            <a:r>
              <a:rPr>
                <a:solidFill>
                  <a:srgbClr val="4758AB"/>
                </a:solidFill>
                <a:latin typeface="Courier"/>
              </a:rPr>
              <a:t>assess_support</a:t>
            </a:r>
            <a:r>
              <a:rPr>
                <a:solidFill>
                  <a:srgbClr val="003B4F"/>
                </a:solidFill>
                <a:latin typeface="Courier"/>
              </a:rPr>
              <a:t>(ps)          </a:t>
            </a:r>
            <a:r>
              <a:rPr>
                <a:solidFill>
                  <a:srgbClr val="5E5E5E"/>
                </a:solidFill>
                <a:latin typeface="Courier"/>
              </a:rPr>
              <a:t># graded overlap verdict</a:t>
            </a:r>
            <a:br/>
            <a:r>
              <a:rPr>
                <a:solidFill>
                  <a:srgbClr val="003B4F"/>
                </a:solidFill>
                <a:latin typeface="Courier"/>
              </a:rPr>
              <a:t>fea &lt;- </a:t>
            </a:r>
            <a:r>
              <a:rPr>
                <a:solidFill>
                  <a:srgbClr val="4758AB"/>
                </a:solidFill>
                <a:latin typeface="Courier"/>
              </a:rPr>
              <a:t>estimand_feasibility</a:t>
            </a:r>
            <a:r>
              <a:rPr>
                <a:solidFill>
                  <a:srgbClr val="003B4F"/>
                </a:solidFill>
                <a:latin typeface="Courier"/>
              </a:rPr>
              <a:t>(ps)    </a:t>
            </a:r>
            <a:r>
              <a:rPr>
                <a:solidFill>
                  <a:srgbClr val="5E5E5E"/>
                </a:solidFill>
                <a:latin typeface="Courier"/>
              </a:rPr>
              <a:t># which estimands survive this fit</a:t>
            </a:r>
            <a:br/>
            <a:r>
              <a:rPr>
                <a:solidFill>
                  <a:srgbClr val="003B4F"/>
                </a:solidFill>
                <a:latin typeface="Courier"/>
              </a:rPr>
              <a:t>sim &lt;- </a:t>
            </a:r>
            <a:r>
              <a:rPr>
                <a:solidFill>
                  <a:srgbClr val="4758AB"/>
                </a:solidFill>
                <a:latin typeface="Courier"/>
              </a:rPr>
              <a:t>simulate_support</a:t>
            </a:r>
            <a:r>
              <a:rPr>
                <a:solidFill>
                  <a:srgbClr val="003B4F"/>
                </a:solidFill>
                <a:latin typeface="Courier"/>
              </a:rPr>
              <a:t>(lock, ps)  </a:t>
            </a:r>
            <a:r>
              <a:rPr>
                <a:solidFill>
                  <a:srgbClr val="5E5E5E"/>
                </a:solidFill>
                <a:latin typeface="Courier"/>
              </a:rPr>
              <a:t># the outcome-blind support map</a:t>
            </a:r>
            <a:br/>
            <a:br/>
            <a:r>
              <a:rPr>
                <a:solidFill>
                  <a:srgbClr val="4758AB"/>
                </a:solidFill>
                <a:latin typeface="Courier"/>
              </a:rPr>
              <a:t>design_report</a:t>
            </a:r>
            <a:r>
              <a:rPr>
                <a:solidFill>
                  <a:srgbClr val="003B4F"/>
                </a:solidFill>
                <a:latin typeface="Courier"/>
              </a:rPr>
              <a:t>(lock, sup, fea, </a:t>
            </a:r>
            <a:r>
              <a:rPr>
                <a:solidFill>
                  <a:srgbClr val="657422"/>
                </a:solidFill>
                <a:latin typeface="Courier"/>
              </a:rPr>
              <a:t>simulation =</a:t>
            </a:r>
            <a:r>
              <a:rPr>
                <a:solidFill>
                  <a:srgbClr val="003B4F"/>
                </a:solidFill>
                <a:latin typeface="Courier"/>
              </a:rPr>
              <a:t> sim)</a:t>
            </a:r>
            <a:br/>
            <a:r>
              <a:rPr>
                <a:solidFill>
                  <a:srgbClr val="003B4F"/>
                </a:solidFill>
                <a:latin typeface="Courier"/>
              </a:rPr>
              <a:t>fit &lt;- </a:t>
            </a:r>
            <a:r>
              <a:rPr>
                <a:solidFill>
                  <a:srgbClr val="4758AB"/>
                </a:solidFill>
                <a:latin typeface="Courier"/>
              </a:rPr>
              <a:t>run_estimand_ladder</a:t>
            </a:r>
            <a:r>
              <a:rPr>
                <a:solidFill>
                  <a:srgbClr val="003B4F"/>
                </a:solidFill>
                <a:latin typeface="Courier"/>
              </a:rPr>
              <a:t>(lock, ps)   </a:t>
            </a:r>
            <a:r>
              <a:rPr>
                <a:solidFill>
                  <a:srgbClr val="5E5E5E"/>
                </a:solidFill>
                <a:latin typeface="Courier"/>
              </a:rPr>
              <a:t># outcomes join only here</a:t>
            </a:r>
          </a:p>
          <a:p>
            <a:pPr lvl="0" indent="0" marL="0">
              <a:buNone/>
            </a:pPr>
            <a:r>
              <a:rPr/>
              <a:t>Everything above the last line runs with no outcome access.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 assessment</a:t>
            </a:r>
          </a:p>
        </p:txBody>
      </p:sp>
      <p:sp>
        <p:nvSpPr>
          <p:cNvPr id="3" name="Content Placeholder 2"/>
          <p:cNvSpPr>
            <a:spLocks noGrp="1"/>
          </p:cNvSpPr>
          <p:nvPr>
            <p:ph idx="1"/>
          </p:nvPr>
        </p:nvSpPr>
        <p:spPr/>
        <p:txBody>
          <a:bodyPr/>
          <a:lstStyle/>
          <a:p>
            <a:pPr lvl="0" indent="0" marL="0">
              <a:buNone/>
            </a:pPr>
            <a:r>
              <a:rPr>
                <a:latin typeface="Courier"/>
              </a:rPr>
              <a:t>assess_support()</a:t>
            </a:r>
            <a:r>
              <a:rPr/>
              <a:t> grades the overlap on the fitted propensity score. Share of the sample outside the band, largest implied weight, effective sample size, and the c-statistic, whose discrimination is bad news here. A stratum scan and a shallow tree search catch pockets where treatment is nearly deterministic.</a:t>
            </a:r>
          </a:p>
          <a:p>
            <a:pPr lvl="0" indent="0" marL="0">
              <a:buNone/>
            </a:pPr>
            <a:r>
              <a:rPr/>
              <a:t>The verdict is PASS, FLAG, SEVERE, or FAIL, and its caveat sentence travels with every downstream estimate.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severe non-overlap looks like</a:t>
            </a:r>
          </a:p>
        </p:txBody>
      </p:sp>
      <p:pic>
        <p:nvPicPr>
          <p:cNvPr descr="../rescueCo/results/multiarm/fig_support_C1.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Protocol contrast: SEVERE</a:t>
            </a:r>
          </a:p>
        </p:txBody>
      </p:sp>
      <p:pic>
        <p:nvPicPr>
          <p:cNvPr descr="../rescueCo/results/multiarm/fig_support_PRIMARY.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PASS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Treated above the axis, controls below, band shaded.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fitted score, four estimands, very different weights</a:t>
            </a:r>
          </a:p>
        </p:txBody>
      </p:sp>
      <p:pic>
        <p:nvPicPr>
          <p:cNvPr descr="cleanTMLE_presentation_files/figure-pptx/fig-weights-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1: Implied weights on the protocol contrast, one point per patient, log scale. The ATE needs weights up to 257; the effect among the treated (ATT) is bounded at 5 by the largest propensity; the overlap-weighted ATO never exceeds 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estimand ladder</a:t>
            </a:r>
          </a:p>
        </p:txBody>
      </p:sp>
      <p:sp>
        <p:nvSpPr>
          <p:cNvPr id="3" name="Content Placeholder 2"/>
          <p:cNvSpPr>
            <a:spLocks noGrp="1"/>
          </p:cNvSpPr>
          <p:nvPr>
            <p:ph idx="1"/>
          </p:nvPr>
        </p:nvSpPr>
        <p:spPr/>
        <p:txBody>
          <a:bodyPr/>
          <a:lstStyle/>
          <a:p>
            <a:pPr lvl="0" indent="0" marL="0">
              <a:buNone/>
            </a:pPr>
            <a:r>
              <a:rPr/>
              <a:t>Switching estimands after seeing results is a garden of forking paths. Refusing ever to switch wastes designs that can answer a neighbouring question.</a:t>
            </a:r>
          </a:p>
          <a:p>
            <a:pPr lvl="0" indent="0" marL="0">
              <a:buNone/>
            </a:pPr>
            <a:r>
              <a:rPr/>
              <a:t>So the switch rule is pre-registered. The lock records the primary, the ordered fallbacks, and the verdict that triggers a move. Estimation runs the primary when feasible plus every feasible fallback, labels each row with its estimand and verdict, and refuses an infeasible primary unless an override reason is supplied and logged.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outcome-blind support map</a:t>
            </a:r>
          </a:p>
        </p:txBody>
      </p:sp>
      <p:sp>
        <p:nvSpPr>
          <p:cNvPr id="3" name="Content Placeholder 2"/>
          <p:cNvSpPr>
            <a:spLocks noGrp="1"/>
          </p:cNvSpPr>
          <p:nvPr>
            <p:ph idx="1"/>
          </p:nvPr>
        </p:nvSpPr>
        <p:spPr/>
        <p:txBody>
          <a:bodyPr/>
          <a:lstStyle/>
          <a:p>
            <a:pPr lvl="0" indent="0" marL="0">
              <a:buNone/>
            </a:pPr>
            <a:r>
              <a:rPr/>
              <a:t>Static weight diagnostics cannot say how much the extrapolation will hurt. That depends on how the outcome behaves in the region only one arm inhabits, and the design team is blind to the outcome.</a:t>
            </a:r>
          </a:p>
          <a:p>
            <a:pPr lvl="0" indent="0" marL="0">
              <a:buNone/>
            </a:pPr>
            <a:r>
              <a:rPr/>
              <a:t>So the package simulates: covariates resampled, treatment redrawn from the fitted propensity, synthetic outcomes drawn from a prespecified family of surfaces. The truth is known on every replicate, separately per estimand. The map shows where each estimand holds a bias tolerance at near-nominal coverage.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Redraw treatment, or keep it?</a:t>
            </a:r>
          </a:p>
        </p:txBody>
      </p:sp>
      <p:sp>
        <p:nvSpPr>
          <p:cNvPr id="3" name="Content Placeholder 2"/>
          <p:cNvSpPr>
            <a:spLocks noGrp="1"/>
          </p:cNvSpPr>
          <p:nvPr>
            <p:ph idx="1"/>
          </p:nvPr>
        </p:nvSpPr>
        <p:spPr/>
        <p:txBody>
          <a:bodyPr/>
          <a:lstStyle/>
          <a:p>
            <a:pPr lvl="0" indent="0" marL="0">
              <a:buNone/>
            </a:pPr>
            <a:r>
              <a:rPr/>
              <a:t>Plasmode studies commonly keep each subject’s observed treatment. Shaw et al. (2025) showed that this builds a positivity violation into the simulation itself: all-treated regions stay all-treated in every replicate, whatever the generating propensity.</a:t>
            </a:r>
          </a:p>
          <a:p>
            <a:pPr lvl="0" indent="0" marL="0">
              <a:buNone/>
            </a:pPr>
            <a:r>
              <a:rPr/>
              <a:t>For a support map that is disqualifying, because the violation is the thing under study. cleanTMLE redraws treatment from the fitted propensity. The case study puts the two designs side by side on real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same loop stress-tests the estimator</a:t>
            </a:r>
          </a:p>
        </p:txBody>
      </p:sp>
      <p:sp>
        <p:nvSpPr>
          <p:cNvPr id="3" name="Content Placeholder 2"/>
          <p:cNvSpPr>
            <a:spLocks noGrp="1"/>
          </p:cNvSpPr>
          <p:nvPr>
            <p:ph idx="1"/>
          </p:nvPr>
        </p:nvSpPr>
        <p:spPr/>
        <p:txBody>
          <a:bodyPr/>
          <a:lstStyle/>
          <a:p>
            <a:pPr lvl="0" indent="0" marL="0">
              <a:buNone/>
            </a:pPr>
            <a:r>
              <a:rPr/>
              <a:t>Candidate TMLE specifications are compared on synthetic outcomes, then re-run under prespecified data-quality threats: covariate missingness (MCAR, MAR, MNAR), exposure and outcome misclassification, near-positivity, unmeasured confounding.</a:t>
            </a:r>
          </a:p>
          <a:p>
            <a:pPr lvl="0" indent="0" marL="0">
              <a:buNone/>
            </a:pPr>
            <a:r>
              <a:rPr/>
              <a:t>Each candidate gets a degradation gradient on the same bias, RMSE, and coverage scale as the baseline. A minimax rule can lock the candidate with the best worst case rather than the best clean-data average.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controls, and what it cannot</a:t>
            </a:r>
          </a:p>
        </p:txBody>
      </p:sp>
      <p:sp>
        <p:nvSpPr>
          <p:cNvPr id="3" name="Content Placeholder 2"/>
          <p:cNvSpPr>
            <a:spLocks noGrp="1"/>
          </p:cNvSpPr>
          <p:nvPr>
            <p:ph idx="1"/>
          </p:nvPr>
        </p:nvSpPr>
        <p:spPr/>
        <p:txBody>
          <a:bodyPr/>
          <a:lstStyle/>
          <a:p>
            <a:pPr lvl="0" indent="0" marL="0">
              <a:buNone/>
            </a:pPr>
            <a:r>
              <a:rPr/>
              <a:t>It can keep the outcome masked or physically absent from the design stage, log every declaration and switch inside the fingerprinted lock, and flag estimates that violate bounds the raw data impose.</a:t>
            </a:r>
          </a:p>
          <a:p>
            <a:pPr lvl="0" indent="0" marL="0">
              <a:buNone/>
            </a:pPr>
            <a:r>
              <a:rPr/>
              <a:t>It cannot stop someone with raw-data access from peeking outside the package, validate how variables were measured, or see past the measured covariates. A propensity model missing the separating covariate will not warn. Those safeguards stay institutional.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What the simulations showed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scenarios, six estimators</a:t>
            </a:r>
          </a:p>
        </p:txBody>
      </p:sp>
      <p:sp>
        <p:nvSpPr>
          <p:cNvPr id="3" name="Content Placeholder 2"/>
          <p:cNvSpPr>
            <a:spLocks noGrp="1"/>
          </p:cNvSpPr>
          <p:nvPr>
            <p:ph idx="1"/>
          </p:nvPr>
        </p:nvSpPr>
        <p:spPr/>
        <p:txBody>
          <a:bodyPr/>
          <a:lstStyle/>
          <a:p>
            <a:pPr lvl="0" indent="0" marL="0">
              <a:buNone/>
            </a:pPr>
            <a:r>
              <a:rPr/>
              <a:t>2,000 people, 200 repetitions each. Scenario A has good overlap; B has marginal overlap; C hides a confounder the analyst cannot measure. Estimators: crude, propensity matching, IPTW, TMLE, cross-validated TMLE, matched TMLE.</a:t>
            </a:r>
          </a:p>
          <a:p>
            <a:pPr lvl="0" indent="0" marL="0">
              <a:buNone/>
            </a:pPr>
            <a:r>
              <a:rPr/>
              <a:t>Under good overlap every adjusted estimator recovers the truth, and the workflow proceeds. That is the wiring check.</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Marginal overlap strains the variance, not the bias</a:t>
            </a:r>
          </a:p>
        </p:txBody>
      </p:sp>
      <p:sp>
        <p:nvSpPr>
          <p:cNvPr id="3" name="Content Placeholder 2"/>
          <p:cNvSpPr>
            <a:spLocks noGrp="1"/>
          </p:cNvSpPr>
          <p:nvPr>
            <p:ph idx="1"/>
          </p:nvPr>
        </p:nvSpPr>
        <p:spPr/>
        <p:txBody>
          <a:bodyPr/>
          <a:lstStyle/>
          <a:p>
            <a:pPr lvl="0" indent="0" marL="0">
              <a:buNone/>
            </a:pPr>
            <a:r>
              <a:rPr/>
              <a:t>TMLE and CV-TMLE keep bias small relative to the spread of the estimates.</a:t>
            </a:r>
          </a:p>
          <a:p>
            <a:pPr lvl="0" indent="0" marL="0">
              <a:buNone/>
            </a:pPr>
            <a:r>
              <a:rPr/>
              <a:t>IPTW confidence intervals come out too wide, because the variance formula treats an estimated propensity score as known. Matched TMLE has the same problem, roughly doubling the true spread. Both are fixable with a bootstrap variance, and the workflow says so before unblinding, as a documented qualification.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Built-in confounding stops the workflow</a:t>
            </a:r>
          </a:p>
        </p:txBody>
      </p:sp>
      <p:sp>
        <p:nvSpPr>
          <p:cNvPr id="3" name="Content Placeholder 2"/>
          <p:cNvSpPr>
            <a:spLocks noGrp="1"/>
          </p:cNvSpPr>
          <p:nvPr>
            <p:ph idx="1"/>
          </p:nvPr>
        </p:nvSpPr>
        <p:spPr/>
        <p:txBody>
          <a:bodyPr/>
          <a:lstStyle/>
          <a:p>
            <a:pPr lvl="0" indent="0" marL="0">
              <a:buNone/>
            </a:pPr>
            <a:r>
              <a:rPr/>
              <a:t>In Scenario C every estimator is biased in the same direction; TMLE is the least biased and still biased. The unmeasured-confounding row of the stress test pushes bias past the locked threshold, and the prespecified rule returns stop before any outcome is read.</a:t>
            </a:r>
          </a:p>
          <a:p>
            <a:pPr lvl="0" indent="0" marL="0">
              <a:buNone/>
            </a:pPr>
            <a:r>
              <a:rPr/>
              <a:t>The software does not detect hidden confounders. It was simply willing to stop when a prespecified threat scenario failed, which is the behaviour a reviewer needs to trust the proceed decisions.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Same fits, different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Traditional analyst</a:t>
                      </a:r>
                    </a:p>
                  </a:txBody>
                  <a:tcPr/>
                </a:tc>
                <a:tc>
                  <a:txBody>
                    <a:bodyPr/>
                    <a:lstStyle/>
                    <a:p>
                      <a:pPr lvl="0" indent="0" marL="0">
                        <a:buNone/>
                      </a:pPr>
                      <a:r>
                        <a:rPr/>
                        <a:t>Outcome-blind workflow</a:t>
                      </a:r>
                    </a:p>
                  </a:txBody>
                  <a:tcPr/>
                </a:tc>
              </a:tr>
              <a:tr h="0">
                <a:tc>
                  <a:txBody>
                    <a:bodyPr/>
                    <a:lstStyle/>
                    <a:p>
                      <a:pPr lvl="0" indent="0" marL="0">
                        <a:buNone/>
                      </a:pPr>
                      <a:r>
                        <a:rPr/>
                        <a:t>Good overlap</a:t>
                      </a:r>
                    </a:p>
                  </a:txBody>
                </a:tc>
                <a:tc>
                  <a:txBody>
                    <a:bodyPr/>
                    <a:lstStyle/>
                    <a:p>
                      <a:pPr lvl="0" indent="0" marL="0">
                        <a:buNone/>
                      </a:pPr>
                      <a:r>
                        <a:rPr/>
                        <a:t>Diagnostics look fine; report.</a:t>
                      </a:r>
                    </a:p>
                  </a:txBody>
                </a:tc>
                <a:tc>
                  <a:txBody>
                    <a:bodyPr/>
                    <a:lstStyle/>
                    <a:p>
                      <a:pPr lvl="0" indent="0" marL="0">
                        <a:buNone/>
                      </a:pPr>
                      <a:r>
                        <a:rPr/>
                        <a:t>Same, plus simulation confirms the candidates. Proceed.</a:t>
                      </a:r>
                    </a:p>
                  </a:txBody>
                </a:tc>
              </a:tr>
              <a:tr h="0">
                <a:tc>
                  <a:txBody>
                    <a:bodyPr/>
                    <a:lstStyle/>
                    <a:p>
                      <a:pPr lvl="0" indent="0" marL="0">
                        <a:buNone/>
                      </a:pPr>
                      <a:r>
                        <a:rPr/>
                        <a:t>Marginal overlap</a:t>
                      </a:r>
                    </a:p>
                  </a:txBody>
                </a:tc>
                <a:tc>
                  <a:txBody>
                    <a:bodyPr/>
                    <a:lstStyle/>
                    <a:p>
                      <a:pPr lvl="0" indent="0" marL="0">
                        <a:buNone/>
                      </a:pPr>
                      <a:r>
                        <a:rPr/>
                        <a:t>An attentive analyst adapts. Many do not.</a:t>
                      </a:r>
                    </a:p>
                  </a:txBody>
                </a:tc>
                <a:tc>
                  <a:txBody>
                    <a:bodyPr/>
                    <a:lstStyle/>
                    <a:p>
                      <a:pPr lvl="0" indent="0" marL="0">
                        <a:buNone/>
                      </a:pPr>
                      <a:r>
                        <a:rPr/>
                        <a:t>Variance miscalibration quantified before unblinding. Proceed with qualification.</a:t>
                      </a:r>
                    </a:p>
                  </a:txBody>
                </a:tc>
              </a:tr>
              <a:tr h="0">
                <a:tc>
                  <a:txBody>
                    <a:bodyPr/>
                    <a:lstStyle/>
                    <a:p>
                      <a:pPr lvl="0" indent="0" marL="0">
                        <a:buNone/>
                      </a:pPr>
                      <a:r>
                        <a:rPr/>
                        <a:t>Unmeasured confounding</a:t>
                      </a:r>
                    </a:p>
                  </a:txBody>
                </a:tc>
                <a:tc>
                  <a:txBody>
                    <a:bodyPr/>
                    <a:lstStyle/>
                    <a:p>
                      <a:pPr lvl="0" indent="0" marL="0">
                        <a:buNone/>
                      </a:pPr>
                      <a:r>
                        <a:rPr/>
                        <a:t>All adjusted estimates agree; analyst likely publishes a misleading null.</a:t>
                      </a:r>
                    </a:p>
                  </a:txBody>
                </a:tc>
                <a:tc>
                  <a:txBody>
                    <a:bodyPr/>
                    <a:lstStyle/>
                    <a:p>
                      <a:pPr lvl="0" indent="0" marL="0">
                        <a:buNone/>
                      </a:pPr>
                      <a:r>
                        <a:rPr/>
                        <a:t>Prespecified stress row breaches the threshold. Stop.</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Five contrasts, one registry</a:t>
            </a:r>
          </a:p>
        </p:txBody>
      </p:sp>
      <p:sp>
        <p:nvSpPr>
          <p:cNvPr id="4" name="Text Placeholder 3"/>
          <p:cNvSpPr>
            <a:spLocks noGrp="1"/>
          </p:cNvSpPr>
          <p:nvPr>
            <p:ph idx="2" sz="half" type="body"/>
          </p:nvPr>
        </p:nvSpPr>
        <p:spPr/>
        <p:txBody>
          <a:bodyPr/>
          <a:lstStyle/>
          <a:p>
            <a:pPr lvl="0" indent="0" marL="0">
              <a:buNone/>
            </a:pPr>
            <a:r>
              <a:rPr/>
              <a:t>8,323 trauma patients with known transport mode, three Nairobi hospitals, 2018 to 2024. Each contrast gets its own lock on the shared cohort, 90 design columns, and the same declared ladder. Outcomes: six-month mortality, and time to arrival, the outcome behind the +14,637-minute failure. The outcome columns live in a separate store until estimation.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92200"/>
                <a:gridCol w="1092200"/>
                <a:gridCol w="1460500"/>
                <a:gridCol w="1460500"/>
              </a:tblGrid>
              <a:tr h="0">
                <a:tc>
                  <a:txBody>
                    <a:bodyPr/>
                    <a:lstStyle/>
                    <a:p>
                      <a:pPr lvl="0" indent="0" marL="0">
                        <a:buNone/>
                      </a:pPr>
                      <a:r>
                        <a:rPr/>
                        <a:t>Lock</a:t>
                      </a:r>
                    </a:p>
                  </a:txBody>
                  <a:tcPr/>
                </a:tc>
                <a:tc>
                  <a:txBody>
                    <a:bodyPr/>
                    <a:lstStyle/>
                    <a:p>
                      <a:pPr lvl="0" indent="0" marL="0">
                        <a:buNone/>
                      </a:pPr>
                      <a:r>
                        <a:rPr/>
                        <a:t>Comparison</a:t>
                      </a:r>
                    </a:p>
                  </a:txBody>
                  <a:tcPr/>
                </a:tc>
                <a:tc>
                  <a:txBody>
                    <a:bodyPr/>
                    <a:lstStyle/>
                    <a:p>
                      <a:pPr lvl="0" indent="0" marL="0" algn="r">
                        <a:buNone/>
                      </a:pPr>
                      <a:r>
                        <a:rPr/>
                        <a:t>N</a:t>
                      </a:r>
                    </a:p>
                  </a:txBody>
                  <a:tcPr/>
                </a:tc>
                <a:tc>
                  <a:txBody>
                    <a:bodyPr/>
                    <a:lstStyle/>
                    <a:p>
                      <a:pPr lvl="0" indent="0" marL="0" algn="r">
                        <a:buNone/>
                      </a:pPr>
                      <a:r>
                        <a:rPr/>
                        <a:t>Treated</a:t>
                      </a:r>
                    </a:p>
                  </a:txBody>
                  <a:tcPr/>
                </a:tc>
              </a:tr>
              <a:tr h="0">
                <a:tc>
                  <a:txBody>
                    <a:bodyPr/>
                    <a:lstStyle/>
                    <a:p>
                      <a:pPr lvl="0" indent="0" marL="0">
                        <a:buNone/>
                      </a:pPr>
                      <a:r>
                        <a:rPr/>
                        <a:t>C1</a:t>
                      </a:r>
                    </a:p>
                  </a:txBody>
                </a:tc>
                <a:tc>
                  <a:txBody>
                    <a:bodyPr/>
                    <a:lstStyle/>
                    <a:p>
                      <a:pPr lvl="0" indent="0" marL="0">
                        <a:buNone/>
                      </a:pPr>
                      <a:r>
                        <a:rPr/>
                        <a:t>Rescue.Co vs everyone else (protocol comparator)</a:t>
                      </a:r>
                    </a:p>
                  </a:txBody>
                </a:tc>
                <a:tc>
                  <a:txBody>
                    <a:bodyPr/>
                    <a:lstStyle/>
                    <a:p>
                      <a:pPr lvl="0" indent="0" marL="0" algn="r">
                        <a:buNone/>
                      </a:pPr>
                      <a:r>
                        <a:rPr/>
                        <a:t>8,323</a:t>
                      </a:r>
                    </a:p>
                  </a:txBody>
                </a:tc>
                <a:tc>
                  <a:txBody>
                    <a:bodyPr/>
                    <a:lstStyle/>
                    <a:p>
                      <a:pPr lvl="0" indent="0" marL="0" algn="r">
                        <a:buNone/>
                      </a:pPr>
                      <a:r>
                        <a:rPr/>
                        <a:t>1,039</a:t>
                      </a:r>
                    </a:p>
                  </a:txBody>
                </a:tc>
              </a:tr>
              <a:tr h="0">
                <a:tc>
                  <a:txBody>
                    <a:bodyPr/>
                    <a:lstStyle/>
                    <a:p>
                      <a:pPr lvl="0" indent="0" marL="0">
                        <a:buNone/>
                      </a:pPr>
                      <a:r>
                        <a:rPr/>
                        <a:t>C2</a:t>
                      </a:r>
                    </a:p>
                  </a:txBody>
                </a:tc>
                <a:tc>
                  <a:txBody>
                    <a:bodyPr/>
                    <a:lstStyle/>
                    <a:p>
                      <a:pPr lvl="0" indent="0" marL="0">
                        <a:buNone/>
                      </a:pPr>
                      <a:r>
                        <a:rPr/>
                        <a:t>Rescue.Co vs non-ambulance</a:t>
                      </a:r>
                    </a:p>
                  </a:txBody>
                </a:tc>
                <a:tc>
                  <a:txBody>
                    <a:bodyPr/>
                    <a:lstStyle/>
                    <a:p>
                      <a:pPr lvl="0" indent="0" marL="0" algn="r">
                        <a:buNone/>
                      </a:pPr>
                      <a:r>
                        <a:rPr/>
                        <a:t>7,165</a:t>
                      </a:r>
                    </a:p>
                  </a:txBody>
                </a:tc>
                <a:tc>
                  <a:txBody>
                    <a:bodyPr/>
                    <a:lstStyle/>
                    <a:p>
                      <a:pPr lvl="0" indent="0" marL="0" algn="r">
                        <a:buNone/>
                      </a:pPr>
                      <a:r>
                        <a:rPr/>
                        <a:t>1,039</a:t>
                      </a:r>
                    </a:p>
                  </a:txBody>
                </a:tc>
              </a:tr>
              <a:tr h="0">
                <a:tc>
                  <a:txBody>
                    <a:bodyPr/>
                    <a:lstStyle/>
                    <a:p>
                      <a:pPr lvl="0" indent="0" marL="0">
                        <a:buNone/>
                      </a:pPr>
                      <a:r>
                        <a:rPr/>
                        <a:t>C3</a:t>
                      </a:r>
                    </a:p>
                  </a:txBody>
                </a:tc>
                <a:tc>
                  <a:txBody>
                    <a:bodyPr/>
                    <a:lstStyle/>
                    <a:p>
                      <a:pPr lvl="0" indent="0" marL="0">
                        <a:buNone/>
                      </a:pPr>
                      <a:r>
                        <a:rPr/>
                        <a:t>Any ambulance vs non-ambulance</a:t>
                      </a:r>
                    </a:p>
                  </a:txBody>
                </a:tc>
                <a:tc>
                  <a:txBody>
                    <a:bodyPr/>
                    <a:lstStyle/>
                    <a:p>
                      <a:pPr lvl="0" indent="0" marL="0" algn="r">
                        <a:buNone/>
                      </a:pPr>
                      <a:r>
                        <a:rPr/>
                        <a:t>8,323</a:t>
                      </a:r>
                    </a:p>
                  </a:txBody>
                </a:tc>
                <a:tc>
                  <a:txBody>
                    <a:bodyPr/>
                    <a:lstStyle/>
                    <a:p>
                      <a:pPr lvl="0" indent="0" marL="0" algn="r">
                        <a:buNone/>
                      </a:pPr>
                      <a:r>
                        <a:rPr/>
                        <a:t>2,197</a:t>
                      </a:r>
                    </a:p>
                  </a:txBody>
                </a:tc>
              </a:tr>
              <a:tr h="0">
                <a:tc>
                  <a:txBody>
                    <a:bodyPr/>
                    <a:lstStyle/>
                    <a:p>
                      <a:pPr lvl="0" indent="0" marL="0">
                        <a:buNone/>
                      </a:pPr>
                      <a:r>
                        <a:rPr/>
                        <a:t>C4</a:t>
                      </a:r>
                    </a:p>
                  </a:txBody>
                </a:tc>
                <a:tc>
                  <a:txBody>
                    <a:bodyPr/>
                    <a:lstStyle/>
                    <a:p>
                      <a:pPr lvl="0" indent="0" marL="0">
                        <a:buNone/>
                      </a:pPr>
                      <a:r>
                        <a:rPr/>
                        <a:t>Rescue.Co vs other ambulance, transfers included</a:t>
                      </a:r>
                    </a:p>
                  </a:txBody>
                </a:tc>
                <a:tc>
                  <a:txBody>
                    <a:bodyPr/>
                    <a:lstStyle/>
                    <a:p>
                      <a:pPr lvl="0" indent="0" marL="0" algn="r">
                        <a:buNone/>
                      </a:pPr>
                      <a:r>
                        <a:rPr/>
                        <a:t>2,197</a:t>
                      </a:r>
                    </a:p>
                  </a:txBody>
                </a:tc>
                <a:tc>
                  <a:txBody>
                    <a:bodyPr/>
                    <a:lstStyle/>
                    <a:p>
                      <a:pPr lvl="0" indent="0" marL="0" algn="r">
                        <a:buNone/>
                      </a:pPr>
                      <a:r>
                        <a:rPr/>
                        <a:t>1,039</a:t>
                      </a:r>
                    </a:p>
                  </a:txBody>
                </a:tc>
              </a:tr>
              <a:tr h="0">
                <a:tc>
                  <a:txBody>
                    <a:bodyPr/>
                    <a:lstStyle/>
                    <a:p>
                      <a:pPr lvl="0" indent="0" marL="0">
                        <a:buNone/>
                      </a:pPr>
                      <a:r>
                        <a:rPr/>
                        <a:t>Primary</a:t>
                      </a:r>
                    </a:p>
                  </a:txBody>
                </a:tc>
                <a:tc>
                  <a:txBody>
                    <a:bodyPr/>
                    <a:lstStyle/>
                    <a:p>
                      <a:pPr lvl="0" indent="0" marL="0">
                        <a:buNone/>
                      </a:pPr>
                      <a:r>
                        <a:rPr/>
                        <a:t>Rescue.Co vs other ambulance, transfers and prior care excluded</a:t>
                      </a:r>
                    </a:p>
                  </a:txBody>
                </a:tc>
                <a:tc>
                  <a:txBody>
                    <a:bodyPr/>
                    <a:lstStyle/>
                    <a:p>
                      <a:pPr lvl="0" indent="0" marL="0" algn="r">
                        <a:buNone/>
                      </a:pPr>
                      <a:r>
                        <a:rPr/>
                        <a:t>1,616</a:t>
                      </a:r>
                    </a:p>
                  </a:txBody>
                </a:tc>
                <a:tc>
                  <a:txBody>
                    <a:bodyPr/>
                    <a:lstStyle/>
                    <a:p>
                      <a:pPr lvl="0" indent="0" marL="0" algn="r">
                        <a:buNone/>
                      </a:pPr>
                      <a:r>
                        <a:rPr/>
                        <a:t>1,003</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 verdicts</a:t>
            </a:r>
          </a:p>
        </p:txBody>
      </p:sp>
      <p:pic>
        <p:nvPicPr>
          <p:cNvPr descr="cleanTMLE_presentation_files/figure-pptx/fig-support-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2: Share of each contrast outside the propensity band [0.05, 0.95]. Dotted lines mark the verdict thresholds: FLAG above 1%, SEVERE above 25%. Labels give the largest implied ATE weight.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protocol comparison places two-fifths of the sample outside the band. The declared trigger is met on C1 and C2 before any outcome is joined.</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never gets a Rescue.Co ambulance?</a:t>
            </a:r>
          </a:p>
        </p:txBody>
      </p:sp>
      <p:sp>
        <p:nvSpPr>
          <p:cNvPr id="3" name="Content Placeholder 2"/>
          <p:cNvSpPr>
            <a:spLocks noGrp="1"/>
          </p:cNvSpPr>
          <p:nvPr>
            <p:ph idx="1"/>
          </p:nvPr>
        </p:nvSpPr>
        <p:spPr/>
        <p:txBody>
          <a:bodyPr/>
          <a:lstStyle/>
          <a:p>
            <a:pPr lvl="0" indent="0" marL="0">
              <a:buNone/>
            </a:pPr>
            <a:r>
              <a:rPr/>
              <a:t>The tree search puts names on the C1 violation:</a:t>
            </a:r>
          </a:p>
          <a:p>
            <a:pPr lvl="0"/>
            <a:r>
              <a:rPr/>
              <a:t>injured at a private home, 1,386 patients, 1.4% treated</a:t>
            </a:r>
          </a:p>
          <a:p>
            <a:pPr lvl="0"/>
            <a:r>
              <a:rPr/>
              <a:t>other non-street injury places, 1,438 patients, 2.5% treated</a:t>
            </a:r>
          </a:p>
          <a:p>
            <a:pPr lvl="0"/>
            <a:r>
              <a:rPr/>
              <a:t>assault victims elsewhere, 1,062 patients, 4.2% treated</a:t>
            </a:r>
          </a:p>
          <a:p>
            <a:pPr lvl="0" indent="0" marL="0">
              <a:buNone/>
            </a:pPr>
            <a:r>
              <a:rPr/>
              <a:t>For these patients, “what if everyone were transported by Rescue.Co” has no answer in the data. A trimmed analysis removes 3,377 people, nearly all controls, and the design report describes them: 40% home injuries against 1% of those retained, more assaults, younger, farther away.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estimands survive the C1 fit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Estimand</a:t>
                      </a:r>
                    </a:p>
                  </a:txBody>
                  <a:tcPr/>
                </a:tc>
                <a:tc>
                  <a:txBody>
                    <a:bodyPr/>
                    <a:lstStyle/>
                    <a:p>
                      <a:pPr lvl="0" indent="0" marL="0" algn="r">
                        <a:buNone/>
                      </a:pPr>
                      <a:r>
                        <a:rPr/>
                        <a:t>Max weight</a:t>
                      </a:r>
                    </a:p>
                  </a:txBody>
                  <a:tcPr/>
                </a:tc>
                <a:tc>
                  <a:txBody>
                    <a:bodyPr/>
                    <a:lstStyle/>
                    <a:p>
                      <a:pPr lvl="0" indent="0" marL="0">
                        <a:buNone/>
                      </a:pPr>
                      <a:r>
                        <a:rPr/>
                        <a:t>Verdict</a:t>
                      </a:r>
                    </a:p>
                  </a:txBody>
                  <a:tcPr/>
                </a:tc>
              </a:tr>
              <a:tr h="0">
                <a:tc>
                  <a:txBody>
                    <a:bodyPr/>
                    <a:lstStyle/>
                    <a:p>
                      <a:pPr lvl="0" indent="0" marL="0">
                        <a:buNone/>
                      </a:pPr>
                      <a:r>
                        <a:rPr/>
                        <a:t>ATE</a:t>
                      </a:r>
                    </a:p>
                  </a:txBody>
                </a:tc>
                <a:tc>
                  <a:txBody>
                    <a:bodyPr/>
                    <a:lstStyle/>
                    <a:p>
                      <a:pPr lvl="0" indent="0" marL="0" algn="r">
                        <a:buNone/>
                      </a:pPr>
                      <a:r>
                        <a:rPr/>
                        <a:t>257</a:t>
                      </a:r>
                    </a:p>
                  </a:txBody>
                </a:tc>
                <a:tc>
                  <a:txBody>
                    <a:bodyPr/>
                    <a:lstStyle/>
                    <a:p>
                      <a:pPr lvl="0" indent="0" marL="0">
                        <a:buNone/>
                      </a:pPr>
                      <a:r>
                        <a:rPr/>
                        <a:t>SEVERE, infeasible</a:t>
                      </a:r>
                    </a:p>
                  </a:txBody>
                </a:tc>
              </a:tr>
              <a:tr h="0">
                <a:tc>
                  <a:txBody>
                    <a:bodyPr/>
                    <a:lstStyle/>
                    <a:p>
                      <a:pPr lvl="0" indent="0" marL="0">
                        <a:buNone/>
                      </a:pPr>
                      <a:r>
                        <a:rPr/>
                        <a:t>Trimmed ATE</a:t>
                      </a:r>
                    </a:p>
                  </a:txBody>
                </a:tc>
                <a:tc>
                  <a:txBody>
                    <a:bodyPr/>
                    <a:lstStyle/>
                    <a:p>
                      <a:pPr lvl="0" indent="0" marL="0" algn="r">
                        <a:buNone/>
                      </a:pPr>
                      <a:r>
                        <a:rPr/>
                        <a:t>20</a:t>
                      </a:r>
                    </a:p>
                  </a:txBody>
                </a:tc>
                <a:tc>
                  <a:txBody>
                    <a:bodyPr/>
                    <a:lstStyle/>
                    <a:p>
                      <a:pPr lvl="0" indent="0" marL="0">
                        <a:buNone/>
                      </a:pPr>
                      <a:r>
                        <a:rPr/>
                        <a:t>PASS, population changes</a:t>
                      </a:r>
                    </a:p>
                  </a:txBody>
                </a:tc>
              </a:tr>
              <a:tr h="0">
                <a:tc>
                  <a:txBody>
                    <a:bodyPr/>
                    <a:lstStyle/>
                    <a:p>
                      <a:pPr lvl="0" indent="0" marL="0">
                        <a:buNone/>
                      </a:pPr>
                      <a:r>
                        <a:rPr/>
                        <a:t>ATT</a:t>
                      </a:r>
                    </a:p>
                  </a:txBody>
                </a:tc>
                <a:tc>
                  <a:txBody>
                    <a:bodyPr/>
                    <a:lstStyle/>
                    <a:p>
                      <a:pPr lvl="0" indent="0" marL="0" algn="r">
                        <a:buNone/>
                      </a:pPr>
                      <a:r>
                        <a:rPr/>
                        <a:t>5.0</a:t>
                      </a:r>
                    </a:p>
                  </a:txBody>
                </a:tc>
                <a:tc>
                  <a:txBody>
                    <a:bodyPr/>
                    <a:lstStyle/>
                    <a:p>
                      <a:pPr lvl="0" indent="0" marL="0">
                        <a:buNone/>
                      </a:pPr>
                      <a:r>
                        <a:rPr/>
                        <a:t>PASS</a:t>
                      </a:r>
                    </a:p>
                  </a:txBody>
                </a:tc>
              </a:tr>
              <a:tr h="0">
                <a:tc>
                  <a:txBody>
                    <a:bodyPr/>
                    <a:lstStyle/>
                    <a:p>
                      <a:pPr lvl="0" indent="0" marL="0">
                        <a:buNone/>
                      </a:pPr>
                      <a:r>
                        <a:rPr/>
                        <a:t>ATO</a:t>
                      </a:r>
                    </a:p>
                  </a:txBody>
                </a:tc>
                <a:tc>
                  <a:txBody>
                    <a:bodyPr/>
                    <a:lstStyle/>
                    <a:p>
                      <a:pPr lvl="0" indent="0" marL="0" algn="r">
                        <a:buNone/>
                      </a:pPr>
                      <a:r>
                        <a:rPr/>
                        <a:t>1.0</a:t>
                      </a:r>
                    </a:p>
                  </a:txBody>
                </a:tc>
                <a:tc>
                  <a:txBody>
                    <a:bodyPr/>
                    <a:lstStyle/>
                    <a:p>
                      <a:pPr lvl="0" indent="0" marL="0">
                        <a:buNone/>
                      </a:pPr>
                      <a:r>
                        <a:rPr/>
                        <a:t>PASS</a:t>
                      </a:r>
                    </a:p>
                  </a:txBody>
                </a:tc>
              </a:tr>
              <a:tr h="0">
                <a:tc>
                  <a:txBody>
                    <a:bodyPr/>
                    <a:lstStyle/>
                    <a:p>
                      <a:pPr lvl="0" indent="0" marL="0">
                        <a:buNone/>
                      </a:pPr>
                      <a:r>
                        <a:rPr/>
                        <a:t>Matched ATT</a:t>
                      </a:r>
                    </a:p>
                  </a:txBody>
                </a:tc>
                <a:tc>
                  <a:txBody>
                    <a:bodyPr/>
                    <a:lstStyle/>
                    <a:p>
                      <a:pPr lvl="0" indent="0" marL="0" algn="r">
                        <a:buNone/>
                      </a:pPr>
                      <a:r>
                        <a:rPr/>
                        <a:t>1.0</a:t>
                      </a:r>
                    </a:p>
                  </a:txBody>
                </a:tc>
                <a:tc>
                  <a:txBody>
                    <a:bodyPr/>
                    <a:lstStyle/>
                    <a:p>
                      <a:pPr lvl="0" indent="0" marL="0">
                        <a:buNone/>
                      </a:pPr>
                      <a:r>
                        <a:rPr/>
                        <a:t>PASS, 95% of treated matched</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design supports an answer. Just not the one the protocol named.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exclusions, not the adjustment, removed the confounding</a:t>
            </a:r>
          </a:p>
        </p:txBody>
      </p:sp>
      <p:pic>
        <p:nvPicPr>
          <p:cNvPr descr="cleanTMLE_presentation_files/figure-pptx/fig-nc-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3: Two socioeconomic negative controls on the transfers-included contrast, refit on each nested cohort. Points are unadjusted risk differences with 95% intervals.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Both controls fail on the full cohort and turn null after the pre-registered transfer exclusion. On C1, the urban-household control fails and no restriction repairs it. Two rare controls are labelled inestimable rather than dropped.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 processes stay out of the adjustment set</a:t>
            </a:r>
          </a:p>
        </p:txBody>
      </p:sp>
      <p:sp>
        <p:nvSpPr>
          <p:cNvPr id="3" name="Content Placeholder 2"/>
          <p:cNvSpPr>
            <a:spLocks noGrp="1"/>
          </p:cNvSpPr>
          <p:nvPr>
            <p:ph idx="1"/>
          </p:nvPr>
        </p:nvSpPr>
        <p:spPr/>
        <p:txBody>
          <a:bodyPr/>
          <a:lstStyle/>
          <a:p>
            <a:pPr lvl="0" indent="0" marL="0">
              <a:buNone/>
            </a:pPr>
            <a:r>
              <a:rPr/>
              <a:t>Vitals recorded within an hour, and blood-pressure missingness, are predicted by treatment on three of the five contrasts (standardised differences up to 0.34). Transport mode changes the care process.</a:t>
            </a:r>
          </a:p>
          <a:p>
            <a:pPr lvl="0" indent="0" marL="0">
              <a:buNone/>
            </a:pPr>
            <a:r>
              <a:rPr/>
              <a:t>Conditioning on them would open collider paths through in-hospital care, so the locks keep them out, and the check documents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pre-outcome decisions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Contrast</a:t>
                      </a:r>
                    </a:p>
                  </a:txBody>
                  <a:tcPr/>
                </a:tc>
                <a:tc>
                  <a:txBody>
                    <a:bodyPr/>
                    <a:lstStyle/>
                    <a:p>
                      <a:pPr lvl="0" indent="0" marL="0">
                        <a:buNone/>
                      </a:pPr>
                      <a:r>
                        <a:rPr/>
                        <a:t>Recommendation</a:t>
                      </a:r>
                    </a:p>
                  </a:txBody>
                  <a:tcPr/>
                </a:tc>
              </a:tr>
              <a:tr h="0">
                <a:tc>
                  <a:txBody>
                    <a:bodyPr/>
                    <a:lstStyle/>
                    <a:p>
                      <a:pPr lvl="0" indent="0" marL="0">
                        <a:buNone/>
                      </a:pPr>
                      <a:r>
                        <a:rPr/>
                        <a:t>Primary</a:t>
                      </a:r>
                    </a:p>
                  </a:txBody>
                </a:tc>
                <a:tc>
                  <a:txBody>
                    <a:bodyPr/>
                    <a:lstStyle/>
                    <a:p>
                      <a:pPr lvl="0" indent="0" marL="0">
                        <a:buNone/>
                      </a:pPr>
                      <a:r>
                        <a:rPr/>
                        <a:t>Proceed</a:t>
                      </a:r>
                    </a:p>
                  </a:txBody>
                </a:tc>
              </a:tr>
              <a:tr h="0">
                <a:tc>
                  <a:txBody>
                    <a:bodyPr/>
                    <a:lstStyle/>
                    <a:p>
                      <a:pPr lvl="0" indent="0" marL="0">
                        <a:buNone/>
                      </a:pPr>
                      <a:r>
                        <a:rPr/>
                        <a:t>C3, C4</a:t>
                      </a:r>
                    </a:p>
                  </a:txBody>
                </a:tc>
                <a:tc>
                  <a:txBody>
                    <a:bodyPr/>
                    <a:lstStyle/>
                    <a:p>
                      <a:pPr lvl="0" indent="0" marL="0">
                        <a:buNone/>
                      </a:pPr>
                      <a:r>
                        <a:rPr/>
                        <a:t>Proceed, FLAG caveat attached</a:t>
                      </a:r>
                    </a:p>
                  </a:txBody>
                </a:tc>
              </a:tr>
              <a:tr h="0">
                <a:tc>
                  <a:txBody>
                    <a:bodyPr/>
                    <a:lstStyle/>
                    <a:p>
                      <a:pPr lvl="0" indent="0" marL="0">
                        <a:buNone/>
                      </a:pPr>
                      <a:r>
                        <a:rPr/>
                        <a:t>C1, C2</a:t>
                      </a:r>
                    </a:p>
                  </a:txBody>
                </a:tc>
                <a:tc>
                  <a:txBody>
                    <a:bodyPr/>
                    <a:lstStyle/>
                    <a:p>
                      <a:pPr lvl="0" indent="0" marL="0">
                        <a:buNone/>
                      </a:pPr>
                      <a:r>
                        <a:rPr/>
                        <a:t>Proceed with qualification. The ATE is not supported; the ladder moves to trimmed ATE, then ATT, then ATO, and the switch is logged with the SEVERE verdict as its trigger</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fixed before the outcome store was joined.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Six-month mortality, down the ladder</a:t>
            </a:r>
          </a:p>
        </p:txBody>
      </p:sp>
      <p:pic>
        <p:nvPicPr>
          <p:cNvPr descr="cleanTMLE_presentation_files/figure-pptx/fig-forest-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4: Risk differences with 95% intervals, one row per feasible estimand per contrast. Negative favours Rescue.Co.</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C2 reports no ATE at all. The C1 ATE appears once, as a logged override kept so the two pipelines can be reconciled; it carries its SEVERE label and a standard error several times larger than the bounded rows beside it.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disaster outcome, re-analysed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l">
                        <a:buNone/>
                      </a:pPr>
                      <a:r>
                        <a:rPr/>
                        <a:t>Minutes</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Flagged</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l">
                        <a:buNone/>
                      </a:pPr>
                      <a:r>
                        <a:rPr/>
                        <a:t>-183.5</a:t>
                      </a:r>
                    </a:p>
                  </a:txBody>
                </a:tc>
                <a:tc>
                  <a:txBody>
                    <a:bodyPr/>
                    <a:lstStyle/>
                    <a:p>
                      <a:pPr lvl="0" indent="0" marL="0" algn="l">
                        <a:buNone/>
                      </a:pPr>
                      <a:r>
                        <a:rPr/>
                        <a:t>-400.4</a:t>
                      </a:r>
                    </a:p>
                  </a:txBody>
                </a:tc>
                <a:tc>
                  <a:txBody>
                    <a:bodyPr/>
                    <a:lstStyle/>
                    <a:p>
                      <a:pPr lvl="0" indent="0" marL="0" algn="l">
                        <a:buNone/>
                      </a:pPr>
                      <a:r>
                        <a:rPr/>
                        <a:t>33.5</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l">
                        <a:buNone/>
                      </a:pPr>
                      <a:r>
                        <a:rPr/>
                        <a:t>-270.4</a:t>
                      </a:r>
                    </a:p>
                  </a:txBody>
                </a:tc>
                <a:tc>
                  <a:txBody>
                    <a:bodyPr/>
                    <a:lstStyle/>
                    <a:p>
                      <a:pPr lvl="0" indent="0" marL="0" algn="l">
                        <a:buNone/>
                      </a:pPr>
                      <a:r>
                        <a:rPr/>
                        <a:t>-313.4</a:t>
                      </a:r>
                    </a:p>
                  </a:txBody>
                </a:tc>
                <a:tc>
                  <a:txBody>
                    <a:bodyPr/>
                    <a:lstStyle/>
                    <a:p>
                      <a:pPr lvl="0" indent="0" marL="0" algn="l">
                        <a:buNone/>
                      </a:pPr>
                      <a:r>
                        <a:rPr/>
                        <a:t>-227.4</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l">
                        <a:buNone/>
                      </a:pPr>
                      <a:r>
                        <a:rPr/>
                        <a:t>-219.0</a:t>
                      </a:r>
                    </a:p>
                  </a:txBody>
                </a:tc>
                <a:tc>
                  <a:txBody>
                    <a:bodyPr/>
                    <a:lstStyle/>
                    <a:p>
                      <a:pPr lvl="0" indent="0" marL="0" algn="l">
                        <a:buNone/>
                      </a:pPr>
                      <a:r>
                        <a:rPr/>
                        <a:t>-268.1</a:t>
                      </a:r>
                    </a:p>
                  </a:txBody>
                </a:tc>
                <a:tc>
                  <a:txBody>
                    <a:bodyPr/>
                    <a:lstStyle/>
                    <a:p>
                      <a:pPr lvl="0" indent="0" marL="0" algn="l">
                        <a:buNone/>
                      </a:pPr>
                      <a:r>
                        <a:rPr/>
                        <a:t>-170.0</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l">
                        <a:buNone/>
                      </a:pPr>
                      <a:r>
                        <a:rPr/>
                        <a:t>-198.8</a:t>
                      </a:r>
                    </a:p>
                  </a:txBody>
                </a:tc>
                <a:tc>
                  <a:txBody>
                    <a:bodyPr/>
                    <a:lstStyle/>
                    <a:p>
                      <a:pPr lvl="0" indent="0" marL="0" algn="l">
                        <a:buNone/>
                      </a:pPr>
                      <a:r>
                        <a:rPr/>
                        <a:t>-255.3</a:t>
                      </a:r>
                    </a:p>
                  </a:txBody>
                </a:tc>
                <a:tc>
                  <a:txBody>
                    <a:bodyPr/>
                    <a:lstStyle/>
                    <a:p>
                      <a:pPr lvl="0" indent="0" marL="0" algn="l">
                        <a:buNone/>
                      </a:pPr>
                      <a:r>
                        <a:rPr/>
                        <a:t>-142.3</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l">
                        <a:buNone/>
                      </a:pPr>
                      <a:r>
                        <a:rPr/>
                        <a:t>-278.8</a:t>
                      </a:r>
                    </a:p>
                  </a:txBody>
                </a:tc>
                <a:tc>
                  <a:txBody>
                    <a:bodyPr/>
                    <a:lstStyle/>
                    <a:p>
                      <a:pPr lvl="0" indent="0" marL="0" algn="l">
                        <a:buNone/>
                      </a:pPr>
                      <a:r>
                        <a:rPr/>
                        <a:t>-346.7</a:t>
                      </a:r>
                    </a:p>
                  </a:txBody>
                </a:tc>
                <a:tc>
                  <a:txBody>
                    <a:bodyPr/>
                    <a:lstStyle/>
                    <a:p>
                      <a:pPr lvl="0" indent="0" marL="0" algn="l">
                        <a:buNone/>
                      </a:pPr>
                      <a:r>
                        <a:rPr/>
                        <a:t>-210.8</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l">
                        <a:buNone/>
                      </a:pPr>
                      <a:r>
                        <a:rPr/>
                        <a:t>-272.4</a:t>
                      </a:r>
                    </a:p>
                  </a:txBody>
                </a:tc>
                <a:tc>
                  <a:txBody>
                    <a:bodyPr/>
                    <a:lstStyle/>
                    <a:p>
                      <a:pPr lvl="0" indent="0" marL="0" algn="l">
                        <a:buNone/>
                      </a:pPr>
                      <a:r>
                        <a:rPr/>
                        <a:t>-328.8</a:t>
                      </a:r>
                    </a:p>
                  </a:txBody>
                </a:tc>
                <a:tc>
                  <a:txBody>
                    <a:bodyPr/>
                    <a:lstStyle/>
                    <a:p>
                      <a:pPr lvl="0" indent="0" marL="0" algn="l">
                        <a:buNone/>
                      </a:pPr>
                      <a:r>
                        <a:rPr/>
                        <a:t>-215.9</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l">
                        <a:buNone/>
                      </a:pPr>
                      <a:r>
                        <a:rPr/>
                        <a:t>-250.1</a:t>
                      </a:r>
                    </a:p>
                  </a:txBody>
                </a:tc>
                <a:tc>
                  <a:txBody>
                    <a:bodyPr/>
                    <a:lstStyle/>
                    <a:p>
                      <a:pPr lvl="0" indent="0" marL="0" algn="l">
                        <a:buNone/>
                      </a:pPr>
                      <a:r>
                        <a:rPr/>
                        <a:t>-315.5</a:t>
                      </a:r>
                    </a:p>
                  </a:txBody>
                </a:tc>
                <a:tc>
                  <a:txBody>
                    <a:bodyPr/>
                    <a:lstStyle/>
                    <a:p>
                      <a:pPr lvl="0" indent="0" marL="0" algn="l">
                        <a:buNone/>
                      </a:pPr>
                      <a:r>
                        <a:rPr/>
                        <a:t>-184.7</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l">
                        <a:buNone/>
                      </a:pPr>
                      <a:r>
                        <a:rPr/>
                        <a:t>-244.8</a:t>
                      </a:r>
                    </a:p>
                  </a:txBody>
                </a:tc>
                <a:tc>
                  <a:txBody>
                    <a:bodyPr/>
                    <a:lstStyle/>
                    <a:p>
                      <a:pPr lvl="0" indent="0" marL="0" algn="l">
                        <a:buNone/>
                      </a:pPr>
                      <a:r>
                        <a:rPr/>
                        <a:t>-320.5</a:t>
                      </a:r>
                    </a:p>
                  </a:txBody>
                </a:tc>
                <a:tc>
                  <a:txBody>
                    <a:bodyPr/>
                    <a:lstStyle/>
                    <a:p>
                      <a:pPr lvl="0" indent="0" marL="0" algn="l">
                        <a:buNone/>
                      </a:pPr>
                      <a:r>
                        <a:rPr/>
                        <a:t>-169.1</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l">
                        <a:buNone/>
                      </a:pPr>
                      <a:r>
                        <a:rPr/>
                        <a:t>-242.1</a:t>
                      </a:r>
                    </a:p>
                  </a:txBody>
                </a:tc>
                <a:tc>
                  <a:txBody>
                    <a:bodyPr/>
                    <a:lstStyle/>
                    <a:p>
                      <a:pPr lvl="0" indent="0" marL="0" algn="l">
                        <a:buNone/>
                      </a:pPr>
                      <a:r>
                        <a:rPr/>
                        <a:t>-312.2</a:t>
                      </a:r>
                    </a:p>
                  </a:txBody>
                </a:tc>
                <a:tc>
                  <a:txBody>
                    <a:bodyPr/>
                    <a:lstStyle/>
                    <a:p>
                      <a:pPr lvl="0" indent="0" marL="0" algn="l">
                        <a:buNone/>
                      </a:pPr>
                      <a:r>
                        <a:rPr/>
                        <a:t>-171.9</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l">
                        <a:buNone/>
                      </a:pPr>
                      <a:r>
                        <a:rPr/>
                        <a:t>-295.8</a:t>
                      </a:r>
                    </a:p>
                  </a:txBody>
                </a:tc>
                <a:tc>
                  <a:txBody>
                    <a:bodyPr/>
                    <a:lstStyle/>
                    <a:p>
                      <a:pPr lvl="0" indent="0" marL="0" algn="l">
                        <a:buNone/>
                      </a:pPr>
                      <a:r>
                        <a:rPr/>
                        <a:t>-381.6</a:t>
                      </a:r>
                    </a:p>
                  </a:txBody>
                </a:tc>
                <a:tc>
                  <a:txBody>
                    <a:bodyPr/>
                    <a:lstStyle/>
                    <a:p>
                      <a:pPr lvl="0" indent="0" marL="0" algn="l">
                        <a:buNone/>
                      </a:pPr>
                      <a:r>
                        <a:rPr/>
                        <a:t>-210.0</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l">
                        <a:buNone/>
                      </a:pPr>
                      <a:r>
                        <a:rPr/>
                        <a:t>-248.2</a:t>
                      </a:r>
                    </a:p>
                  </a:txBody>
                </a:tc>
                <a:tc>
                  <a:txBody>
                    <a:bodyPr/>
                    <a:lstStyle/>
                    <a:p>
                      <a:pPr lvl="0" indent="0" marL="0" algn="l">
                        <a:buNone/>
                      </a:pPr>
                      <a:r>
                        <a:rPr/>
                        <a:t>-316.7</a:t>
                      </a:r>
                    </a:p>
                  </a:txBody>
                </a:tc>
                <a:tc>
                  <a:txBody>
                    <a:bodyPr/>
                    <a:lstStyle/>
                    <a:p>
                      <a:pPr lvl="0" indent="0" marL="0" algn="l">
                        <a:buNone/>
                      </a:pPr>
                      <a:r>
                        <a:rPr/>
                        <a:t>-179.7</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l">
                        <a:buNone/>
                      </a:pPr>
                      <a:r>
                        <a:rPr/>
                        <a:t>-204.7</a:t>
                      </a:r>
                    </a:p>
                  </a:txBody>
                </a:tc>
                <a:tc>
                  <a:txBody>
                    <a:bodyPr/>
                    <a:lstStyle/>
                    <a:p>
                      <a:pPr lvl="0" indent="0" marL="0" algn="l">
                        <a:buNone/>
                      </a:pPr>
                      <a:r>
                        <a:rPr/>
                        <a:t>-284.0</a:t>
                      </a:r>
                    </a:p>
                  </a:txBody>
                </a:tc>
                <a:tc>
                  <a:txBody>
                    <a:bodyPr/>
                    <a:lstStyle/>
                    <a:p>
                      <a:pPr lvl="0" indent="0" marL="0" algn="l">
                        <a:buNone/>
                      </a:pPr>
                      <a:r>
                        <a:rPr/>
                        <a:t>-125.3</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l">
                        <a:buNone/>
                      </a:pPr>
                      <a:r>
                        <a:rPr/>
                        <a:t>-134.3</a:t>
                      </a:r>
                    </a:p>
                  </a:txBody>
                </a:tc>
                <a:tc>
                  <a:txBody>
                    <a:bodyPr/>
                    <a:lstStyle/>
                    <a:p>
                      <a:pPr lvl="0" indent="0" marL="0" algn="l">
                        <a:buNone/>
                      </a:pPr>
                      <a:r>
                        <a:rPr/>
                        <a:t>-220.6</a:t>
                      </a:r>
                    </a:p>
                  </a:txBody>
                </a:tc>
                <a:tc>
                  <a:txBody>
                    <a:bodyPr/>
                    <a:lstStyle/>
                    <a:p>
                      <a:pPr lvl="0" indent="0" marL="0" algn="l">
                        <a:buNone/>
                      </a:pPr>
                      <a:r>
                        <a:rPr/>
                        <a:t>-48.0</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l">
                        <a:buNone/>
                      </a:pPr>
                      <a:r>
                        <a:rPr/>
                        <a:t>-99.7</a:t>
                      </a:r>
                    </a:p>
                  </a:txBody>
                </a:tc>
                <a:tc>
                  <a:txBody>
                    <a:bodyPr/>
                    <a:lstStyle/>
                    <a:p>
                      <a:pPr lvl="0" indent="0" marL="0" algn="l">
                        <a:buNone/>
                      </a:pPr>
                      <a:r>
                        <a:rPr/>
                        <a:t>-158.9</a:t>
                      </a:r>
                    </a:p>
                  </a:txBody>
                </a:tc>
                <a:tc>
                  <a:txBody>
                    <a:bodyPr/>
                    <a:lstStyle/>
                    <a:p>
                      <a:pPr lvl="0" indent="0" marL="0" algn="l">
                        <a:buNone/>
                      </a:pPr>
                      <a:r>
                        <a:rPr/>
                        <a:t>-40.5</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l">
                        <a:buNone/>
                      </a:pPr>
                      <a:r>
                        <a:rPr/>
                        <a:t>-89.7</a:t>
                      </a:r>
                    </a:p>
                  </a:txBody>
                </a:tc>
                <a:tc>
                  <a:txBody>
                    <a:bodyPr/>
                    <a:lstStyle/>
                    <a:p>
                      <a:pPr lvl="0" indent="0" marL="0" algn="l">
                        <a:buNone/>
                      </a:pPr>
                      <a:r>
                        <a:rPr/>
                        <a:t>-165.8</a:t>
                      </a:r>
                    </a:p>
                  </a:txBody>
                </a:tc>
                <a:tc>
                  <a:txBody>
                    <a:bodyPr/>
                    <a:lstStyle/>
                    <a:p>
                      <a:pPr lvl="0" indent="0" marL="0" algn="l">
                        <a:buNone/>
                      </a:pPr>
                      <a:r>
                        <a:rPr/>
                        <a:t>-13.6</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l">
                        <a:buNone/>
                      </a:pPr>
                      <a:r>
                        <a:rPr/>
                        <a:t>-0.1</a:t>
                      </a:r>
                    </a:p>
                  </a:txBody>
                </a:tc>
                <a:tc>
                  <a:txBody>
                    <a:bodyPr/>
                    <a:lstStyle/>
                    <a:p>
                      <a:pPr lvl="0" indent="0" marL="0" algn="l">
                        <a:buNone/>
                      </a:pPr>
                      <a:r>
                        <a:rPr/>
                        <a:t>-31.6</a:t>
                      </a:r>
                    </a:p>
                  </a:txBody>
                </a:tc>
                <a:tc>
                  <a:txBody>
                    <a:bodyPr/>
                    <a:lstStyle/>
                    <a:p>
                      <a:pPr lvl="0" indent="0" marL="0" algn="l">
                        <a:buNone/>
                      </a:pPr>
                      <a:r>
                        <a:rPr/>
                        <a:t>31.5</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l">
                        <a:buNone/>
                      </a:pPr>
                      <a:r>
                        <a:rPr/>
                        <a:t>-2.8</a:t>
                      </a:r>
                    </a:p>
                  </a:txBody>
                </a:tc>
                <a:tc>
                  <a:txBody>
                    <a:bodyPr/>
                    <a:lstStyle/>
                    <a:p>
                      <a:pPr lvl="0" indent="0" marL="0" algn="l">
                        <a:buNone/>
                      </a:pPr>
                      <a:r>
                        <a:rPr/>
                        <a:t>-34.4</a:t>
                      </a:r>
                    </a:p>
                  </a:txBody>
                </a:tc>
                <a:tc>
                  <a:txBody>
                    <a:bodyPr/>
                    <a:lstStyle/>
                    <a:p>
                      <a:pPr lvl="0" indent="0" marL="0" algn="l">
                        <a:buNone/>
                      </a:pPr>
                      <a:r>
                        <a:rPr/>
                        <a:t>28.7</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l">
                        <a:buNone/>
                      </a:pPr>
                      <a:r>
                        <a:rPr/>
                        <a:t>-4.0</a:t>
                      </a:r>
                    </a:p>
                  </a:txBody>
                </a:tc>
                <a:tc>
                  <a:txBody>
                    <a:bodyPr/>
                    <a:lstStyle/>
                    <a:p>
                      <a:pPr lvl="0" indent="0" marL="0" algn="l">
                        <a:buNone/>
                      </a:pPr>
                      <a:r>
                        <a:rPr/>
                        <a:t>-35.1</a:t>
                      </a:r>
                    </a:p>
                  </a:txBody>
                </a:tc>
                <a:tc>
                  <a:txBody>
                    <a:bodyPr/>
                    <a:lstStyle/>
                    <a:p>
                      <a:pPr lvl="0" indent="0" marL="0" algn="l">
                        <a:buNone/>
                      </a:pPr>
                      <a:r>
                        <a:rPr/>
                        <a:t>27.1</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l">
                        <a:buNone/>
                      </a:pPr>
                      <a:r>
                        <a:rPr/>
                        <a:t>2.6</a:t>
                      </a:r>
                    </a:p>
                  </a:txBody>
                </a:tc>
                <a:tc>
                  <a:txBody>
                    <a:bodyPr/>
                    <a:lstStyle/>
                    <a:p>
                      <a:pPr lvl="0" indent="0" marL="0" algn="l">
                        <a:buNone/>
                      </a:pPr>
                      <a:r>
                        <a:rPr/>
                        <a:t>-34.4</a:t>
                      </a:r>
                    </a:p>
                  </a:txBody>
                </a:tc>
                <a:tc>
                  <a:txBody>
                    <a:bodyPr/>
                    <a:lstStyle/>
                    <a:p>
                      <a:pPr lvl="0" indent="0" marL="0" algn="l">
                        <a:buNone/>
                      </a:pPr>
                      <a:r>
                        <a:rPr/>
                        <a:t>39.6</a:t>
                      </a:r>
                    </a:p>
                  </a:txBody>
                </a:tc>
                <a:tc>
                  <a:txBody>
                    <a:bodyPr/>
                    <a:lstStyle/>
                    <a:p>
                      <a:pPr lvl="0" indent="0" marL="0" algn="l">
                        <a:buNone/>
                      </a:pPr>
                      <a:r>
                        <a:rPr/>
                        <a:t>FALSE</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Time to arrival once returned +14,637 minutes. Down the ladder, the bounded estimands agree that Rescue.Co arrives three to four and a half hours sooner, the override-only ATE row shows its strain in the interval width, and the implausibility guard checks every row against the raw arm summaries. Any one of its checks would have caught the original failure.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simulation trap, on real data</a:t>
            </a:r>
          </a:p>
        </p:txBody>
      </p:sp>
      <p:pic>
        <p:nvPicPr>
          <p:cNvPr descr="cleanTMLE_presentation_files/figure-pptx/fig-designcmp-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5: Coverage under the stressed outcome surface, 200 replicates per design. Keeping the observed treatment degrades every estimand, on the sound design too.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support map built on the kept-treatment design would declare sound designs infeasible. It manufactures the failure it was asked to detect.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workflow audited its own earlier mistake</a:t>
            </a:r>
          </a:p>
        </p:txBody>
      </p:sp>
      <p:sp>
        <p:nvSpPr>
          <p:cNvPr id="3" name="Content Placeholder 2"/>
          <p:cNvSpPr>
            <a:spLocks noGrp="1"/>
          </p:cNvSpPr>
          <p:nvPr>
            <p:ph idx="1"/>
          </p:nvPr>
        </p:nvSpPr>
        <p:spPr/>
        <p:txBody>
          <a:bodyPr/>
          <a:lstStyle/>
          <a:p>
            <a:pPr lvl="0" indent="0" marL="0">
              <a:buNone/>
            </a:pPr>
            <a:r>
              <a:rPr/>
              <a:t>The earlier single-contrast run had a design flaw. Its primary outcome was the common category of a 92%-prevalence dichotomy, the cohort-adequacy check recorded a stop, and the pipeline proceeded through an unlogged override.</a:t>
            </a:r>
          </a:p>
          <a:p>
            <a:pPr lvl="0" indent="0" marL="0">
              <a:buNone/>
            </a:pPr>
            <a:r>
              <a:rPr/>
              <a:t>The rebuild’s reconciliation surfaced this because the record kept both entries, the stop and the estimate, with nothing between them. The fix went to the design: mortality became the primary outcome, and overrides now require a logged reason. The record makes gaps findable, including the workflow’s own.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reads the case study</a:t>
            </a:r>
          </a:p>
        </p:txBody>
      </p:sp>
      <p:sp>
        <p:nvSpPr>
          <p:cNvPr id="3" name="Content Placeholder 2"/>
          <p:cNvSpPr>
            <a:spLocks noGrp="1"/>
          </p:cNvSpPr>
          <p:nvPr>
            <p:ph idx="1"/>
          </p:nvPr>
        </p:nvSpPr>
        <p:spPr/>
        <p:txBody>
          <a:bodyPr/>
          <a:lstStyle/>
          <a:p>
            <a:pPr lvl="0"/>
            <a:r>
              <a:rPr/>
              <a:t>Every verdict, declaration, and switch was fixed and logged before the outcome store was joined.</a:t>
            </a:r>
          </a:p>
          <a:p>
            <a:pPr lvl="0"/>
            <a:r>
              <a:rPr/>
              <a:t>The protocol’s primary comparison was refused on the record, with the evidence attached, and the reported estimands are labelled with the populations they describe.</a:t>
            </a:r>
          </a:p>
          <a:p>
            <a:pPr lvl="0"/>
            <a:r>
              <a:rPr/>
              <a:t>Where the two pipelines are comparable, the clean-room estimates agree with the parallel unblinded analysis to within fractions of a standard error, tracked row by row in a released reconciliation table.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Where this sits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 by side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a:t>cleanTMLE</a:t>
                      </a:r>
                    </a:p>
                  </a:txBody>
                  <a:tcPr/>
                </a:tc>
              </a:tr>
              <a:tr h="0">
                <a:tc>
                  <a:txBody>
                    <a:bodyPr/>
                    <a:lstStyle/>
                    <a:p>
                      <a:pPr lvl="0" indent="0" marL="0">
                        <a:buNone/>
                      </a:pPr>
                      <a:r>
                        <a:rPr/>
                        <a:t>Targeted-learning estimation</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Cohort grammar, cumulative-risk reporting</a:t>
                      </a:r>
                    </a:p>
                  </a:txBody>
                </a:tc>
                <a:tc>
                  <a:txBody>
                    <a:bodyPr/>
                    <a:lstStyle/>
                    <a:p>
                      <a:pPr lvl="0" indent="0" marL="0" algn="ctr">
                        <a:buNone/>
                      </a:pPr>
                      <a:r>
                        <a:rPr/>
                        <a:t>partial</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Graded support verdict, per-estimand feasibility</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Pre-registered estimand ladder, logged switching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Outcome-blind support map</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Plasmode candidate selection, DQ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Fingerprinted lock and design log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yes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TMLE estimation is a decade old; the staged idea is published guidance. The new part is answering the estimability question inside the blind phase, with the record to prove when it was answered.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it, and its limits</a:t>
            </a:r>
          </a:p>
        </p:txBody>
      </p:sp>
      <p:sp>
        <p:nvSpPr>
          <p:cNvPr id="3" name="Content Placeholder 2"/>
          <p:cNvSpPr>
            <a:spLocks noGrp="1"/>
          </p:cNvSpPr>
          <p:nvPr>
            <p:ph idx="1"/>
          </p:nvPr>
        </p:nvSpPr>
        <p:spPr/>
        <p:txBody>
          <a:bodyPr/>
          <a:lstStyle/>
          <a:p>
            <a:pPr lvl="0" indent="0" marL="0">
              <a:buNone/>
            </a:pPr>
            <a:r>
              <a:rPr/>
              <a:t>Use it when a reviewer will ask whether a decision was made before you saw the answer: estimator and estimand choices in observational studies, SAP development, real-world evidence work.</a:t>
            </a:r>
          </a:p>
          <a:p>
            <a:pPr lvl="0" indent="0" marL="0">
              <a:buNone/>
            </a:pPr>
            <a:r>
              <a:rPr/>
              <a:t>It does not automate design, validate data or phenotypes, guarantee assumptions, or replace negative controls and post-outcome sensitivity analysis. For confirmatory studies it belongs inside institutional governance, with role separation and independent review. An </a:t>
            </a:r>
            <a:r>
              <a:rPr>
                <a:latin typeface="Courier"/>
              </a:rPr>
              <a:t>enforce = TRUE</a:t>
            </a:r>
            <a:r>
              <a:rPr/>
              <a:t> mode withholds estimation until a recorded design review, where institutions want that in software.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a:t>The harshest support-map surfaces behave like strong unmeasured confounding, so a whole-grid pass rule conflates two threats. How should the plausible region be elicited and pre-registered?</a:t>
            </a:r>
          </a:p>
          <a:p>
            <a:pPr lvl="0" indent="-342900" marL="342900">
              <a:buAutoNum type="arabicPeriod"/>
            </a:pPr>
            <a:r>
              <a:rPr/>
              <a:t>Is SEVERE the right default trigger, and trimmed ATE, ATT, ATO the right default order?</a:t>
            </a:r>
          </a:p>
          <a:p>
            <a:pPr lvl="0" indent="-342900" marL="342900">
              <a:buAutoNum type="arabicPeriod"/>
            </a:pPr>
            <a:r>
              <a:rPr/>
              <a:t>How should severity ranges for the stress test be documented so a reviewer accepts them?</a:t>
            </a:r>
          </a:p>
          <a:p>
            <a:pPr lvl="0" indent="-342900" marL="342900">
              <a:buAutoNum type="arabicPeriod"/>
            </a:pPr>
            <a:r>
              <a:rPr/>
              <a:t>The matched ATT is the most robust rung on every map here and the least interpretable population. Sensitivity analysis, or candidate primary?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r>
              <a:rPr/>
              <a:t> (v0.2.0)</a:t>
            </a:r>
          </a:p>
          <a:p>
            <a:pPr lvl="0"/>
            <a:r>
              <a:rPr/>
              <a:t>Manuscript draft: </a:t>
            </a:r>
            <a:r>
              <a:rPr>
                <a:latin typeface="Courier"/>
              </a:rPr>
              <a:t>reports/manuscript_outcome_blind_dq.qmd</a:t>
            </a:r>
          </a:p>
          <a:p>
            <a:pPr lvl="0"/>
            <a:r>
              <a:rPr/>
              <a:t>Case-study artifacts: </a:t>
            </a:r>
            <a:r>
              <a:rPr>
                <a:latin typeface="Courier"/>
              </a:rPr>
              <a:t>rescueCo/results/multiarm/</a:t>
            </a:r>
          </a:p>
          <a:p>
            <a:pPr lvl="0"/>
            <a:r>
              <a:rPr/>
              <a:t>Vignettes: staged workflow, and the function reference</a:t>
            </a:r>
          </a:p>
          <a:p>
            <a:pPr lvl="0" indent="0" marL="0">
              <a:buNone/>
            </a:pPr>
            <a:r>
              <a:rPr/>
              <a:t>Thank you. Questions and pushback welcome.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Concepts and alignment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a:t>
                      </a:r>
                    </a:p>
                  </a:txBody>
                </a:tc>
              </a:tr>
              <a:tr h="0">
                <a:tc>
                  <a:txBody>
                    <a:bodyPr/>
                    <a:lstStyle/>
                    <a:p>
                      <a:pPr lvl="0" indent="0" marL="0">
                        <a:buNone/>
                      </a:pPr>
                      <a:r>
                        <a:rPr/>
                        <a:t>Causal estimand</a:t>
                      </a:r>
                    </a:p>
                  </a:txBody>
                </a:tc>
                <a:tc>
                  <a:txBody>
                    <a:bodyPr/>
                    <a:lstStyle/>
                    <a:p>
                      <a:pPr lvl="0" indent="0" marL="0">
                        <a:buNone/>
                      </a:pPr>
                      <a:r>
                        <a:rPr/>
                        <a:t>Counterfactual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estimand equals an observed-data parameter.</a:t>
                      </a:r>
                    </a:p>
                  </a:txBody>
                </a:tc>
              </a:tr>
              <a:tr h="0">
                <a:tc>
                  <a:txBody>
                    <a:bodyPr/>
                    <a:lstStyle/>
                    <a:p>
                      <a:pPr lvl="0" indent="0" marL="0">
                        <a:buNone/>
                      </a:pPr>
                      <a:r>
                        <a:rPr/>
                        <a:t>Statistical estimand</a:t>
                      </a:r>
                    </a:p>
                  </a:txBody>
                </a:tc>
                <a:tc>
                  <a:txBody>
                    <a:bodyPr/>
                    <a:lstStyle/>
                    <a:p>
                      <a:pPr lvl="0" indent="0" marL="0">
                        <a:buNone/>
                      </a:pPr>
                      <a:r>
                        <a:rPr/>
                        <a:t>That observed-data parameter.</a:t>
                      </a:r>
                    </a:p>
                  </a:txBody>
                </a:tc>
              </a:tr>
              <a:tr h="0">
                <a:tc>
                  <a:txBody>
                    <a:bodyPr/>
                    <a:lstStyle/>
                    <a:p>
                      <a:pPr lvl="0" indent="0" marL="0">
                        <a:buNone/>
                      </a:pPr>
                      <a:r>
                        <a:rPr/>
                        <a:t>Estimand ladder</a:t>
                      </a:r>
                    </a:p>
                  </a:txBody>
                </a:tc>
                <a:tc>
                  <a:txBody>
                    <a:bodyPr/>
                    <a:lstStyle/>
                    <a:p>
                      <a:pPr lvl="0" indent="0" marL="0">
                        <a:buNone/>
                      </a:pPr>
                      <a:r>
                        <a:rPr/>
                        <a:t>Pre-registered fallbacks and the verdict that triggers a switch.</a:t>
                      </a:r>
                    </a:p>
                  </a:txBody>
                </a:tc>
              </a:tr>
              <a:tr h="0">
                <a:tc>
                  <a:txBody>
                    <a:bodyPr/>
                    <a:lstStyle/>
                    <a:p>
                      <a:pPr lvl="0" indent="0" marL="0">
                        <a:buNone/>
                      </a:pPr>
                      <a:r>
                        <a:rPr/>
                        <a:t>Estimator</a:t>
                      </a:r>
                    </a:p>
                  </a:txBody>
                </a:tc>
                <a:tc>
                  <a:txBody>
                    <a:bodyPr/>
                    <a:lstStyle/>
                    <a:p>
                      <a:pPr lvl="0" indent="0" marL="0">
                        <a:buNone/>
                      </a:pPr>
                      <a:r>
                        <a:rPr/>
                        <a:t>TMLE, IPTW, matching.</a:t>
                      </a:r>
                    </a:p>
                  </a:txBody>
                </a:tc>
              </a:tr>
              <a:tr h="0">
                <a:tc>
                  <a:txBody>
                    <a:bodyPr/>
                    <a:lstStyle/>
                    <a:p>
                      <a:pPr lvl="0" indent="0" marL="0">
                        <a:buNone/>
                      </a:pPr>
                      <a:r>
                        <a:rPr/>
                        <a:t>Pre-outcome diagnostic</a:t>
                      </a:r>
                    </a:p>
                  </a:txBody>
                </a:tc>
                <a:tc>
                  <a:txBody>
                    <a:bodyPr/>
                    <a:lstStyle/>
                    <a:p>
                      <a:pPr lvl="0" indent="0" marL="0">
                        <a:buNone/>
                      </a:pPr>
                      <a:r>
                        <a:rPr/>
                        <a:t>Support verdict, feasibility, simulated bias and coverage, balance, negative controls.</a:t>
                      </a:r>
                    </a:p>
                  </a:txBody>
                </a:tc>
              </a:tr>
              <a:tr h="0">
                <a:tc>
                  <a:txBody>
                    <a:bodyPr/>
                    <a:lstStyle/>
                    <a:p>
                      <a:pPr lvl="0" indent="0" marL="0">
                        <a:buNone/>
                      </a:pPr>
                      <a:r>
                        <a:rPr/>
                        <a:t>Governance decision</a:t>
                      </a:r>
                    </a:p>
                  </a:txBody>
                </a:tc>
                <a:tc>
                  <a:txBody>
                    <a:bodyPr/>
                    <a:lstStyle/>
                    <a:p>
                      <a:pPr lvl="0" indent="0" marL="0">
                        <a:buNone/>
                      </a:pPr>
                      <a:r>
                        <a:rPr/>
                        <a:t>Proceed, proceed with qualification, or stop (Muntner et al. 2024).</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causal roadmap, and what the package covers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664200" y="203200"/>
            <a:ext cx="914400" cy="438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cleanTMLE</a:t>
                      </a:r>
                    </a:p>
                  </a:txBody>
                  <a:tcPr/>
                </a:tc>
              </a:tr>
              <a:tr h="0">
                <a:tc>
                  <a:txBody>
                    <a:bodyPr/>
                    <a:lstStyle/>
                    <a:p>
                      <a:pPr lvl="0" indent="0" marL="0">
                        <a:buNone/>
                      </a:pPr>
                      <a:r>
                        <a:rPr/>
                        <a:t>Causal question</a:t>
                      </a:r>
                    </a:p>
                  </a:txBody>
                </a:tc>
                <a:tc>
                  <a:txBody>
                    <a:bodyPr/>
                    <a:lstStyle/>
                    <a:p>
                      <a:pPr lvl="0" indent="0" marL="0">
                        <a:buNone/>
                      </a:pPr>
                      <a:r>
                        <a:rPr/>
                        <a:t>Target-trial framework; FDA RWE Framework; ICH M14</a:t>
                      </a:r>
                    </a:p>
                  </a:txBody>
                </a:tc>
                <a:tc>
                  <a:txBody>
                    <a:bodyPr/>
                    <a:lstStyle/>
                    <a:p>
                      <a:pPr lvl="0" indent="0" marL="0">
                        <a:buNone/>
                      </a:pPr>
                      <a:r>
                        <a:rPr/>
                        <a:t>Lock record; </a:t>
                      </a:r>
                      <a:r>
                        <a:rPr>
                          <a:latin typeface="Courier"/>
                        </a:rPr>
                        <a:t>design_report(protocol = ...)</a:t>
                      </a:r>
                      <a:r>
                        <a:rPr/>
                        <a:t> emulation table</a:t>
                      </a:r>
                    </a:p>
                  </a:txBody>
                </a:tc>
              </a:tr>
              <a:tr h="0">
                <a:tc>
                  <a:txBody>
                    <a:bodyPr/>
                    <a:lstStyle/>
                    <a:p>
                      <a:pPr lvl="0" indent="0" marL="0">
                        <a:buNone/>
                      </a:pPr>
                      <a:r>
                        <a:rPr/>
                        <a:t>Identification (positivity)</a:t>
                      </a:r>
                    </a:p>
                  </a:txBody>
                </a:tc>
                <a:tc>
                  <a:txBody>
                    <a:bodyPr/>
                    <a:lstStyle/>
                    <a:p>
                      <a:pPr lvl="0" indent="0" marL="0">
                        <a:buNone/>
                      </a:pPr>
                      <a:r>
                        <a:rPr/>
                        <a:t>ICH E9(R1)</a:t>
                      </a:r>
                    </a:p>
                  </a:txBody>
                </a:tc>
                <a:tc>
                  <a:txBody>
                    <a:bodyPr/>
                    <a:lstStyle/>
                    <a:p>
                      <a:pPr lvl="0" indent="0" marL="0">
                        <a:buNone/>
                      </a:pPr>
                      <a:r>
                        <a:rPr>
                          <a:latin typeface="Courier"/>
                        </a:rPr>
                        <a:t>assess_support()</a:t>
                      </a:r>
                      <a:r>
                        <a:rPr/>
                        <a:t>, </a:t>
                      </a:r>
                      <a:r>
                        <a:rPr>
                          <a:latin typeface="Courier"/>
                        </a:rPr>
                        <a:t>estimand_feasibility()</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declare_estimand_ladder()</a:t>
                      </a:r>
                      <a:r>
                        <a:rPr/>
                        <a:t>, </a:t>
                      </a:r>
                      <a:r>
                        <a:rPr>
                          <a:latin typeface="Courier"/>
                        </a:rPr>
                        <a:t>run_estimand_ladder()</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select_tmle_candidate()</a:t>
                      </a:r>
                    </a:p>
                  </a:txBody>
                </a:tc>
              </a:tr>
              <a:tr h="0">
                <a:tc>
                  <a:txBody>
                    <a:bodyPr/>
                    <a:lstStyle/>
                    <a:p>
                      <a:pPr lvl="0" indent="0" marL="0">
                        <a:buNone/>
                      </a:pPr>
                      <a:r>
                        <a:rPr/>
                        <a:t>Pre-outcome DQ stress</a:t>
                      </a:r>
                    </a:p>
                  </a:txBody>
                </a:tc>
                <a:tc>
                  <a:txBody>
                    <a:bodyPr/>
                    <a:lstStyle/>
                    <a:p>
                      <a:pPr lvl="0" indent="0" marL="0">
                        <a:buNone/>
                      </a:pPr>
                      <a:r>
                        <a:rPr/>
                        <a:t>Source reliability (FDA, EMA)</a:t>
                      </a:r>
                    </a:p>
                  </a:txBody>
                </a:tc>
                <a:tc>
                  <a:txBody>
                    <a:bodyPr/>
                    <a:lstStyle/>
                    <a:p>
                      <a:pPr lvl="0" indent="0" marL="0">
                        <a:buNone/>
                      </a:pPr>
                      <a:r>
                        <a:rPr>
                          <a:latin typeface="Courier"/>
                        </a:rPr>
                        <a:t>run_plasmode_dq_stress()</a:t>
                      </a:r>
                      <a:r>
                        <a:rPr/>
                        <a:t>, </a:t>
                      </a:r>
                      <a:r>
                        <a:rPr>
                          <a:latin typeface="Courier"/>
                        </a:rPr>
                        <a:t>simulate_support()</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run_delta_sensitivity()</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stress-test threat families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Threat</a:t>
                      </a:r>
                    </a:p>
                  </a:txBody>
                  <a:tcPr/>
                </a:tc>
                <a:tc>
                  <a:txBody>
                    <a:bodyPr/>
                    <a:lstStyle/>
                    <a:p>
                      <a:pPr lvl="0" indent="0" marL="0">
                        <a:buNone/>
                      </a:pPr>
                      <a:r>
                        <a:rPr/>
                        <a:t>Mechanism</a:t>
                      </a:r>
                    </a:p>
                  </a:txBody>
                  <a:tcPr/>
                </a:tc>
                <a:tc>
                  <a:txBody>
                    <a:bodyPr/>
                    <a:lstStyle/>
                    <a:p>
                      <a:pPr lvl="0" indent="0" marL="0">
                        <a:buNone/>
                      </a:pPr>
                      <a:r>
                        <a:rPr/>
                        <a:t>Probes</a:t>
                      </a:r>
                    </a:p>
                  </a:txBody>
                  <a:tcPr/>
                </a:tc>
                <a:tc>
                  <a:txBody>
                    <a:bodyPr/>
                    <a:lstStyle/>
                    <a:p>
                      <a:pPr lvl="0" indent="0" marL="0">
                        <a:buNone/>
                      </a:pPr>
                      <a:r>
                        <a:rPr/>
                        <a:t>Does not probe</a:t>
                      </a:r>
                    </a:p>
                  </a:txBody>
                  <a:tcPr/>
                </a:tc>
              </a:tr>
              <a:tr h="0">
                <a:tc>
                  <a:txBody>
                    <a:bodyPr/>
                    <a:lstStyle/>
                    <a:p>
                      <a:pPr lvl="0" indent="0" marL="0">
                        <a:buNone/>
                      </a:pPr>
                      <a:r>
                        <a:rPr/>
                        <a:t>Covariate missingness</a:t>
                      </a:r>
                    </a:p>
                  </a:txBody>
                </a:tc>
                <a:tc>
                  <a:txBody>
                    <a:bodyPr/>
                    <a:lstStyle/>
                    <a:p>
                      <a:pPr lvl="0" indent="0" marL="0">
                        <a:buNone/>
                      </a:pPr>
                      <a:r>
                        <a:rPr/>
                        <a:t>MCAR, MAR, MNAR masks; median impute</a:t>
                      </a:r>
                    </a:p>
                  </a:txBody>
                </a:tc>
                <a:tc>
                  <a:txBody>
                    <a:bodyPr/>
                    <a:lstStyle/>
                    <a:p>
                      <a:pPr lvl="0" indent="0" marL="0">
                        <a:buNone/>
                      </a:pPr>
                      <a:r>
                        <a:rPr/>
                        <a:t>Imputation robustness</a:t>
                      </a:r>
                    </a:p>
                  </a:txBody>
                </a:tc>
                <a:tc>
                  <a:txBody>
                    <a:bodyPr/>
                    <a:lstStyle/>
                    <a:p>
                      <a:pPr lvl="0" indent="0" marL="0">
                        <a:buNone/>
                      </a:pPr>
                      <a:r>
                        <a:rPr/>
                        <a:t>Phenotype validity</a:t>
                      </a:r>
                    </a:p>
                  </a:txBody>
                </a:tc>
              </a:tr>
              <a:tr h="0">
                <a:tc>
                  <a:txBody>
                    <a:bodyPr/>
                    <a:lstStyle/>
                    <a:p>
                      <a:pPr lvl="0" indent="0" marL="0">
                        <a:buNone/>
                      </a:pPr>
                      <a:r>
                        <a:rPr/>
                        <a:t>Exposure misclassification</a:t>
                      </a:r>
                    </a:p>
                  </a:txBody>
                </a:tc>
                <a:tc>
                  <a:txBody>
                    <a:bodyPr/>
                    <a:lstStyle/>
                    <a:p>
                      <a:pPr lvl="0" indent="0" marL="0">
                        <a:buNone/>
                      </a:pPr>
                      <a:r>
                        <a:rPr/>
                        <a:t>Flip A at given sens and spec</a:t>
                      </a:r>
                    </a:p>
                  </a:txBody>
                </a:tc>
                <a:tc>
                  <a:txBody>
                    <a:bodyPr/>
                    <a:lstStyle/>
                    <a:p>
                      <a:pPr lvl="0" indent="0" marL="0">
                        <a:buNone/>
                      </a:pPr>
                      <a:r>
                        <a:rPr/>
                        <a:t>Treatment measurement</a:t>
                      </a:r>
                    </a:p>
                  </a:txBody>
                </a:tc>
                <a:tc>
                  <a:txBody>
                    <a:bodyPr/>
                    <a:lstStyle/>
                    <a:p>
                      <a:pPr lvl="0" indent="0" marL="0">
                        <a:buNone/>
                      </a:pPr>
                      <a:r>
                        <a:rPr/>
                        <a:t>Differential error by outcome</a:t>
                      </a:r>
                    </a:p>
                  </a:txBody>
                </a:tc>
              </a:tr>
              <a:tr h="0">
                <a:tc>
                  <a:txBody>
                    <a:bodyPr/>
                    <a:lstStyle/>
                    <a:p>
                      <a:pPr lvl="0" indent="0" marL="0">
                        <a:buNone/>
                      </a:pPr>
                      <a:r>
                        <a:rPr/>
                        <a:t>Outcome misclassification</a:t>
                      </a:r>
                    </a:p>
                  </a:txBody>
                </a:tc>
                <a:tc>
                  <a:txBody>
                    <a:bodyPr/>
                    <a:lstStyle/>
                    <a:p>
                      <a:pPr lvl="0" indent="0" marL="0">
                        <a:buNone/>
                      </a:pPr>
                      <a:r>
                        <a:rPr/>
                        <a:t>Flip Y, optionally per arm</a:t>
                      </a:r>
                    </a:p>
                  </a:txBody>
                </a:tc>
                <a:tc>
                  <a:txBody>
                    <a:bodyPr/>
                    <a:lstStyle/>
                    <a:p>
                      <a:pPr lvl="0" indent="0" marL="0">
                        <a:buNone/>
                      </a:pPr>
                      <a:r>
                        <a:rPr/>
                        <a:t>Outcome measurement</a:t>
                      </a:r>
                    </a:p>
                  </a:txBody>
                </a:tc>
                <a:tc>
                  <a:txBody>
                    <a:bodyPr/>
                    <a:lstStyle/>
                    <a:p>
                      <a:pPr lvl="0" indent="0" marL="0">
                        <a:buNone/>
                      </a:pPr>
                      <a:r>
                        <a:rPr/>
                        <a:t>Time-varying ascertainment</a:t>
                      </a:r>
                    </a:p>
                  </a:txBody>
                </a:tc>
              </a:tr>
              <a:tr h="0">
                <a:tc>
                  <a:txBody>
                    <a:bodyPr/>
                    <a:lstStyle/>
                    <a:p>
                      <a:pPr lvl="0" indent="0" marL="0">
                        <a:buNone/>
                      </a:pPr>
                      <a:r>
                        <a:rPr/>
                        <a:t>Near-positivity</a:t>
                      </a:r>
                    </a:p>
                  </a:txBody>
                </a:tc>
                <a:tc>
                  <a:txBody>
                    <a:bodyPr/>
                    <a:lstStyle/>
                    <a:p>
                      <a:pPr lvl="0" indent="0" marL="0">
                        <a:buNone/>
                      </a:pPr>
                      <a:r>
                        <a:rPr/>
                        <a:t>Amplify covariate-treatment association</a:t>
                      </a:r>
                    </a:p>
                  </a:txBody>
                </a:tc>
                <a:tc>
                  <a:txBody>
                    <a:bodyPr/>
                    <a:lstStyle/>
                    <a:p>
                      <a:pPr lvl="0" indent="0" marL="0">
                        <a:buNone/>
                      </a:pPr>
                      <a:r>
                        <a:rPr/>
                        <a:t>Estimator strain</a:t>
                      </a:r>
                    </a:p>
                  </a:txBody>
                </a:tc>
                <a:tc>
                  <a:txBody>
                    <a:bodyPr/>
                    <a:lstStyle/>
                    <a:p>
                      <a:pPr lvl="0" indent="0" marL="0">
                        <a:buNone/>
                      </a:pPr>
                      <a:r>
                        <a:rPr/>
                        <a:t>The realised design’s support</a:t>
                      </a:r>
                    </a:p>
                  </a:txBody>
                </a:tc>
              </a:tr>
              <a:tr h="0">
                <a:tc>
                  <a:txBody>
                    <a:bodyPr/>
                    <a:lstStyle/>
                    <a:p>
                      <a:pPr lvl="0" indent="0" marL="0">
                        <a:buNone/>
                      </a:pPr>
                      <a:r>
                        <a:rPr/>
                        <a:t>Unmeasured confounding</a:t>
                      </a:r>
                    </a:p>
                  </a:txBody>
                </a:tc>
                <a:tc>
                  <a:txBody>
                    <a:bodyPr/>
                    <a:lstStyle/>
                    <a:p>
                      <a:pPr lvl="0" indent="0" marL="0">
                        <a:buNone/>
                      </a:pPr>
                      <a:r>
                        <a:rPr/>
                        <a:t>Latent U shifts A and Y</a:t>
                      </a:r>
                    </a:p>
                  </a:txBody>
                </a:tc>
                <a:tc>
                  <a:txBody>
                    <a:bodyPr/>
                    <a:lstStyle/>
                    <a:p>
                      <a:pPr lvl="0" indent="0" marL="0">
                        <a:buNone/>
                      </a:pPr>
                      <a:r>
                        <a:rPr/>
                        <a:t>Exchangeability</a:t>
                      </a:r>
                    </a:p>
                  </a:txBody>
                </a:tc>
                <a:tc>
                  <a:txBody>
                    <a:bodyPr/>
                    <a:lstStyle/>
                    <a:p>
                      <a:pPr lvl="0" indent="0" marL="0">
                        <a:buNone/>
                      </a:pPr>
                      <a:r>
                        <a:rPr/>
                        <a:t>Multiple latent confounders</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detail</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declared ladder, per lock</a:t>
            </a:r>
          </a:p>
        </p:txBody>
      </p:sp>
      <p:sp>
        <p:nvSpPr>
          <p:cNvPr id="3" name="Content Placeholder 2"/>
          <p:cNvSpPr>
            <a:spLocks noGrp="1"/>
          </p:cNvSpPr>
          <p:nvPr>
            <p:ph idx="1"/>
          </p:nvPr>
        </p:nvSpPr>
        <p:spPr/>
        <p:txBody>
          <a:bodyPr/>
          <a:lstStyle/>
          <a:p>
            <a:pPr lvl="0" indent="0" marL="0">
              <a:buNone/>
            </a:pPr>
            <a:r>
              <a:rPr/>
              <a:t>Identical across the five locks, declared before outcome access: primary ATE with IPCW for missing outcomes; fallbacks trimmed ATE [0.05, 0.95], then ATT, then ATO; trigger SEVERE. The matched ATT is assessed in the feasibility table and support map as a design-stage sensitivity, not estimated on the ladder.</a:t>
            </a:r>
          </a:p>
          <a:p>
            <a:pPr lvl="0" indent="0" marL="0">
              <a:buNone/>
            </a:pPr>
            <a:r>
              <a:rPr/>
              <a:t>Propensity library: the </a:t>
            </a:r>
            <a:r>
              <a:rPr>
                <a:latin typeface="Courier"/>
              </a:rPr>
              <a:t>build_sl_library()</a:t>
            </a:r>
            <a:r>
              <a:rPr/>
              <a:t> preset for wide registry designs (penalised logistic learners, PCA-reduced GLMs, marginal mean; no tree learners, which can separate arms on wide indicator sets), ten folds.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Negative-control ladder,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Contrast</a:t>
                      </a:r>
                    </a:p>
                  </a:txBody>
                  <a:tcPr/>
                </a:tc>
                <a:tc>
                  <a:txBody>
                    <a:bodyPr/>
                    <a:lstStyle/>
                    <a:p>
                      <a:pPr lvl="0" indent="0" marL="0">
                        <a:buNone/>
                      </a:pPr>
                      <a:r>
                        <a:rPr/>
                        <a:t>Cohort</a:t>
                      </a:r>
                    </a:p>
                  </a:txBody>
                  <a:tcPr/>
                </a:tc>
                <a:tc>
                  <a:txBody>
                    <a:bodyPr/>
                    <a:lstStyle/>
                    <a:p>
                      <a:pPr lvl="0" indent="0" marL="0" algn="r">
                        <a:buNone/>
                      </a:pPr>
                      <a:r>
                        <a:rPr/>
                        <a:t>Urban household</a:t>
                      </a:r>
                    </a:p>
                  </a:txBody>
                  <a:tcPr/>
                </a:tc>
                <a:tc>
                  <a:txBody>
                    <a:bodyPr/>
                    <a:lstStyle/>
                    <a:p>
                      <a:pPr lvl="0" indent="0" marL="0" algn="r">
                        <a:buNone/>
                      </a:pPr>
                      <a:r>
                        <a:rPr/>
                        <a:t>Wood or charcoal fuel</a:t>
                      </a:r>
                    </a:p>
                  </a:txBody>
                  <a:tcPr/>
                </a:tc>
              </a:tr>
              <a:tr h="0">
                <a:tc>
                  <a:txBody>
                    <a:bodyPr/>
                    <a:lstStyle/>
                    <a:p>
                      <a:pPr lvl="0" indent="0" marL="0">
                        <a:buNone/>
                      </a:pPr>
                      <a:r>
                        <a:rPr/>
                        <a:t>C4</a:t>
                      </a:r>
                    </a:p>
                  </a:txBody>
                </a:tc>
                <a:tc>
                  <a:txBody>
                    <a:bodyPr/>
                    <a:lstStyle/>
                    <a:p>
                      <a:pPr lvl="0" indent="0" marL="0">
                        <a:buNone/>
                      </a:pPr>
                      <a:r>
                        <a:rPr/>
                        <a:t>Full (n = 2,197)</a:t>
                      </a:r>
                    </a:p>
                  </a:txBody>
                </a:tc>
                <a:tc>
                  <a:txBody>
                    <a:bodyPr/>
                    <a:lstStyle/>
                    <a:p>
                      <a:pPr lvl="0" indent="0" marL="0" algn="r">
                        <a:buNone/>
                      </a:pPr>
                      <a:r>
                        <a:rPr/>
                        <a:t>+0.068</a:t>
                      </a:r>
                    </a:p>
                  </a:txBody>
                </a:tc>
                <a:tc>
                  <a:txBody>
                    <a:bodyPr/>
                    <a:lstStyle/>
                    <a:p>
                      <a:pPr lvl="0" indent="0" marL="0" algn="r">
                        <a:buNone/>
                      </a:pPr>
                      <a:r>
                        <a:rPr/>
                        <a:t>-0.052</a:t>
                      </a:r>
                    </a:p>
                  </a:txBody>
                </a:tc>
              </a:tr>
              <a:tr h="0">
                <a:tc>
                  <a:txBody>
                    <a:bodyPr/>
                    <a:lstStyle/>
                    <a:p>
                      <a:pPr lvl="0" indent="0" marL="0">
                        <a:buNone/>
                      </a:pPr>
                      <a:r>
                        <a:rPr/>
                        <a:t>C4</a:t>
                      </a:r>
                    </a:p>
                  </a:txBody>
                </a:tc>
                <a:tc>
                  <a:txBody>
                    <a:bodyPr/>
                    <a:lstStyle/>
                    <a:p>
                      <a:pPr lvl="0" indent="0" marL="0">
                        <a:buNone/>
                      </a:pPr>
                      <a:r>
                        <a:rPr/>
                        <a:t>Transfers excluded (n = 1,703)</a:t>
                      </a:r>
                    </a:p>
                  </a:txBody>
                </a:tc>
                <a:tc>
                  <a:txBody>
                    <a:bodyPr/>
                    <a:lstStyle/>
                    <a:p>
                      <a:pPr lvl="0" indent="0" marL="0" algn="r">
                        <a:buNone/>
                      </a:pPr>
                      <a:r>
                        <a:rPr/>
                        <a:t>+0.001</a:t>
                      </a:r>
                    </a:p>
                  </a:txBody>
                </a:tc>
                <a:tc>
                  <a:txBody>
                    <a:bodyPr/>
                    <a:lstStyle/>
                    <a:p>
                      <a:pPr lvl="0" indent="0" marL="0" algn="r">
                        <a:buNone/>
                      </a:pPr>
                      <a:r>
                        <a:rPr/>
                        <a:t>+0.000</a:t>
                      </a:r>
                    </a:p>
                  </a:txBody>
                </a:tc>
              </a:tr>
              <a:tr h="0">
                <a:tc>
                  <a:txBody>
                    <a:bodyPr/>
                    <a:lstStyle/>
                    <a:p>
                      <a:pPr lvl="0" indent="0" marL="0">
                        <a:buNone/>
                      </a:pPr>
                      <a:r>
                        <a:rPr/>
                        <a:t>C4</a:t>
                      </a:r>
                    </a:p>
                  </a:txBody>
                </a:tc>
                <a:tc>
                  <a:txBody>
                    <a:bodyPr/>
                    <a:lstStyle/>
                    <a:p>
                      <a:pPr lvl="0" indent="0" marL="0">
                        <a:buNone/>
                      </a:pPr>
                      <a:r>
                        <a:rPr/>
                        <a:t>Prior care also excluded (n = 1,616)</a:t>
                      </a:r>
                    </a:p>
                  </a:txBody>
                </a:tc>
                <a:tc>
                  <a:txBody>
                    <a:bodyPr/>
                    <a:lstStyle/>
                    <a:p>
                      <a:pPr lvl="0" indent="0" marL="0" algn="r">
                        <a:buNone/>
                      </a:pPr>
                      <a:r>
                        <a:rPr/>
                        <a:t>-0.003</a:t>
                      </a:r>
                    </a:p>
                  </a:txBody>
                </a:tc>
                <a:tc>
                  <a:txBody>
                    <a:bodyPr/>
                    <a:lstStyle/>
                    <a:p>
                      <a:pPr lvl="0" indent="0" marL="0" algn="r">
                        <a:buNone/>
                      </a:pPr>
                      <a:r>
                        <a:rPr/>
                        <a:t>-0.001</a:t>
                      </a:r>
                    </a:p>
                  </a:txBody>
                </a:tc>
              </a:tr>
              <a:tr h="0">
                <a:tc>
                  <a:txBody>
                    <a:bodyPr/>
                    <a:lstStyle/>
                    <a:p>
                      <a:pPr lvl="0" indent="0" marL="0">
                        <a:buNone/>
                      </a:pPr>
                      <a:r>
                        <a:rPr/>
                        <a:t>C1</a:t>
                      </a:r>
                    </a:p>
                  </a:txBody>
                </a:tc>
                <a:tc>
                  <a:txBody>
                    <a:bodyPr/>
                    <a:lstStyle/>
                    <a:p>
                      <a:pPr lvl="0" indent="0" marL="0">
                        <a:buNone/>
                      </a:pPr>
                      <a:r>
                        <a:rPr/>
                        <a:t>Full (n = 8,323)</a:t>
                      </a:r>
                    </a:p>
                  </a:txBody>
                </a:tc>
                <a:tc>
                  <a:txBody>
                    <a:bodyPr/>
                    <a:lstStyle/>
                    <a:p>
                      <a:pPr lvl="0" indent="0" marL="0" algn="r">
                        <a:buNone/>
                      </a:pPr>
                      <a:r>
                        <a:rPr/>
                        <a:t>+0.013</a:t>
                      </a:r>
                    </a:p>
                  </a:txBody>
                </a:tc>
                <a:tc>
                  <a:txBody>
                    <a:bodyPr/>
                    <a:lstStyle/>
                    <a:p>
                      <a:pPr lvl="0" indent="0" marL="0" algn="r">
                        <a:buNone/>
                      </a:pPr>
                      <a:r>
                        <a:rPr/>
                        <a:t>-0.006</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Hypertension is null on every rung. Insulin-treated diabetes and HIV on ART are inestimable (a cell below 5 events) and labelled as such. A TMLE-adjusted variant is released with a caveat: on restricted rungs it conditions on design columns that are near-copies of the socioeconomic controls.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support-map reading rule, from the design log</a:t>
            </a:r>
          </a:p>
        </p:txBody>
      </p:sp>
      <p:sp>
        <p:nvSpPr>
          <p:cNvPr id="3" name="Content Placeholder 2"/>
          <p:cNvSpPr>
            <a:spLocks noGrp="1"/>
          </p:cNvSpPr>
          <p:nvPr>
            <p:ph idx="1"/>
          </p:nvPr>
        </p:nvSpPr>
        <p:spPr/>
        <p:txBody>
          <a:bodyPr/>
          <a:lstStyle/>
          <a:p>
            <a:pPr lvl="0" indent="0" marL="0">
              <a:buNone/>
            </a:pPr>
            <a:r>
              <a:rPr/>
              <a:t>Recorded before estimation: the maps are read over the moderate-confounding region (synthetic strength up to 1), with the whole-grid pass reported as a conservative bound.</a:t>
            </a:r>
          </a:p>
          <a:p>
            <a:pPr lvl="0" indent="0" marL="0">
              <a:buNone/>
            </a:pPr>
            <a:r>
              <a:rPr/>
              <a:t>The harshest rung stresses every weighting-based estimand at once, including on the PASS-verdict primary cohort, so a whole-grid rule conflates support failure with confounding stress. The signature used instead: failure at the mildest surface means a support problem (C1’s ATE, coverage 0.87 before any synthetic confounding); failure only under stress, hitting all unmatched estimands together, means stress (the primary cohort at strength 2, where the matched ATT holds 0.93 to 0.96).</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Candidate selection under stress (earlier single-contrast lock)</a:t>
            </a:r>
          </a:p>
        </p:txBody>
      </p:sp>
      <p:sp>
        <p:nvSpPr>
          <p:cNvPr id="3" name="Content Placeholder 2"/>
          <p:cNvSpPr>
            <a:spLocks noGrp="1"/>
          </p:cNvSpPr>
          <p:nvPr>
            <p:ph idx="1"/>
          </p:nvPr>
        </p:nvSpPr>
        <p:spPr/>
        <p:txBody>
          <a:bodyPr/>
          <a:lstStyle/>
          <a:p>
            <a:pPr lvl="0" indent="0" marL="0">
              <a:buNone/>
            </a:pPr>
            <a:r>
              <a:rPr/>
              <a:t>Four TMLE candidates varying propensity library and truncation tie on the clean baseline (RMSE within 0.0002), where the minimum-RMSE rule would lock </a:t>
            </a:r>
            <a:r>
              <a:rPr>
                <a:latin typeface="Courier"/>
              </a:rPr>
              <a:t>glm_t01</a:t>
            </a:r>
            <a:r>
              <a:rPr/>
              <a:t>. Under the five-threat sweep the worst-case RMSE ratios separate: 1.82, 1.73, 1.53, and 1.27 for </a:t>
            </a:r>
            <a:r>
              <a:rPr>
                <a:latin typeface="Courier"/>
              </a:rPr>
              <a:t>ensemble_t05</a:t>
            </a:r>
            <a:r>
              <a:rPr/>
              <a:t>.</a:t>
            </a:r>
          </a:p>
          <a:p>
            <a:pPr lvl="0" indent="0" marL="0">
              <a:buNone/>
            </a:pPr>
            <a:r>
              <a:rPr/>
              <a:t>The minimax rule locks </a:t>
            </a:r>
            <a:r>
              <a:rPr>
                <a:latin typeface="Courier"/>
              </a:rPr>
              <a:t>ensemble_t05</a:t>
            </a:r>
            <a:r>
              <a:rPr/>
              <a:t>. The candidate selected for clean-data efficiency was the most exposed under prespecified stress. Reported at 50 replicates as a workflow illustration; 200 is the inferential bar.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Effect estimates,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43000"/>
                <a:gridCol w="1524000"/>
                <a:gridCol w="635000"/>
                <a:gridCol w="889000"/>
                <a:gridCol w="1143000"/>
                <a:gridCol w="1143000"/>
                <a:gridCol w="762000"/>
                <a:gridCol w="10160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r">
                        <a:buNone/>
                      </a:pPr>
                      <a:r>
                        <a:rPr/>
                        <a:t>N</a:t>
                      </a:r>
                    </a:p>
                  </a:txBody>
                  <a:tcPr/>
                </a:tc>
                <a:tc>
                  <a:txBody>
                    <a:bodyPr/>
                    <a:lstStyle/>
                    <a:p>
                      <a:pPr lvl="0" indent="0" marL="0" algn="l">
                        <a:buNone/>
                      </a:pPr>
                      <a:r>
                        <a:rPr/>
                        <a:t>RD</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p</a:t>
                      </a:r>
                    </a:p>
                  </a:txBody>
                  <a:tcPr/>
                </a:tc>
                <a:tc>
                  <a:txBody>
                    <a:bodyPr/>
                    <a:lstStyle/>
                    <a:p>
                      <a:pPr lvl="0" indent="0" marL="0" algn="l">
                        <a:buNone/>
                      </a:pPr>
                      <a:r>
                        <a:rPr/>
                        <a:t>Support</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0.006</a:t>
                      </a:r>
                    </a:p>
                  </a:txBody>
                </a:tc>
                <a:tc>
                  <a:txBody>
                    <a:bodyPr/>
                    <a:lstStyle/>
                    <a:p>
                      <a:pPr lvl="0" indent="0" marL="0" algn="l">
                        <a:buNone/>
                      </a:pPr>
                      <a:r>
                        <a:rPr/>
                        <a:t>-0.017</a:t>
                      </a:r>
                    </a:p>
                  </a:txBody>
                </a:tc>
                <a:tc>
                  <a:txBody>
                    <a:bodyPr/>
                    <a:lstStyle/>
                    <a:p>
                      <a:pPr lvl="0" indent="0" marL="0" algn="l">
                        <a:buNone/>
                      </a:pPr>
                      <a:r>
                        <a:rPr/>
                        <a:t>0.028</a:t>
                      </a:r>
                    </a:p>
                  </a:txBody>
                </a:tc>
                <a:tc>
                  <a:txBody>
                    <a:bodyPr/>
                    <a:lstStyle/>
                    <a:p>
                      <a:pPr lvl="0" indent="0" marL="0" algn="l">
                        <a:buNone/>
                      </a:pPr>
                      <a:r>
                        <a:rPr/>
                        <a:t>0.633</a:t>
                      </a:r>
                    </a:p>
                  </a:txBody>
                </a:tc>
                <a:tc>
                  <a:txBody>
                    <a:bodyPr/>
                    <a:lstStyle/>
                    <a:p>
                      <a:pPr lvl="0" indent="0" marL="0" algn="l">
                        <a:buNone/>
                      </a:pPr>
                      <a:r>
                        <a:rPr/>
                        <a:t>SEVERE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r">
                        <a:buNone/>
                      </a:pPr>
                      <a:r>
                        <a:rPr/>
                        <a:t>4946</a:t>
                      </a:r>
                    </a:p>
                  </a:txBody>
                </a:tc>
                <a:tc>
                  <a:txBody>
                    <a:bodyPr/>
                    <a:lstStyle/>
                    <a:p>
                      <a:pPr lvl="0" indent="0" marL="0" algn="l">
                        <a:buNone/>
                      </a:pPr>
                      <a:r>
                        <a:rPr/>
                        <a:t>0.006</a:t>
                      </a:r>
                    </a:p>
                  </a:txBody>
                </a:tc>
                <a:tc>
                  <a:txBody>
                    <a:bodyPr/>
                    <a:lstStyle/>
                    <a:p>
                      <a:pPr lvl="0" indent="0" marL="0" algn="l">
                        <a:buNone/>
                      </a:pPr>
                      <a:r>
                        <a:rPr/>
                        <a:t>-0.006</a:t>
                      </a:r>
                    </a:p>
                  </a:txBody>
                </a:tc>
                <a:tc>
                  <a:txBody>
                    <a:bodyPr/>
                    <a:lstStyle/>
                    <a:p>
                      <a:pPr lvl="0" indent="0" marL="0" algn="l">
                        <a:buNone/>
                      </a:pPr>
                      <a:r>
                        <a:rPr/>
                        <a:t>0.018</a:t>
                      </a:r>
                    </a:p>
                  </a:txBody>
                </a:tc>
                <a:tc>
                  <a:txBody>
                    <a:bodyPr/>
                    <a:lstStyle/>
                    <a:p>
                      <a:pPr lvl="0" indent="0" marL="0" algn="l">
                        <a:buNone/>
                      </a:pPr>
                      <a:r>
                        <a:rPr/>
                        <a:t>0.349</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-0.005</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0.434</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0.000</a:t>
                      </a:r>
                    </a:p>
                  </a:txBody>
                </a:tc>
                <a:tc>
                  <a:txBody>
                    <a:bodyPr/>
                    <a:lstStyle/>
                    <a:p>
                      <a:pPr lvl="0" indent="0" marL="0" algn="l">
                        <a:buNone/>
                      </a:pPr>
                      <a:r>
                        <a:rPr/>
                        <a:t>-0.011</a:t>
                      </a:r>
                    </a:p>
                  </a:txBody>
                </a:tc>
                <a:tc>
                  <a:txBody>
                    <a:bodyPr/>
                    <a:lstStyle/>
                    <a:p>
                      <a:pPr lvl="0" indent="0" marL="0" algn="l">
                        <a:buNone/>
                      </a:pPr>
                      <a:r>
                        <a:rPr/>
                        <a:t>0.012</a:t>
                      </a:r>
                    </a:p>
                  </a:txBody>
                </a:tc>
                <a:tc>
                  <a:txBody>
                    <a:bodyPr/>
                    <a:lstStyle/>
                    <a:p>
                      <a:pPr lvl="0" indent="0" marL="0" algn="l">
                        <a:buNone/>
                      </a:pPr>
                      <a:r>
                        <a:rPr/>
                        <a:t>0.945</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r">
                        <a:buNone/>
                      </a:pPr>
                      <a:r>
                        <a:rPr/>
                        <a:t>4327</a:t>
                      </a:r>
                    </a:p>
                  </a:txBody>
                </a:tc>
                <a:tc>
                  <a:txBody>
                    <a:bodyPr/>
                    <a:lstStyle/>
                    <a:p>
                      <a:pPr lvl="0" indent="0" marL="0" algn="l">
                        <a:buNone/>
                      </a:pPr>
                      <a:r>
                        <a:rPr/>
                        <a:t>0.003</a:t>
                      </a:r>
                    </a:p>
                  </a:txBody>
                </a:tc>
                <a:tc>
                  <a:txBody>
                    <a:bodyPr/>
                    <a:lstStyle/>
                    <a:p>
                      <a:pPr lvl="0" indent="0" marL="0" algn="l">
                        <a:buNone/>
                      </a:pPr>
                      <a:r>
                        <a:rPr/>
                        <a:t>-0.008</a:t>
                      </a:r>
                    </a:p>
                  </a:txBody>
                </a:tc>
                <a:tc>
                  <a:txBody>
                    <a:bodyPr/>
                    <a:lstStyle/>
                    <a:p>
                      <a:pPr lvl="0" indent="0" marL="0" algn="l">
                        <a:buNone/>
                      </a:pPr>
                      <a:r>
                        <a:rPr/>
                        <a:t>0.014</a:t>
                      </a:r>
                    </a:p>
                  </a:txBody>
                </a:tc>
                <a:tc>
                  <a:txBody>
                    <a:bodyPr/>
                    <a:lstStyle/>
                    <a:p>
                      <a:pPr lvl="0" indent="0" marL="0" algn="l">
                        <a:buNone/>
                      </a:pPr>
                      <a:r>
                        <a:rPr/>
                        <a:t>0.570</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r">
                        <a:buNone/>
                      </a:pPr>
                      <a:r>
                        <a:rPr/>
                        <a:t>5632</a:t>
                      </a:r>
                    </a:p>
                  </a:txBody>
                </a:tc>
                <a:tc>
                  <a:txBody>
                    <a:bodyPr/>
                    <a:lstStyle/>
                    <a:p>
                      <a:pPr lvl="0" indent="0" marL="0" algn="l">
                        <a:buNone/>
                      </a:pPr>
                      <a:r>
                        <a:rPr/>
                        <a:t>0.001</a:t>
                      </a:r>
                    </a:p>
                  </a:txBody>
                </a:tc>
                <a:tc>
                  <a:txBody>
                    <a:bodyPr/>
                    <a:lstStyle/>
                    <a:p>
                      <a:pPr lvl="0" indent="0" marL="0" algn="l">
                        <a:buNone/>
                      </a:pPr>
                      <a:r>
                        <a:rPr/>
                        <a:t>-0.014</a:t>
                      </a:r>
                    </a:p>
                  </a:txBody>
                </a:tc>
                <a:tc>
                  <a:txBody>
                    <a:bodyPr/>
                    <a:lstStyle/>
                    <a:p>
                      <a:pPr lvl="0" indent="0" marL="0" algn="l">
                        <a:buNone/>
                      </a:pPr>
                      <a:r>
                        <a:rPr/>
                        <a:t>0.016</a:t>
                      </a:r>
                    </a:p>
                  </a:txBody>
                </a:tc>
                <a:tc>
                  <a:txBody>
                    <a:bodyPr/>
                    <a:lstStyle/>
                    <a:p>
                      <a:pPr lvl="0" indent="0" marL="0" algn="l">
                        <a:buNone/>
                      </a:pPr>
                      <a:r>
                        <a:rPr/>
                        <a:t>0.918</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r">
                        <a:buNone/>
                      </a:pPr>
                      <a:r>
                        <a:rPr/>
                        <a:t>5632</a:t>
                      </a:r>
                    </a:p>
                  </a:txBody>
                </a:tc>
                <a:tc>
                  <a:txBody>
                    <a:bodyPr/>
                    <a:lstStyle/>
                    <a:p>
                      <a:pPr lvl="0" indent="0" marL="0" algn="l">
                        <a:buNone/>
                      </a:pPr>
                      <a:r>
                        <a:rPr/>
                        <a:t>0.005</a:t>
                      </a:r>
                    </a:p>
                  </a:txBody>
                </a:tc>
                <a:tc>
                  <a:txBody>
                    <a:bodyPr/>
                    <a:lstStyle/>
                    <a:p>
                      <a:pPr lvl="0" indent="0" marL="0" algn="l">
                        <a:buNone/>
                      </a:pPr>
                      <a:r>
                        <a:rPr/>
                        <a:t>-0.006</a:t>
                      </a:r>
                    </a:p>
                  </a:txBody>
                </a:tc>
                <a:tc>
                  <a:txBody>
                    <a:bodyPr/>
                    <a:lstStyle/>
                    <a:p>
                      <a:pPr lvl="0" indent="0" marL="0" algn="l">
                        <a:buNone/>
                      </a:pPr>
                      <a:r>
                        <a:rPr/>
                        <a:t>0.016</a:t>
                      </a:r>
                    </a:p>
                  </a:txBody>
                </a:tc>
                <a:tc>
                  <a:txBody>
                    <a:bodyPr/>
                    <a:lstStyle/>
                    <a:p>
                      <a:pPr lvl="0" indent="0" marL="0" algn="l">
                        <a:buNone/>
                      </a:pPr>
                      <a:r>
                        <a:rPr/>
                        <a:t>0.376</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0.028</a:t>
                      </a:r>
                    </a:p>
                  </a:txBody>
                </a:tc>
                <a:tc>
                  <a:txBody>
                    <a:bodyPr/>
                    <a:lstStyle/>
                    <a:p>
                      <a:pPr lvl="0" indent="0" marL="0" algn="l">
                        <a:buNone/>
                      </a:pPr>
                      <a:r>
                        <a:rPr/>
                        <a:t>0.000</a:t>
                      </a:r>
                    </a:p>
                  </a:txBody>
                </a:tc>
                <a:tc>
                  <a:txBody>
                    <a:bodyPr/>
                    <a:lstStyle/>
                    <a:p>
                      <a:pPr lvl="0" indent="0" marL="0" algn="l">
                        <a:buNone/>
                      </a:pPr>
                      <a:r>
                        <a:rPr/>
                        <a:t>FLAG</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r">
                        <a:buNone/>
                      </a:pPr>
                      <a:r>
                        <a:rPr/>
                        <a:t>8009</a:t>
                      </a:r>
                    </a:p>
                  </a:txBody>
                </a:tc>
                <a:tc>
                  <a:txBody>
                    <a:bodyPr/>
                    <a:lstStyle/>
                    <a:p>
                      <a:pPr lvl="0" indent="0" marL="0" algn="l">
                        <a:buNone/>
                      </a:pPr>
                      <a:r>
                        <a:rPr/>
                        <a:t>0.019</a:t>
                      </a:r>
                    </a:p>
                  </a:txBody>
                </a:tc>
                <a:tc>
                  <a:txBody>
                    <a:bodyPr/>
                    <a:lstStyle/>
                    <a:p>
                      <a:pPr lvl="0" indent="0" marL="0" algn="l">
                        <a:buNone/>
                      </a:pPr>
                      <a:r>
                        <a:rPr/>
                        <a:t>0.008</a:t>
                      </a:r>
                    </a:p>
                  </a:txBody>
                </a:tc>
                <a:tc>
                  <a:txBody>
                    <a:bodyPr/>
                    <a:lstStyle/>
                    <a:p>
                      <a:pPr lvl="0" indent="0" marL="0" algn="l">
                        <a:buNone/>
                      </a:pPr>
                      <a:r>
                        <a:rPr/>
                        <a:t>0.029</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0.019</a:t>
                      </a:r>
                    </a:p>
                  </a:txBody>
                </a:tc>
                <a:tc>
                  <a:txBody>
                    <a:bodyPr/>
                    <a:lstStyle/>
                    <a:p>
                      <a:pPr lvl="0" indent="0" marL="0" algn="l">
                        <a:buNone/>
                      </a:pPr>
                      <a:r>
                        <a:rPr/>
                        <a:t>0.006</a:t>
                      </a:r>
                    </a:p>
                  </a:txBody>
                </a:tc>
                <a:tc>
                  <a:txBody>
                    <a:bodyPr/>
                    <a:lstStyle/>
                    <a:p>
                      <a:pPr lvl="0" indent="0" marL="0" algn="l">
                        <a:buNone/>
                      </a:pPr>
                      <a:r>
                        <a:rPr/>
                        <a:t>0.033</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0.017</a:t>
                      </a:r>
                    </a:p>
                  </a:txBody>
                </a:tc>
                <a:tc>
                  <a:txBody>
                    <a:bodyPr/>
                    <a:lstStyle/>
                    <a:p>
                      <a:pPr lvl="0" indent="0" marL="0" algn="l">
                        <a:buNone/>
                      </a:pPr>
                      <a:r>
                        <a:rPr/>
                        <a:t>0.007</a:t>
                      </a:r>
                    </a:p>
                  </a:txBody>
                </a:tc>
                <a:tc>
                  <a:txBody>
                    <a:bodyPr/>
                    <a:lstStyle/>
                    <a:p>
                      <a:pPr lvl="0" indent="0" marL="0" algn="l">
                        <a:buNone/>
                      </a:pPr>
                      <a:r>
                        <a:rPr/>
                        <a:t>0.026</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r">
                        <a:buNone/>
                      </a:pPr>
                      <a:r>
                        <a:rPr/>
                        <a:t>2197</a:t>
                      </a:r>
                    </a:p>
                  </a:txBody>
                </a:tc>
                <a:tc>
                  <a:txBody>
                    <a:bodyPr/>
                    <a:lstStyle/>
                    <a:p>
                      <a:pPr lvl="0" indent="0" marL="0" algn="l">
                        <a:buNone/>
                      </a:pPr>
                      <a:r>
                        <a:rPr/>
                        <a:t>-0.029</a:t>
                      </a:r>
                    </a:p>
                  </a:txBody>
                </a:tc>
                <a:tc>
                  <a:txBody>
                    <a:bodyPr/>
                    <a:lstStyle/>
                    <a:p>
                      <a:pPr lvl="0" indent="0" marL="0" algn="l">
                        <a:buNone/>
                      </a:pPr>
                      <a:r>
                        <a:rPr/>
                        <a:t>-0.049</a:t>
                      </a:r>
                    </a:p>
                  </a:txBody>
                </a:tc>
                <a:tc>
                  <a:txBody>
                    <a:bodyPr/>
                    <a:lstStyle/>
                    <a:p>
                      <a:pPr lvl="0" indent="0" marL="0" algn="l">
                        <a:buNone/>
                      </a:pPr>
                      <a:r>
                        <a:rPr/>
                        <a:t>-0.009</a:t>
                      </a:r>
                    </a:p>
                  </a:txBody>
                </a:tc>
                <a:tc>
                  <a:txBody>
                    <a:bodyPr/>
                    <a:lstStyle/>
                    <a:p>
                      <a:pPr lvl="0" indent="0" marL="0" algn="l">
                        <a:buNone/>
                      </a:pPr>
                      <a:r>
                        <a:rPr/>
                        <a:t>0.004</a:t>
                      </a:r>
                    </a:p>
                  </a:txBody>
                </a:tc>
                <a:tc>
                  <a:txBody>
                    <a:bodyPr/>
                    <a:lstStyle/>
                    <a:p>
                      <a:pPr lvl="0" indent="0" marL="0" algn="l">
                        <a:buNone/>
                      </a:pPr>
                      <a:r>
                        <a:rPr/>
                        <a:t>FLAG</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r">
                        <a:buNone/>
                      </a:pPr>
                      <a:r>
                        <a:rPr/>
                        <a:t>2098</a:t>
                      </a:r>
                    </a:p>
                  </a:txBody>
                </a:tc>
                <a:tc>
                  <a:txBody>
                    <a:bodyPr/>
                    <a:lstStyle/>
                    <a:p>
                      <a:pPr lvl="0" indent="0" marL="0" algn="l">
                        <a:buNone/>
                      </a:pPr>
                      <a:r>
                        <a:rPr/>
                        <a:t>-0.021</a:t>
                      </a:r>
                    </a:p>
                  </a:txBody>
                </a:tc>
                <a:tc>
                  <a:txBody>
                    <a:bodyPr/>
                    <a:lstStyle/>
                    <a:p>
                      <a:pPr lvl="0" indent="0" marL="0" algn="l">
                        <a:buNone/>
                      </a:pPr>
                      <a:r>
                        <a:rPr/>
                        <a:t>-0.040</a:t>
                      </a:r>
                    </a:p>
                  </a:txBody>
                </a:tc>
                <a:tc>
                  <a:txBody>
                    <a:bodyPr/>
                    <a:lstStyle/>
                    <a:p>
                      <a:pPr lvl="0" indent="0" marL="0" algn="l">
                        <a:buNone/>
                      </a:pPr>
                      <a:r>
                        <a:rPr/>
                        <a:t>-0.002</a:t>
                      </a:r>
                    </a:p>
                  </a:txBody>
                </a:tc>
                <a:tc>
                  <a:txBody>
                    <a:bodyPr/>
                    <a:lstStyle/>
                    <a:p>
                      <a:pPr lvl="0" indent="0" marL="0" algn="l">
                        <a:buNone/>
                      </a:pPr>
                      <a:r>
                        <a:rPr/>
                        <a:t>0.031</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r">
                        <a:buNone/>
                      </a:pPr>
                      <a:r>
                        <a:rPr/>
                        <a:t>1704</a:t>
                      </a:r>
                    </a:p>
                  </a:txBody>
                </a:tc>
                <a:tc>
                  <a:txBody>
                    <a:bodyPr/>
                    <a:lstStyle/>
                    <a:p>
                      <a:pPr lvl="0" indent="0" marL="0" algn="l">
                        <a:buNone/>
                      </a:pPr>
                      <a:r>
                        <a:rPr/>
                        <a:t>-0.019</a:t>
                      </a:r>
                    </a:p>
                  </a:txBody>
                </a:tc>
                <a:tc>
                  <a:txBody>
                    <a:bodyPr/>
                    <a:lstStyle/>
                    <a:p>
                      <a:pPr lvl="0" indent="0" marL="0" algn="l">
                        <a:buNone/>
                      </a:pPr>
                      <a:r>
                        <a:rPr/>
                        <a:t>-0.036</a:t>
                      </a:r>
                    </a:p>
                  </a:txBody>
                </a:tc>
                <a:tc>
                  <a:txBody>
                    <a:bodyPr/>
                    <a:lstStyle/>
                    <a:p>
                      <a:pPr lvl="0" indent="0" marL="0" algn="l">
                        <a:buNone/>
                      </a:pPr>
                      <a:r>
                        <a:rPr/>
                        <a:t>-0.002</a:t>
                      </a:r>
                    </a:p>
                  </a:txBody>
                </a:tc>
                <a:tc>
                  <a:txBody>
                    <a:bodyPr/>
                    <a:lstStyle/>
                    <a:p>
                      <a:pPr lvl="0" indent="0" marL="0" algn="l">
                        <a:buNone/>
                      </a:pPr>
                      <a:r>
                        <a:rPr/>
                        <a:t>0.033</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r">
                        <a:buNone/>
                      </a:pPr>
                      <a:r>
                        <a:rPr/>
                        <a:t>1704</a:t>
                      </a:r>
                    </a:p>
                  </a:txBody>
                </a:tc>
                <a:tc>
                  <a:txBody>
                    <a:bodyPr/>
                    <a:lstStyle/>
                    <a:p>
                      <a:pPr lvl="0" indent="0" marL="0" algn="l">
                        <a:buNone/>
                      </a:pPr>
                      <a:r>
                        <a:rPr/>
                        <a:t>-0.008</a:t>
                      </a:r>
                    </a:p>
                  </a:txBody>
                </a:tc>
                <a:tc>
                  <a:txBody>
                    <a:bodyPr/>
                    <a:lstStyle/>
                    <a:p>
                      <a:pPr lvl="0" indent="0" marL="0" algn="l">
                        <a:buNone/>
                      </a:pPr>
                      <a:r>
                        <a:rPr/>
                        <a:t>-0.025</a:t>
                      </a:r>
                    </a:p>
                  </a:txBody>
                </a:tc>
                <a:tc>
                  <a:txBody>
                    <a:bodyPr/>
                    <a:lstStyle/>
                    <a:p>
                      <a:pPr lvl="0" indent="0" marL="0" algn="l">
                        <a:buNone/>
                      </a:pPr>
                      <a:r>
                        <a:rPr/>
                        <a:t>0.009</a:t>
                      </a:r>
                    </a:p>
                  </a:txBody>
                </a:tc>
                <a:tc>
                  <a:txBody>
                    <a:bodyPr/>
                    <a:lstStyle/>
                    <a:p>
                      <a:pPr lvl="0" indent="0" marL="0" algn="l">
                        <a:buNone/>
                      </a:pPr>
                      <a:r>
                        <a:rPr/>
                        <a:t>0.367</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r">
                        <a:buNone/>
                      </a:pPr>
                      <a:r>
                        <a:rPr/>
                        <a:t>1616</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0.068</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r">
                        <a:buNone/>
                      </a:pPr>
                      <a:r>
                        <a:rPr/>
                        <a:t>1615</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0.062</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r">
                        <a:buNone/>
                      </a:pPr>
                      <a:r>
                        <a:rPr/>
                        <a:t>1227</a:t>
                      </a:r>
                    </a:p>
                  </a:txBody>
                </a:tc>
                <a:tc>
                  <a:txBody>
                    <a:bodyPr/>
                    <a:lstStyle/>
                    <a:p>
                      <a:pPr lvl="0" indent="0" marL="0" algn="l">
                        <a:buNone/>
                      </a:pPr>
                      <a:r>
                        <a:rPr/>
                        <a:t>-0.028</a:t>
                      </a:r>
                    </a:p>
                  </a:txBody>
                </a:tc>
                <a:tc>
                  <a:txBody>
                    <a:bodyPr/>
                    <a:lstStyle/>
                    <a:p>
                      <a:pPr lvl="0" indent="0" marL="0" algn="l">
                        <a:buNone/>
                      </a:pPr>
                      <a:r>
                        <a:rPr/>
                        <a:t>-0.048</a:t>
                      </a:r>
                    </a:p>
                  </a:txBody>
                </a:tc>
                <a:tc>
                  <a:txBody>
                    <a:bodyPr/>
                    <a:lstStyle/>
                    <a:p>
                      <a:pPr lvl="0" indent="0" marL="0" algn="l">
                        <a:buNone/>
                      </a:pPr>
                      <a:r>
                        <a:rPr/>
                        <a:t>-0.009</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r">
                        <a:buNone/>
                      </a:pPr>
                      <a:r>
                        <a:rPr/>
                        <a:t>1227</a:t>
                      </a:r>
                    </a:p>
                  </a:txBody>
                </a:tc>
                <a:tc>
                  <a:txBody>
                    <a:bodyPr/>
                    <a:lstStyle/>
                    <a:p>
                      <a:pPr lvl="0" indent="0" marL="0" algn="l">
                        <a:buNone/>
                      </a:pPr>
                      <a:r>
                        <a:rPr/>
                        <a:t>-0.012</a:t>
                      </a:r>
                    </a:p>
                  </a:txBody>
                </a:tc>
                <a:tc>
                  <a:txBody>
                    <a:bodyPr/>
                    <a:lstStyle/>
                    <a:p>
                      <a:pPr lvl="0" indent="0" marL="0" algn="l">
                        <a:buNone/>
                      </a:pPr>
                      <a:r>
                        <a:rPr/>
                        <a:t>-0.030</a:t>
                      </a:r>
                    </a:p>
                  </a:txBody>
                </a:tc>
                <a:tc>
                  <a:txBody>
                    <a:bodyPr/>
                    <a:lstStyle/>
                    <a:p>
                      <a:pPr lvl="0" indent="0" marL="0" algn="l">
                        <a:buNone/>
                      </a:pPr>
                      <a:r>
                        <a:rPr/>
                        <a:t>0.005</a:t>
                      </a:r>
                    </a:p>
                  </a:txBody>
                </a:tc>
                <a:tc>
                  <a:txBody>
                    <a:bodyPr/>
                    <a:lstStyle/>
                    <a:p>
                      <a:pPr lvl="0" indent="0" marL="0" algn="l">
                        <a:buNone/>
                      </a:pPr>
                      <a:r>
                        <a:rPr/>
                        <a:t>0.172</a:t>
                      </a:r>
                    </a:p>
                  </a:txBody>
                </a:tc>
                <a:tc>
                  <a:txBody>
                    <a:bodyPr/>
                    <a:lstStyle/>
                    <a:p>
                      <a:pPr lvl="0" indent="0" marL="0" algn="l">
                        <a:buNone/>
                      </a:pPr>
                      <a:r>
                        <a:rPr/>
                        <a:t>PASS</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Figures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maps</a:t>
            </a:r>
          </a:p>
        </p:txBody>
      </p:sp>
      <p:pic>
        <p:nvPicPr>
          <p:cNvPr descr="../rescueCo/results/multiarm/fig_supportmap_C1.pn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C1: the ATE fails at the mildest surface</a:t>
            </a:r>
          </a:p>
        </p:txBody>
      </p:sp>
      <p:pic>
        <p:nvPicPr>
          <p:cNvPr descr="../rescueCo/results/multiarm/fig_supportmap_PRIMARY.pn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degradation arrives only with stress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histograms, flagged contrasts</a:t>
            </a:r>
          </a:p>
        </p:txBody>
      </p:sp>
      <p:pic>
        <p:nvPicPr>
          <p:cNvPr descr="../rescueCo/results/multiarm/fig_support_C2.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C2: SEVERE</a:t>
            </a:r>
          </a:p>
        </p:txBody>
      </p:sp>
      <p:pic>
        <p:nvPicPr>
          <p:cNvPr descr="../rescueCo/results/multiarm/fig_support_C3.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C3: FLAG</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Earlier single-contrast diagnostics</a:t>
            </a:r>
          </a:p>
        </p:txBody>
      </p:sp>
      <p:pic>
        <p:nvPicPr>
          <p:cNvPr descr="../rescueCo/results/plasmode_performance.png" id="0" name="Picture 1"/>
          <p:cNvPicPr>
            <a:picLocks noGrp="1" noChangeAspect="1"/>
          </p:cNvPicPr>
          <p:nvPr/>
        </p:nvPicPr>
        <p:blipFill>
          <a:blip r:embed="rId2"/>
          <a:stretch>
            <a:fillRect/>
          </a:stretch>
        </p:blipFill>
        <p:spPr bwMode="auto">
          <a:xfrm>
            <a:off x="457200" y="1625600"/>
            <a:ext cx="4038600" cy="2019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Plasmode candidate performance</a:t>
            </a:r>
          </a:p>
        </p:txBody>
      </p:sp>
      <p:pic>
        <p:nvPicPr>
          <p:cNvPr descr="../rescueCo/results/manuscript_artifacts/fig_dq_gradient.png" id="0" name="Picture 1"/>
          <p:cNvPicPr>
            <a:picLocks noGrp="1" noChangeAspect="1"/>
          </p:cNvPicPr>
          <p:nvPr/>
        </p:nvPicPr>
        <p:blipFill>
          <a:blip r:embed="rId3"/>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DQ degradation gradient</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TMLE internals (earlier lock)</a:t>
            </a:r>
          </a:p>
        </p:txBody>
      </p:sp>
      <p:pic>
        <p:nvPicPr>
          <p:cNvPr descr="../rescueCo/results/manuscript_artifacts/fig_ic_plot.png" id="0" name="Picture 1"/>
          <p:cNvPicPr>
            <a:picLocks noGrp="1" noChangeAspect="1"/>
          </p:cNvPicPr>
          <p:nvPr/>
        </p:nvPicPr>
        <p:blipFill>
          <a:blip r:embed="rId2"/>
          <a:stretch>
            <a:fillRect/>
          </a:stretch>
        </p:blipFill>
        <p:spPr bwMode="auto">
          <a:xfrm>
            <a:off x="457200" y="1371600"/>
            <a:ext cx="4038600" cy="2527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Influence-curve distribution</a:t>
            </a:r>
          </a:p>
        </p:txBody>
      </p:sp>
      <p:pic>
        <p:nvPicPr>
          <p:cNvPr descr="../rescueCo/results/manuscript_artifacts/fig_clever_covariate.png" id="0" name="Picture 1"/>
          <p:cNvPicPr>
            <a:picLocks noGrp="1" noChangeAspect="1"/>
          </p:cNvPicPr>
          <p:nvPr/>
        </p:nvPicPr>
        <p:blipFill>
          <a:blip r:embed="rId3"/>
          <a:stretch>
            <a:fillRect/>
          </a:stretch>
        </p:blipFill>
        <p:spPr bwMode="auto">
          <a:xfrm>
            <a:off x="4648200" y="1371600"/>
            <a:ext cx="4038600" cy="2527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Clever covariate by arm</a:t>
            </a:r>
          </a:p>
        </p:txBody>
      </p:sp>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2026-09-14T10:58:37Z</dcterms:created>
  <dcterms:modified xsi:type="dcterms:W3CDTF">2026-09-14T10:58:37Z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2026-09-14</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Deciding the estimand before outcomes</vt:lpwstr>
  </property>
  <property fmtid="{D5CDD505-2E9C-101B-9397-08002B2CF9AE}" pid="16" name="toc-title">
    <vt:lpwstr>Table of contents</vt:lpwstr>
  </property>
</Properties>
</file>