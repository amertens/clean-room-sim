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Staged, outcome-blind targeted learning with plasmode data-quality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Real-world evidence (RWE) studies require many analytic decisions before any estimate is produced</a:t>
            </a:r>
          </a:p>
          <a:p>
            <a:pPr lvl="0"/>
            <a:r>
              <a:rPr/>
              <a:t>Target-trial design, identification, estimator choice, and data-fitness review are usually documented in </a:t>
            </a:r>
            <a:r>
              <a:rPr b="1"/>
              <a:t>separate</a:t>
            </a:r>
            <a:r>
              <a:rPr/>
              <a:t> artefacts</a:t>
            </a:r>
          </a:p>
          <a:p>
            <a:pPr lvl="0"/>
            <a:r>
              <a:rPr/>
              <a:t>Reviewers cannot see how the pieces connect</a:t>
            </a:r>
          </a:p>
          <a:p>
            <a:pPr lvl="0"/>
            <a:r>
              <a:rPr b="1"/>
              <a:t>cleanTMLE</a:t>
            </a:r>
            <a:r>
              <a:rPr/>
              <a:t> is a small R package that turns the prespecified decisions into a single reproducible record, and adds a quantitative stress test for data-quality threats before outcome access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Motivation: prespecification + fit-for-purpose data in RWE</a:t>
            </a:r>
          </a:p>
          <a:p>
            <a:pPr lvl="0" indent="-342900" marL="342900">
              <a:buAutoNum type="arabicPeriod"/>
            </a:pPr>
            <a:r>
              <a:rPr/>
              <a:t>The causal roadmap, and where the package sits</a:t>
            </a:r>
          </a:p>
          <a:p>
            <a:pPr lvl="0" indent="-342900" marL="342900">
              <a:buAutoNum type="arabicPeriod"/>
            </a:pPr>
            <a:r>
              <a:rPr/>
              <a:t>Outcome-blind staged workflow</a:t>
            </a:r>
          </a:p>
          <a:p>
            <a:pPr lvl="0" indent="-342900" marL="342900">
              <a:buAutoNum type="arabicPeriod"/>
            </a:pPr>
            <a:r>
              <a:rPr/>
              <a:t>The DQ stress test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is genuinely new, what is not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arguments, reported separately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 typical RWE study:</a:t>
            </a:r>
          </a:p>
          <a:p>
            <a:pPr lvl="0"/>
            <a:r>
              <a:rPr/>
              <a:t>The </a:t>
            </a:r>
            <a:r>
              <a:rPr b="1"/>
              <a:t>estimator-selection</a:t>
            </a:r>
            <a:r>
              <a:rPr/>
              <a:t> argument is increasingly developed with outcome-blind plasmode simulation (Franklin 2014; Schuler 2017; Dang 2023; Schreck 2024)</a:t>
            </a:r>
          </a:p>
          <a:p>
            <a:pPr lvl="0"/>
            <a:r>
              <a:rPr/>
              <a:t>The </a:t>
            </a:r>
            <a:r>
              <a:rPr b="1"/>
              <a:t>fit-for-purpose</a:t>
            </a:r>
            <a:r>
              <a:rPr/>
              <a:t> argument is documented qualitatively through SPIFD2, HARPER, TARGET, START-RWE checklists</a:t>
            </a:r>
          </a:p>
          <a:p>
            <a:pPr lvl="0"/>
            <a:r>
              <a:rPr/>
              <a:t>The simulation is numeric; the fit-for-purpose argument is prose</a:t>
            </a:r>
          </a:p>
          <a:p>
            <a:pPr lvl="0" indent="0" marL="0">
              <a:buNone/>
            </a:pPr>
            <a:r>
              <a:rPr/>
              <a:t>A candidate estimator that wins the simulation can still fail under realistic measurement error, missingness, or unmeasured confounding.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quantitative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plasmode loop is under the analyst’s control. We can extend it to ask:</a:t>
            </a:r>
          </a:p>
          <a:p>
            <a:pPr lvl="0" indent="0" marL="1270000">
              <a:buNone/>
            </a:pPr>
            <a:r>
              <a:rPr sz="2000" i="1"/>
              <a:t>“Which candidate maintains acceptable bias, RMSE, and coverage across the plausible range of each threat documented in the fit-for-purpose review?”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data-quality (DQ) stress test</a:t>
            </a:r>
            <a:r>
              <a:rPr/>
              <a:t>: a pre-outcome robustness screen, not a substitute for variable validation or for post-unblinding sensitivity analysis.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outcome-blind means 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Decisions about cohort, candidate estimators, simulation scenarios, decision thresholds, and primary-estimator selection are made </a:t>
                </a:r>
                <a:r>
                  <a:rPr b="1"/>
                  <a:t>without inspecting the observed treatment–outcome association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Allowed: baseline covariates, treatment assignment, missingness indicators, synthetic outcomes, and the marginal mean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 (used internally for the plasmode generator).</a:t>
                </a:r>
              </a:p>
              <a:p>
                <a:pPr lvl="0" indent="0" marL="0">
                  <a:buNone/>
                </a:pPr>
                <a:r>
                  <a:rPr/>
                  <a:t>Not allowed before the decision point: the observed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Y</m:t>
                    </m:r>
                  </m:oMath>
                </a14:m>
                <a:r>
                  <a:rPr/>
                  <a:t> relationship.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causal roadmap and where the package sits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logically ordered activities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Causal question and target trial</a:t>
            </a:r>
          </a:p>
          <a:p>
            <a:pPr lvl="0" indent="-342900" marL="342900">
              <a:buAutoNum type="arabicPeriod"/>
            </a:pPr>
            <a:r>
              <a:rPr/>
              <a:t>Observed data and source characterisation</a:t>
            </a:r>
          </a:p>
          <a:p>
            <a:pPr lvl="0" indent="-342900" marL="342900">
              <a:buAutoNum type="arabicPeriod"/>
            </a:pPr>
            <a:r>
              <a:rPr/>
              <a:t>Identification assumptions</a:t>
            </a:r>
          </a:p>
          <a:p>
            <a:pPr lvl="0" indent="-342900" marL="342900">
              <a:buAutoNum type="arabicPeriod"/>
            </a:pPr>
            <a:r>
              <a:rPr/>
              <a:t>Statistical estimand</a:t>
            </a:r>
          </a:p>
          <a:p>
            <a:pPr lvl="0" indent="-342900" marL="342900">
              <a:buAutoNum type="arabicPeriod"/>
            </a:pPr>
            <a:r>
              <a:rPr b="1"/>
              <a:t>Estimator selection (locked)</a:t>
            </a:r>
          </a:p>
          <a:p>
            <a:pPr lvl="0" indent="-342900" marL="342900">
              <a:buAutoNum type="arabicPeriod"/>
            </a:pPr>
            <a:r>
              <a:rPr b="1"/>
              <a:t>Pre-outcome diagnostics and decision</a:t>
            </a:r>
            <a:r>
              <a:rPr/>
              <a:t> → interpretation and post-outcome sensitivity</a:t>
            </a:r>
          </a:p>
          <a:p>
            <a:pPr lvl="0" indent="0" marL="0">
              <a:buNone/>
            </a:pPr>
            <a:r>
              <a:rPr/>
              <a:t>cleanTMLE operates in steps </a:t>
            </a:r>
            <a:r>
              <a:rPr b="1"/>
              <a:t>5</a:t>
            </a:r>
            <a:r>
              <a:rPr/>
              <a:t> and the pre-outcome portion of </a:t>
            </a:r>
            <a:r>
              <a:rPr b="1"/>
              <a:t>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Steps 1–4 remain external study-level work, supported by target-trial templates and fit-for-purpose checklists.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Governance is a stack, not a single layer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13300"/>
                <a:gridCol w="341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Provided by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Protocol, estimand, target trial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Investigator + sponsor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Source-data audit, phenotype validation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custodian + external studies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separation, access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Analysis lock, audit and decision logs, 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cleanTMLE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 primary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Analyst (under lock)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Post-outcome sensitivity analyses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Analyst + reviewer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1</a:t>
            </a:r>
            <a:r>
              <a:rPr/>
              <a:t> — cohort and covariates locked; outcome not loaded</a:t>
            </a:r>
          </a:p>
          <a:p>
            <a:pPr lvl="0"/>
            <a:r>
              <a:rPr b="1"/>
              <a:t>Stage 2a</a:t>
            </a:r>
            <a:r>
              <a:rPr/>
              <a:t> — propensity-score and design diagnostics; weights, overlap, SMDs</a:t>
            </a:r>
          </a:p>
          <a:p>
            <a:pPr lvl="0"/>
            <a:r>
              <a:rPr b="1"/>
              <a:t>Stage 2b</a:t>
            </a:r>
            <a:r>
              <a:rPr/>
              <a:t> — plasmode candidate selection: synthetic outcomes, bias / RMSE / coverage across candidates</a:t>
            </a:r>
          </a:p>
          <a:p>
            <a:pPr lvl="0"/>
            <a:r>
              <a:rPr b="1"/>
              <a:t>Stage 3</a:t>
            </a:r>
            <a:r>
              <a:rPr/>
              <a:t> — DQ stress test: each candidate evaluated under prespecified data-quality threats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locked primary analysis; at-outcome diagnostics; post-outcome sensitivity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adds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/>
              <a:t>A </a:t>
            </a:r>
            <a:r>
              <a:rPr b="1"/>
              <a:t>modular TMLE API</a:t>
            </a:r>
            <a:r>
              <a:rPr/>
              <a:t>: fit treatment mechanism, fit outcome mechanism, target, extract</a:t>
            </a:r>
          </a:p>
          <a:p>
            <a:pPr lvl="0"/>
            <a:r>
              <a:rPr/>
              <a:t>An outcome-blind </a:t>
            </a:r>
            <a:r>
              <a:rPr b="1"/>
              <a:t>plasmode candidate selector</a:t>
            </a:r>
          </a:p>
          <a:p>
            <a:pPr lvl="0"/>
            <a:r>
              <a:rPr/>
              <a:t>A </a:t>
            </a:r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 with four threat scenarios</a:t>
            </a:r>
          </a:p>
          <a:p>
            <a:pPr lvl="0"/>
            <a:r>
              <a:rPr/>
              <a:t>A </a:t>
            </a:r>
            <a:r>
              <a:rPr b="1"/>
              <a:t>pre-outcome decision rule</a:t>
            </a:r>
            <a:r>
              <a:rPr/>
              <a:t> classifying GO / FLAG / STOP</a:t>
            </a:r>
          </a:p>
          <a:p>
            <a:pPr lvl="0"/>
            <a:r>
              <a:rPr/>
              <a:t>IPW, G-computation, AIPW, IPCW-TMLE, matched TMLE — all calling an internal outcome-access check until the decision authorises Stage 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not replace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Target-trial design</a:t>
            </a:r>
          </a:p>
          <a:p>
            <a:pPr lvl="0"/>
            <a:r>
              <a:rPr/>
              <a:t>Source-data audit, phenotype validation, linkage assessment</a:t>
            </a:r>
          </a:p>
          <a:p>
            <a:pPr lvl="0"/>
            <a:r>
              <a:rPr/>
              <a:t>Independent personnel governance and role separation</a:t>
            </a:r>
          </a:p>
          <a:p>
            <a:pPr lvl="0"/>
            <a:r>
              <a:rPr/>
              <a:t>Post-outcome quantitative bias analysis (E-value, QBA, causal-gap)</a:t>
            </a:r>
          </a:p>
          <a:p>
            <a:pPr lvl="0"/>
            <a:r>
              <a:rPr/>
              <a:t>The proprietary </a:t>
            </a:r>
            <a:r>
              <a:rPr>
                <a:latin typeface="Courier"/>
              </a:rPr>
              <a:t>causalRisk</a:t>
            </a:r>
            <a:r>
              <a:rPr/>
              <a:t> package — alternative implementation of related cumulative-risk estimators; </a:t>
            </a:r>
            <a:r>
              <a:rPr b="1"/>
              <a:t>no shared code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DQ stress test</a:t>
            </a:r>
          </a:p>
        </p:txBody>
      </p:sp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produces the same triple — bias, RMSE, coverage — as the baseline plasmode, on the same scale.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severity ranges are chosen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External validation studies (PPV, sensitivity from chart-review studies)</a:t>
            </a:r>
          </a:p>
          <a:p>
            <a:pPr lvl="0"/>
            <a:r>
              <a:rPr/>
              <a:t>Source-specific data profiling</a:t>
            </a:r>
          </a:p>
          <a:p>
            <a:pPr lvl="0"/>
            <a:r>
              <a:rPr/>
              <a:t>Expert elicitation, with the elicitor and rationale logged</a:t>
            </a:r>
          </a:p>
          <a:p>
            <a:pPr lvl="0" indent="0" marL="0">
              <a:buNone/>
            </a:pPr>
            <a:r>
              <a:rPr/>
              <a:t>The package records the values in use as part of the lock fingerprint, so a reviewer can see what numerical assumptions drove the decision.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Those remain study-level evaluations. The DQ stress test is a quantitative supplement, not a substitute.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observations per replicate, 200 replicates per scenario</a:t>
                </a:r>
              </a:p>
              <a:p>
                <a:pPr lvl="0"/>
                <a:r>
                  <a:rPr/>
                  <a:t>Six estimators: Crude, IPTW, Match, G-comp, AIPW, TMLE, CV-TMLE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(textbook 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For each scenario, the full 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 — good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confounding; CIs do not cover at 95%</a:t>
            </a:r>
          </a:p>
          <a:p>
            <a:pPr lvl="0"/>
            <a:r>
              <a:rPr b="1"/>
              <a:t>Decision: GO</a:t>
            </a:r>
            <a:r>
              <a:rPr/>
              <a:t> — textbook benchmark behaviour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 —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Crude shifts further from truth</a:t>
            </a:r>
          </a:p>
          <a:p>
            <a:pPr lvl="0"/>
            <a:r>
              <a:rPr/>
              <a:t>IPTW shows wider CIs reflecting heavier weights; SE-to-SD ratio above one</a:t>
            </a:r>
          </a:p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Matched TMLE shows conservative SE (ratio ≈ 2): the post-match TMLE step ignores the matching draw</a:t>
            </a:r>
          </a:p>
          <a:p>
            <a:pPr lvl="0"/>
            <a:r>
              <a:rPr/>
              <a:t>Plasmode-selected specification adapts truncation level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 —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can remove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Bias smallest for TMLE, largest for crude — difference of degree, not of kind</a:t>
                </a:r>
              </a:p>
              <a:p>
                <a:pPr lvl="0"/>
                <a:r>
                  <a:rPr/>
                  <a:t>Baseline plasmode TMLE coverage at the lower edge of the prespecified range</a:t>
                </a:r>
              </a:p>
              <a:p>
                <a:pPr lvl="0"/>
                <a:r>
                  <a:rPr/>
                  <a:t>The U-shift DQ row pushes the absolute bias estimate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the staged workflow declines to run the primary analysis</a:t>
                </a:r>
              </a:p>
              <a:p>
                <a:pPr lvl="0" indent="0" marL="0">
                  <a:buNone/>
                </a:pPr>
                <a:r>
                  <a:rPr/>
                  <a:t>The DQ supplement is what makes the failure unambiguous.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qualitatively different profiles:</a:t>
            </a:r>
          </a:p>
          <a:p>
            <a:pPr lvl="0"/>
            <a:r>
              <a:rPr b="1"/>
              <a:t>Covariate missingness</a:t>
            </a:r>
            <a:r>
              <a:rPr/>
              <a:t>: flat gradient (median imputation under MCAR is unbiased by construction — confirms no harm, but a weak test)</a:t>
            </a:r>
          </a:p>
          <a:p>
            <a:pPr lvl="0"/>
            <a:r>
              <a:rPr b="1"/>
              <a:t>Exposure misclassification</a:t>
            </a:r>
            <a:r>
              <a:rPr/>
              <a:t>: bias rises toward the null as (sens, spec) worsen;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: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: largest degradation overall; the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Nairobi, Kenya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 (good functional outcome)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</a:t>
                </a:r>
                <a:r>
                  <a:rPr b="1"/>
                  <a:t>24.6% outcome missingness</a:t>
                </a:r>
              </a:p>
              <a:p>
                <a:pPr lvl="0"/>
                <a:r>
                  <a:rPr/>
                  <a:t>A workflow demonstration, not a transport-effectiveness claim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Lock: 18 baseline covariates, IPCW for missingness, six prespecified estimators</a:t>
            </a:r>
          </a:p>
          <a:p>
            <a:pPr lvl="0"/>
            <a:r>
              <a:rPr/>
              <a:t>Stage 2a: PS scores in [0.21, 0.81]; SMDs balanced after weighting; ESS retention 78%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3 DQ stress test: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Negative controls: 2 of 5 prespecified NCs surviving NZV filter (chronic hypertension, household urban) both pass — narrower NC panel than the SAP originally specified</a:t>
            </a:r>
          </a:p>
          <a:p>
            <a:pPr lvl="0"/>
            <a:r>
              <a:rPr b="1"/>
              <a:t>Decision: PROCEED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 (unadjusted)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 (overlap)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(−0.020,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(−0.001,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 (overlap)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(−0.015,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IPCW-weighted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cohort under censoring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(−0.000,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case study tells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Six estimators agree on direction (RD between 0.026 and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An additive bias of 0.0012 would push the lower CI bound across zero (a weak sensitivity, not a full QBA)</a:t>
            </a:r>
          </a:p>
          <a:p>
            <a:pPr lvl="0"/>
            <a:r>
              <a:rPr/>
              <a:t>The audit log captures every analytic decision, including the three NC drops at NZV filtering</a:t>
            </a:r>
          </a:p>
          <a:p>
            <a:pPr lvl="0"/>
            <a:r>
              <a:rPr/>
              <a:t>This is a </a:t>
            </a:r>
            <a:r>
              <a:rPr b="1"/>
              <a:t>workflow demonstration</a:t>
            </a:r>
            <a:r>
              <a:rPr/>
              <a:t>; cleanTMLE does not establish causal validity, validate the data source, or prove that Rescue.Co transport is effective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genuinely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Plasmode loop extended to robustness screening</a:t>
            </a:r>
            <a:r>
              <a:rPr/>
              <a:t>: each candidate produces a degradation gradient on the same bias/RMSE/coverage scale as the baseline, so the same decision rule applies uniformly</a:t>
            </a:r>
          </a:p>
          <a:p>
            <a:pPr lvl="0"/>
            <a:r>
              <a:rPr b="1"/>
              <a:t>Lock + audit + decision logs as code artefacts</a:t>
            </a:r>
            <a:r>
              <a:rPr/>
              <a:t>: a fingerprinted record an external reviewer can reconstruct</a:t>
            </a:r>
          </a:p>
          <a:p>
            <a:pPr lvl="0"/>
            <a:r>
              <a:rPr b="1"/>
              <a:t>A modular TMLE API</a:t>
            </a:r>
            <a:r>
              <a:rPr/>
              <a:t>: treatment fit, outcome fit, target, extract — each step callable at the right stage of the workflow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 — distinct from this pre-outcome screen</a:t>
            </a:r>
          </a:p>
          <a:p>
            <a:pPr lvl="0" indent="0" marL="0">
              <a:buNone/>
            </a:pPr>
            <a:r>
              <a:rPr/>
              <a:t>cleanTMLE is mostly </a:t>
            </a:r>
            <a:r>
              <a:rPr b="1"/>
              <a:t>operational glue</a:t>
            </a:r>
            <a:r>
              <a:rPr/>
              <a:t> that pulls these together into a reproducible record.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v0.1 scope: binary point exposure, binary outcome, marginal RD, MCAR outcome missingness handled by IPCW</a:t>
            </a:r>
          </a:p>
          <a:p>
            <a:pPr lvl="0"/>
            <a:r>
              <a:rPr/>
              <a:t>Out of scope (yet): hazard ratios, time-varying treatments, competing risks, multinomial exposures, MAR / MNAR missingness, effect modification in the plasmode generator</a:t>
            </a:r>
          </a:p>
          <a:p>
            <a:pPr lvl="0"/>
            <a:r>
              <a:rPr/>
              <a:t>DQ covariate-missingness mechanism is MCAR-only; MAR / MNAR variants are on the roadmap</a:t>
            </a:r>
          </a:p>
          <a:p>
            <a:pPr lvl="0"/>
            <a:r>
              <a:rPr/>
              <a:t>Gate-threshold defaults are heuristic, not derived from a regulatory specification — analysts set them from study context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A 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reader that ingests validation-literature parameters (PPV, sens, claims-accuracy ranges) and attaches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: how should we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for a new study? What standard would a reviewer accept?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: are </a:t>
            </a:r>
            <a:r>
              <a:rPr>
                <a:latin typeface="Courier"/>
              </a:rPr>
              <a:t>max_abs_bias = 0.01</a:t>
            </a:r>
            <a:r>
              <a:rPr/>
              <a:t>, </a:t>
            </a:r>
            <a:r>
              <a:rPr>
                <a:latin typeface="Courier"/>
              </a:rPr>
              <a:t>min_coverage = 0.90</a:t>
            </a:r>
            <a:r>
              <a:rPr/>
              <a:t>, </a:t>
            </a:r>
            <a:r>
              <a:rPr>
                <a:latin typeface="Courier"/>
              </a:rPr>
              <a:t>SE-band = (0.8, 1.2)</a:t>
            </a:r>
            <a:r>
              <a:rPr/>
              <a:t> reasonable, or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Negative-control panels</a:t>
            </a:r>
            <a:r>
              <a:rPr/>
              <a:t>: when the NZV filter prunes the prespecified NCs, what is the right policy — re-elicit before unblinding,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Personnel governance</a:t>
            </a:r>
            <a:r>
              <a:rPr/>
              <a:t>: for submission-grade studies, what minimum role separation should sit on top of the software workflow?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: is the parametric synthetic-outcome mechanism faithful enough for decision-making,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Where to publish</a:t>
            </a:r>
            <a:r>
              <a:rPr/>
              <a:t>: methods/tutorial paper venue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 (</a:t>
            </a:r>
            <a:r>
              <a:rPr>
                <a:latin typeface="Courier"/>
              </a:rPr>
              <a:t>Pharmacoepi DS</a:t>
            </a:r>
            <a:r>
              <a:rPr/>
              <a:t>, </a:t>
            </a:r>
            <a:r>
              <a:rPr>
                <a:latin typeface="Courier"/>
              </a:rPr>
              <a:t>Drug Safety</a:t>
            </a:r>
            <a:r>
              <a:rPr/>
              <a:t>)?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2026-05-11T04:11:01Z</dcterms:created>
  <dcterms:modified xsi:type="dcterms:W3CDTF">2026-05-11T04:11:01Z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2026-05-10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Staged, outcome-blind targeted learning with plasmode data-quality stress testing</vt:lpwstr>
  </property>
  <property fmtid="{D5CDD505-2E9C-101B-9397-08002B2CF9AE}" pid="16" name="toc-title">
    <vt:lpwstr>Table of contents</vt:lpwstr>
  </property>
</Properties>
</file>