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70" Type="http://schemas.openxmlformats.org/officeDocument/2006/relationships/viewProps" Target="viewProps.xml" /><Relationship Id="rId69" Type="http://schemas.openxmlformats.org/officeDocument/2006/relationships/presProps" Target="presProps.xml" /><Relationship Id="rId1" Type="http://schemas.openxmlformats.org/officeDocument/2006/relationships/slideMaster" Target="slideMasters/slideMaster1.xml" /><Relationship Id="rId72" Type="http://schemas.openxmlformats.org/officeDocument/2006/relationships/tableStyles" Target="tableStyles.xml" /><Relationship Id="rId7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21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050">
                <a:solidFill>
                  <a:schemeClr val="tx1">
                    <a:tint val="75000"/>
                  </a:schemeClr>
                </a:solidFill>
              </a:defRPr>
            </a:lvl1pPr>
            <a:lvl2pPr marL="342900" indent="0">
              <a:buNone/>
              <a:defRPr sz="944">
                <a:solidFill>
                  <a:schemeClr val="tx1">
                    <a:tint val="75000"/>
                  </a:schemeClr>
                </a:solidFill>
              </a:defRPr>
            </a:lvl2pPr>
            <a:lvl3pPr marL="685800" indent="0">
              <a:buNone/>
              <a:defRPr sz="840">
                <a:solidFill>
                  <a:schemeClr val="tx1">
                    <a:tint val="75000"/>
                  </a:schemeClr>
                </a:solidFill>
              </a:defRPr>
            </a:lvl3pPr>
            <a:lvl4pPr marL="1028700" indent="0">
              <a:buNone/>
              <a:defRPr sz="800">
                <a:solidFill>
                  <a:schemeClr val="tx1">
                    <a:tint val="75000"/>
                  </a:schemeClr>
                </a:solidFill>
              </a:defRPr>
            </a:lvl4pPr>
            <a:lvl5pPr marL="1371600" indent="0">
              <a:buNone/>
              <a:defRPr sz="800">
                <a:solidFill>
                  <a:schemeClr val="tx1">
                    <a:tint val="75000"/>
                  </a:schemeClr>
                </a:solidFill>
              </a:defRPr>
            </a:lvl5pPr>
            <a:lvl6pPr marL="1714500" indent="0">
              <a:buNone/>
              <a:defRPr sz="800">
                <a:solidFill>
                  <a:schemeClr val="tx1">
                    <a:tint val="75000"/>
                  </a:schemeClr>
                </a:solidFill>
              </a:defRPr>
            </a:lvl6pPr>
            <a:lvl7pPr marL="2057400" indent="0">
              <a:buNone/>
              <a:defRPr sz="800">
                <a:solidFill>
                  <a:schemeClr val="tx1">
                    <a:tint val="75000"/>
                  </a:schemeClr>
                </a:solidFill>
              </a:defRPr>
            </a:lvl7pPr>
            <a:lvl8pPr marL="2400300" indent="0">
              <a:buNone/>
              <a:defRPr sz="800">
                <a:solidFill>
                  <a:schemeClr val="tx1">
                    <a:tint val="75000"/>
                  </a:schemeClr>
                </a:solidFill>
              </a:defRPr>
            </a:lvl8pPr>
            <a:lvl9pPr marL="2743200" indent="0">
              <a:buNone/>
              <a:defRPr sz="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1470"/>
            </a:lvl1pPr>
            <a:lvl2pPr>
              <a:defRPr sz="1260"/>
            </a:lvl2pPr>
            <a:lvl3pPr>
              <a:defRPr sz="1050"/>
            </a:lvl3pPr>
            <a:lvl4pPr>
              <a:defRPr sz="944"/>
            </a:lvl4pPr>
            <a:lvl5pPr>
              <a:defRPr sz="944"/>
            </a:lvl5pPr>
            <a:lvl6pPr>
              <a:defRPr sz="944"/>
            </a:lvl6pPr>
            <a:lvl7pPr>
              <a:defRPr sz="944"/>
            </a:lvl7pPr>
            <a:lvl8pPr>
              <a:defRPr sz="944"/>
            </a:lvl8pPr>
            <a:lvl9pPr>
              <a:defRPr sz="94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1470"/>
            </a:lvl1pPr>
            <a:lvl2pPr>
              <a:defRPr sz="1260"/>
            </a:lvl2pPr>
            <a:lvl3pPr>
              <a:defRPr sz="1050"/>
            </a:lvl3pPr>
            <a:lvl4pPr>
              <a:defRPr sz="944"/>
            </a:lvl4pPr>
            <a:lvl5pPr>
              <a:defRPr sz="944"/>
            </a:lvl5pPr>
            <a:lvl6pPr>
              <a:defRPr sz="944"/>
            </a:lvl6pPr>
            <a:lvl7pPr>
              <a:defRPr sz="944"/>
            </a:lvl7pPr>
            <a:lvl8pPr>
              <a:defRPr sz="944"/>
            </a:lvl8pPr>
            <a:lvl9pPr>
              <a:defRPr sz="94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260" b="1"/>
            </a:lvl1pPr>
            <a:lvl2pPr marL="342900" indent="0">
              <a:buNone/>
              <a:defRPr sz="1050" b="1"/>
            </a:lvl2pPr>
            <a:lvl3pPr marL="685800" indent="0">
              <a:buNone/>
              <a:defRPr sz="944" b="1"/>
            </a:lvl3pPr>
            <a:lvl4pPr marL="1028700" indent="0">
              <a:buNone/>
              <a:defRPr sz="840" b="1"/>
            </a:lvl4pPr>
            <a:lvl5pPr marL="1371600" indent="0">
              <a:buNone/>
              <a:defRPr sz="840" b="1"/>
            </a:lvl5pPr>
            <a:lvl6pPr marL="1714500" indent="0">
              <a:buNone/>
              <a:defRPr sz="840" b="1"/>
            </a:lvl6pPr>
            <a:lvl7pPr marL="2057400" indent="0">
              <a:buNone/>
              <a:defRPr sz="840" b="1"/>
            </a:lvl7pPr>
            <a:lvl8pPr marL="2400300" indent="0">
              <a:buNone/>
              <a:defRPr sz="840" b="1"/>
            </a:lvl8pPr>
            <a:lvl9pPr marL="2743200" indent="0">
              <a:buNone/>
              <a:defRPr sz="84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60"/>
            </a:lvl1pPr>
            <a:lvl2pPr>
              <a:defRPr sz="1050"/>
            </a:lvl2pPr>
            <a:lvl3pPr>
              <a:defRPr sz="944"/>
            </a:lvl3pPr>
            <a:lvl4pPr>
              <a:defRPr sz="840"/>
            </a:lvl4pPr>
            <a:lvl5pPr>
              <a:defRPr sz="840"/>
            </a:lvl5pPr>
            <a:lvl6pPr>
              <a:defRPr sz="840"/>
            </a:lvl6pPr>
            <a:lvl7pPr>
              <a:defRPr sz="840"/>
            </a:lvl7pPr>
            <a:lvl8pPr>
              <a:defRPr sz="840"/>
            </a:lvl8pPr>
            <a:lvl9pPr>
              <a:defRPr sz="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260" b="1"/>
            </a:lvl1pPr>
            <a:lvl2pPr marL="342900" indent="0">
              <a:buNone/>
              <a:defRPr sz="1050" b="1"/>
            </a:lvl2pPr>
            <a:lvl3pPr marL="685800" indent="0">
              <a:buNone/>
              <a:defRPr sz="944" b="1"/>
            </a:lvl3pPr>
            <a:lvl4pPr marL="1028700" indent="0">
              <a:buNone/>
              <a:defRPr sz="840" b="1"/>
            </a:lvl4pPr>
            <a:lvl5pPr marL="1371600" indent="0">
              <a:buNone/>
              <a:defRPr sz="840" b="1"/>
            </a:lvl5pPr>
            <a:lvl6pPr marL="1714500" indent="0">
              <a:buNone/>
              <a:defRPr sz="840" b="1"/>
            </a:lvl6pPr>
            <a:lvl7pPr marL="2057400" indent="0">
              <a:buNone/>
              <a:defRPr sz="840" b="1"/>
            </a:lvl7pPr>
            <a:lvl8pPr marL="2400300" indent="0">
              <a:buNone/>
              <a:defRPr sz="840" b="1"/>
            </a:lvl8pPr>
            <a:lvl9pPr marL="2743200" indent="0">
              <a:buNone/>
              <a:defRPr sz="84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60"/>
            </a:lvl1pPr>
            <a:lvl2pPr>
              <a:defRPr sz="1050"/>
            </a:lvl2pPr>
            <a:lvl3pPr>
              <a:defRPr sz="944"/>
            </a:lvl3pPr>
            <a:lvl4pPr>
              <a:defRPr sz="840"/>
            </a:lvl4pPr>
            <a:lvl5pPr>
              <a:defRPr sz="840"/>
            </a:lvl5pPr>
            <a:lvl6pPr>
              <a:defRPr sz="840"/>
            </a:lvl6pPr>
            <a:lvl7pPr>
              <a:defRPr sz="840"/>
            </a:lvl7pPr>
            <a:lvl8pPr>
              <a:defRPr sz="840"/>
            </a:lvl8pPr>
            <a:lvl9pPr>
              <a:defRPr sz="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05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680"/>
            </a:lvl1pPr>
            <a:lvl2pPr>
              <a:defRPr sz="1470"/>
            </a:lvl2pPr>
            <a:lvl3pPr>
              <a:defRPr sz="126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800"/>
            </a:lvl1pPr>
            <a:lvl2pPr marL="342900" indent="0">
              <a:buNone/>
              <a:defRPr sz="800"/>
            </a:lvl2pPr>
            <a:lvl3pPr marL="685800" indent="0">
              <a:buNone/>
              <a:defRPr sz="8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05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1680"/>
            </a:lvl1pPr>
            <a:lvl2pPr marL="342900" indent="0">
              <a:buNone/>
              <a:defRPr sz="1470"/>
            </a:lvl2pPr>
            <a:lvl3pPr marL="685800" indent="0">
              <a:buNone/>
              <a:defRPr sz="126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800"/>
            </a:lvl1pPr>
            <a:lvl2pPr marL="342900" indent="0">
              <a:buNone/>
              <a:defRPr sz="800"/>
            </a:lvl2pPr>
            <a:lvl3pPr marL="685800" indent="0">
              <a:buNone/>
              <a:defRPr sz="8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8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8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8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231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8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47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26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05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05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05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05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05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050">
          <a:solidFill>
            <a:schemeClr val="tx1"/>
          </a:solidFill>
          <a:latin typeface="+mn-lt"/>
          <a:ea typeface="+mn-ea"/>
          <a:cs typeface="+mn-cs"/>
        </a:defRPr>
      </a:lvl9pPr>
    </p:bodyStyle>
    <p:otherStyle>
      <a:defPPr>
        <a:defRPr lang="en-US"/>
      </a:defPPr>
      <a:lvl1pPr algn="l" defTabSz="342900" eaLnBrk="1" hangingPunct="1" latinLnBrk="0" marL="0" rtl="0">
        <a:defRPr kern="1200" sz="944">
          <a:solidFill>
            <a:schemeClr val="tx1"/>
          </a:solidFill>
          <a:latin typeface="+mn-lt"/>
          <a:ea typeface="+mn-ea"/>
          <a:cs typeface="+mn-cs"/>
        </a:defRPr>
      </a:lvl1pPr>
      <a:lvl2pPr algn="l" defTabSz="342900" eaLnBrk="1" hangingPunct="1" latinLnBrk="0" marL="342900" rtl="0">
        <a:defRPr kern="1200" sz="944">
          <a:solidFill>
            <a:schemeClr val="tx1"/>
          </a:solidFill>
          <a:latin typeface="+mn-lt"/>
          <a:ea typeface="+mn-ea"/>
          <a:cs typeface="+mn-cs"/>
        </a:defRPr>
      </a:lvl2pPr>
      <a:lvl3pPr algn="l" defTabSz="342900" eaLnBrk="1" hangingPunct="1" latinLnBrk="0" marL="685800" rtl="0">
        <a:defRPr kern="1200" sz="944">
          <a:solidFill>
            <a:schemeClr val="tx1"/>
          </a:solidFill>
          <a:latin typeface="+mn-lt"/>
          <a:ea typeface="+mn-ea"/>
          <a:cs typeface="+mn-cs"/>
        </a:defRPr>
      </a:lvl3pPr>
      <a:lvl4pPr algn="l" defTabSz="342900" eaLnBrk="1" hangingPunct="1" latinLnBrk="0" marL="1028700" rtl="0">
        <a:defRPr kern="1200" sz="944">
          <a:solidFill>
            <a:schemeClr val="tx1"/>
          </a:solidFill>
          <a:latin typeface="+mn-lt"/>
          <a:ea typeface="+mn-ea"/>
          <a:cs typeface="+mn-cs"/>
        </a:defRPr>
      </a:lvl4pPr>
      <a:lvl5pPr algn="l" defTabSz="342900" eaLnBrk="1" hangingPunct="1" latinLnBrk="0" marL="1371600" rtl="0">
        <a:defRPr kern="1200" sz="944">
          <a:solidFill>
            <a:schemeClr val="tx1"/>
          </a:solidFill>
          <a:latin typeface="+mn-lt"/>
          <a:ea typeface="+mn-ea"/>
          <a:cs typeface="+mn-cs"/>
        </a:defRPr>
      </a:lvl5pPr>
      <a:lvl6pPr algn="l" defTabSz="342900" eaLnBrk="1" hangingPunct="1" latinLnBrk="0" marL="1714500" rtl="0">
        <a:defRPr kern="1200" sz="944">
          <a:solidFill>
            <a:schemeClr val="tx1"/>
          </a:solidFill>
          <a:latin typeface="+mn-lt"/>
          <a:ea typeface="+mn-ea"/>
          <a:cs typeface="+mn-cs"/>
        </a:defRPr>
      </a:lvl6pPr>
      <a:lvl7pPr algn="l" defTabSz="342900" eaLnBrk="1" hangingPunct="1" latinLnBrk="0" marL="2057400" rtl="0">
        <a:defRPr kern="1200" sz="944">
          <a:solidFill>
            <a:schemeClr val="tx1"/>
          </a:solidFill>
          <a:latin typeface="+mn-lt"/>
          <a:ea typeface="+mn-ea"/>
          <a:cs typeface="+mn-cs"/>
        </a:defRPr>
      </a:lvl7pPr>
      <a:lvl8pPr algn="l" defTabSz="342900" eaLnBrk="1" hangingPunct="1" latinLnBrk="0" marL="2400300" rtl="0">
        <a:defRPr kern="1200" sz="944">
          <a:solidFill>
            <a:schemeClr val="tx1"/>
          </a:solidFill>
          <a:latin typeface="+mn-lt"/>
          <a:ea typeface="+mn-ea"/>
          <a:cs typeface="+mn-cs"/>
        </a:defRPr>
      </a:lvl8pPr>
      <a:lvl9pPr algn="l" defTabSz="342900" eaLnBrk="1" hangingPunct="1" latinLnBrk="0" marL="2743200" rtl="0">
        <a:defRPr kern="1200" sz="944">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png" /><Relationship Id="rId2" Type="http://schemas.openxmlformats.org/officeDocument/2006/relationships/image" Target="../media/image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amertens/cleanTMLE" TargetMode="External" /></Relationships>
</file>

<file path=ppt/slides/_rels/slide5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0.png" /><Relationship Id="rId2" Type="http://schemas.openxmlformats.org/officeDocument/2006/relationships/image" Target="../media/image9.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2.png" /><Relationship Id="rId2" Type="http://schemas.openxmlformats.org/officeDocument/2006/relationships/image" Target="../media/image11.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4.png" /><Relationship Id="rId2" Type="http://schemas.openxmlformats.org/officeDocument/2006/relationships/image" Target="../media/image13.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6.png" /><Relationship Id="rId2" Type="http://schemas.openxmlformats.org/officeDocument/2006/relationships/image" Target="../media/image15.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cleanTMLE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Deciding the estimand before outcomes</a:t>
            </a:r>
            <a:br/>
            <a:br/>
            <a:r>
              <a:rPr/>
              <a:t>Andrew Mertens</a:t>
            </a:r>
          </a:p>
        </p:txBody>
      </p:sp>
      <p:sp>
        <p:nvSpPr>
          <p:cNvPr id="4" name="Date Placeholder 3"/>
          <p:cNvSpPr>
            <a:spLocks noGrp="1"/>
          </p:cNvSpPr>
          <p:nvPr>
            <p:ph idx="10" sz="half" type="dt"/>
          </p:nvPr>
        </p:nvSpPr>
        <p:spPr/>
        <p:txBody>
          <a:bodyPr/>
          <a:lstStyle/>
          <a:p>
            <a:pPr lvl="0" indent="0" marL="0">
              <a:buNone/>
            </a:pPr>
            <a:r>
              <a:rPr/>
              <a:t>2026-09-13</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problem this package works on</a:t>
            </a:r>
          </a:p>
        </p:txBody>
      </p:sp>
      <p:sp>
        <p:nvSpPr>
          <p:cNvPr id="3" name="Content Placeholder 2"/>
          <p:cNvSpPr>
            <a:spLocks noGrp="1"/>
          </p:cNvSpPr>
          <p:nvPr>
            <p:ph idx="1"/>
          </p:nvPr>
        </p:nvSpPr>
        <p:spPr/>
        <p:txBody>
          <a:bodyPr/>
          <a:lstStyle/>
          <a:p>
            <a:pPr lvl="0" indent="0" marL="0">
              <a:buNone/>
            </a:pPr>
            <a:r>
              <a:rPr/>
              <a:t>Two failures poison comparative analyses of routine health data. The first is analyst degrees of freedom: when the person choosing the model can see how each choice moves the answer, the estimate carries those peeks. The second is quieter and worse. Some comparisons are not estimable at all, and the estimator does not say so.</a:t>
            </a:r>
          </a:p>
          <a:p>
            <a:pPr lvl="0" indent="0" marL="0">
              <a:buNone/>
            </a:pPr>
            <a:r>
              <a:rPr/>
              <a:t>A clean-room design fixes the first. cleanTMLE also answers the second, during the blind phase: is this comparison estimable, and with which estimand?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This talk</a:t>
            </a:r>
          </a:p>
        </p:txBody>
      </p:sp>
      <p:sp>
        <p:nvSpPr>
          <p:cNvPr id="3" name="Content Placeholder 2"/>
          <p:cNvSpPr>
            <a:spLocks noGrp="1"/>
          </p:cNvSpPr>
          <p:nvPr>
            <p:ph idx="1"/>
          </p:nvPr>
        </p:nvSpPr>
        <p:spPr/>
        <p:txBody>
          <a:bodyPr/>
          <a:lstStyle/>
          <a:p>
            <a:pPr lvl="0" indent="-342900" marL="342900">
              <a:buAutoNum type="arabicPeriod"/>
            </a:pPr>
            <a:r>
              <a:rPr/>
              <a:t>The two failures, and a real analysis that fell into the second one.</a:t>
            </a:r>
          </a:p>
          <a:p>
            <a:pPr lvl="0" indent="-342900" marL="342900">
              <a:buAutoNum type="arabicPeriod"/>
            </a:pPr>
            <a:r>
              <a:rPr/>
              <a:t>The design stage, in five verbs.</a:t>
            </a:r>
          </a:p>
          <a:p>
            <a:pPr lvl="0" indent="-342900" marL="342900">
              <a:buAutoNum type="arabicPeriod"/>
            </a:pPr>
            <a:r>
              <a:rPr/>
              <a:t>What the simulations showed.</a:t>
            </a:r>
          </a:p>
          <a:p>
            <a:pPr lvl="0" indent="-342900" marL="342900">
              <a:buAutoNum type="arabicPeriod"/>
            </a:pPr>
            <a:r>
              <a:rPr/>
              <a:t>Five ambulance-transport contrasts in Nairobi, and what the design stage refused to estimate.</a:t>
            </a:r>
          </a:p>
          <a:p>
            <a:pPr lvl="0" indent="-342900" marL="342900">
              <a:buAutoNum type="arabicPeriod"/>
            </a:pPr>
            <a:r>
              <a:rPr/>
              <a:t>Where this sits among existing tools.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 Why this matters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Peeking</a:t>
            </a:r>
          </a:p>
        </p:txBody>
      </p:sp>
      <p:sp>
        <p:nvSpPr>
          <p:cNvPr id="3" name="Content Placeholder 2"/>
          <p:cNvSpPr>
            <a:spLocks noGrp="1"/>
          </p:cNvSpPr>
          <p:nvPr>
            <p:ph idx="1"/>
          </p:nvPr>
        </p:nvSpPr>
        <p:spPr/>
        <p:txBody>
          <a:bodyPr/>
          <a:lstStyle/>
          <a:p>
            <a:pPr lvl="0" indent="0" marL="0">
              <a:buNone/>
            </a:pPr>
            <a:r>
              <a:rPr/>
              <a:t>Even with a written analysis plan, execution forces choices: sparse events, convergence failures, unexpected missingness. If those choices are made after the analyst has glimpsed the treatment-outcome association, the analysis is no longer prespecified, however honest the analyst.</a:t>
            </a:r>
          </a:p>
          <a:p>
            <a:pPr lvl="0" indent="0" marL="0">
              <a:buNone/>
            </a:pPr>
            <a:r>
              <a:rPr/>
              <a:t>The clean-room design of Muntner et al. (2024) addresses this. A design team builds the cohort, the propensity model, and the diagnostics without seeing the outcome. Only then does an outcome team estimate.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failure blinding cannot touch</a:t>
            </a:r>
          </a:p>
        </p:txBody>
      </p:sp>
      <p:sp>
        <p:nvSpPr>
          <p:cNvPr id="3" name="Content Placeholder 2"/>
          <p:cNvSpPr>
            <a:spLocks noGrp="1"/>
          </p:cNvSpPr>
          <p:nvPr>
            <p:ph idx="1"/>
          </p:nvPr>
        </p:nvSpPr>
        <p:spPr/>
        <p:txBody>
          <a:bodyPr/>
          <a:lstStyle/>
          <a:p>
            <a:pPr lvl="0" indent="0" marL="0">
              <a:buNone/>
            </a:pPr>
            <a:r>
              <a:rPr/>
              <a:t>The average treatment effect asks what would happen if everyone received treatment versus no one. Answering it requires every kind of patient to have had a real chance of landing in either arm.</a:t>
            </a:r>
          </a:p>
          <a:p>
            <a:pPr lvl="0" indent="0" marL="0">
              <a:buNone/>
            </a:pPr>
            <a:r>
              <a:rPr/>
              <a:t>When a whole stratum essentially never receives one treatment, the estimator does not refuse. It extrapolates. Truncating the weights caps the variance without restoring information.</a:t>
            </a:r>
          </a:p>
          <a:p>
            <a:pPr lvl="0" indent="0" marL="0">
              <a:buNone/>
            </a:pPr>
            <a:r>
              <a:rPr/>
              <a:t>A perfectly blinded team can still promise an estimand the data cannot deliver, and the lock makes the promise binding.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 know because it happened to us</a:t>
            </a:r>
          </a:p>
        </p:txBody>
      </p:sp>
      <p:sp>
        <p:nvSpPr>
          <p:cNvPr id="3" name="Content Placeholder 2"/>
          <p:cNvSpPr>
            <a:spLocks noGrp="1"/>
          </p:cNvSpPr>
          <p:nvPr>
            <p:ph idx="1"/>
          </p:nvPr>
        </p:nvSpPr>
        <p:spPr/>
        <p:txBody>
          <a:bodyPr/>
          <a:lstStyle/>
          <a:p>
            <a:pPr lvl="0" indent="0" marL="0">
              <a:buNone/>
            </a:pPr>
            <a:r>
              <a:rPr/>
              <a:t>An earlier analysis of time to ambulance arrival, on a cohort where some patients essentially never receive the studied service:</a:t>
            </a:r>
          </a:p>
          <a:p>
            <a:pPr lvl="0"/>
            <a:r>
              <a:rPr/>
              <a:t>estimated effect </a:t>
            </a:r>
            <a:r>
              <a:rPr b="1"/>
              <a:t>+14,637 minutes</a:t>
            </a:r>
            <a:r>
              <a:rPr/>
              <a:t>, tight confidence interval</a:t>
            </a:r>
          </a:p>
          <a:p>
            <a:pPr lvl="0"/>
            <a:r>
              <a:rPr/>
              <a:t>crude difference </a:t>
            </a:r>
            <a:r>
              <a:rPr b="1"/>
              <a:t>about 7 hours the other way</a:t>
            </a:r>
          </a:p>
          <a:p>
            <a:pPr lvl="0" indent="0" marL="0">
              <a:buNone/>
            </a:pPr>
            <a:r>
              <a:rPr/>
              <a:t>Nothing in the estimator’s own output flagged it.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blind phase should establish</a:t>
            </a:r>
          </a:p>
        </p:txBody>
      </p:sp>
      <p:sp>
        <p:nvSpPr>
          <p:cNvPr id="3" name="Content Placeholder 2"/>
          <p:cNvSpPr>
            <a:spLocks noGrp="1"/>
          </p:cNvSpPr>
          <p:nvPr>
            <p:ph idx="1"/>
          </p:nvPr>
        </p:nvSpPr>
        <p:spPr/>
        <p:txBody>
          <a:bodyPr/>
          <a:lstStyle/>
          <a:p>
            <a:pPr lvl="0" indent="-342900" marL="342900">
              <a:buAutoNum type="arabicPeriod"/>
            </a:pPr>
            <a:r>
              <a:rPr/>
              <a:t>The cohort, treatment, outcome, and time horizon were fixed in advance.</a:t>
            </a:r>
          </a:p>
          <a:p>
            <a:pPr lvl="0" indent="-342900" marL="342900">
              <a:buAutoNum type="arabicPeriod"/>
            </a:pPr>
            <a:r>
              <a:rPr/>
              <a:t>The declared comparison is estimable. If not, which neighbouring estimand is.</a:t>
            </a:r>
          </a:p>
          <a:p>
            <a:pPr lvl="0" indent="-342900" marL="342900">
              <a:buAutoNum type="arabicPeriod"/>
            </a:pPr>
            <a:r>
              <a:rPr/>
              <a:t>The estimator was prespecified and screened against realistic data problems.</a:t>
            </a:r>
          </a:p>
          <a:p>
            <a:pPr lvl="0" indent="-342900" marL="342900">
              <a:buAutoNum type="arabicPeriod"/>
            </a:pPr>
            <a:r>
              <a:rPr/>
              <a:t>Any switch of estimand followed a rule declared before outcome access, and everything is on the record.</a:t>
            </a:r>
          </a:p>
          <a:p>
            <a:pPr lvl="0" indent="0" marL="0">
              <a:buNone/>
            </a:pPr>
            <a:r>
              <a:rPr>
                <a:latin typeface="Courier"/>
              </a:rPr>
              <a:t>design_report()</a:t>
            </a:r>
            <a:r>
              <a:rPr/>
              <a:t> bundles the evidence for all four into the document a review team reads before outcomes are unlocked.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 How the package works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Five verbs</a:t>
            </a:r>
          </a:p>
        </p:txBody>
      </p:sp>
      <p:sp>
        <p:nvSpPr>
          <p:cNvPr id="3" name="Content Placeholder 2"/>
          <p:cNvSpPr>
            <a:spLocks noGrp="1"/>
          </p:cNvSpPr>
          <p:nvPr>
            <p:ph idx="1"/>
          </p:nvPr>
        </p:nvSpPr>
        <p:spPr/>
        <p:txBody>
          <a:bodyPr/>
          <a:lstStyle/>
          <a:p>
            <a:pPr lvl="0" indent="0">
              <a:buNone/>
            </a:pPr>
            <a:r>
              <a:rPr>
                <a:solidFill>
                  <a:srgbClr val="003B4F"/>
                </a:solidFill>
                <a:latin typeface="Courier"/>
              </a:rPr>
              <a:t>lock &lt;- </a:t>
            </a:r>
            <a:r>
              <a:rPr>
                <a:solidFill>
                  <a:srgbClr val="4758AB"/>
                </a:solidFill>
                <a:latin typeface="Courier"/>
              </a:rPr>
              <a:t>create_analysis_lock</a:t>
            </a:r>
            <a:r>
              <a:rPr>
                <a:solidFill>
                  <a:srgbClr val="003B4F"/>
                </a:solidFill>
                <a:latin typeface="Courier"/>
              </a:rPr>
              <a:t>(data, </a:t>
            </a:r>
            <a:r>
              <a:rPr>
                <a:solidFill>
                  <a:srgbClr val="20794D"/>
                </a:solidFill>
                <a:latin typeface="Courier"/>
              </a:rPr>
              <a:t>"treatment"</a:t>
            </a:r>
            <a:r>
              <a:rPr>
                <a:solidFill>
                  <a:srgbClr val="003B4F"/>
                </a:solidFill>
                <a:latin typeface="Courier"/>
              </a:rPr>
              <a:t>, </a:t>
            </a:r>
            <a:r>
              <a:rPr>
                <a:solidFill>
                  <a:srgbClr val="20794D"/>
                </a:solidFill>
                <a:latin typeface="Courier"/>
              </a:rPr>
              <a:t>"outcome"</a:t>
            </a:r>
            <a:r>
              <a:rPr>
                <a:solidFill>
                  <a:srgbClr val="003B4F"/>
                </a:solidFill>
                <a:latin typeface="Courier"/>
              </a:rPr>
              <a:t>, covariates,</a:t>
            </a:r>
            <a:br/>
            <a:r>
              <a:rPr>
                <a:solidFill>
                  <a:srgbClr val="003B4F"/>
                </a:solidFill>
                <a:latin typeface="Courier"/>
              </a:rPr>
              <a:t>                             </a:t>
            </a:r>
            <a:r>
              <a:rPr>
                <a:solidFill>
                  <a:srgbClr val="657422"/>
                </a:solidFill>
                <a:latin typeface="Courier"/>
              </a:rPr>
              <a:t>negative_controls =</a:t>
            </a:r>
            <a:r>
              <a:rPr>
                <a:solidFill>
                  <a:srgbClr val="003B4F"/>
                </a:solidFill>
                <a:latin typeface="Courier"/>
              </a:rPr>
              <a:t> ncs, </a:t>
            </a:r>
            <a:r>
              <a:rPr>
                <a:solidFill>
                  <a:srgbClr val="657422"/>
                </a:solidFill>
                <a:latin typeface="Courier"/>
              </a:rPr>
              <a:t>mask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lock &lt;- </a:t>
            </a:r>
            <a:r>
              <a:rPr>
                <a:solidFill>
                  <a:srgbClr val="4758AB"/>
                </a:solidFill>
                <a:latin typeface="Courier"/>
              </a:rPr>
              <a:t>declare_estimand_ladder</a:t>
            </a:r>
            <a:r>
              <a:rPr>
                <a:solidFill>
                  <a:srgbClr val="003B4F"/>
                </a:solidFill>
                <a:latin typeface="Courier"/>
              </a:rPr>
              <a:t>(lock, </a:t>
            </a:r>
            <a:r>
              <a:rPr>
                <a:solidFill>
                  <a:srgbClr val="657422"/>
                </a:solidFill>
                <a:latin typeface="Courier"/>
              </a:rPr>
              <a:t>primary =</a:t>
            </a:r>
            <a:r>
              <a:rPr>
                <a:solidFill>
                  <a:srgbClr val="003B4F"/>
                </a:solidFill>
                <a:latin typeface="Courier"/>
              </a:rPr>
              <a:t> </a:t>
            </a:r>
            <a:r>
              <a:rPr>
                <a:solidFill>
                  <a:srgbClr val="20794D"/>
                </a:solidFill>
                <a:latin typeface="Courier"/>
              </a:rPr>
              <a:t>"ATE"</a:t>
            </a:r>
            <a:r>
              <a:rPr>
                <a:solidFill>
                  <a:srgbClr val="003B4F"/>
                </a:solidFill>
                <a:latin typeface="Courier"/>
              </a:rPr>
              <a:t>,</a:t>
            </a:r>
            <a:br/>
            <a:r>
              <a:rPr>
                <a:solidFill>
                  <a:srgbClr val="003B4F"/>
                </a:solidFill>
                <a:latin typeface="Courier"/>
              </a:rPr>
              <a:t>                                </a:t>
            </a:r>
            <a:r>
              <a:rPr>
                <a:solidFill>
                  <a:srgbClr val="657422"/>
                </a:solidFill>
                <a:latin typeface="Courier"/>
              </a:rPr>
              <a:t>fallbacks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"trimmed_ATE"</a:t>
            </a:r>
            <a:r>
              <a:rPr>
                <a:solidFill>
                  <a:srgbClr val="003B4F"/>
                </a:solidFill>
                <a:latin typeface="Courier"/>
              </a:rPr>
              <a:t>, </a:t>
            </a:r>
            <a:r>
              <a:rPr>
                <a:solidFill>
                  <a:srgbClr val="20794D"/>
                </a:solidFill>
                <a:latin typeface="Courier"/>
              </a:rPr>
              <a:t>"ATT"</a:t>
            </a:r>
            <a:r>
              <a:rPr>
                <a:solidFill>
                  <a:srgbClr val="003B4F"/>
                </a:solidFill>
                <a:latin typeface="Courier"/>
              </a:rPr>
              <a:t>, </a:t>
            </a:r>
            <a:r>
              <a:rPr>
                <a:solidFill>
                  <a:srgbClr val="20794D"/>
                </a:solidFill>
                <a:latin typeface="Courier"/>
              </a:rPr>
              <a:t>"ATO"</a:t>
            </a:r>
            <a:r>
              <a:rPr>
                <a:solidFill>
                  <a:srgbClr val="003B4F"/>
                </a:solidFill>
                <a:latin typeface="Courier"/>
              </a:rPr>
              <a:t>),</a:t>
            </a:r>
            <a:br/>
            <a:r>
              <a:rPr>
                <a:solidFill>
                  <a:srgbClr val="003B4F"/>
                </a:solidFill>
                <a:latin typeface="Courier"/>
              </a:rPr>
              <a:t>                                </a:t>
            </a:r>
            <a:r>
              <a:rPr>
                <a:solidFill>
                  <a:srgbClr val="657422"/>
                </a:solidFill>
                <a:latin typeface="Courier"/>
              </a:rPr>
              <a:t>trigger =</a:t>
            </a:r>
            <a:r>
              <a:rPr>
                <a:solidFill>
                  <a:srgbClr val="003B4F"/>
                </a:solidFill>
                <a:latin typeface="Courier"/>
              </a:rPr>
              <a:t> </a:t>
            </a:r>
            <a:r>
              <a:rPr>
                <a:solidFill>
                  <a:srgbClr val="20794D"/>
                </a:solidFill>
                <a:latin typeface="Courier"/>
              </a:rPr>
              <a:t>"SEVERE"</a:t>
            </a:r>
            <a:r>
              <a:rPr>
                <a:solidFill>
                  <a:srgbClr val="003B4F"/>
                </a:solidFill>
                <a:latin typeface="Courier"/>
              </a:rPr>
              <a:t>)</a:t>
            </a:r>
            <a:br/>
            <a:br/>
            <a:r>
              <a:rPr>
                <a:solidFill>
                  <a:srgbClr val="003B4F"/>
                </a:solidFill>
                <a:latin typeface="Courier"/>
              </a:rPr>
              <a:t>ps  &lt;- </a:t>
            </a:r>
            <a:r>
              <a:rPr>
                <a:solidFill>
                  <a:srgbClr val="4758AB"/>
                </a:solidFill>
                <a:latin typeface="Courier"/>
              </a:rPr>
              <a:t>fit_ps</a:t>
            </a:r>
            <a:r>
              <a:rPr>
                <a:solidFill>
                  <a:srgbClr val="003B4F"/>
                </a:solidFill>
                <a:latin typeface="Courier"/>
              </a:rPr>
              <a:t>(lock)                </a:t>
            </a:r>
            <a:r>
              <a:rPr>
                <a:solidFill>
                  <a:srgbClr val="5E5E5E"/>
                </a:solidFill>
                <a:latin typeface="Courier"/>
              </a:rPr>
              <a:t># SuperLearner, GLM, or external</a:t>
            </a:r>
            <a:br/>
            <a:r>
              <a:rPr>
                <a:solidFill>
                  <a:srgbClr val="003B4F"/>
                </a:solidFill>
                <a:latin typeface="Courier"/>
              </a:rPr>
              <a:t>sup &lt;- </a:t>
            </a:r>
            <a:r>
              <a:rPr>
                <a:solidFill>
                  <a:srgbClr val="4758AB"/>
                </a:solidFill>
                <a:latin typeface="Courier"/>
              </a:rPr>
              <a:t>assess_support</a:t>
            </a:r>
            <a:r>
              <a:rPr>
                <a:solidFill>
                  <a:srgbClr val="003B4F"/>
                </a:solidFill>
                <a:latin typeface="Courier"/>
              </a:rPr>
              <a:t>(ps)          </a:t>
            </a:r>
            <a:r>
              <a:rPr>
                <a:solidFill>
                  <a:srgbClr val="5E5E5E"/>
                </a:solidFill>
                <a:latin typeface="Courier"/>
              </a:rPr>
              <a:t># graded overlap verdict</a:t>
            </a:r>
            <a:br/>
            <a:r>
              <a:rPr>
                <a:solidFill>
                  <a:srgbClr val="003B4F"/>
                </a:solidFill>
                <a:latin typeface="Courier"/>
              </a:rPr>
              <a:t>fea &lt;- </a:t>
            </a:r>
            <a:r>
              <a:rPr>
                <a:solidFill>
                  <a:srgbClr val="4758AB"/>
                </a:solidFill>
                <a:latin typeface="Courier"/>
              </a:rPr>
              <a:t>estimand_feasibility</a:t>
            </a:r>
            <a:r>
              <a:rPr>
                <a:solidFill>
                  <a:srgbClr val="003B4F"/>
                </a:solidFill>
                <a:latin typeface="Courier"/>
              </a:rPr>
              <a:t>(ps)    </a:t>
            </a:r>
            <a:r>
              <a:rPr>
                <a:solidFill>
                  <a:srgbClr val="5E5E5E"/>
                </a:solidFill>
                <a:latin typeface="Courier"/>
              </a:rPr>
              <a:t># which estimands survive this fit</a:t>
            </a:r>
            <a:br/>
            <a:r>
              <a:rPr>
                <a:solidFill>
                  <a:srgbClr val="003B4F"/>
                </a:solidFill>
                <a:latin typeface="Courier"/>
              </a:rPr>
              <a:t>sim &lt;- </a:t>
            </a:r>
            <a:r>
              <a:rPr>
                <a:solidFill>
                  <a:srgbClr val="4758AB"/>
                </a:solidFill>
                <a:latin typeface="Courier"/>
              </a:rPr>
              <a:t>simulate_support</a:t>
            </a:r>
            <a:r>
              <a:rPr>
                <a:solidFill>
                  <a:srgbClr val="003B4F"/>
                </a:solidFill>
                <a:latin typeface="Courier"/>
              </a:rPr>
              <a:t>(lock, ps)  </a:t>
            </a:r>
            <a:r>
              <a:rPr>
                <a:solidFill>
                  <a:srgbClr val="5E5E5E"/>
                </a:solidFill>
                <a:latin typeface="Courier"/>
              </a:rPr>
              <a:t># the outcome-blind support map</a:t>
            </a:r>
            <a:br/>
            <a:br/>
            <a:r>
              <a:rPr>
                <a:solidFill>
                  <a:srgbClr val="4758AB"/>
                </a:solidFill>
                <a:latin typeface="Courier"/>
              </a:rPr>
              <a:t>design_report</a:t>
            </a:r>
            <a:r>
              <a:rPr>
                <a:solidFill>
                  <a:srgbClr val="003B4F"/>
                </a:solidFill>
                <a:latin typeface="Courier"/>
              </a:rPr>
              <a:t>(lock, sup, fea, </a:t>
            </a:r>
            <a:r>
              <a:rPr>
                <a:solidFill>
                  <a:srgbClr val="657422"/>
                </a:solidFill>
                <a:latin typeface="Courier"/>
              </a:rPr>
              <a:t>simulation =</a:t>
            </a:r>
            <a:r>
              <a:rPr>
                <a:solidFill>
                  <a:srgbClr val="003B4F"/>
                </a:solidFill>
                <a:latin typeface="Courier"/>
              </a:rPr>
              <a:t> sim)</a:t>
            </a:r>
            <a:br/>
            <a:r>
              <a:rPr>
                <a:solidFill>
                  <a:srgbClr val="003B4F"/>
                </a:solidFill>
                <a:latin typeface="Courier"/>
              </a:rPr>
              <a:t>fit &lt;- </a:t>
            </a:r>
            <a:r>
              <a:rPr>
                <a:solidFill>
                  <a:srgbClr val="4758AB"/>
                </a:solidFill>
                <a:latin typeface="Courier"/>
              </a:rPr>
              <a:t>run_estimand_ladder</a:t>
            </a:r>
            <a:r>
              <a:rPr>
                <a:solidFill>
                  <a:srgbClr val="003B4F"/>
                </a:solidFill>
                <a:latin typeface="Courier"/>
              </a:rPr>
              <a:t>(lock, ps)   </a:t>
            </a:r>
            <a:r>
              <a:rPr>
                <a:solidFill>
                  <a:srgbClr val="5E5E5E"/>
                </a:solidFill>
                <a:latin typeface="Courier"/>
              </a:rPr>
              <a:t># outcomes join only here</a:t>
            </a:r>
          </a:p>
          <a:p>
            <a:pPr lvl="0" indent="0" marL="0">
              <a:buNone/>
            </a:pPr>
            <a:r>
              <a:rPr/>
              <a:t>Everything above the last line runs with no outcome access.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support assessment</a:t>
            </a:r>
          </a:p>
        </p:txBody>
      </p:sp>
      <p:sp>
        <p:nvSpPr>
          <p:cNvPr id="3" name="Content Placeholder 2"/>
          <p:cNvSpPr>
            <a:spLocks noGrp="1"/>
          </p:cNvSpPr>
          <p:nvPr>
            <p:ph idx="1"/>
          </p:nvPr>
        </p:nvSpPr>
        <p:spPr/>
        <p:txBody>
          <a:bodyPr/>
          <a:lstStyle/>
          <a:p>
            <a:pPr lvl="0" indent="0" marL="0">
              <a:buNone/>
            </a:pPr>
            <a:r>
              <a:rPr>
                <a:latin typeface="Courier"/>
              </a:rPr>
              <a:t>assess_support()</a:t>
            </a:r>
            <a:r>
              <a:rPr/>
              <a:t> grades the overlap on the fitted propensity score. Share of the sample outside the band, largest implied weight, effective sample size, and the c-statistic, whose discrimination is bad news here. A stratum scan and a shallow tree search catch pockets where treatment is nearly deterministic.</a:t>
            </a:r>
          </a:p>
          <a:p>
            <a:pPr lvl="0" indent="0" marL="0">
              <a:buNone/>
            </a:pPr>
            <a:r>
              <a:rPr/>
              <a:t>The verdict is PASS, FLAG, SEVERE, or FAIL, and its caveat sentence travels with every downstream estimate.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severe non-overlap looks like</a:t>
            </a:r>
          </a:p>
        </p:txBody>
      </p:sp>
      <p:pic>
        <p:nvPicPr>
          <p:cNvPr descr="../rescueCo/results/multiarm/fig_support_C1.png" id="0" name="Picture 1"/>
          <p:cNvPicPr>
            <a:picLocks noGrp="1" noChangeAspect="1"/>
          </p:cNvPicPr>
          <p:nvPr/>
        </p:nvPicPr>
        <p:blipFill>
          <a:blip r:embed="rId2"/>
          <a:stretch>
            <a:fillRect/>
          </a:stretch>
        </p:blipFill>
        <p:spPr bwMode="auto">
          <a:xfrm>
            <a:off x="457200" y="1422400"/>
            <a:ext cx="4038600" cy="24257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Protocol contrast: SEVERE</a:t>
            </a:r>
          </a:p>
        </p:txBody>
      </p:sp>
      <p:pic>
        <p:nvPicPr>
          <p:cNvPr descr="../rescueCo/results/multiarm/fig_support_PRIMARY.png" id="0" name="Picture 1"/>
          <p:cNvPicPr>
            <a:picLocks noGrp="1" noChangeAspect="1"/>
          </p:cNvPicPr>
          <p:nvPr/>
        </p:nvPicPr>
        <p:blipFill>
          <a:blip r:embed="rId3"/>
          <a:stretch>
            <a:fillRect/>
          </a:stretch>
        </p:blipFill>
        <p:spPr bwMode="auto">
          <a:xfrm>
            <a:off x="4648200" y="1422400"/>
            <a:ext cx="4038600" cy="24257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Primary cohort: PASS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Treated above the axis, controls below, band shaded.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fitted score, four estimands, very different weights</a:t>
            </a:r>
          </a:p>
        </p:txBody>
      </p:sp>
      <p:pic>
        <p:nvPicPr>
          <p:cNvPr descr="cleanTMLE_presentation_files/figure-pptx/fig-weights-1.png" id="0" name="Picture 1"/>
          <p:cNvPicPr>
            <a:picLocks noGrp="1" noChangeAspect="1"/>
          </p:cNvPicPr>
          <p:nvPr/>
        </p:nvPicPr>
        <p:blipFill>
          <a:blip r:embed="rId2"/>
          <a:stretch>
            <a:fillRect/>
          </a:stretch>
        </p:blipFill>
        <p:spPr bwMode="auto">
          <a:xfrm>
            <a:off x="1384300" y="1193800"/>
            <a:ext cx="6375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1: Implied weights on the protocol contrast, one point per patient, log scale. The ATE needs weights up to 257; the effect among the treated (ATT) is bounded at 5 by the largest propensity; the overlap-weighted ATO never exceeds 1.</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estimand ladder</a:t>
            </a:r>
          </a:p>
        </p:txBody>
      </p:sp>
      <p:sp>
        <p:nvSpPr>
          <p:cNvPr id="3" name="Content Placeholder 2"/>
          <p:cNvSpPr>
            <a:spLocks noGrp="1"/>
          </p:cNvSpPr>
          <p:nvPr>
            <p:ph idx="1"/>
          </p:nvPr>
        </p:nvSpPr>
        <p:spPr/>
        <p:txBody>
          <a:bodyPr/>
          <a:lstStyle/>
          <a:p>
            <a:pPr lvl="0" indent="0" marL="0">
              <a:buNone/>
            </a:pPr>
            <a:r>
              <a:rPr/>
              <a:t>Switching estimands after seeing results is a garden of forking paths. Refusing ever to switch wastes designs that can answer a neighbouring question.</a:t>
            </a:r>
          </a:p>
          <a:p>
            <a:pPr lvl="0" indent="0" marL="0">
              <a:buNone/>
            </a:pPr>
            <a:r>
              <a:rPr/>
              <a:t>So the switch rule is pre-registered. The lock records the primary, the ordered fallbacks, and the verdict that triggers a move. Estimation runs the primary when feasible plus every feasible fallback, labels each row with its estimand and verdict, and refuses an infeasible primary unless an override reason is supplied and logged.</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outcome-blind support map</a:t>
            </a:r>
          </a:p>
        </p:txBody>
      </p:sp>
      <p:sp>
        <p:nvSpPr>
          <p:cNvPr id="3" name="Content Placeholder 2"/>
          <p:cNvSpPr>
            <a:spLocks noGrp="1"/>
          </p:cNvSpPr>
          <p:nvPr>
            <p:ph idx="1"/>
          </p:nvPr>
        </p:nvSpPr>
        <p:spPr/>
        <p:txBody>
          <a:bodyPr/>
          <a:lstStyle/>
          <a:p>
            <a:pPr lvl="0" indent="0" marL="0">
              <a:buNone/>
            </a:pPr>
            <a:r>
              <a:rPr/>
              <a:t>Static weight diagnostics cannot say how much the extrapolation will hurt. That depends on how the outcome behaves in the region only one arm inhabits, and the design team is blind to the outcome.</a:t>
            </a:r>
          </a:p>
          <a:p>
            <a:pPr lvl="0" indent="0" marL="0">
              <a:buNone/>
            </a:pPr>
            <a:r>
              <a:rPr/>
              <a:t>So the package simulates: covariates resampled, treatment redrawn from the fitted propensity, synthetic outcomes drawn from a prespecified family of surfaces. The truth is known on every replicate, separately per estimand. The map shows where each estimand holds a bias tolerance at near-nominal coverage.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Redraw treatment, or keep it?</a:t>
            </a:r>
          </a:p>
        </p:txBody>
      </p:sp>
      <p:sp>
        <p:nvSpPr>
          <p:cNvPr id="3" name="Content Placeholder 2"/>
          <p:cNvSpPr>
            <a:spLocks noGrp="1"/>
          </p:cNvSpPr>
          <p:nvPr>
            <p:ph idx="1"/>
          </p:nvPr>
        </p:nvSpPr>
        <p:spPr/>
        <p:txBody>
          <a:bodyPr/>
          <a:lstStyle/>
          <a:p>
            <a:pPr lvl="0" indent="0" marL="0">
              <a:buNone/>
            </a:pPr>
            <a:r>
              <a:rPr/>
              <a:t>Plasmode studies commonly keep each subject’s observed treatment. Shaw et al. (2025) showed that this builds a positivity violation into the simulation itself: all-treated regions stay all-treated in every replicate, whatever the generating propensity.</a:t>
            </a:r>
          </a:p>
          <a:p>
            <a:pPr lvl="0" indent="0" marL="0">
              <a:buNone/>
            </a:pPr>
            <a:r>
              <a:rPr/>
              <a:t>For a support map that is disqualifying, because the violation is the thing under study. cleanTMLE redraws treatment from the fitted propensity. The case study puts the two designs side by side on real data.</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same loop stress-tests the estimator</a:t>
            </a:r>
          </a:p>
        </p:txBody>
      </p:sp>
      <p:sp>
        <p:nvSpPr>
          <p:cNvPr id="3" name="Content Placeholder 2"/>
          <p:cNvSpPr>
            <a:spLocks noGrp="1"/>
          </p:cNvSpPr>
          <p:nvPr>
            <p:ph idx="1"/>
          </p:nvPr>
        </p:nvSpPr>
        <p:spPr/>
        <p:txBody>
          <a:bodyPr/>
          <a:lstStyle/>
          <a:p>
            <a:pPr lvl="0" indent="0" marL="0">
              <a:buNone/>
            </a:pPr>
            <a:r>
              <a:rPr/>
              <a:t>Candidate TMLE specifications are compared on synthetic outcomes, then re-run under prespecified data-quality threats: covariate missingness (MCAR, MAR, MNAR), exposure and outcome misclassification, near-positivity, unmeasured confounding.</a:t>
            </a:r>
          </a:p>
          <a:p>
            <a:pPr lvl="0" indent="0" marL="0">
              <a:buNone/>
            </a:pPr>
            <a:r>
              <a:rPr/>
              <a:t>Each candidate gets a degradation gradient on the same bias, RMSE, and coverage scale as the baseline. A minimax rule can lock the candidate with the best worst case rather than the best clean-data average.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 software controls, and what it cannot</a:t>
            </a:r>
          </a:p>
        </p:txBody>
      </p:sp>
      <p:sp>
        <p:nvSpPr>
          <p:cNvPr id="3" name="Content Placeholder 2"/>
          <p:cNvSpPr>
            <a:spLocks noGrp="1"/>
          </p:cNvSpPr>
          <p:nvPr>
            <p:ph idx="1"/>
          </p:nvPr>
        </p:nvSpPr>
        <p:spPr/>
        <p:txBody>
          <a:bodyPr/>
          <a:lstStyle/>
          <a:p>
            <a:pPr lvl="0" indent="0" marL="0">
              <a:buNone/>
            </a:pPr>
            <a:r>
              <a:rPr/>
              <a:t>It can keep the outcome masked or physically absent from the design stage, log every declaration and switch inside the fingerprinted lock, and flag estimates that violate bounds the raw data impose.</a:t>
            </a:r>
          </a:p>
          <a:p>
            <a:pPr lvl="0" indent="0" marL="0">
              <a:buNone/>
            </a:pPr>
            <a:r>
              <a:rPr/>
              <a:t>It cannot stop someone with raw-data access from peeking outside the package, validate how variables were measured, or see past the measured covariates. A propensity model missing the separating covariate will not warn. Those safeguards stay institutional.</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What the simulations showed</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scenarios, six estimators</a:t>
            </a:r>
          </a:p>
        </p:txBody>
      </p:sp>
      <p:sp>
        <p:nvSpPr>
          <p:cNvPr id="3" name="Content Placeholder 2"/>
          <p:cNvSpPr>
            <a:spLocks noGrp="1"/>
          </p:cNvSpPr>
          <p:nvPr>
            <p:ph idx="1"/>
          </p:nvPr>
        </p:nvSpPr>
        <p:spPr/>
        <p:txBody>
          <a:bodyPr/>
          <a:lstStyle/>
          <a:p>
            <a:pPr lvl="0" indent="0" marL="0">
              <a:buNone/>
            </a:pPr>
            <a:r>
              <a:rPr/>
              <a:t>2,000 people, 200 repetitions each. Scenario A has good overlap; B has marginal overlap; C hides a confounder the analyst cannot measure. Estimators: crude, propensity matching, IPTW, TMLE, cross-validated TMLE, matched TMLE.</a:t>
            </a:r>
          </a:p>
          <a:p>
            <a:pPr lvl="0" indent="0" marL="0">
              <a:buNone/>
            </a:pPr>
            <a:r>
              <a:rPr/>
              <a:t>Under good overlap every adjusted estimator recovers the truth, and the workflow proceeds. That is the wiring check.</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Marginal overlap strains the variance, not the bias</a:t>
            </a:r>
          </a:p>
        </p:txBody>
      </p:sp>
      <p:sp>
        <p:nvSpPr>
          <p:cNvPr id="3" name="Content Placeholder 2"/>
          <p:cNvSpPr>
            <a:spLocks noGrp="1"/>
          </p:cNvSpPr>
          <p:nvPr>
            <p:ph idx="1"/>
          </p:nvPr>
        </p:nvSpPr>
        <p:spPr/>
        <p:txBody>
          <a:bodyPr/>
          <a:lstStyle/>
          <a:p>
            <a:pPr lvl="0" indent="0" marL="0">
              <a:buNone/>
            </a:pPr>
            <a:r>
              <a:rPr/>
              <a:t>TMLE and CV-TMLE keep bias small relative to the spread of the estimates.</a:t>
            </a:r>
          </a:p>
          <a:p>
            <a:pPr lvl="0" indent="0" marL="0">
              <a:buNone/>
            </a:pPr>
            <a:r>
              <a:rPr/>
              <a:t>IPTW confidence intervals come out too wide, because the variance formula treats an estimated propensity score as known. Matched TMLE has the same problem, roughly doubling the true spread. Both are fixable with a bootstrap variance, and the workflow says so before unblinding, as a documented qualification.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Built-in confounding stops the workflow</a:t>
            </a:r>
          </a:p>
        </p:txBody>
      </p:sp>
      <p:sp>
        <p:nvSpPr>
          <p:cNvPr id="3" name="Content Placeholder 2"/>
          <p:cNvSpPr>
            <a:spLocks noGrp="1"/>
          </p:cNvSpPr>
          <p:nvPr>
            <p:ph idx="1"/>
          </p:nvPr>
        </p:nvSpPr>
        <p:spPr/>
        <p:txBody>
          <a:bodyPr/>
          <a:lstStyle/>
          <a:p>
            <a:pPr lvl="0" indent="0" marL="0">
              <a:buNone/>
            </a:pPr>
            <a:r>
              <a:rPr/>
              <a:t>In Scenario C every estimator is biased in the same direction; TMLE is the least biased and still biased. The unmeasured-confounding row of the stress test pushes bias past the locked threshold, and the prespecified rule returns stop before any outcome is read.</a:t>
            </a:r>
          </a:p>
          <a:p>
            <a:pPr lvl="0" indent="0" marL="0">
              <a:buNone/>
            </a:pPr>
            <a:r>
              <a:rPr/>
              <a:t>The software does not detect hidden confounders. It was simply willing to stop when a prespecified threat scenario failed, which is the behaviour a reviewer needs to trust the proceed decisions.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Same fits, different pipeline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Scenario</a:t>
                      </a:r>
                    </a:p>
                  </a:txBody>
                  <a:tcPr/>
                </a:tc>
                <a:tc>
                  <a:txBody>
                    <a:bodyPr/>
                    <a:lstStyle/>
                    <a:p>
                      <a:pPr lvl="0" indent="0" marL="0">
                        <a:buNone/>
                      </a:pPr>
                      <a:r>
                        <a:rPr/>
                        <a:t>Traditional analyst</a:t>
                      </a:r>
                    </a:p>
                  </a:txBody>
                  <a:tcPr/>
                </a:tc>
                <a:tc>
                  <a:txBody>
                    <a:bodyPr/>
                    <a:lstStyle/>
                    <a:p>
                      <a:pPr lvl="0" indent="0" marL="0">
                        <a:buNone/>
                      </a:pPr>
                      <a:r>
                        <a:rPr/>
                        <a:t>Outcome-blind workflow</a:t>
                      </a:r>
                    </a:p>
                  </a:txBody>
                  <a:tcPr/>
                </a:tc>
              </a:tr>
              <a:tr h="0">
                <a:tc>
                  <a:txBody>
                    <a:bodyPr/>
                    <a:lstStyle/>
                    <a:p>
                      <a:pPr lvl="0" indent="0" marL="0">
                        <a:buNone/>
                      </a:pPr>
                      <a:r>
                        <a:rPr/>
                        <a:t>Good overlap</a:t>
                      </a:r>
                    </a:p>
                  </a:txBody>
                </a:tc>
                <a:tc>
                  <a:txBody>
                    <a:bodyPr/>
                    <a:lstStyle/>
                    <a:p>
                      <a:pPr lvl="0" indent="0" marL="0">
                        <a:buNone/>
                      </a:pPr>
                      <a:r>
                        <a:rPr/>
                        <a:t>Diagnostics look fine; report.</a:t>
                      </a:r>
                    </a:p>
                  </a:txBody>
                </a:tc>
                <a:tc>
                  <a:txBody>
                    <a:bodyPr/>
                    <a:lstStyle/>
                    <a:p>
                      <a:pPr lvl="0" indent="0" marL="0">
                        <a:buNone/>
                      </a:pPr>
                      <a:r>
                        <a:rPr/>
                        <a:t>Same, plus simulation confirms the candidates. Proceed.</a:t>
                      </a:r>
                    </a:p>
                  </a:txBody>
                </a:tc>
              </a:tr>
              <a:tr h="0">
                <a:tc>
                  <a:txBody>
                    <a:bodyPr/>
                    <a:lstStyle/>
                    <a:p>
                      <a:pPr lvl="0" indent="0" marL="0">
                        <a:buNone/>
                      </a:pPr>
                      <a:r>
                        <a:rPr/>
                        <a:t>Marginal overlap</a:t>
                      </a:r>
                    </a:p>
                  </a:txBody>
                </a:tc>
                <a:tc>
                  <a:txBody>
                    <a:bodyPr/>
                    <a:lstStyle/>
                    <a:p>
                      <a:pPr lvl="0" indent="0" marL="0">
                        <a:buNone/>
                      </a:pPr>
                      <a:r>
                        <a:rPr/>
                        <a:t>An attentive analyst adapts. Many do not.</a:t>
                      </a:r>
                    </a:p>
                  </a:txBody>
                </a:tc>
                <a:tc>
                  <a:txBody>
                    <a:bodyPr/>
                    <a:lstStyle/>
                    <a:p>
                      <a:pPr lvl="0" indent="0" marL="0">
                        <a:buNone/>
                      </a:pPr>
                      <a:r>
                        <a:rPr/>
                        <a:t>Variance miscalibration quantified before unblinding. Proceed with qualification.</a:t>
                      </a:r>
                    </a:p>
                  </a:txBody>
                </a:tc>
              </a:tr>
              <a:tr h="0">
                <a:tc>
                  <a:txBody>
                    <a:bodyPr/>
                    <a:lstStyle/>
                    <a:p>
                      <a:pPr lvl="0" indent="0" marL="0">
                        <a:buNone/>
                      </a:pPr>
                      <a:r>
                        <a:rPr/>
                        <a:t>Unmeasured confounding</a:t>
                      </a:r>
                    </a:p>
                  </a:txBody>
                </a:tc>
                <a:tc>
                  <a:txBody>
                    <a:bodyPr/>
                    <a:lstStyle/>
                    <a:p>
                      <a:pPr lvl="0" indent="0" marL="0">
                        <a:buNone/>
                      </a:pPr>
                      <a:r>
                        <a:rPr/>
                        <a:t>All adjusted estimates agree; analyst likely publishes a misleading null.</a:t>
                      </a:r>
                    </a:p>
                  </a:txBody>
                </a:tc>
                <a:tc>
                  <a:txBody>
                    <a:bodyPr/>
                    <a:lstStyle/>
                    <a:p>
                      <a:pPr lvl="0" indent="0" marL="0">
                        <a:buNone/>
                      </a:pPr>
                      <a:r>
                        <a:rPr/>
                        <a:t>Prespecified stress row breaches the threshold. Stop.</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4. Case study: Rescue.Co, Nairobi</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Five contrasts, one registry</a:t>
            </a:r>
          </a:p>
        </p:txBody>
      </p:sp>
      <p:sp>
        <p:nvSpPr>
          <p:cNvPr id="4" name="Text Placeholder 3"/>
          <p:cNvSpPr>
            <a:spLocks noGrp="1"/>
          </p:cNvSpPr>
          <p:nvPr>
            <p:ph idx="2" sz="half" type="body"/>
          </p:nvPr>
        </p:nvSpPr>
        <p:spPr/>
        <p:txBody>
          <a:bodyPr/>
          <a:lstStyle/>
          <a:p>
            <a:pPr lvl="0" indent="0" marL="0">
              <a:buNone/>
            </a:pPr>
            <a:r>
              <a:rPr/>
              <a:t>8,323 trauma patients with known transport mode, three Nairobi hospitals, 2018 to 2024. Each contrast gets its own lock on the shared cohort, 90 design columns, and the same declared ladder. Outcomes: six-month mortality, and time to arrival, the outcome behind the +14,637-minute failure. The outcome columns live in a separate store until estimation.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92200"/>
                <a:gridCol w="1092200"/>
                <a:gridCol w="1460500"/>
                <a:gridCol w="1460500"/>
              </a:tblGrid>
              <a:tr h="0">
                <a:tc>
                  <a:txBody>
                    <a:bodyPr/>
                    <a:lstStyle/>
                    <a:p>
                      <a:pPr lvl="0" indent="0" marL="0">
                        <a:buNone/>
                      </a:pPr>
                      <a:r>
                        <a:rPr/>
                        <a:t>Lock</a:t>
                      </a:r>
                    </a:p>
                  </a:txBody>
                  <a:tcPr/>
                </a:tc>
                <a:tc>
                  <a:txBody>
                    <a:bodyPr/>
                    <a:lstStyle/>
                    <a:p>
                      <a:pPr lvl="0" indent="0" marL="0">
                        <a:buNone/>
                      </a:pPr>
                      <a:r>
                        <a:rPr/>
                        <a:t>Comparison</a:t>
                      </a:r>
                    </a:p>
                  </a:txBody>
                  <a:tcPr/>
                </a:tc>
                <a:tc>
                  <a:txBody>
                    <a:bodyPr/>
                    <a:lstStyle/>
                    <a:p>
                      <a:pPr lvl="0" indent="0" marL="0" algn="r">
                        <a:buNone/>
                      </a:pPr>
                      <a:r>
                        <a:rPr/>
                        <a:t>N</a:t>
                      </a:r>
                    </a:p>
                  </a:txBody>
                  <a:tcPr/>
                </a:tc>
                <a:tc>
                  <a:txBody>
                    <a:bodyPr/>
                    <a:lstStyle/>
                    <a:p>
                      <a:pPr lvl="0" indent="0" marL="0" algn="r">
                        <a:buNone/>
                      </a:pPr>
                      <a:r>
                        <a:rPr/>
                        <a:t>Treated</a:t>
                      </a:r>
                    </a:p>
                  </a:txBody>
                  <a:tcPr/>
                </a:tc>
              </a:tr>
              <a:tr h="0">
                <a:tc>
                  <a:txBody>
                    <a:bodyPr/>
                    <a:lstStyle/>
                    <a:p>
                      <a:pPr lvl="0" indent="0" marL="0">
                        <a:buNone/>
                      </a:pPr>
                      <a:r>
                        <a:rPr/>
                        <a:t>C1</a:t>
                      </a:r>
                    </a:p>
                  </a:txBody>
                </a:tc>
                <a:tc>
                  <a:txBody>
                    <a:bodyPr/>
                    <a:lstStyle/>
                    <a:p>
                      <a:pPr lvl="0" indent="0" marL="0">
                        <a:buNone/>
                      </a:pPr>
                      <a:r>
                        <a:rPr/>
                        <a:t>Rescue.Co vs everyone else (protocol comparator)</a:t>
                      </a:r>
                    </a:p>
                  </a:txBody>
                </a:tc>
                <a:tc>
                  <a:txBody>
                    <a:bodyPr/>
                    <a:lstStyle/>
                    <a:p>
                      <a:pPr lvl="0" indent="0" marL="0" algn="r">
                        <a:buNone/>
                      </a:pPr>
                      <a:r>
                        <a:rPr/>
                        <a:t>8,323</a:t>
                      </a:r>
                    </a:p>
                  </a:txBody>
                </a:tc>
                <a:tc>
                  <a:txBody>
                    <a:bodyPr/>
                    <a:lstStyle/>
                    <a:p>
                      <a:pPr lvl="0" indent="0" marL="0" algn="r">
                        <a:buNone/>
                      </a:pPr>
                      <a:r>
                        <a:rPr/>
                        <a:t>1,039</a:t>
                      </a:r>
                    </a:p>
                  </a:txBody>
                </a:tc>
              </a:tr>
              <a:tr h="0">
                <a:tc>
                  <a:txBody>
                    <a:bodyPr/>
                    <a:lstStyle/>
                    <a:p>
                      <a:pPr lvl="0" indent="0" marL="0">
                        <a:buNone/>
                      </a:pPr>
                      <a:r>
                        <a:rPr/>
                        <a:t>C2</a:t>
                      </a:r>
                    </a:p>
                  </a:txBody>
                </a:tc>
                <a:tc>
                  <a:txBody>
                    <a:bodyPr/>
                    <a:lstStyle/>
                    <a:p>
                      <a:pPr lvl="0" indent="0" marL="0">
                        <a:buNone/>
                      </a:pPr>
                      <a:r>
                        <a:rPr/>
                        <a:t>Rescue.Co vs non-ambulance</a:t>
                      </a:r>
                    </a:p>
                  </a:txBody>
                </a:tc>
                <a:tc>
                  <a:txBody>
                    <a:bodyPr/>
                    <a:lstStyle/>
                    <a:p>
                      <a:pPr lvl="0" indent="0" marL="0" algn="r">
                        <a:buNone/>
                      </a:pPr>
                      <a:r>
                        <a:rPr/>
                        <a:t>7,165</a:t>
                      </a:r>
                    </a:p>
                  </a:txBody>
                </a:tc>
                <a:tc>
                  <a:txBody>
                    <a:bodyPr/>
                    <a:lstStyle/>
                    <a:p>
                      <a:pPr lvl="0" indent="0" marL="0" algn="r">
                        <a:buNone/>
                      </a:pPr>
                      <a:r>
                        <a:rPr/>
                        <a:t>1,039</a:t>
                      </a:r>
                    </a:p>
                  </a:txBody>
                </a:tc>
              </a:tr>
              <a:tr h="0">
                <a:tc>
                  <a:txBody>
                    <a:bodyPr/>
                    <a:lstStyle/>
                    <a:p>
                      <a:pPr lvl="0" indent="0" marL="0">
                        <a:buNone/>
                      </a:pPr>
                      <a:r>
                        <a:rPr/>
                        <a:t>C3</a:t>
                      </a:r>
                    </a:p>
                  </a:txBody>
                </a:tc>
                <a:tc>
                  <a:txBody>
                    <a:bodyPr/>
                    <a:lstStyle/>
                    <a:p>
                      <a:pPr lvl="0" indent="0" marL="0">
                        <a:buNone/>
                      </a:pPr>
                      <a:r>
                        <a:rPr/>
                        <a:t>Any ambulance vs non-ambulance</a:t>
                      </a:r>
                    </a:p>
                  </a:txBody>
                </a:tc>
                <a:tc>
                  <a:txBody>
                    <a:bodyPr/>
                    <a:lstStyle/>
                    <a:p>
                      <a:pPr lvl="0" indent="0" marL="0" algn="r">
                        <a:buNone/>
                      </a:pPr>
                      <a:r>
                        <a:rPr/>
                        <a:t>8,323</a:t>
                      </a:r>
                    </a:p>
                  </a:txBody>
                </a:tc>
                <a:tc>
                  <a:txBody>
                    <a:bodyPr/>
                    <a:lstStyle/>
                    <a:p>
                      <a:pPr lvl="0" indent="0" marL="0" algn="r">
                        <a:buNone/>
                      </a:pPr>
                      <a:r>
                        <a:rPr/>
                        <a:t>2,197</a:t>
                      </a:r>
                    </a:p>
                  </a:txBody>
                </a:tc>
              </a:tr>
              <a:tr h="0">
                <a:tc>
                  <a:txBody>
                    <a:bodyPr/>
                    <a:lstStyle/>
                    <a:p>
                      <a:pPr lvl="0" indent="0" marL="0">
                        <a:buNone/>
                      </a:pPr>
                      <a:r>
                        <a:rPr/>
                        <a:t>C4</a:t>
                      </a:r>
                    </a:p>
                  </a:txBody>
                </a:tc>
                <a:tc>
                  <a:txBody>
                    <a:bodyPr/>
                    <a:lstStyle/>
                    <a:p>
                      <a:pPr lvl="0" indent="0" marL="0">
                        <a:buNone/>
                      </a:pPr>
                      <a:r>
                        <a:rPr/>
                        <a:t>Rescue.Co vs other ambulance, transfers included</a:t>
                      </a:r>
                    </a:p>
                  </a:txBody>
                </a:tc>
                <a:tc>
                  <a:txBody>
                    <a:bodyPr/>
                    <a:lstStyle/>
                    <a:p>
                      <a:pPr lvl="0" indent="0" marL="0" algn="r">
                        <a:buNone/>
                      </a:pPr>
                      <a:r>
                        <a:rPr/>
                        <a:t>2,197</a:t>
                      </a:r>
                    </a:p>
                  </a:txBody>
                </a:tc>
                <a:tc>
                  <a:txBody>
                    <a:bodyPr/>
                    <a:lstStyle/>
                    <a:p>
                      <a:pPr lvl="0" indent="0" marL="0" algn="r">
                        <a:buNone/>
                      </a:pPr>
                      <a:r>
                        <a:rPr/>
                        <a:t>1,039</a:t>
                      </a:r>
                    </a:p>
                  </a:txBody>
                </a:tc>
              </a:tr>
              <a:tr h="0">
                <a:tc>
                  <a:txBody>
                    <a:bodyPr/>
                    <a:lstStyle/>
                    <a:p>
                      <a:pPr lvl="0" indent="0" marL="0">
                        <a:buNone/>
                      </a:pPr>
                      <a:r>
                        <a:rPr/>
                        <a:t>Primary</a:t>
                      </a:r>
                    </a:p>
                  </a:txBody>
                </a:tc>
                <a:tc>
                  <a:txBody>
                    <a:bodyPr/>
                    <a:lstStyle/>
                    <a:p>
                      <a:pPr lvl="0" indent="0" marL="0">
                        <a:buNone/>
                      </a:pPr>
                      <a:r>
                        <a:rPr/>
                        <a:t>Rescue.Co vs other ambulance, transfers and prior care excluded</a:t>
                      </a:r>
                    </a:p>
                  </a:txBody>
                </a:tc>
                <a:tc>
                  <a:txBody>
                    <a:bodyPr/>
                    <a:lstStyle/>
                    <a:p>
                      <a:pPr lvl="0" indent="0" marL="0" algn="r">
                        <a:buNone/>
                      </a:pPr>
                      <a:r>
                        <a:rPr/>
                        <a:t>1,616</a:t>
                      </a:r>
                    </a:p>
                  </a:txBody>
                </a:tc>
                <a:tc>
                  <a:txBody>
                    <a:bodyPr/>
                    <a:lstStyle/>
                    <a:p>
                      <a:pPr lvl="0" indent="0" marL="0" algn="r">
                        <a:buNone/>
                      </a:pPr>
                      <a:r>
                        <a:rPr/>
                        <a:t>1,003</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support verdicts</a:t>
            </a:r>
          </a:p>
        </p:txBody>
      </p:sp>
      <p:pic>
        <p:nvPicPr>
          <p:cNvPr descr="cleanTMLE_presentation_files/figure-pptx/fig-support-1.png" id="0" name="Picture 1"/>
          <p:cNvPicPr>
            <a:picLocks noGrp="1" noChangeAspect="1"/>
          </p:cNvPicPr>
          <p:nvPr/>
        </p:nvPicPr>
        <p:blipFill>
          <a:blip r:embed="rId2"/>
          <a:stretch>
            <a:fillRect/>
          </a:stretch>
        </p:blipFill>
        <p:spPr bwMode="auto">
          <a:xfrm>
            <a:off x="1384300" y="1193800"/>
            <a:ext cx="6375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2: Share of each contrast outside the propensity band [0.05, 0.95]. Dotted lines mark the verdict thresholds: FLAG above 1%, SEVERE above 25%. Labels give the largest implied ATE weight.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protocol comparison places two-fifths of the sample outside the band. The declared trigger is met on C1 and C2 before any outcome is joined.</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Who never gets a Rescue.Co ambulance?</a:t>
            </a:r>
          </a:p>
        </p:txBody>
      </p:sp>
      <p:sp>
        <p:nvSpPr>
          <p:cNvPr id="3" name="Content Placeholder 2"/>
          <p:cNvSpPr>
            <a:spLocks noGrp="1"/>
          </p:cNvSpPr>
          <p:nvPr>
            <p:ph idx="1"/>
          </p:nvPr>
        </p:nvSpPr>
        <p:spPr/>
        <p:txBody>
          <a:bodyPr/>
          <a:lstStyle/>
          <a:p>
            <a:pPr lvl="0" indent="0" marL="0">
              <a:buNone/>
            </a:pPr>
            <a:r>
              <a:rPr/>
              <a:t>The tree search puts names on the C1 violation:</a:t>
            </a:r>
          </a:p>
          <a:p>
            <a:pPr lvl="0"/>
            <a:r>
              <a:rPr/>
              <a:t>injured at a private home, 1,386 patients, 1.4% treated</a:t>
            </a:r>
          </a:p>
          <a:p>
            <a:pPr lvl="0"/>
            <a:r>
              <a:rPr/>
              <a:t>other non-street injury places, 1,438 patients, 2.5% treated</a:t>
            </a:r>
          </a:p>
          <a:p>
            <a:pPr lvl="0"/>
            <a:r>
              <a:rPr/>
              <a:t>assault victims elsewhere, 1,062 patients, 4.2% treated</a:t>
            </a:r>
          </a:p>
          <a:p>
            <a:pPr lvl="0" indent="0" marL="0">
              <a:buNone/>
            </a:pPr>
            <a:r>
              <a:rPr/>
              <a:t>For these patients, “what if everyone were transported by Rescue.Co” has no answer in the data. A trimmed analysis removes 3,377 people, nearly all controls, and the design report describes them: 40% home injuries against 1% of those retained, more assaults, younger, farther away.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Which estimands survive the C1 fit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Estimand</a:t>
                      </a:r>
                    </a:p>
                  </a:txBody>
                  <a:tcPr/>
                </a:tc>
                <a:tc>
                  <a:txBody>
                    <a:bodyPr/>
                    <a:lstStyle/>
                    <a:p>
                      <a:pPr lvl="0" indent="0" marL="0" algn="r">
                        <a:buNone/>
                      </a:pPr>
                      <a:r>
                        <a:rPr/>
                        <a:t>Max weight</a:t>
                      </a:r>
                    </a:p>
                  </a:txBody>
                  <a:tcPr/>
                </a:tc>
                <a:tc>
                  <a:txBody>
                    <a:bodyPr/>
                    <a:lstStyle/>
                    <a:p>
                      <a:pPr lvl="0" indent="0" marL="0">
                        <a:buNone/>
                      </a:pPr>
                      <a:r>
                        <a:rPr/>
                        <a:t>Verdict</a:t>
                      </a:r>
                    </a:p>
                  </a:txBody>
                  <a:tcPr/>
                </a:tc>
              </a:tr>
              <a:tr h="0">
                <a:tc>
                  <a:txBody>
                    <a:bodyPr/>
                    <a:lstStyle/>
                    <a:p>
                      <a:pPr lvl="0" indent="0" marL="0">
                        <a:buNone/>
                      </a:pPr>
                      <a:r>
                        <a:rPr/>
                        <a:t>ATE</a:t>
                      </a:r>
                    </a:p>
                  </a:txBody>
                </a:tc>
                <a:tc>
                  <a:txBody>
                    <a:bodyPr/>
                    <a:lstStyle/>
                    <a:p>
                      <a:pPr lvl="0" indent="0" marL="0" algn="r">
                        <a:buNone/>
                      </a:pPr>
                      <a:r>
                        <a:rPr/>
                        <a:t>257</a:t>
                      </a:r>
                    </a:p>
                  </a:txBody>
                </a:tc>
                <a:tc>
                  <a:txBody>
                    <a:bodyPr/>
                    <a:lstStyle/>
                    <a:p>
                      <a:pPr lvl="0" indent="0" marL="0">
                        <a:buNone/>
                      </a:pPr>
                      <a:r>
                        <a:rPr/>
                        <a:t>SEVERE, infeasible</a:t>
                      </a:r>
                    </a:p>
                  </a:txBody>
                </a:tc>
              </a:tr>
              <a:tr h="0">
                <a:tc>
                  <a:txBody>
                    <a:bodyPr/>
                    <a:lstStyle/>
                    <a:p>
                      <a:pPr lvl="0" indent="0" marL="0">
                        <a:buNone/>
                      </a:pPr>
                      <a:r>
                        <a:rPr/>
                        <a:t>Trimmed ATE</a:t>
                      </a:r>
                    </a:p>
                  </a:txBody>
                </a:tc>
                <a:tc>
                  <a:txBody>
                    <a:bodyPr/>
                    <a:lstStyle/>
                    <a:p>
                      <a:pPr lvl="0" indent="0" marL="0" algn="r">
                        <a:buNone/>
                      </a:pPr>
                      <a:r>
                        <a:rPr/>
                        <a:t>20</a:t>
                      </a:r>
                    </a:p>
                  </a:txBody>
                </a:tc>
                <a:tc>
                  <a:txBody>
                    <a:bodyPr/>
                    <a:lstStyle/>
                    <a:p>
                      <a:pPr lvl="0" indent="0" marL="0">
                        <a:buNone/>
                      </a:pPr>
                      <a:r>
                        <a:rPr/>
                        <a:t>PASS, population changes</a:t>
                      </a:r>
                    </a:p>
                  </a:txBody>
                </a:tc>
              </a:tr>
              <a:tr h="0">
                <a:tc>
                  <a:txBody>
                    <a:bodyPr/>
                    <a:lstStyle/>
                    <a:p>
                      <a:pPr lvl="0" indent="0" marL="0">
                        <a:buNone/>
                      </a:pPr>
                      <a:r>
                        <a:rPr/>
                        <a:t>ATT</a:t>
                      </a:r>
                    </a:p>
                  </a:txBody>
                </a:tc>
                <a:tc>
                  <a:txBody>
                    <a:bodyPr/>
                    <a:lstStyle/>
                    <a:p>
                      <a:pPr lvl="0" indent="0" marL="0" algn="r">
                        <a:buNone/>
                      </a:pPr>
                      <a:r>
                        <a:rPr/>
                        <a:t>5.0</a:t>
                      </a:r>
                    </a:p>
                  </a:txBody>
                </a:tc>
                <a:tc>
                  <a:txBody>
                    <a:bodyPr/>
                    <a:lstStyle/>
                    <a:p>
                      <a:pPr lvl="0" indent="0" marL="0">
                        <a:buNone/>
                      </a:pPr>
                      <a:r>
                        <a:rPr/>
                        <a:t>PASS</a:t>
                      </a:r>
                    </a:p>
                  </a:txBody>
                </a:tc>
              </a:tr>
              <a:tr h="0">
                <a:tc>
                  <a:txBody>
                    <a:bodyPr/>
                    <a:lstStyle/>
                    <a:p>
                      <a:pPr lvl="0" indent="0" marL="0">
                        <a:buNone/>
                      </a:pPr>
                      <a:r>
                        <a:rPr/>
                        <a:t>ATO</a:t>
                      </a:r>
                    </a:p>
                  </a:txBody>
                </a:tc>
                <a:tc>
                  <a:txBody>
                    <a:bodyPr/>
                    <a:lstStyle/>
                    <a:p>
                      <a:pPr lvl="0" indent="0" marL="0" algn="r">
                        <a:buNone/>
                      </a:pPr>
                      <a:r>
                        <a:rPr/>
                        <a:t>1.0</a:t>
                      </a:r>
                    </a:p>
                  </a:txBody>
                </a:tc>
                <a:tc>
                  <a:txBody>
                    <a:bodyPr/>
                    <a:lstStyle/>
                    <a:p>
                      <a:pPr lvl="0" indent="0" marL="0">
                        <a:buNone/>
                      </a:pPr>
                      <a:r>
                        <a:rPr/>
                        <a:t>PASS</a:t>
                      </a:r>
                    </a:p>
                  </a:txBody>
                </a:tc>
              </a:tr>
              <a:tr h="0">
                <a:tc>
                  <a:txBody>
                    <a:bodyPr/>
                    <a:lstStyle/>
                    <a:p>
                      <a:pPr lvl="0" indent="0" marL="0">
                        <a:buNone/>
                      </a:pPr>
                      <a:r>
                        <a:rPr/>
                        <a:t>Matched ATT</a:t>
                      </a:r>
                    </a:p>
                  </a:txBody>
                </a:tc>
                <a:tc>
                  <a:txBody>
                    <a:bodyPr/>
                    <a:lstStyle/>
                    <a:p>
                      <a:pPr lvl="0" indent="0" marL="0" algn="r">
                        <a:buNone/>
                      </a:pPr>
                      <a:r>
                        <a:rPr/>
                        <a:t>1.0</a:t>
                      </a:r>
                    </a:p>
                  </a:txBody>
                </a:tc>
                <a:tc>
                  <a:txBody>
                    <a:bodyPr/>
                    <a:lstStyle/>
                    <a:p>
                      <a:pPr lvl="0" indent="0" marL="0">
                        <a:buNone/>
                      </a:pPr>
                      <a:r>
                        <a:rPr/>
                        <a:t>PASS, 95% of treated matched</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design supports an answer. Just not the one the protocol named.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exclusions, not the adjustment, removed the confounding</a:t>
            </a:r>
          </a:p>
        </p:txBody>
      </p:sp>
      <p:pic>
        <p:nvPicPr>
          <p:cNvPr descr="cleanTMLE_presentation_files/figure-pptx/fig-nc-1.png" id="0" name="Picture 1"/>
          <p:cNvPicPr>
            <a:picLocks noGrp="1" noChangeAspect="1"/>
          </p:cNvPicPr>
          <p:nvPr/>
        </p:nvPicPr>
        <p:blipFill>
          <a:blip r:embed="rId2"/>
          <a:stretch>
            <a:fillRect/>
          </a:stretch>
        </p:blipFill>
        <p:spPr bwMode="auto">
          <a:xfrm>
            <a:off x="1384300" y="1193800"/>
            <a:ext cx="6375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3: Two socioeconomic negative controls on the transfers-included contrast, refit on each nested cohort. Points are unadjusted risk differences with 95% intervals.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Both controls fail on the full cohort and turn null after the pre-registered transfer exclusion. On C1, the urban-household control fails and no restriction repairs it. Two rare controls are labelled inestimable rather than dropped.</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 processes stay out of the adjustment set</a:t>
            </a:r>
          </a:p>
        </p:txBody>
      </p:sp>
      <p:sp>
        <p:nvSpPr>
          <p:cNvPr id="3" name="Content Placeholder 2"/>
          <p:cNvSpPr>
            <a:spLocks noGrp="1"/>
          </p:cNvSpPr>
          <p:nvPr>
            <p:ph idx="1"/>
          </p:nvPr>
        </p:nvSpPr>
        <p:spPr/>
        <p:txBody>
          <a:bodyPr/>
          <a:lstStyle/>
          <a:p>
            <a:pPr lvl="0" indent="0" marL="0">
              <a:buNone/>
            </a:pPr>
            <a:r>
              <a:rPr/>
              <a:t>Vitals recorded within an hour, and blood-pressure missingness, are predicted by treatment on three of the five contrasts (standardised differences up to 0.34). Transport mode changes the care process.</a:t>
            </a:r>
          </a:p>
          <a:p>
            <a:pPr lvl="0" indent="0" marL="0">
              <a:buNone/>
            </a:pPr>
            <a:r>
              <a:rPr/>
              <a:t>Conditioning on them would open collider paths through in-hospital care, so the locks keep them out, and the check documents why.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pre-outcome decisions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Contrast</a:t>
                      </a:r>
                    </a:p>
                  </a:txBody>
                  <a:tcPr/>
                </a:tc>
                <a:tc>
                  <a:txBody>
                    <a:bodyPr/>
                    <a:lstStyle/>
                    <a:p>
                      <a:pPr lvl="0" indent="0" marL="0">
                        <a:buNone/>
                      </a:pPr>
                      <a:r>
                        <a:rPr/>
                        <a:t>Recommendation</a:t>
                      </a:r>
                    </a:p>
                  </a:txBody>
                  <a:tcPr/>
                </a:tc>
              </a:tr>
              <a:tr h="0">
                <a:tc>
                  <a:txBody>
                    <a:bodyPr/>
                    <a:lstStyle/>
                    <a:p>
                      <a:pPr lvl="0" indent="0" marL="0">
                        <a:buNone/>
                      </a:pPr>
                      <a:r>
                        <a:rPr/>
                        <a:t>Primary</a:t>
                      </a:r>
                    </a:p>
                  </a:txBody>
                </a:tc>
                <a:tc>
                  <a:txBody>
                    <a:bodyPr/>
                    <a:lstStyle/>
                    <a:p>
                      <a:pPr lvl="0" indent="0" marL="0">
                        <a:buNone/>
                      </a:pPr>
                      <a:r>
                        <a:rPr/>
                        <a:t>Proceed</a:t>
                      </a:r>
                    </a:p>
                  </a:txBody>
                </a:tc>
              </a:tr>
              <a:tr h="0">
                <a:tc>
                  <a:txBody>
                    <a:bodyPr/>
                    <a:lstStyle/>
                    <a:p>
                      <a:pPr lvl="0" indent="0" marL="0">
                        <a:buNone/>
                      </a:pPr>
                      <a:r>
                        <a:rPr/>
                        <a:t>C3, C4</a:t>
                      </a:r>
                    </a:p>
                  </a:txBody>
                </a:tc>
                <a:tc>
                  <a:txBody>
                    <a:bodyPr/>
                    <a:lstStyle/>
                    <a:p>
                      <a:pPr lvl="0" indent="0" marL="0">
                        <a:buNone/>
                      </a:pPr>
                      <a:r>
                        <a:rPr/>
                        <a:t>Proceed, FLAG caveat attached</a:t>
                      </a:r>
                    </a:p>
                  </a:txBody>
                </a:tc>
              </a:tr>
              <a:tr h="0">
                <a:tc>
                  <a:txBody>
                    <a:bodyPr/>
                    <a:lstStyle/>
                    <a:p>
                      <a:pPr lvl="0" indent="0" marL="0">
                        <a:buNone/>
                      </a:pPr>
                      <a:r>
                        <a:rPr/>
                        <a:t>C1, C2</a:t>
                      </a:r>
                    </a:p>
                  </a:txBody>
                </a:tc>
                <a:tc>
                  <a:txBody>
                    <a:bodyPr/>
                    <a:lstStyle/>
                    <a:p>
                      <a:pPr lvl="0" indent="0" marL="0">
                        <a:buNone/>
                      </a:pPr>
                      <a:r>
                        <a:rPr/>
                        <a:t>Proceed with qualification. The ATE is not supported; the ladder moves to trimmed ATE, then ATT, then ATO, and the switch is logged with the SEVERE verdict as its trigger</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All fixed before the outcome store was joined.</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Six-month mortality, down the ladder</a:t>
            </a:r>
          </a:p>
        </p:txBody>
      </p:sp>
      <p:pic>
        <p:nvPicPr>
          <p:cNvPr descr="cleanTMLE_presentation_files/figure-pptx/fig-forest-1.png" id="0" name="Picture 1"/>
          <p:cNvPicPr>
            <a:picLocks noGrp="1" noChangeAspect="1"/>
          </p:cNvPicPr>
          <p:nvPr/>
        </p:nvPicPr>
        <p:blipFill>
          <a:blip r:embed="rId2"/>
          <a:stretch>
            <a:fillRect/>
          </a:stretch>
        </p:blipFill>
        <p:spPr bwMode="auto">
          <a:xfrm>
            <a:off x="1384300" y="1193800"/>
            <a:ext cx="6375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4: Risk differences with 95% intervals, one row per feasible estimand per contrast. Negative favours Rescue.Co.</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C2 reports no ATE at all. The C1 ATE appears once, as a logged override kept so the two pipelines can be reconciled; it carries its SEVERE label and a standard error several times larger than the bounded rows beside it.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disaster outcome, re-analysed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pPr lvl="0" indent="0" marL="0" algn="l">
                        <a:buNone/>
                      </a:pPr>
                      <a:r>
                        <a:rPr/>
                        <a:t>Contrast</a:t>
                      </a:r>
                    </a:p>
                  </a:txBody>
                  <a:tcPr/>
                </a:tc>
                <a:tc>
                  <a:txBody>
                    <a:bodyPr/>
                    <a:lstStyle/>
                    <a:p>
                      <a:pPr lvl="0" indent="0" marL="0" algn="l">
                        <a:buNone/>
                      </a:pPr>
                      <a:r>
                        <a:rPr/>
                        <a:t>Estimand</a:t>
                      </a:r>
                    </a:p>
                  </a:txBody>
                  <a:tcPr/>
                </a:tc>
                <a:tc>
                  <a:txBody>
                    <a:bodyPr/>
                    <a:lstStyle/>
                    <a:p>
                      <a:pPr lvl="0" indent="0" marL="0" algn="l">
                        <a:buNone/>
                      </a:pPr>
                      <a:r>
                        <a:rPr/>
                        <a:t>Minutes</a:t>
                      </a:r>
                    </a:p>
                  </a:txBody>
                  <a:tcPr/>
                </a:tc>
                <a:tc>
                  <a:txBody>
                    <a:bodyPr/>
                    <a:lstStyle/>
                    <a:p>
                      <a:pPr lvl="0" indent="0" marL="0" algn="l">
                        <a:buNone/>
                      </a:pPr>
                      <a:r>
                        <a:rPr/>
                        <a:t>CI lower</a:t>
                      </a:r>
                    </a:p>
                  </a:txBody>
                  <a:tcPr/>
                </a:tc>
                <a:tc>
                  <a:txBody>
                    <a:bodyPr/>
                    <a:lstStyle/>
                    <a:p>
                      <a:pPr lvl="0" indent="0" marL="0" algn="l">
                        <a:buNone/>
                      </a:pPr>
                      <a:r>
                        <a:rPr/>
                        <a:t>CI upper</a:t>
                      </a:r>
                    </a:p>
                  </a:txBody>
                  <a:tcPr/>
                </a:tc>
                <a:tc>
                  <a:txBody>
                    <a:bodyPr/>
                    <a:lstStyle/>
                    <a:p>
                      <a:pPr lvl="0" indent="0" marL="0" algn="l">
                        <a:buNone/>
                      </a:pPr>
                      <a:r>
                        <a:rPr/>
                        <a:t>Flagged</a:t>
                      </a:r>
                    </a:p>
                  </a:txBody>
                  <a:tcPr/>
                </a:tc>
              </a:tr>
              <a:tr h="0">
                <a:tc>
                  <a:txBody>
                    <a:bodyPr/>
                    <a:lstStyle/>
                    <a:p>
                      <a:pPr lvl="0" indent="0" marL="0" algn="l">
                        <a:buNone/>
                      </a:pPr>
                      <a:r>
                        <a:rPr/>
                        <a:t>C1</a:t>
                      </a:r>
                    </a:p>
                  </a:txBody>
                </a:tc>
                <a:tc>
                  <a:txBody>
                    <a:bodyPr/>
                    <a:lstStyle/>
                    <a:p>
                      <a:pPr lvl="0" indent="0" marL="0" algn="l">
                        <a:buNone/>
                      </a:pPr>
                      <a:r>
                        <a:rPr/>
                        <a:t>ATE</a:t>
                      </a:r>
                    </a:p>
                  </a:txBody>
                </a:tc>
                <a:tc>
                  <a:txBody>
                    <a:bodyPr/>
                    <a:lstStyle/>
                    <a:p>
                      <a:pPr lvl="0" indent="0" marL="0" algn="l">
                        <a:buNone/>
                      </a:pPr>
                      <a:r>
                        <a:rPr/>
                        <a:t>-183.5</a:t>
                      </a:r>
                    </a:p>
                  </a:txBody>
                </a:tc>
                <a:tc>
                  <a:txBody>
                    <a:bodyPr/>
                    <a:lstStyle/>
                    <a:p>
                      <a:pPr lvl="0" indent="0" marL="0" algn="l">
                        <a:buNone/>
                      </a:pPr>
                      <a:r>
                        <a:rPr/>
                        <a:t>-400.4</a:t>
                      </a:r>
                    </a:p>
                  </a:txBody>
                </a:tc>
                <a:tc>
                  <a:txBody>
                    <a:bodyPr/>
                    <a:lstStyle/>
                    <a:p>
                      <a:pPr lvl="0" indent="0" marL="0" algn="l">
                        <a:buNone/>
                      </a:pPr>
                      <a:r>
                        <a:rPr/>
                        <a:t>33.5</a:t>
                      </a:r>
                    </a:p>
                  </a:txBody>
                </a:tc>
                <a:tc>
                  <a:txBody>
                    <a:bodyPr/>
                    <a:lstStyle/>
                    <a:p>
                      <a:pPr lvl="0" indent="0" marL="0" algn="l">
                        <a:buNone/>
                      </a:pPr>
                      <a:r>
                        <a:rPr/>
                        <a:t>FALSE</a:t>
                      </a:r>
                    </a:p>
                  </a:txBody>
                </a:tc>
              </a:tr>
              <a:tr h="0">
                <a:tc>
                  <a:txBody>
                    <a:bodyPr/>
                    <a:lstStyle/>
                    <a:p>
                      <a:pPr lvl="0" indent="0" marL="0" algn="l">
                        <a:buNone/>
                      </a:pPr>
                      <a:r>
                        <a:rPr/>
                        <a:t>C1</a:t>
                      </a:r>
                    </a:p>
                  </a:txBody>
                </a:tc>
                <a:tc>
                  <a:txBody>
                    <a:bodyPr/>
                    <a:lstStyle/>
                    <a:p>
                      <a:pPr lvl="0" indent="0" marL="0" algn="l">
                        <a:buNone/>
                      </a:pPr>
                      <a:r>
                        <a:rPr/>
                        <a:t>trimmed_ATE</a:t>
                      </a:r>
                    </a:p>
                  </a:txBody>
                </a:tc>
                <a:tc>
                  <a:txBody>
                    <a:bodyPr/>
                    <a:lstStyle/>
                    <a:p>
                      <a:pPr lvl="0" indent="0" marL="0" algn="l">
                        <a:buNone/>
                      </a:pPr>
                      <a:r>
                        <a:rPr/>
                        <a:t>-270.4</a:t>
                      </a:r>
                    </a:p>
                  </a:txBody>
                </a:tc>
                <a:tc>
                  <a:txBody>
                    <a:bodyPr/>
                    <a:lstStyle/>
                    <a:p>
                      <a:pPr lvl="0" indent="0" marL="0" algn="l">
                        <a:buNone/>
                      </a:pPr>
                      <a:r>
                        <a:rPr/>
                        <a:t>-313.4</a:t>
                      </a:r>
                    </a:p>
                  </a:txBody>
                </a:tc>
                <a:tc>
                  <a:txBody>
                    <a:bodyPr/>
                    <a:lstStyle/>
                    <a:p>
                      <a:pPr lvl="0" indent="0" marL="0" algn="l">
                        <a:buNone/>
                      </a:pPr>
                      <a:r>
                        <a:rPr/>
                        <a:t>-227.4</a:t>
                      </a:r>
                    </a:p>
                  </a:txBody>
                </a:tc>
                <a:tc>
                  <a:txBody>
                    <a:bodyPr/>
                    <a:lstStyle/>
                    <a:p>
                      <a:pPr lvl="0" indent="0" marL="0" algn="l">
                        <a:buNone/>
                      </a:pPr>
                      <a:r>
                        <a:rPr/>
                        <a:t>FALSE</a:t>
                      </a:r>
                    </a:p>
                  </a:txBody>
                </a:tc>
              </a:tr>
              <a:tr h="0">
                <a:tc>
                  <a:txBody>
                    <a:bodyPr/>
                    <a:lstStyle/>
                    <a:p>
                      <a:pPr lvl="0" indent="0" marL="0" algn="l">
                        <a:buNone/>
                      </a:pPr>
                      <a:r>
                        <a:rPr/>
                        <a:t>C1</a:t>
                      </a:r>
                    </a:p>
                  </a:txBody>
                </a:tc>
                <a:tc>
                  <a:txBody>
                    <a:bodyPr/>
                    <a:lstStyle/>
                    <a:p>
                      <a:pPr lvl="0" indent="0" marL="0" algn="l">
                        <a:buNone/>
                      </a:pPr>
                      <a:r>
                        <a:rPr/>
                        <a:t>ATT</a:t>
                      </a:r>
                    </a:p>
                  </a:txBody>
                </a:tc>
                <a:tc>
                  <a:txBody>
                    <a:bodyPr/>
                    <a:lstStyle/>
                    <a:p>
                      <a:pPr lvl="0" indent="0" marL="0" algn="l">
                        <a:buNone/>
                      </a:pPr>
                      <a:r>
                        <a:rPr/>
                        <a:t>-219.0</a:t>
                      </a:r>
                    </a:p>
                  </a:txBody>
                </a:tc>
                <a:tc>
                  <a:txBody>
                    <a:bodyPr/>
                    <a:lstStyle/>
                    <a:p>
                      <a:pPr lvl="0" indent="0" marL="0" algn="l">
                        <a:buNone/>
                      </a:pPr>
                      <a:r>
                        <a:rPr/>
                        <a:t>-268.1</a:t>
                      </a:r>
                    </a:p>
                  </a:txBody>
                </a:tc>
                <a:tc>
                  <a:txBody>
                    <a:bodyPr/>
                    <a:lstStyle/>
                    <a:p>
                      <a:pPr lvl="0" indent="0" marL="0" algn="l">
                        <a:buNone/>
                      </a:pPr>
                      <a:r>
                        <a:rPr/>
                        <a:t>-170.0</a:t>
                      </a:r>
                    </a:p>
                  </a:txBody>
                </a:tc>
                <a:tc>
                  <a:txBody>
                    <a:bodyPr/>
                    <a:lstStyle/>
                    <a:p>
                      <a:pPr lvl="0" indent="0" marL="0" algn="l">
                        <a:buNone/>
                      </a:pPr>
                      <a:r>
                        <a:rPr/>
                        <a:t>FALSE</a:t>
                      </a:r>
                    </a:p>
                  </a:txBody>
                </a:tc>
              </a:tr>
              <a:tr h="0">
                <a:tc>
                  <a:txBody>
                    <a:bodyPr/>
                    <a:lstStyle/>
                    <a:p>
                      <a:pPr lvl="0" indent="0" marL="0" algn="l">
                        <a:buNone/>
                      </a:pPr>
                      <a:r>
                        <a:rPr/>
                        <a:t>C1</a:t>
                      </a:r>
                    </a:p>
                  </a:txBody>
                </a:tc>
                <a:tc>
                  <a:txBody>
                    <a:bodyPr/>
                    <a:lstStyle/>
                    <a:p>
                      <a:pPr lvl="0" indent="0" marL="0" algn="l">
                        <a:buNone/>
                      </a:pPr>
                      <a:r>
                        <a:rPr/>
                        <a:t>ATO</a:t>
                      </a:r>
                    </a:p>
                  </a:txBody>
                </a:tc>
                <a:tc>
                  <a:txBody>
                    <a:bodyPr/>
                    <a:lstStyle/>
                    <a:p>
                      <a:pPr lvl="0" indent="0" marL="0" algn="l">
                        <a:buNone/>
                      </a:pPr>
                      <a:r>
                        <a:rPr/>
                        <a:t>-198.8</a:t>
                      </a:r>
                    </a:p>
                  </a:txBody>
                </a:tc>
                <a:tc>
                  <a:txBody>
                    <a:bodyPr/>
                    <a:lstStyle/>
                    <a:p>
                      <a:pPr lvl="0" indent="0" marL="0" algn="l">
                        <a:buNone/>
                      </a:pPr>
                      <a:r>
                        <a:rPr/>
                        <a:t>-255.3</a:t>
                      </a:r>
                    </a:p>
                  </a:txBody>
                </a:tc>
                <a:tc>
                  <a:txBody>
                    <a:bodyPr/>
                    <a:lstStyle/>
                    <a:p>
                      <a:pPr lvl="0" indent="0" marL="0" algn="l">
                        <a:buNone/>
                      </a:pPr>
                      <a:r>
                        <a:rPr/>
                        <a:t>-142.3</a:t>
                      </a:r>
                    </a:p>
                  </a:txBody>
                </a:tc>
                <a:tc>
                  <a:txBody>
                    <a:bodyPr/>
                    <a:lstStyle/>
                    <a:p>
                      <a:pPr lvl="0" indent="0" marL="0" algn="l">
                        <a:buNone/>
                      </a:pPr>
                      <a:r>
                        <a:rPr/>
                        <a:t>FALSE</a:t>
                      </a:r>
                    </a:p>
                  </a:txBody>
                </a:tc>
              </a:tr>
              <a:tr h="0">
                <a:tc>
                  <a:txBody>
                    <a:bodyPr/>
                    <a:lstStyle/>
                    <a:p>
                      <a:pPr lvl="0" indent="0" marL="0" algn="l">
                        <a:buNone/>
                      </a:pPr>
                      <a:r>
                        <a:rPr/>
                        <a:t>C2</a:t>
                      </a:r>
                    </a:p>
                  </a:txBody>
                </a:tc>
                <a:tc>
                  <a:txBody>
                    <a:bodyPr/>
                    <a:lstStyle/>
                    <a:p>
                      <a:pPr lvl="0" indent="0" marL="0" algn="l">
                        <a:buNone/>
                      </a:pPr>
                      <a:r>
                        <a:rPr/>
                        <a:t>trimmed_ATE</a:t>
                      </a:r>
                    </a:p>
                  </a:txBody>
                </a:tc>
                <a:tc>
                  <a:txBody>
                    <a:bodyPr/>
                    <a:lstStyle/>
                    <a:p>
                      <a:pPr lvl="0" indent="0" marL="0" algn="l">
                        <a:buNone/>
                      </a:pPr>
                      <a:r>
                        <a:rPr/>
                        <a:t>-278.8</a:t>
                      </a:r>
                    </a:p>
                  </a:txBody>
                </a:tc>
                <a:tc>
                  <a:txBody>
                    <a:bodyPr/>
                    <a:lstStyle/>
                    <a:p>
                      <a:pPr lvl="0" indent="0" marL="0" algn="l">
                        <a:buNone/>
                      </a:pPr>
                      <a:r>
                        <a:rPr/>
                        <a:t>-346.7</a:t>
                      </a:r>
                    </a:p>
                  </a:txBody>
                </a:tc>
                <a:tc>
                  <a:txBody>
                    <a:bodyPr/>
                    <a:lstStyle/>
                    <a:p>
                      <a:pPr lvl="0" indent="0" marL="0" algn="l">
                        <a:buNone/>
                      </a:pPr>
                      <a:r>
                        <a:rPr/>
                        <a:t>-210.8</a:t>
                      </a:r>
                    </a:p>
                  </a:txBody>
                </a:tc>
                <a:tc>
                  <a:txBody>
                    <a:bodyPr/>
                    <a:lstStyle/>
                    <a:p>
                      <a:pPr lvl="0" indent="0" marL="0" algn="l">
                        <a:buNone/>
                      </a:pPr>
                      <a:r>
                        <a:rPr/>
                        <a:t>FALSE</a:t>
                      </a:r>
                    </a:p>
                  </a:txBody>
                </a:tc>
              </a:tr>
              <a:tr h="0">
                <a:tc>
                  <a:txBody>
                    <a:bodyPr/>
                    <a:lstStyle/>
                    <a:p>
                      <a:pPr lvl="0" indent="0" marL="0" algn="l">
                        <a:buNone/>
                      </a:pPr>
                      <a:r>
                        <a:rPr/>
                        <a:t>C2</a:t>
                      </a:r>
                    </a:p>
                  </a:txBody>
                </a:tc>
                <a:tc>
                  <a:txBody>
                    <a:bodyPr/>
                    <a:lstStyle/>
                    <a:p>
                      <a:pPr lvl="0" indent="0" marL="0" algn="l">
                        <a:buNone/>
                      </a:pPr>
                      <a:r>
                        <a:rPr/>
                        <a:t>ATT</a:t>
                      </a:r>
                    </a:p>
                  </a:txBody>
                </a:tc>
                <a:tc>
                  <a:txBody>
                    <a:bodyPr/>
                    <a:lstStyle/>
                    <a:p>
                      <a:pPr lvl="0" indent="0" marL="0" algn="l">
                        <a:buNone/>
                      </a:pPr>
                      <a:r>
                        <a:rPr/>
                        <a:t>-272.4</a:t>
                      </a:r>
                    </a:p>
                  </a:txBody>
                </a:tc>
                <a:tc>
                  <a:txBody>
                    <a:bodyPr/>
                    <a:lstStyle/>
                    <a:p>
                      <a:pPr lvl="0" indent="0" marL="0" algn="l">
                        <a:buNone/>
                      </a:pPr>
                      <a:r>
                        <a:rPr/>
                        <a:t>-328.8</a:t>
                      </a:r>
                    </a:p>
                  </a:txBody>
                </a:tc>
                <a:tc>
                  <a:txBody>
                    <a:bodyPr/>
                    <a:lstStyle/>
                    <a:p>
                      <a:pPr lvl="0" indent="0" marL="0" algn="l">
                        <a:buNone/>
                      </a:pPr>
                      <a:r>
                        <a:rPr/>
                        <a:t>-215.9</a:t>
                      </a:r>
                    </a:p>
                  </a:txBody>
                </a:tc>
                <a:tc>
                  <a:txBody>
                    <a:bodyPr/>
                    <a:lstStyle/>
                    <a:p>
                      <a:pPr lvl="0" indent="0" marL="0" algn="l">
                        <a:buNone/>
                      </a:pPr>
                      <a:r>
                        <a:rPr/>
                        <a:t>FALSE</a:t>
                      </a:r>
                    </a:p>
                  </a:txBody>
                </a:tc>
              </a:tr>
              <a:tr h="0">
                <a:tc>
                  <a:txBody>
                    <a:bodyPr/>
                    <a:lstStyle/>
                    <a:p>
                      <a:pPr lvl="0" indent="0" marL="0" algn="l">
                        <a:buNone/>
                      </a:pPr>
                      <a:r>
                        <a:rPr/>
                        <a:t>C2</a:t>
                      </a:r>
                    </a:p>
                  </a:txBody>
                </a:tc>
                <a:tc>
                  <a:txBody>
                    <a:bodyPr/>
                    <a:lstStyle/>
                    <a:p>
                      <a:pPr lvl="0" indent="0" marL="0" algn="l">
                        <a:buNone/>
                      </a:pPr>
                      <a:r>
                        <a:rPr/>
                        <a:t>ATO</a:t>
                      </a:r>
                    </a:p>
                  </a:txBody>
                </a:tc>
                <a:tc>
                  <a:txBody>
                    <a:bodyPr/>
                    <a:lstStyle/>
                    <a:p>
                      <a:pPr lvl="0" indent="0" marL="0" algn="l">
                        <a:buNone/>
                      </a:pPr>
                      <a:r>
                        <a:rPr/>
                        <a:t>-250.1</a:t>
                      </a:r>
                    </a:p>
                  </a:txBody>
                </a:tc>
                <a:tc>
                  <a:txBody>
                    <a:bodyPr/>
                    <a:lstStyle/>
                    <a:p>
                      <a:pPr lvl="0" indent="0" marL="0" algn="l">
                        <a:buNone/>
                      </a:pPr>
                      <a:r>
                        <a:rPr/>
                        <a:t>-315.5</a:t>
                      </a:r>
                    </a:p>
                  </a:txBody>
                </a:tc>
                <a:tc>
                  <a:txBody>
                    <a:bodyPr/>
                    <a:lstStyle/>
                    <a:p>
                      <a:pPr lvl="0" indent="0" marL="0" algn="l">
                        <a:buNone/>
                      </a:pPr>
                      <a:r>
                        <a:rPr/>
                        <a:t>-184.7</a:t>
                      </a:r>
                    </a:p>
                  </a:txBody>
                </a:tc>
                <a:tc>
                  <a:txBody>
                    <a:bodyPr/>
                    <a:lstStyle/>
                    <a:p>
                      <a:pPr lvl="0" indent="0" marL="0" algn="l">
                        <a:buNone/>
                      </a:pPr>
                      <a:r>
                        <a:rPr/>
                        <a:t>FALSE</a:t>
                      </a:r>
                    </a:p>
                  </a:txBody>
                </a:tc>
              </a:tr>
              <a:tr h="0">
                <a:tc>
                  <a:txBody>
                    <a:bodyPr/>
                    <a:lstStyle/>
                    <a:p>
                      <a:pPr lvl="0" indent="0" marL="0" algn="l">
                        <a:buNone/>
                      </a:pPr>
                      <a:r>
                        <a:rPr/>
                        <a:t>C3</a:t>
                      </a:r>
                    </a:p>
                  </a:txBody>
                </a:tc>
                <a:tc>
                  <a:txBody>
                    <a:bodyPr/>
                    <a:lstStyle/>
                    <a:p>
                      <a:pPr lvl="0" indent="0" marL="0" algn="l">
                        <a:buNone/>
                      </a:pPr>
                      <a:r>
                        <a:rPr/>
                        <a:t>ATE</a:t>
                      </a:r>
                    </a:p>
                  </a:txBody>
                </a:tc>
                <a:tc>
                  <a:txBody>
                    <a:bodyPr/>
                    <a:lstStyle/>
                    <a:p>
                      <a:pPr lvl="0" indent="0" marL="0" algn="l">
                        <a:buNone/>
                      </a:pPr>
                      <a:r>
                        <a:rPr/>
                        <a:t>-244.8</a:t>
                      </a:r>
                    </a:p>
                  </a:txBody>
                </a:tc>
                <a:tc>
                  <a:txBody>
                    <a:bodyPr/>
                    <a:lstStyle/>
                    <a:p>
                      <a:pPr lvl="0" indent="0" marL="0" algn="l">
                        <a:buNone/>
                      </a:pPr>
                      <a:r>
                        <a:rPr/>
                        <a:t>-320.5</a:t>
                      </a:r>
                    </a:p>
                  </a:txBody>
                </a:tc>
                <a:tc>
                  <a:txBody>
                    <a:bodyPr/>
                    <a:lstStyle/>
                    <a:p>
                      <a:pPr lvl="0" indent="0" marL="0" algn="l">
                        <a:buNone/>
                      </a:pPr>
                      <a:r>
                        <a:rPr/>
                        <a:t>-169.1</a:t>
                      </a:r>
                    </a:p>
                  </a:txBody>
                </a:tc>
                <a:tc>
                  <a:txBody>
                    <a:bodyPr/>
                    <a:lstStyle/>
                    <a:p>
                      <a:pPr lvl="0" indent="0" marL="0" algn="l">
                        <a:buNone/>
                      </a:pPr>
                      <a:r>
                        <a:rPr/>
                        <a:t>FALSE</a:t>
                      </a:r>
                    </a:p>
                  </a:txBody>
                </a:tc>
              </a:tr>
              <a:tr h="0">
                <a:tc>
                  <a:txBody>
                    <a:bodyPr/>
                    <a:lstStyle/>
                    <a:p>
                      <a:pPr lvl="0" indent="0" marL="0" algn="l">
                        <a:buNone/>
                      </a:pPr>
                      <a:r>
                        <a:rPr/>
                        <a:t>C3</a:t>
                      </a:r>
                    </a:p>
                  </a:txBody>
                </a:tc>
                <a:tc>
                  <a:txBody>
                    <a:bodyPr/>
                    <a:lstStyle/>
                    <a:p>
                      <a:pPr lvl="0" indent="0" marL="0" algn="l">
                        <a:buNone/>
                      </a:pPr>
                      <a:r>
                        <a:rPr/>
                        <a:t>trimmed_ATE</a:t>
                      </a:r>
                    </a:p>
                  </a:txBody>
                </a:tc>
                <a:tc>
                  <a:txBody>
                    <a:bodyPr/>
                    <a:lstStyle/>
                    <a:p>
                      <a:pPr lvl="0" indent="0" marL="0" algn="l">
                        <a:buNone/>
                      </a:pPr>
                      <a:r>
                        <a:rPr/>
                        <a:t>-242.1</a:t>
                      </a:r>
                    </a:p>
                  </a:txBody>
                </a:tc>
                <a:tc>
                  <a:txBody>
                    <a:bodyPr/>
                    <a:lstStyle/>
                    <a:p>
                      <a:pPr lvl="0" indent="0" marL="0" algn="l">
                        <a:buNone/>
                      </a:pPr>
                      <a:r>
                        <a:rPr/>
                        <a:t>-312.2</a:t>
                      </a:r>
                    </a:p>
                  </a:txBody>
                </a:tc>
                <a:tc>
                  <a:txBody>
                    <a:bodyPr/>
                    <a:lstStyle/>
                    <a:p>
                      <a:pPr lvl="0" indent="0" marL="0" algn="l">
                        <a:buNone/>
                      </a:pPr>
                      <a:r>
                        <a:rPr/>
                        <a:t>-171.9</a:t>
                      </a:r>
                    </a:p>
                  </a:txBody>
                </a:tc>
                <a:tc>
                  <a:txBody>
                    <a:bodyPr/>
                    <a:lstStyle/>
                    <a:p>
                      <a:pPr lvl="0" indent="0" marL="0" algn="l">
                        <a:buNone/>
                      </a:pPr>
                      <a:r>
                        <a:rPr/>
                        <a:t>FALSE</a:t>
                      </a:r>
                    </a:p>
                  </a:txBody>
                </a:tc>
              </a:tr>
              <a:tr h="0">
                <a:tc>
                  <a:txBody>
                    <a:bodyPr/>
                    <a:lstStyle/>
                    <a:p>
                      <a:pPr lvl="0" indent="0" marL="0" algn="l">
                        <a:buNone/>
                      </a:pPr>
                      <a:r>
                        <a:rPr/>
                        <a:t>C3</a:t>
                      </a:r>
                    </a:p>
                  </a:txBody>
                </a:tc>
                <a:tc>
                  <a:txBody>
                    <a:bodyPr/>
                    <a:lstStyle/>
                    <a:p>
                      <a:pPr lvl="0" indent="0" marL="0" algn="l">
                        <a:buNone/>
                      </a:pPr>
                      <a:r>
                        <a:rPr/>
                        <a:t>ATT</a:t>
                      </a:r>
                    </a:p>
                  </a:txBody>
                </a:tc>
                <a:tc>
                  <a:txBody>
                    <a:bodyPr/>
                    <a:lstStyle/>
                    <a:p>
                      <a:pPr lvl="0" indent="0" marL="0" algn="l">
                        <a:buNone/>
                      </a:pPr>
                      <a:r>
                        <a:rPr/>
                        <a:t>-295.8</a:t>
                      </a:r>
                    </a:p>
                  </a:txBody>
                </a:tc>
                <a:tc>
                  <a:txBody>
                    <a:bodyPr/>
                    <a:lstStyle/>
                    <a:p>
                      <a:pPr lvl="0" indent="0" marL="0" algn="l">
                        <a:buNone/>
                      </a:pPr>
                      <a:r>
                        <a:rPr/>
                        <a:t>-381.6</a:t>
                      </a:r>
                    </a:p>
                  </a:txBody>
                </a:tc>
                <a:tc>
                  <a:txBody>
                    <a:bodyPr/>
                    <a:lstStyle/>
                    <a:p>
                      <a:pPr lvl="0" indent="0" marL="0" algn="l">
                        <a:buNone/>
                      </a:pPr>
                      <a:r>
                        <a:rPr/>
                        <a:t>-210.0</a:t>
                      </a:r>
                    </a:p>
                  </a:txBody>
                </a:tc>
                <a:tc>
                  <a:txBody>
                    <a:bodyPr/>
                    <a:lstStyle/>
                    <a:p>
                      <a:pPr lvl="0" indent="0" marL="0" algn="l">
                        <a:buNone/>
                      </a:pPr>
                      <a:r>
                        <a:rPr/>
                        <a:t>FALSE</a:t>
                      </a:r>
                    </a:p>
                  </a:txBody>
                </a:tc>
              </a:tr>
              <a:tr h="0">
                <a:tc>
                  <a:txBody>
                    <a:bodyPr/>
                    <a:lstStyle/>
                    <a:p>
                      <a:pPr lvl="0" indent="0" marL="0" algn="l">
                        <a:buNone/>
                      </a:pPr>
                      <a:r>
                        <a:rPr/>
                        <a:t>C3</a:t>
                      </a:r>
                    </a:p>
                  </a:txBody>
                </a:tc>
                <a:tc>
                  <a:txBody>
                    <a:bodyPr/>
                    <a:lstStyle/>
                    <a:p>
                      <a:pPr lvl="0" indent="0" marL="0" algn="l">
                        <a:buNone/>
                      </a:pPr>
                      <a:r>
                        <a:rPr/>
                        <a:t>ATO</a:t>
                      </a:r>
                    </a:p>
                  </a:txBody>
                </a:tc>
                <a:tc>
                  <a:txBody>
                    <a:bodyPr/>
                    <a:lstStyle/>
                    <a:p>
                      <a:pPr lvl="0" indent="0" marL="0" algn="l">
                        <a:buNone/>
                      </a:pPr>
                      <a:r>
                        <a:rPr/>
                        <a:t>-248.2</a:t>
                      </a:r>
                    </a:p>
                  </a:txBody>
                </a:tc>
                <a:tc>
                  <a:txBody>
                    <a:bodyPr/>
                    <a:lstStyle/>
                    <a:p>
                      <a:pPr lvl="0" indent="0" marL="0" algn="l">
                        <a:buNone/>
                      </a:pPr>
                      <a:r>
                        <a:rPr/>
                        <a:t>-316.7</a:t>
                      </a:r>
                    </a:p>
                  </a:txBody>
                </a:tc>
                <a:tc>
                  <a:txBody>
                    <a:bodyPr/>
                    <a:lstStyle/>
                    <a:p>
                      <a:pPr lvl="0" indent="0" marL="0" algn="l">
                        <a:buNone/>
                      </a:pPr>
                      <a:r>
                        <a:rPr/>
                        <a:t>-179.7</a:t>
                      </a:r>
                    </a:p>
                  </a:txBody>
                </a:tc>
                <a:tc>
                  <a:txBody>
                    <a:bodyPr/>
                    <a:lstStyle/>
                    <a:p>
                      <a:pPr lvl="0" indent="0" marL="0" algn="l">
                        <a:buNone/>
                      </a:pPr>
                      <a:r>
                        <a:rPr/>
                        <a:t>FALSE</a:t>
                      </a:r>
                    </a:p>
                  </a:txBody>
                </a:tc>
              </a:tr>
              <a:tr h="0">
                <a:tc>
                  <a:txBody>
                    <a:bodyPr/>
                    <a:lstStyle/>
                    <a:p>
                      <a:pPr lvl="0" indent="0" marL="0" algn="l">
                        <a:buNone/>
                      </a:pPr>
                      <a:r>
                        <a:rPr/>
                        <a:t>C4</a:t>
                      </a:r>
                    </a:p>
                  </a:txBody>
                </a:tc>
                <a:tc>
                  <a:txBody>
                    <a:bodyPr/>
                    <a:lstStyle/>
                    <a:p>
                      <a:pPr lvl="0" indent="0" marL="0" algn="l">
                        <a:buNone/>
                      </a:pPr>
                      <a:r>
                        <a:rPr/>
                        <a:t>ATE</a:t>
                      </a:r>
                    </a:p>
                  </a:txBody>
                </a:tc>
                <a:tc>
                  <a:txBody>
                    <a:bodyPr/>
                    <a:lstStyle/>
                    <a:p>
                      <a:pPr lvl="0" indent="0" marL="0" algn="l">
                        <a:buNone/>
                      </a:pPr>
                      <a:r>
                        <a:rPr/>
                        <a:t>-204.7</a:t>
                      </a:r>
                    </a:p>
                  </a:txBody>
                </a:tc>
                <a:tc>
                  <a:txBody>
                    <a:bodyPr/>
                    <a:lstStyle/>
                    <a:p>
                      <a:pPr lvl="0" indent="0" marL="0" algn="l">
                        <a:buNone/>
                      </a:pPr>
                      <a:r>
                        <a:rPr/>
                        <a:t>-284.0</a:t>
                      </a:r>
                    </a:p>
                  </a:txBody>
                </a:tc>
                <a:tc>
                  <a:txBody>
                    <a:bodyPr/>
                    <a:lstStyle/>
                    <a:p>
                      <a:pPr lvl="0" indent="0" marL="0" algn="l">
                        <a:buNone/>
                      </a:pPr>
                      <a:r>
                        <a:rPr/>
                        <a:t>-125.3</a:t>
                      </a:r>
                    </a:p>
                  </a:txBody>
                </a:tc>
                <a:tc>
                  <a:txBody>
                    <a:bodyPr/>
                    <a:lstStyle/>
                    <a:p>
                      <a:pPr lvl="0" indent="0" marL="0" algn="l">
                        <a:buNone/>
                      </a:pPr>
                      <a:r>
                        <a:rPr/>
                        <a:t>FALSE</a:t>
                      </a:r>
                    </a:p>
                  </a:txBody>
                </a:tc>
              </a:tr>
              <a:tr h="0">
                <a:tc>
                  <a:txBody>
                    <a:bodyPr/>
                    <a:lstStyle/>
                    <a:p>
                      <a:pPr lvl="0" indent="0" marL="0" algn="l">
                        <a:buNone/>
                      </a:pPr>
                      <a:r>
                        <a:rPr/>
                        <a:t>C4</a:t>
                      </a:r>
                    </a:p>
                  </a:txBody>
                </a:tc>
                <a:tc>
                  <a:txBody>
                    <a:bodyPr/>
                    <a:lstStyle/>
                    <a:p>
                      <a:pPr lvl="0" indent="0" marL="0" algn="l">
                        <a:buNone/>
                      </a:pPr>
                      <a:r>
                        <a:rPr/>
                        <a:t>trimmed_ATE</a:t>
                      </a:r>
                    </a:p>
                  </a:txBody>
                </a:tc>
                <a:tc>
                  <a:txBody>
                    <a:bodyPr/>
                    <a:lstStyle/>
                    <a:p>
                      <a:pPr lvl="0" indent="0" marL="0" algn="l">
                        <a:buNone/>
                      </a:pPr>
                      <a:r>
                        <a:rPr/>
                        <a:t>-134.3</a:t>
                      </a:r>
                    </a:p>
                  </a:txBody>
                </a:tc>
                <a:tc>
                  <a:txBody>
                    <a:bodyPr/>
                    <a:lstStyle/>
                    <a:p>
                      <a:pPr lvl="0" indent="0" marL="0" algn="l">
                        <a:buNone/>
                      </a:pPr>
                      <a:r>
                        <a:rPr/>
                        <a:t>-220.6</a:t>
                      </a:r>
                    </a:p>
                  </a:txBody>
                </a:tc>
                <a:tc>
                  <a:txBody>
                    <a:bodyPr/>
                    <a:lstStyle/>
                    <a:p>
                      <a:pPr lvl="0" indent="0" marL="0" algn="l">
                        <a:buNone/>
                      </a:pPr>
                      <a:r>
                        <a:rPr/>
                        <a:t>-48.0</a:t>
                      </a:r>
                    </a:p>
                  </a:txBody>
                </a:tc>
                <a:tc>
                  <a:txBody>
                    <a:bodyPr/>
                    <a:lstStyle/>
                    <a:p>
                      <a:pPr lvl="0" indent="0" marL="0" algn="l">
                        <a:buNone/>
                      </a:pPr>
                      <a:r>
                        <a:rPr/>
                        <a:t>FALSE</a:t>
                      </a:r>
                    </a:p>
                  </a:txBody>
                </a:tc>
              </a:tr>
              <a:tr h="0">
                <a:tc>
                  <a:txBody>
                    <a:bodyPr/>
                    <a:lstStyle/>
                    <a:p>
                      <a:pPr lvl="0" indent="0" marL="0" algn="l">
                        <a:buNone/>
                      </a:pPr>
                      <a:r>
                        <a:rPr/>
                        <a:t>C4</a:t>
                      </a:r>
                    </a:p>
                  </a:txBody>
                </a:tc>
                <a:tc>
                  <a:txBody>
                    <a:bodyPr/>
                    <a:lstStyle/>
                    <a:p>
                      <a:pPr lvl="0" indent="0" marL="0" algn="l">
                        <a:buNone/>
                      </a:pPr>
                      <a:r>
                        <a:rPr/>
                        <a:t>ATT</a:t>
                      </a:r>
                    </a:p>
                  </a:txBody>
                </a:tc>
                <a:tc>
                  <a:txBody>
                    <a:bodyPr/>
                    <a:lstStyle/>
                    <a:p>
                      <a:pPr lvl="0" indent="0" marL="0" algn="l">
                        <a:buNone/>
                      </a:pPr>
                      <a:r>
                        <a:rPr/>
                        <a:t>-99.7</a:t>
                      </a:r>
                    </a:p>
                  </a:txBody>
                </a:tc>
                <a:tc>
                  <a:txBody>
                    <a:bodyPr/>
                    <a:lstStyle/>
                    <a:p>
                      <a:pPr lvl="0" indent="0" marL="0" algn="l">
                        <a:buNone/>
                      </a:pPr>
                      <a:r>
                        <a:rPr/>
                        <a:t>-158.9</a:t>
                      </a:r>
                    </a:p>
                  </a:txBody>
                </a:tc>
                <a:tc>
                  <a:txBody>
                    <a:bodyPr/>
                    <a:lstStyle/>
                    <a:p>
                      <a:pPr lvl="0" indent="0" marL="0" algn="l">
                        <a:buNone/>
                      </a:pPr>
                      <a:r>
                        <a:rPr/>
                        <a:t>-40.5</a:t>
                      </a:r>
                    </a:p>
                  </a:txBody>
                </a:tc>
                <a:tc>
                  <a:txBody>
                    <a:bodyPr/>
                    <a:lstStyle/>
                    <a:p>
                      <a:pPr lvl="0" indent="0" marL="0" algn="l">
                        <a:buNone/>
                      </a:pPr>
                      <a:r>
                        <a:rPr/>
                        <a:t>FALSE</a:t>
                      </a:r>
                    </a:p>
                  </a:txBody>
                </a:tc>
              </a:tr>
              <a:tr h="0">
                <a:tc>
                  <a:txBody>
                    <a:bodyPr/>
                    <a:lstStyle/>
                    <a:p>
                      <a:pPr lvl="0" indent="0" marL="0" algn="l">
                        <a:buNone/>
                      </a:pPr>
                      <a:r>
                        <a:rPr/>
                        <a:t>C4</a:t>
                      </a:r>
                    </a:p>
                  </a:txBody>
                </a:tc>
                <a:tc>
                  <a:txBody>
                    <a:bodyPr/>
                    <a:lstStyle/>
                    <a:p>
                      <a:pPr lvl="0" indent="0" marL="0" algn="l">
                        <a:buNone/>
                      </a:pPr>
                      <a:r>
                        <a:rPr/>
                        <a:t>ATO</a:t>
                      </a:r>
                    </a:p>
                  </a:txBody>
                </a:tc>
                <a:tc>
                  <a:txBody>
                    <a:bodyPr/>
                    <a:lstStyle/>
                    <a:p>
                      <a:pPr lvl="0" indent="0" marL="0" algn="l">
                        <a:buNone/>
                      </a:pPr>
                      <a:r>
                        <a:rPr/>
                        <a:t>-89.7</a:t>
                      </a:r>
                    </a:p>
                  </a:txBody>
                </a:tc>
                <a:tc>
                  <a:txBody>
                    <a:bodyPr/>
                    <a:lstStyle/>
                    <a:p>
                      <a:pPr lvl="0" indent="0" marL="0" algn="l">
                        <a:buNone/>
                      </a:pPr>
                      <a:r>
                        <a:rPr/>
                        <a:t>-165.8</a:t>
                      </a:r>
                    </a:p>
                  </a:txBody>
                </a:tc>
                <a:tc>
                  <a:txBody>
                    <a:bodyPr/>
                    <a:lstStyle/>
                    <a:p>
                      <a:pPr lvl="0" indent="0" marL="0" algn="l">
                        <a:buNone/>
                      </a:pPr>
                      <a:r>
                        <a:rPr/>
                        <a:t>-13.6</a:t>
                      </a:r>
                    </a:p>
                  </a:txBody>
                </a:tc>
                <a:tc>
                  <a:txBody>
                    <a:bodyPr/>
                    <a:lstStyle/>
                    <a:p>
                      <a:pPr lvl="0" indent="0" marL="0" algn="l">
                        <a:buNone/>
                      </a:pPr>
                      <a:r>
                        <a:rPr/>
                        <a:t>FALSE</a:t>
                      </a:r>
                    </a:p>
                  </a:txBody>
                </a:tc>
              </a:tr>
              <a:tr h="0">
                <a:tc>
                  <a:txBody>
                    <a:bodyPr/>
                    <a:lstStyle/>
                    <a:p>
                      <a:pPr lvl="0" indent="0" marL="0" algn="l">
                        <a:buNone/>
                      </a:pPr>
                      <a:r>
                        <a:rPr/>
                        <a:t>PRIMARY</a:t>
                      </a:r>
                    </a:p>
                  </a:txBody>
                </a:tc>
                <a:tc>
                  <a:txBody>
                    <a:bodyPr/>
                    <a:lstStyle/>
                    <a:p>
                      <a:pPr lvl="0" indent="0" marL="0" algn="l">
                        <a:buNone/>
                      </a:pPr>
                      <a:r>
                        <a:rPr/>
                        <a:t>ATE</a:t>
                      </a:r>
                    </a:p>
                  </a:txBody>
                </a:tc>
                <a:tc>
                  <a:txBody>
                    <a:bodyPr/>
                    <a:lstStyle/>
                    <a:p>
                      <a:pPr lvl="0" indent="0" marL="0" algn="l">
                        <a:buNone/>
                      </a:pPr>
                      <a:r>
                        <a:rPr/>
                        <a:t>-0.1</a:t>
                      </a:r>
                    </a:p>
                  </a:txBody>
                </a:tc>
                <a:tc>
                  <a:txBody>
                    <a:bodyPr/>
                    <a:lstStyle/>
                    <a:p>
                      <a:pPr lvl="0" indent="0" marL="0" algn="l">
                        <a:buNone/>
                      </a:pPr>
                      <a:r>
                        <a:rPr/>
                        <a:t>-31.6</a:t>
                      </a:r>
                    </a:p>
                  </a:txBody>
                </a:tc>
                <a:tc>
                  <a:txBody>
                    <a:bodyPr/>
                    <a:lstStyle/>
                    <a:p>
                      <a:pPr lvl="0" indent="0" marL="0" algn="l">
                        <a:buNone/>
                      </a:pPr>
                      <a:r>
                        <a:rPr/>
                        <a:t>31.5</a:t>
                      </a:r>
                    </a:p>
                  </a:txBody>
                </a:tc>
                <a:tc>
                  <a:txBody>
                    <a:bodyPr/>
                    <a:lstStyle/>
                    <a:p>
                      <a:pPr lvl="0" indent="0" marL="0" algn="l">
                        <a:buNone/>
                      </a:pPr>
                      <a:r>
                        <a:rPr/>
                        <a:t>FALSE</a:t>
                      </a:r>
                    </a:p>
                  </a:txBody>
                </a:tc>
              </a:tr>
              <a:tr h="0">
                <a:tc>
                  <a:txBody>
                    <a:bodyPr/>
                    <a:lstStyle/>
                    <a:p>
                      <a:pPr lvl="0" indent="0" marL="0" algn="l">
                        <a:buNone/>
                      </a:pPr>
                      <a:r>
                        <a:rPr/>
                        <a:t>PRIMARY</a:t>
                      </a:r>
                    </a:p>
                  </a:txBody>
                </a:tc>
                <a:tc>
                  <a:txBody>
                    <a:bodyPr/>
                    <a:lstStyle/>
                    <a:p>
                      <a:pPr lvl="0" indent="0" marL="0" algn="l">
                        <a:buNone/>
                      </a:pPr>
                      <a:r>
                        <a:rPr/>
                        <a:t>trimmed_ATE</a:t>
                      </a:r>
                    </a:p>
                  </a:txBody>
                </a:tc>
                <a:tc>
                  <a:txBody>
                    <a:bodyPr/>
                    <a:lstStyle/>
                    <a:p>
                      <a:pPr lvl="0" indent="0" marL="0" algn="l">
                        <a:buNone/>
                      </a:pPr>
                      <a:r>
                        <a:rPr/>
                        <a:t>-2.8</a:t>
                      </a:r>
                    </a:p>
                  </a:txBody>
                </a:tc>
                <a:tc>
                  <a:txBody>
                    <a:bodyPr/>
                    <a:lstStyle/>
                    <a:p>
                      <a:pPr lvl="0" indent="0" marL="0" algn="l">
                        <a:buNone/>
                      </a:pPr>
                      <a:r>
                        <a:rPr/>
                        <a:t>-34.4</a:t>
                      </a:r>
                    </a:p>
                  </a:txBody>
                </a:tc>
                <a:tc>
                  <a:txBody>
                    <a:bodyPr/>
                    <a:lstStyle/>
                    <a:p>
                      <a:pPr lvl="0" indent="0" marL="0" algn="l">
                        <a:buNone/>
                      </a:pPr>
                      <a:r>
                        <a:rPr/>
                        <a:t>28.7</a:t>
                      </a:r>
                    </a:p>
                  </a:txBody>
                </a:tc>
                <a:tc>
                  <a:txBody>
                    <a:bodyPr/>
                    <a:lstStyle/>
                    <a:p>
                      <a:pPr lvl="0" indent="0" marL="0" algn="l">
                        <a:buNone/>
                      </a:pPr>
                      <a:r>
                        <a:rPr/>
                        <a:t>FALSE</a:t>
                      </a:r>
                    </a:p>
                  </a:txBody>
                </a:tc>
              </a:tr>
              <a:tr h="0">
                <a:tc>
                  <a:txBody>
                    <a:bodyPr/>
                    <a:lstStyle/>
                    <a:p>
                      <a:pPr lvl="0" indent="0" marL="0" algn="l">
                        <a:buNone/>
                      </a:pPr>
                      <a:r>
                        <a:rPr/>
                        <a:t>PRIMARY</a:t>
                      </a:r>
                    </a:p>
                  </a:txBody>
                </a:tc>
                <a:tc>
                  <a:txBody>
                    <a:bodyPr/>
                    <a:lstStyle/>
                    <a:p>
                      <a:pPr lvl="0" indent="0" marL="0" algn="l">
                        <a:buNone/>
                      </a:pPr>
                      <a:r>
                        <a:rPr/>
                        <a:t>ATT</a:t>
                      </a:r>
                    </a:p>
                  </a:txBody>
                </a:tc>
                <a:tc>
                  <a:txBody>
                    <a:bodyPr/>
                    <a:lstStyle/>
                    <a:p>
                      <a:pPr lvl="0" indent="0" marL="0" algn="l">
                        <a:buNone/>
                      </a:pPr>
                      <a:r>
                        <a:rPr/>
                        <a:t>-4.0</a:t>
                      </a:r>
                    </a:p>
                  </a:txBody>
                </a:tc>
                <a:tc>
                  <a:txBody>
                    <a:bodyPr/>
                    <a:lstStyle/>
                    <a:p>
                      <a:pPr lvl="0" indent="0" marL="0" algn="l">
                        <a:buNone/>
                      </a:pPr>
                      <a:r>
                        <a:rPr/>
                        <a:t>-35.1</a:t>
                      </a:r>
                    </a:p>
                  </a:txBody>
                </a:tc>
                <a:tc>
                  <a:txBody>
                    <a:bodyPr/>
                    <a:lstStyle/>
                    <a:p>
                      <a:pPr lvl="0" indent="0" marL="0" algn="l">
                        <a:buNone/>
                      </a:pPr>
                      <a:r>
                        <a:rPr/>
                        <a:t>27.1</a:t>
                      </a:r>
                    </a:p>
                  </a:txBody>
                </a:tc>
                <a:tc>
                  <a:txBody>
                    <a:bodyPr/>
                    <a:lstStyle/>
                    <a:p>
                      <a:pPr lvl="0" indent="0" marL="0" algn="l">
                        <a:buNone/>
                      </a:pPr>
                      <a:r>
                        <a:rPr/>
                        <a:t>FALSE</a:t>
                      </a:r>
                    </a:p>
                  </a:txBody>
                </a:tc>
              </a:tr>
              <a:tr h="0">
                <a:tc>
                  <a:txBody>
                    <a:bodyPr/>
                    <a:lstStyle/>
                    <a:p>
                      <a:pPr lvl="0" indent="0" marL="0" algn="l">
                        <a:buNone/>
                      </a:pPr>
                      <a:r>
                        <a:rPr/>
                        <a:t>PRIMARY</a:t>
                      </a:r>
                    </a:p>
                  </a:txBody>
                </a:tc>
                <a:tc>
                  <a:txBody>
                    <a:bodyPr/>
                    <a:lstStyle/>
                    <a:p>
                      <a:pPr lvl="0" indent="0" marL="0" algn="l">
                        <a:buNone/>
                      </a:pPr>
                      <a:r>
                        <a:rPr/>
                        <a:t>ATO</a:t>
                      </a:r>
                    </a:p>
                  </a:txBody>
                </a:tc>
                <a:tc>
                  <a:txBody>
                    <a:bodyPr/>
                    <a:lstStyle/>
                    <a:p>
                      <a:pPr lvl="0" indent="0" marL="0" algn="l">
                        <a:buNone/>
                      </a:pPr>
                      <a:r>
                        <a:rPr/>
                        <a:t>2.6</a:t>
                      </a:r>
                    </a:p>
                  </a:txBody>
                </a:tc>
                <a:tc>
                  <a:txBody>
                    <a:bodyPr/>
                    <a:lstStyle/>
                    <a:p>
                      <a:pPr lvl="0" indent="0" marL="0" algn="l">
                        <a:buNone/>
                      </a:pPr>
                      <a:r>
                        <a:rPr/>
                        <a:t>-34.4</a:t>
                      </a:r>
                    </a:p>
                  </a:txBody>
                </a:tc>
                <a:tc>
                  <a:txBody>
                    <a:bodyPr/>
                    <a:lstStyle/>
                    <a:p>
                      <a:pPr lvl="0" indent="0" marL="0" algn="l">
                        <a:buNone/>
                      </a:pPr>
                      <a:r>
                        <a:rPr/>
                        <a:t>39.6</a:t>
                      </a:r>
                    </a:p>
                  </a:txBody>
                </a:tc>
                <a:tc>
                  <a:txBody>
                    <a:bodyPr/>
                    <a:lstStyle/>
                    <a:p>
                      <a:pPr lvl="0" indent="0" marL="0" algn="l">
                        <a:buNone/>
                      </a:pPr>
                      <a:r>
                        <a:rPr/>
                        <a:t>FALSE</a:t>
                      </a:r>
                    </a:p>
                  </a:txBody>
                </a:tc>
              </a:tr>
            </a:tbl>
          </a:graphicData>
        </a:graphic>
      </p:graphicFrame>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Time to arrival once returned +14,637 minutes. Down the ladder, the bounded estimands agree that Rescue.Co arrives three to four and a half hours sooner, the override-only ATE row shows its strain in the interval width, and the implausibility guard checks every row against the raw arm summaries. Any one of its checks would have caught the original failure.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simulation trap, on real data</a:t>
            </a:r>
          </a:p>
        </p:txBody>
      </p:sp>
      <p:pic>
        <p:nvPicPr>
          <p:cNvPr descr="cleanTMLE_presentation_files/figure-pptx/fig-designcmp-1.png" id="0" name="Picture 1"/>
          <p:cNvPicPr>
            <a:picLocks noGrp="1" noChangeAspect="1"/>
          </p:cNvPicPr>
          <p:nvPr/>
        </p:nvPicPr>
        <p:blipFill>
          <a:blip r:embed="rId2"/>
          <a:stretch>
            <a:fillRect/>
          </a:stretch>
        </p:blipFill>
        <p:spPr bwMode="auto">
          <a:xfrm>
            <a:off x="1384300" y="1193800"/>
            <a:ext cx="6375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5: Coverage under the stressed outcome surface, 200 replicates per design. Keeping the observed treatment degrades every estimand, on the sound design too.</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 support map built on the kept-treatment design would declare sound designs infeasible. It manufactures the failure it was asked to detect.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workflow audited its own earlier mistake</a:t>
            </a:r>
          </a:p>
        </p:txBody>
      </p:sp>
      <p:sp>
        <p:nvSpPr>
          <p:cNvPr id="3" name="Content Placeholder 2"/>
          <p:cNvSpPr>
            <a:spLocks noGrp="1"/>
          </p:cNvSpPr>
          <p:nvPr>
            <p:ph idx="1"/>
          </p:nvPr>
        </p:nvSpPr>
        <p:spPr/>
        <p:txBody>
          <a:bodyPr/>
          <a:lstStyle/>
          <a:p>
            <a:pPr lvl="0" indent="0" marL="0">
              <a:buNone/>
            </a:pPr>
            <a:r>
              <a:rPr/>
              <a:t>The earlier single-contrast run had a design flaw. Its primary outcome was the common category of a 92%-prevalence dichotomy, the cohort-adequacy check recorded a stop, and the pipeline proceeded through an unlogged override.</a:t>
            </a:r>
          </a:p>
          <a:p>
            <a:pPr lvl="0" indent="0" marL="0">
              <a:buNone/>
            </a:pPr>
            <a:r>
              <a:rPr/>
              <a:t>The rebuild’s reconciliation surfaced this because the record kept both entries, the stop and the estimate, with nothing between them. The fix went to the design: mortality became the primary outcome, and overrides now require a logged reason. The record makes gaps findable, including the workflow’s own.</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a reviewer reads the case study</a:t>
            </a:r>
          </a:p>
        </p:txBody>
      </p:sp>
      <p:sp>
        <p:nvSpPr>
          <p:cNvPr id="3" name="Content Placeholder 2"/>
          <p:cNvSpPr>
            <a:spLocks noGrp="1"/>
          </p:cNvSpPr>
          <p:nvPr>
            <p:ph idx="1"/>
          </p:nvPr>
        </p:nvSpPr>
        <p:spPr/>
        <p:txBody>
          <a:bodyPr/>
          <a:lstStyle/>
          <a:p>
            <a:pPr lvl="0"/>
            <a:r>
              <a:rPr/>
              <a:t>Every verdict, declaration, and switch was fixed and logged before the outcome store was joined.</a:t>
            </a:r>
          </a:p>
          <a:p>
            <a:pPr lvl="0"/>
            <a:r>
              <a:rPr/>
              <a:t>The protocol’s primary comparison was refused on the record, with the evidence attached, and the reported estimands are labelled with the populations they describe.</a:t>
            </a:r>
          </a:p>
          <a:p>
            <a:pPr lvl="0"/>
            <a:r>
              <a:rPr/>
              <a:t>Where the two pipelines are comparable, the clean-room estimates agree with the parallel unblinded analysis to within fractions of a standard error, tracked row by row in a released reconciliation table.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5. Where this sits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Side by side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079500"/>
                <a:gridCol w="1790700"/>
                <a:gridCol w="1790700"/>
                <a:gridCol w="1790700"/>
                <a:gridCol w="1790700"/>
              </a:tblGrid>
              <a:tr h="0">
                <a:tc>
                  <a:txBody>
                    <a:bodyPr/>
                    <a:lstStyle/>
                    <a:p>
                      <a:pPr lvl="0" indent="0" marL="0">
                        <a:buNone/>
                      </a:pPr>
                      <a:r>
                        <a:rPr/>
                        <a:t>Feature</a:t>
                      </a:r>
                    </a:p>
                  </a:txBody>
                  <a:tcPr/>
                </a:tc>
                <a:tc>
                  <a:txBody>
                    <a:bodyPr/>
                    <a:lstStyle/>
                    <a:p>
                      <a:pPr lvl="0" indent="0" marL="0" algn="ctr">
                        <a:buNone/>
                      </a:pPr>
                      <a:r>
                        <a:rPr/>
                        <a:t>TMLE packages</a:t>
                      </a:r>
                    </a:p>
                  </a:txBody>
                  <a:tcPr/>
                </a:tc>
                <a:tc>
                  <a:txBody>
                    <a:bodyPr/>
                    <a:lstStyle/>
                    <a:p>
                      <a:pPr lvl="0" indent="0" marL="0" algn="ctr">
                        <a:buNone/>
                      </a:pPr>
                      <a:r>
                        <a:rPr/>
                        <a:t>causalRisk</a:t>
                      </a:r>
                    </a:p>
                  </a:txBody>
                  <a:tcPr/>
                </a:tc>
                <a:tc>
                  <a:txBody>
                    <a:bodyPr/>
                    <a:lstStyle/>
                    <a:p>
                      <a:pPr lvl="0" indent="0" marL="0" algn="ctr">
                        <a:buNone/>
                      </a:pPr>
                      <a:r>
                        <a:rPr/>
                        <a:t>Clean-room papers</a:t>
                      </a:r>
                    </a:p>
                  </a:txBody>
                  <a:tcPr/>
                </a:tc>
                <a:tc>
                  <a:txBody>
                    <a:bodyPr/>
                    <a:lstStyle/>
                    <a:p>
                      <a:pPr lvl="0" indent="0" marL="0" algn="ctr">
                        <a:buNone/>
                      </a:pPr>
                      <a:r>
                        <a:rPr/>
                        <a:t>cleanTMLE</a:t>
                      </a:r>
                    </a:p>
                  </a:txBody>
                  <a:tcPr/>
                </a:tc>
              </a:tr>
              <a:tr h="0">
                <a:tc>
                  <a:txBody>
                    <a:bodyPr/>
                    <a:lstStyle/>
                    <a:p>
                      <a:pPr lvl="0" indent="0" marL="0">
                        <a:buNone/>
                      </a:pPr>
                      <a:r>
                        <a:rPr/>
                        <a:t>Targeted-learning estimation</a:t>
                      </a:r>
                    </a:p>
                  </a:txBody>
                </a:tc>
                <a:tc>
                  <a:txBody>
                    <a:bodyPr/>
                    <a:lstStyle/>
                    <a:p>
                      <a:pPr lvl="0" indent="0" marL="0" algn="ctr">
                        <a:buNone/>
                      </a:pPr>
                      <a:r>
                        <a:rPr/>
                        <a:t>yes</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yes</a:t>
                      </a:r>
                    </a:p>
                  </a:txBody>
                </a:tc>
              </a:tr>
              <a:tr h="0">
                <a:tc>
                  <a:txBody>
                    <a:bodyPr/>
                    <a:lstStyle/>
                    <a:p>
                      <a:pPr lvl="0" indent="0" marL="0">
                        <a:buNone/>
                      </a:pPr>
                      <a:r>
                        <a:rPr/>
                        <a:t>Cohort grammar, cumulative-risk reporting</a:t>
                      </a:r>
                    </a:p>
                  </a:txBody>
                </a:tc>
                <a:tc>
                  <a:txBody>
                    <a:bodyPr/>
                    <a:lstStyle/>
                    <a:p>
                      <a:pPr lvl="0" indent="0" marL="0" algn="ctr">
                        <a:buNone/>
                      </a:pPr>
                      <a:r>
                        <a:rPr/>
                        <a:t>partial</a:t>
                      </a:r>
                    </a:p>
                  </a:txBody>
                </a:tc>
                <a:tc>
                  <a:txBody>
                    <a:bodyPr/>
                    <a:lstStyle/>
                    <a:p>
                      <a:pPr lvl="0" indent="0" marL="0" algn="ctr">
                        <a:buNone/>
                      </a:pPr>
                      <a:r>
                        <a:rPr/>
                        <a:t>yes</a:t>
                      </a:r>
                    </a:p>
                  </a:txBody>
                </a:tc>
                <a:tc>
                  <a:txBody>
                    <a:bodyPr/>
                    <a:lstStyle/>
                    <a:p>
                      <a:pPr lvl="0" indent="0" marL="0" algn="ctr">
                        <a:buNone/>
                      </a:pPr>
                      <a:r>
                        <a:rPr/>
                        <a:t>–</a:t>
                      </a:r>
                    </a:p>
                  </a:txBody>
                </a:tc>
                <a:tc>
                  <a:txBody>
                    <a:bodyPr/>
                    <a:lstStyle/>
                    <a:p>
                      <a:pPr lvl="0" indent="0" marL="0" algn="ctr">
                        <a:buNone/>
                      </a:pPr>
                      <a:r>
                        <a:rPr/>
                        <a:t>yes</a:t>
                      </a:r>
                    </a:p>
                  </a:txBody>
                </a:tc>
              </a:tr>
              <a:tr h="0">
                <a:tc>
                  <a:txBody>
                    <a:bodyPr/>
                    <a:lstStyle/>
                    <a:p>
                      <a:pPr lvl="0" indent="0" marL="0">
                        <a:buNone/>
                      </a:pPr>
                      <a:r>
                        <a:rPr/>
                        <a:t>Graded support verdict, per-estimand feasibility</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yes</a:t>
                      </a:r>
                    </a:p>
                  </a:txBody>
                </a:tc>
              </a:tr>
              <a:tr h="0">
                <a:tc>
                  <a:txBody>
                    <a:bodyPr/>
                    <a:lstStyle/>
                    <a:p>
                      <a:pPr lvl="0" indent="0" marL="0">
                        <a:buNone/>
                      </a:pPr>
                      <a:r>
                        <a:rPr/>
                        <a:t>Pre-registered estimand ladder, logged switching</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yes</a:t>
                      </a:r>
                    </a:p>
                  </a:txBody>
                </a:tc>
              </a:tr>
              <a:tr h="0">
                <a:tc>
                  <a:txBody>
                    <a:bodyPr/>
                    <a:lstStyle/>
                    <a:p>
                      <a:pPr lvl="0" indent="0" marL="0">
                        <a:buNone/>
                      </a:pPr>
                      <a:r>
                        <a:rPr/>
                        <a:t>Outcome-blind support map</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yes</a:t>
                      </a:r>
                    </a:p>
                  </a:txBody>
                </a:tc>
              </a:tr>
              <a:tr h="0">
                <a:tc>
                  <a:txBody>
                    <a:bodyPr/>
                    <a:lstStyle/>
                    <a:p>
                      <a:pPr lvl="0" indent="0" marL="0">
                        <a:buNone/>
                      </a:pPr>
                      <a:r>
                        <a:rPr/>
                        <a:t>Plasmode candidate selection, DQ stress test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yes</a:t>
                      </a:r>
                    </a:p>
                  </a:txBody>
                </a:tc>
              </a:tr>
              <a:tr h="0">
                <a:tc>
                  <a:txBody>
                    <a:bodyPr/>
                    <a:lstStyle/>
                    <a:p>
                      <a:pPr lvl="0" indent="0" marL="0">
                        <a:buNone/>
                      </a:pPr>
                      <a:r>
                        <a:rPr/>
                        <a:t>Fingerprinted lock and design log</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guidance</a:t>
                      </a:r>
                    </a:p>
                  </a:txBody>
                </a:tc>
                <a:tc>
                  <a:txBody>
                    <a:bodyPr/>
                    <a:lstStyle/>
                    <a:p>
                      <a:pPr lvl="0" indent="0" marL="0" algn="ctr">
                        <a:buNone/>
                      </a:pPr>
                      <a:r>
                        <a:rPr/>
                        <a:t>yes</a:t>
                      </a:r>
                    </a:p>
                  </a:txBody>
                </a:tc>
              </a:tr>
            </a:tbl>
          </a:graphicData>
        </a:graphic>
      </p:graphicFrame>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TMLE estimation is a decade old; the staged idea is published guidance. The new part is answering the estimability question inside the blind phase, with the record to prove when it was answered.</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to use it, and its limits</a:t>
            </a:r>
          </a:p>
        </p:txBody>
      </p:sp>
      <p:sp>
        <p:nvSpPr>
          <p:cNvPr id="3" name="Content Placeholder 2"/>
          <p:cNvSpPr>
            <a:spLocks noGrp="1"/>
          </p:cNvSpPr>
          <p:nvPr>
            <p:ph idx="1"/>
          </p:nvPr>
        </p:nvSpPr>
        <p:spPr/>
        <p:txBody>
          <a:bodyPr/>
          <a:lstStyle/>
          <a:p>
            <a:pPr lvl="0" indent="0" marL="0">
              <a:buNone/>
            </a:pPr>
            <a:r>
              <a:rPr/>
              <a:t>Use it when a reviewer will ask whether a decision was made before you saw the answer: estimator and estimand choices in observational studies, SAP development, real-world evidence work.</a:t>
            </a:r>
          </a:p>
          <a:p>
            <a:pPr lvl="0" indent="0" marL="0">
              <a:buNone/>
            </a:pPr>
            <a:r>
              <a:rPr/>
              <a:t>It does not automate design, validate data or phenotypes, guarantee assumptions, or replace negative controls and post-outcome sensitivity analysis. For confirmatory studies it belongs inside institutional governance, with role separation and independent review. An </a:t>
            </a:r>
            <a:r>
              <a:rPr>
                <a:latin typeface="Courier"/>
              </a:rPr>
              <a:t>enforce = TRUE</a:t>
            </a:r>
            <a:r>
              <a:rPr/>
              <a:t> mode withholds estimation until a recorded design review, where institutions want that in software.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I want input</a:t>
            </a:r>
          </a:p>
        </p:txBody>
      </p:sp>
      <p:sp>
        <p:nvSpPr>
          <p:cNvPr id="3" name="Content Placeholder 2"/>
          <p:cNvSpPr>
            <a:spLocks noGrp="1"/>
          </p:cNvSpPr>
          <p:nvPr>
            <p:ph idx="1"/>
          </p:nvPr>
        </p:nvSpPr>
        <p:spPr/>
        <p:txBody>
          <a:bodyPr/>
          <a:lstStyle/>
          <a:p>
            <a:pPr lvl="0" indent="-342900" marL="342900">
              <a:buAutoNum type="arabicPeriod"/>
            </a:pPr>
            <a:r>
              <a:rPr/>
              <a:t>The harshest support-map surfaces behave like strong unmeasured confounding, so a whole-grid pass rule conflates two threats. How should the plausible region be elicited and pre-registered?</a:t>
            </a:r>
          </a:p>
          <a:p>
            <a:pPr lvl="0" indent="-342900" marL="342900">
              <a:buAutoNum type="arabicPeriod"/>
            </a:pPr>
            <a:r>
              <a:rPr/>
              <a:t>Is SEVERE the right default trigger, and trimmed ATE, ATT, ATO the right default order?</a:t>
            </a:r>
          </a:p>
          <a:p>
            <a:pPr lvl="0" indent="-342900" marL="342900">
              <a:buAutoNum type="arabicPeriod"/>
            </a:pPr>
            <a:r>
              <a:rPr/>
              <a:t>How should severity ranges for the stress test be documented so a reviewer accepts them?</a:t>
            </a:r>
          </a:p>
          <a:p>
            <a:pPr lvl="0" indent="-342900" marL="342900">
              <a:buAutoNum type="arabicPeriod"/>
            </a:pPr>
            <a:r>
              <a:rPr/>
              <a:t>The matched ATT is the most robust rung on every map here and the least interpretable population. Sensitivity analysis, or candidate primary?</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Resources</a:t>
            </a:r>
          </a:p>
        </p:txBody>
      </p:sp>
      <p:sp>
        <p:nvSpPr>
          <p:cNvPr id="3" name="Content Placeholder 2"/>
          <p:cNvSpPr>
            <a:spLocks noGrp="1"/>
          </p:cNvSpPr>
          <p:nvPr>
            <p:ph idx="1"/>
          </p:nvPr>
        </p:nvSpPr>
        <p:spPr/>
        <p:txBody>
          <a:bodyPr/>
          <a:lstStyle/>
          <a:p>
            <a:pPr lvl="0"/>
            <a:r>
              <a:rPr/>
              <a:t>Package: </a:t>
            </a:r>
            <a:r>
              <a:rPr>
                <a:hlinkClick r:id="rId2"/>
              </a:rPr>
              <a:t>https://github.com/amertens/cleanTMLE</a:t>
            </a:r>
            <a:r>
              <a:rPr/>
              <a:t> (v0.2.0)</a:t>
            </a:r>
          </a:p>
          <a:p>
            <a:pPr lvl="0"/>
            <a:r>
              <a:rPr/>
              <a:t>Manuscript draft: </a:t>
            </a:r>
            <a:r>
              <a:rPr>
                <a:latin typeface="Courier"/>
              </a:rPr>
              <a:t>reports/manuscript_outcome_blind_dq.qmd</a:t>
            </a:r>
          </a:p>
          <a:p>
            <a:pPr lvl="0"/>
            <a:r>
              <a:rPr/>
              <a:t>Case-study artifacts: </a:t>
            </a:r>
            <a:r>
              <a:rPr>
                <a:latin typeface="Courier"/>
              </a:rPr>
              <a:t>rescueCo/results/multiarm/</a:t>
            </a:r>
          </a:p>
          <a:p>
            <a:pPr lvl="0"/>
            <a:r>
              <a:rPr/>
              <a:t>Vignettes: staged workflow, and the function reference</a:t>
            </a:r>
          </a:p>
          <a:p>
            <a:pPr lvl="0" indent="0" marL="0">
              <a:buNone/>
            </a:pPr>
            <a:r>
              <a:rPr/>
              <a:t>Thank you. Questions and pushback welcome.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Appendix A: Concepts and alignment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Conceptual layers in the staged workflow</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Layer</a:t>
                      </a:r>
                    </a:p>
                  </a:txBody>
                  <a:tcPr/>
                </a:tc>
                <a:tc>
                  <a:txBody>
                    <a:bodyPr/>
                    <a:lstStyle/>
                    <a:p>
                      <a:pPr lvl="0" indent="0" marL="0">
                        <a:buNone/>
                      </a:pPr>
                      <a:r>
                        <a:rPr/>
                        <a:t>Description</a:t>
                      </a:r>
                    </a:p>
                  </a:txBody>
                  <a:tcPr/>
                </a:tc>
              </a:tr>
              <a:tr h="0">
                <a:tc>
                  <a:txBody>
                    <a:bodyPr/>
                    <a:lstStyle/>
                    <a:p>
                      <a:pPr lvl="0" indent="0" marL="0">
                        <a:buNone/>
                      </a:pPr>
                      <a:r>
                        <a:rPr/>
                        <a:t>Causal question</a:t>
                      </a:r>
                    </a:p>
                  </a:txBody>
                </a:tc>
                <a:tc>
                  <a:txBody>
                    <a:bodyPr/>
                    <a:lstStyle/>
                    <a:p>
                      <a:pPr lvl="0" indent="0" marL="0">
                        <a:buNone/>
                      </a:pPr>
                      <a:r>
                        <a:rPr/>
                        <a:t>Clinical or policy question framed as a target trial.</a:t>
                      </a:r>
                    </a:p>
                  </a:txBody>
                </a:tc>
              </a:tr>
              <a:tr h="0">
                <a:tc>
                  <a:txBody>
                    <a:bodyPr/>
                    <a:lstStyle/>
                    <a:p>
                      <a:pPr lvl="0" indent="0" marL="0">
                        <a:buNone/>
                      </a:pPr>
                      <a:r>
                        <a:rPr/>
                        <a:t>Causal estimand</a:t>
                      </a:r>
                    </a:p>
                  </a:txBody>
                </a:tc>
                <a:tc>
                  <a:txBody>
                    <a:bodyPr/>
                    <a:lstStyle/>
                    <a:p>
                      <a:pPr lvl="0" indent="0" marL="0">
                        <a:buNone/>
                      </a:pPr>
                      <a:r>
                        <a:rPr/>
                        <a:t>Counterfactual effect of interest, e.g. marginal risk difference.</a:t>
                      </a:r>
                    </a:p>
                  </a:txBody>
                </a:tc>
              </a:tr>
              <a:tr h="0">
                <a:tc>
                  <a:txBody>
                    <a:bodyPr/>
                    <a:lstStyle/>
                    <a:p>
                      <a:pPr lvl="0" indent="0" marL="0">
                        <a:buNone/>
                      </a:pPr>
                      <a:r>
                        <a:rPr/>
                        <a:t>Identification assumptions</a:t>
                      </a:r>
                    </a:p>
                  </a:txBody>
                </a:tc>
                <a:tc>
                  <a:txBody>
                    <a:bodyPr/>
                    <a:lstStyle/>
                    <a:p>
                      <a:pPr lvl="0" indent="0" marL="0">
                        <a:buNone/>
                      </a:pPr>
                      <a:r>
                        <a:rPr/>
                        <a:t>Conditions under which the estimand equals an observed-data parameter.</a:t>
                      </a:r>
                    </a:p>
                  </a:txBody>
                </a:tc>
              </a:tr>
              <a:tr h="0">
                <a:tc>
                  <a:txBody>
                    <a:bodyPr/>
                    <a:lstStyle/>
                    <a:p>
                      <a:pPr lvl="0" indent="0" marL="0">
                        <a:buNone/>
                      </a:pPr>
                      <a:r>
                        <a:rPr/>
                        <a:t>Statistical estimand</a:t>
                      </a:r>
                    </a:p>
                  </a:txBody>
                </a:tc>
                <a:tc>
                  <a:txBody>
                    <a:bodyPr/>
                    <a:lstStyle/>
                    <a:p>
                      <a:pPr lvl="0" indent="0" marL="0">
                        <a:buNone/>
                      </a:pPr>
                      <a:r>
                        <a:rPr/>
                        <a:t>That observed-data parameter.</a:t>
                      </a:r>
                    </a:p>
                  </a:txBody>
                </a:tc>
              </a:tr>
              <a:tr h="0">
                <a:tc>
                  <a:txBody>
                    <a:bodyPr/>
                    <a:lstStyle/>
                    <a:p>
                      <a:pPr lvl="0" indent="0" marL="0">
                        <a:buNone/>
                      </a:pPr>
                      <a:r>
                        <a:rPr/>
                        <a:t>Estimand ladder</a:t>
                      </a:r>
                    </a:p>
                  </a:txBody>
                </a:tc>
                <a:tc>
                  <a:txBody>
                    <a:bodyPr/>
                    <a:lstStyle/>
                    <a:p>
                      <a:pPr lvl="0" indent="0" marL="0">
                        <a:buNone/>
                      </a:pPr>
                      <a:r>
                        <a:rPr/>
                        <a:t>Pre-registered fallbacks and the verdict that triggers a switch.</a:t>
                      </a:r>
                    </a:p>
                  </a:txBody>
                </a:tc>
              </a:tr>
              <a:tr h="0">
                <a:tc>
                  <a:txBody>
                    <a:bodyPr/>
                    <a:lstStyle/>
                    <a:p>
                      <a:pPr lvl="0" indent="0" marL="0">
                        <a:buNone/>
                      </a:pPr>
                      <a:r>
                        <a:rPr/>
                        <a:t>Estimator</a:t>
                      </a:r>
                    </a:p>
                  </a:txBody>
                </a:tc>
                <a:tc>
                  <a:txBody>
                    <a:bodyPr/>
                    <a:lstStyle/>
                    <a:p>
                      <a:pPr lvl="0" indent="0" marL="0">
                        <a:buNone/>
                      </a:pPr>
                      <a:r>
                        <a:rPr/>
                        <a:t>TMLE, IPTW, matching.</a:t>
                      </a:r>
                    </a:p>
                  </a:txBody>
                </a:tc>
              </a:tr>
              <a:tr h="0">
                <a:tc>
                  <a:txBody>
                    <a:bodyPr/>
                    <a:lstStyle/>
                    <a:p>
                      <a:pPr lvl="0" indent="0" marL="0">
                        <a:buNone/>
                      </a:pPr>
                      <a:r>
                        <a:rPr/>
                        <a:t>Pre-outcome diagnostic</a:t>
                      </a:r>
                    </a:p>
                  </a:txBody>
                </a:tc>
                <a:tc>
                  <a:txBody>
                    <a:bodyPr/>
                    <a:lstStyle/>
                    <a:p>
                      <a:pPr lvl="0" indent="0" marL="0">
                        <a:buNone/>
                      </a:pPr>
                      <a:r>
                        <a:rPr/>
                        <a:t>Support verdict, feasibility, simulated bias and coverage, balance, negative controls.</a:t>
                      </a:r>
                    </a:p>
                  </a:txBody>
                </a:tc>
              </a:tr>
              <a:tr h="0">
                <a:tc>
                  <a:txBody>
                    <a:bodyPr/>
                    <a:lstStyle/>
                    <a:p>
                      <a:pPr lvl="0" indent="0" marL="0">
                        <a:buNone/>
                      </a:pPr>
                      <a:r>
                        <a:rPr/>
                        <a:t>Governance decision</a:t>
                      </a:r>
                    </a:p>
                  </a:txBody>
                </a:tc>
                <a:tc>
                  <a:txBody>
                    <a:bodyPr/>
                    <a:lstStyle/>
                    <a:p>
                      <a:pPr lvl="0" indent="0" marL="0">
                        <a:buNone/>
                      </a:pPr>
                      <a:r>
                        <a:rPr/>
                        <a:t>Proceed, proceed with qualification, or stop (Muntner et al. 2024).</a:t>
                      </a:r>
                    </a:p>
                  </a:txBody>
                </a:tc>
              </a:tr>
            </a:tbl>
          </a:graphicData>
        </a:graphic>
      </p:graphicFrame>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causal roadmap, and what the package covers</a:t>
            </a:r>
          </a:p>
        </p:txBody>
      </p:sp>
      <p:sp>
        <p:nvSpPr>
          <p:cNvPr id="4" name="Text Placeholder 3"/>
          <p:cNvSpPr>
            <a:spLocks noGrp="1"/>
          </p:cNvSpPr>
          <p:nvPr>
            <p:ph idx="2" sz="half" type="body"/>
          </p:nvPr>
        </p:nvSpPr>
        <p:spPr/>
        <p:txBody>
          <a:bodyPr/>
          <a:lstStyle/>
          <a:p>
            <a:pPr lvl="0" indent="0" marL="0">
              <a:buNone/>
            </a:pPr>
          </a:p>
        </p:txBody>
      </p:sp>
      <p:pic>
        <p:nvPicPr>
          <p:cNvPr descr="cleanTMLE_presentation_files\figure-pptx\mermaid-figure-1.png" id="0" name="Picture 1"/>
          <p:cNvPicPr>
            <a:picLocks noGrp="1" noChangeAspect="1"/>
          </p:cNvPicPr>
          <p:nvPr/>
        </p:nvPicPr>
        <p:blipFill>
          <a:blip r:embed="rId2"/>
          <a:stretch>
            <a:fillRect/>
          </a:stretch>
        </p:blipFill>
        <p:spPr bwMode="auto">
          <a:xfrm>
            <a:off x="5664200" y="203200"/>
            <a:ext cx="914400" cy="43815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Regulatory alignment (excerpt)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Roadmap component</a:t>
                      </a:r>
                    </a:p>
                  </a:txBody>
                  <a:tcPr/>
                </a:tc>
                <a:tc>
                  <a:txBody>
                    <a:bodyPr/>
                    <a:lstStyle/>
                    <a:p>
                      <a:pPr lvl="0" indent="0" marL="0">
                        <a:buNone/>
                      </a:pPr>
                      <a:r>
                        <a:rPr/>
                        <a:t>FDA / EMA / ICH anchor</a:t>
                      </a:r>
                    </a:p>
                  </a:txBody>
                  <a:tcPr/>
                </a:tc>
                <a:tc>
                  <a:txBody>
                    <a:bodyPr/>
                    <a:lstStyle/>
                    <a:p>
                      <a:pPr lvl="0" indent="0" marL="0">
                        <a:buNone/>
                      </a:pPr>
                      <a:r>
                        <a:rPr/>
                        <a:t>cleanTMLE</a:t>
                      </a:r>
                    </a:p>
                  </a:txBody>
                  <a:tcPr/>
                </a:tc>
              </a:tr>
              <a:tr h="0">
                <a:tc>
                  <a:txBody>
                    <a:bodyPr/>
                    <a:lstStyle/>
                    <a:p>
                      <a:pPr lvl="0" indent="0" marL="0">
                        <a:buNone/>
                      </a:pPr>
                      <a:r>
                        <a:rPr/>
                        <a:t>Causal question</a:t>
                      </a:r>
                    </a:p>
                  </a:txBody>
                </a:tc>
                <a:tc>
                  <a:txBody>
                    <a:bodyPr/>
                    <a:lstStyle/>
                    <a:p>
                      <a:pPr lvl="0" indent="0" marL="0">
                        <a:buNone/>
                      </a:pPr>
                      <a:r>
                        <a:rPr/>
                        <a:t>Target-trial framework; FDA RWE Framework; ICH M14</a:t>
                      </a:r>
                    </a:p>
                  </a:txBody>
                </a:tc>
                <a:tc>
                  <a:txBody>
                    <a:bodyPr/>
                    <a:lstStyle/>
                    <a:p>
                      <a:pPr lvl="0" indent="0" marL="0">
                        <a:buNone/>
                      </a:pPr>
                      <a:r>
                        <a:rPr/>
                        <a:t>Lock record; </a:t>
                      </a:r>
                      <a:r>
                        <a:rPr>
                          <a:latin typeface="Courier"/>
                        </a:rPr>
                        <a:t>design_report(protocol = ...)</a:t>
                      </a:r>
                      <a:r>
                        <a:rPr/>
                        <a:t> emulation table</a:t>
                      </a:r>
                    </a:p>
                  </a:txBody>
                </a:tc>
              </a:tr>
              <a:tr h="0">
                <a:tc>
                  <a:txBody>
                    <a:bodyPr/>
                    <a:lstStyle/>
                    <a:p>
                      <a:pPr lvl="0" indent="0" marL="0">
                        <a:buNone/>
                      </a:pPr>
                      <a:r>
                        <a:rPr/>
                        <a:t>Identification (positivity)</a:t>
                      </a:r>
                    </a:p>
                  </a:txBody>
                </a:tc>
                <a:tc>
                  <a:txBody>
                    <a:bodyPr/>
                    <a:lstStyle/>
                    <a:p>
                      <a:pPr lvl="0" indent="0" marL="0">
                        <a:buNone/>
                      </a:pPr>
                      <a:r>
                        <a:rPr/>
                        <a:t>ICH E9(R1)</a:t>
                      </a:r>
                    </a:p>
                  </a:txBody>
                </a:tc>
                <a:tc>
                  <a:txBody>
                    <a:bodyPr/>
                    <a:lstStyle/>
                    <a:p>
                      <a:pPr lvl="0" indent="0" marL="0">
                        <a:buNone/>
                      </a:pPr>
                      <a:r>
                        <a:rPr>
                          <a:latin typeface="Courier"/>
                        </a:rPr>
                        <a:t>assess_support()</a:t>
                      </a:r>
                      <a:r>
                        <a:rPr/>
                        <a:t>, </a:t>
                      </a:r>
                      <a:r>
                        <a:rPr>
                          <a:latin typeface="Courier"/>
                        </a:rPr>
                        <a:t>estimand_feasibility()</a:t>
                      </a:r>
                    </a:p>
                  </a:txBody>
                </a:tc>
              </a:tr>
              <a:tr h="0">
                <a:tc>
                  <a:txBody>
                    <a:bodyPr/>
                    <a:lstStyle/>
                    <a:p>
                      <a:pPr lvl="0" indent="0" marL="0">
                        <a:buNone/>
                      </a:pPr>
                      <a:r>
                        <a:rPr/>
                        <a:t>Statistical estimand</a:t>
                      </a:r>
                    </a:p>
                  </a:txBody>
                </a:tc>
                <a:tc>
                  <a:txBody>
                    <a:bodyPr/>
                    <a:lstStyle/>
                    <a:p>
                      <a:pPr lvl="0" indent="0" marL="0">
                        <a:buNone/>
                      </a:pPr>
                      <a:r>
                        <a:rPr/>
                        <a:t>ICH E9(R1); FDA RWE Considerations</a:t>
                      </a:r>
                    </a:p>
                  </a:txBody>
                </a:tc>
                <a:tc>
                  <a:txBody>
                    <a:bodyPr/>
                    <a:lstStyle/>
                    <a:p>
                      <a:pPr lvl="0" indent="0" marL="0">
                        <a:buNone/>
                      </a:pPr>
                      <a:r>
                        <a:rPr>
                          <a:latin typeface="Courier"/>
                        </a:rPr>
                        <a:t>declare_estimand_ladder()</a:t>
                      </a:r>
                      <a:r>
                        <a:rPr/>
                        <a:t>, </a:t>
                      </a:r>
                      <a:r>
                        <a:rPr>
                          <a:latin typeface="Courier"/>
                        </a:rPr>
                        <a:t>run_estimand_ladder()</a:t>
                      </a:r>
                    </a:p>
                  </a:txBody>
                </a:tc>
              </a:tr>
              <a:tr h="0">
                <a:tc>
                  <a:txBody>
                    <a:bodyPr/>
                    <a:lstStyle/>
                    <a:p>
                      <a:pPr lvl="0" indent="0" marL="0">
                        <a:buNone/>
                      </a:pPr>
                      <a:r>
                        <a:rPr/>
                        <a:t>Estimator selection</a:t>
                      </a:r>
                    </a:p>
                  </a:txBody>
                </a:tc>
                <a:tc>
                  <a:txBody>
                    <a:bodyPr/>
                    <a:lstStyle/>
                    <a:p>
                      <a:pPr lvl="0" indent="0" marL="0">
                        <a:buNone/>
                      </a:pPr>
                      <a:r>
                        <a:rPr/>
                        <a:t>FDA non-interventional studies; ICH M14</a:t>
                      </a:r>
                    </a:p>
                  </a:txBody>
                </a:tc>
                <a:tc>
                  <a:txBody>
                    <a:bodyPr/>
                    <a:lstStyle/>
                    <a:p>
                      <a:pPr lvl="0" indent="0" marL="0">
                        <a:buNone/>
                      </a:pPr>
                      <a:r>
                        <a:rPr>
                          <a:latin typeface="Courier"/>
                        </a:rPr>
                        <a:t>tmle_candidate()</a:t>
                      </a:r>
                      <a:r>
                        <a:rPr/>
                        <a:t>, </a:t>
                      </a:r>
                      <a:r>
                        <a:rPr>
                          <a:latin typeface="Courier"/>
                        </a:rPr>
                        <a:t>select_tmle_candidate()</a:t>
                      </a:r>
                    </a:p>
                  </a:txBody>
                </a:tc>
              </a:tr>
              <a:tr h="0">
                <a:tc>
                  <a:txBody>
                    <a:bodyPr/>
                    <a:lstStyle/>
                    <a:p>
                      <a:pPr lvl="0" indent="0" marL="0">
                        <a:buNone/>
                      </a:pPr>
                      <a:r>
                        <a:rPr/>
                        <a:t>Pre-outcome DQ stress</a:t>
                      </a:r>
                    </a:p>
                  </a:txBody>
                </a:tc>
                <a:tc>
                  <a:txBody>
                    <a:bodyPr/>
                    <a:lstStyle/>
                    <a:p>
                      <a:pPr lvl="0" indent="0" marL="0">
                        <a:buNone/>
                      </a:pPr>
                      <a:r>
                        <a:rPr/>
                        <a:t>Source reliability (FDA, EMA)</a:t>
                      </a:r>
                    </a:p>
                  </a:txBody>
                </a:tc>
                <a:tc>
                  <a:txBody>
                    <a:bodyPr/>
                    <a:lstStyle/>
                    <a:p>
                      <a:pPr lvl="0" indent="0" marL="0">
                        <a:buNone/>
                      </a:pPr>
                      <a:r>
                        <a:rPr>
                          <a:latin typeface="Courier"/>
                        </a:rPr>
                        <a:t>run_plasmode_dq_stress()</a:t>
                      </a:r>
                      <a:r>
                        <a:rPr/>
                        <a:t>, </a:t>
                      </a:r>
                      <a:r>
                        <a:rPr>
                          <a:latin typeface="Courier"/>
                        </a:rPr>
                        <a:t>simulate_support()</a:t>
                      </a:r>
                    </a:p>
                  </a:txBody>
                </a:tc>
              </a:tr>
              <a:tr h="0">
                <a:tc>
                  <a:txBody>
                    <a:bodyPr/>
                    <a:lstStyle/>
                    <a:p>
                      <a:pPr lvl="0" indent="0" marL="0">
                        <a:buNone/>
                      </a:pPr>
                      <a:r>
                        <a:rPr/>
                        <a:t>Post-outcome sensitivity</a:t>
                      </a:r>
                    </a:p>
                  </a:txBody>
                </a:tc>
                <a:tc>
                  <a:txBody>
                    <a:bodyPr/>
                    <a:lstStyle/>
                    <a:p>
                      <a:pPr lvl="0" indent="0" marL="0">
                        <a:buNone/>
                      </a:pPr>
                      <a:r>
                        <a:rPr/>
                        <a:t>FDA non-interventional; ICH E9(R1)</a:t>
                      </a:r>
                    </a:p>
                  </a:txBody>
                </a:tc>
                <a:tc>
                  <a:txBody>
                    <a:bodyPr/>
                    <a:lstStyle/>
                    <a:p>
                      <a:pPr lvl="0" indent="0" marL="0">
                        <a:buNone/>
                      </a:pPr>
                      <a:r>
                        <a:rPr>
                          <a:latin typeface="Courier"/>
                        </a:rPr>
                        <a:t>compute_evalue()</a:t>
                      </a:r>
                      <a:r>
                        <a:rPr/>
                        <a:t>, </a:t>
                      </a:r>
                      <a:r>
                        <a:rPr>
                          <a:latin typeface="Courier"/>
                        </a:rPr>
                        <a:t>run_delta_sensitivity()</a:t>
                      </a:r>
                    </a:p>
                  </a:txBody>
                </a:tc>
              </a:tr>
            </a:tbl>
          </a:graphicData>
        </a:graphic>
      </p:graphicFrame>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stress-test threat families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Threat</a:t>
                      </a:r>
                    </a:p>
                  </a:txBody>
                  <a:tcPr/>
                </a:tc>
                <a:tc>
                  <a:txBody>
                    <a:bodyPr/>
                    <a:lstStyle/>
                    <a:p>
                      <a:pPr lvl="0" indent="0" marL="0">
                        <a:buNone/>
                      </a:pPr>
                      <a:r>
                        <a:rPr/>
                        <a:t>Mechanism</a:t>
                      </a:r>
                    </a:p>
                  </a:txBody>
                  <a:tcPr/>
                </a:tc>
                <a:tc>
                  <a:txBody>
                    <a:bodyPr/>
                    <a:lstStyle/>
                    <a:p>
                      <a:pPr lvl="0" indent="0" marL="0">
                        <a:buNone/>
                      </a:pPr>
                      <a:r>
                        <a:rPr/>
                        <a:t>Probes</a:t>
                      </a:r>
                    </a:p>
                  </a:txBody>
                  <a:tcPr/>
                </a:tc>
                <a:tc>
                  <a:txBody>
                    <a:bodyPr/>
                    <a:lstStyle/>
                    <a:p>
                      <a:pPr lvl="0" indent="0" marL="0">
                        <a:buNone/>
                      </a:pPr>
                      <a:r>
                        <a:rPr/>
                        <a:t>Does not probe</a:t>
                      </a:r>
                    </a:p>
                  </a:txBody>
                  <a:tcPr/>
                </a:tc>
              </a:tr>
              <a:tr h="0">
                <a:tc>
                  <a:txBody>
                    <a:bodyPr/>
                    <a:lstStyle/>
                    <a:p>
                      <a:pPr lvl="0" indent="0" marL="0">
                        <a:buNone/>
                      </a:pPr>
                      <a:r>
                        <a:rPr/>
                        <a:t>Covariate missingness</a:t>
                      </a:r>
                    </a:p>
                  </a:txBody>
                </a:tc>
                <a:tc>
                  <a:txBody>
                    <a:bodyPr/>
                    <a:lstStyle/>
                    <a:p>
                      <a:pPr lvl="0" indent="0" marL="0">
                        <a:buNone/>
                      </a:pPr>
                      <a:r>
                        <a:rPr/>
                        <a:t>MCAR, MAR, MNAR masks; median impute</a:t>
                      </a:r>
                    </a:p>
                  </a:txBody>
                </a:tc>
                <a:tc>
                  <a:txBody>
                    <a:bodyPr/>
                    <a:lstStyle/>
                    <a:p>
                      <a:pPr lvl="0" indent="0" marL="0">
                        <a:buNone/>
                      </a:pPr>
                      <a:r>
                        <a:rPr/>
                        <a:t>Imputation robustness</a:t>
                      </a:r>
                    </a:p>
                  </a:txBody>
                </a:tc>
                <a:tc>
                  <a:txBody>
                    <a:bodyPr/>
                    <a:lstStyle/>
                    <a:p>
                      <a:pPr lvl="0" indent="0" marL="0">
                        <a:buNone/>
                      </a:pPr>
                      <a:r>
                        <a:rPr/>
                        <a:t>Phenotype validity</a:t>
                      </a:r>
                    </a:p>
                  </a:txBody>
                </a:tc>
              </a:tr>
              <a:tr h="0">
                <a:tc>
                  <a:txBody>
                    <a:bodyPr/>
                    <a:lstStyle/>
                    <a:p>
                      <a:pPr lvl="0" indent="0" marL="0">
                        <a:buNone/>
                      </a:pPr>
                      <a:r>
                        <a:rPr/>
                        <a:t>Exposure misclassification</a:t>
                      </a:r>
                    </a:p>
                  </a:txBody>
                </a:tc>
                <a:tc>
                  <a:txBody>
                    <a:bodyPr/>
                    <a:lstStyle/>
                    <a:p>
                      <a:pPr lvl="0" indent="0" marL="0">
                        <a:buNone/>
                      </a:pPr>
                      <a:r>
                        <a:rPr/>
                        <a:t>Flip A at given sens and spec</a:t>
                      </a:r>
                    </a:p>
                  </a:txBody>
                </a:tc>
                <a:tc>
                  <a:txBody>
                    <a:bodyPr/>
                    <a:lstStyle/>
                    <a:p>
                      <a:pPr lvl="0" indent="0" marL="0">
                        <a:buNone/>
                      </a:pPr>
                      <a:r>
                        <a:rPr/>
                        <a:t>Treatment measurement</a:t>
                      </a:r>
                    </a:p>
                  </a:txBody>
                </a:tc>
                <a:tc>
                  <a:txBody>
                    <a:bodyPr/>
                    <a:lstStyle/>
                    <a:p>
                      <a:pPr lvl="0" indent="0" marL="0">
                        <a:buNone/>
                      </a:pPr>
                      <a:r>
                        <a:rPr/>
                        <a:t>Differential error by outcome</a:t>
                      </a:r>
                    </a:p>
                  </a:txBody>
                </a:tc>
              </a:tr>
              <a:tr h="0">
                <a:tc>
                  <a:txBody>
                    <a:bodyPr/>
                    <a:lstStyle/>
                    <a:p>
                      <a:pPr lvl="0" indent="0" marL="0">
                        <a:buNone/>
                      </a:pPr>
                      <a:r>
                        <a:rPr/>
                        <a:t>Outcome misclassification</a:t>
                      </a:r>
                    </a:p>
                  </a:txBody>
                </a:tc>
                <a:tc>
                  <a:txBody>
                    <a:bodyPr/>
                    <a:lstStyle/>
                    <a:p>
                      <a:pPr lvl="0" indent="0" marL="0">
                        <a:buNone/>
                      </a:pPr>
                      <a:r>
                        <a:rPr/>
                        <a:t>Flip Y, optionally per arm</a:t>
                      </a:r>
                    </a:p>
                  </a:txBody>
                </a:tc>
                <a:tc>
                  <a:txBody>
                    <a:bodyPr/>
                    <a:lstStyle/>
                    <a:p>
                      <a:pPr lvl="0" indent="0" marL="0">
                        <a:buNone/>
                      </a:pPr>
                      <a:r>
                        <a:rPr/>
                        <a:t>Outcome measurement</a:t>
                      </a:r>
                    </a:p>
                  </a:txBody>
                </a:tc>
                <a:tc>
                  <a:txBody>
                    <a:bodyPr/>
                    <a:lstStyle/>
                    <a:p>
                      <a:pPr lvl="0" indent="0" marL="0">
                        <a:buNone/>
                      </a:pPr>
                      <a:r>
                        <a:rPr/>
                        <a:t>Time-varying ascertainment</a:t>
                      </a:r>
                    </a:p>
                  </a:txBody>
                </a:tc>
              </a:tr>
              <a:tr h="0">
                <a:tc>
                  <a:txBody>
                    <a:bodyPr/>
                    <a:lstStyle/>
                    <a:p>
                      <a:pPr lvl="0" indent="0" marL="0">
                        <a:buNone/>
                      </a:pPr>
                      <a:r>
                        <a:rPr/>
                        <a:t>Near-positivity</a:t>
                      </a:r>
                    </a:p>
                  </a:txBody>
                </a:tc>
                <a:tc>
                  <a:txBody>
                    <a:bodyPr/>
                    <a:lstStyle/>
                    <a:p>
                      <a:pPr lvl="0" indent="0" marL="0">
                        <a:buNone/>
                      </a:pPr>
                      <a:r>
                        <a:rPr/>
                        <a:t>Amplify covariate-treatment association</a:t>
                      </a:r>
                    </a:p>
                  </a:txBody>
                </a:tc>
                <a:tc>
                  <a:txBody>
                    <a:bodyPr/>
                    <a:lstStyle/>
                    <a:p>
                      <a:pPr lvl="0" indent="0" marL="0">
                        <a:buNone/>
                      </a:pPr>
                      <a:r>
                        <a:rPr/>
                        <a:t>Estimator strain</a:t>
                      </a:r>
                    </a:p>
                  </a:txBody>
                </a:tc>
                <a:tc>
                  <a:txBody>
                    <a:bodyPr/>
                    <a:lstStyle/>
                    <a:p>
                      <a:pPr lvl="0" indent="0" marL="0">
                        <a:buNone/>
                      </a:pPr>
                      <a:r>
                        <a:rPr/>
                        <a:t>The realised design’s support</a:t>
                      </a:r>
                    </a:p>
                  </a:txBody>
                </a:tc>
              </a:tr>
              <a:tr h="0">
                <a:tc>
                  <a:txBody>
                    <a:bodyPr/>
                    <a:lstStyle/>
                    <a:p>
                      <a:pPr lvl="0" indent="0" marL="0">
                        <a:buNone/>
                      </a:pPr>
                      <a:r>
                        <a:rPr/>
                        <a:t>Unmeasured confounding</a:t>
                      </a:r>
                    </a:p>
                  </a:txBody>
                </a:tc>
                <a:tc>
                  <a:txBody>
                    <a:bodyPr/>
                    <a:lstStyle/>
                    <a:p>
                      <a:pPr lvl="0" indent="0" marL="0">
                        <a:buNone/>
                      </a:pPr>
                      <a:r>
                        <a:rPr/>
                        <a:t>Latent U shifts A and Y</a:t>
                      </a:r>
                    </a:p>
                  </a:txBody>
                </a:tc>
                <a:tc>
                  <a:txBody>
                    <a:bodyPr/>
                    <a:lstStyle/>
                    <a:p>
                      <a:pPr lvl="0" indent="0" marL="0">
                        <a:buNone/>
                      </a:pPr>
                      <a:r>
                        <a:rPr/>
                        <a:t>Exchangeability</a:t>
                      </a:r>
                    </a:p>
                  </a:txBody>
                </a:tc>
                <a:tc>
                  <a:txBody>
                    <a:bodyPr/>
                    <a:lstStyle/>
                    <a:p>
                      <a:pPr lvl="0" indent="0" marL="0">
                        <a:buNone/>
                      </a:pPr>
                      <a:r>
                        <a:rPr/>
                        <a:t>Multiple latent confounders</a:t>
                      </a:r>
                    </a:p>
                  </a:txBody>
                </a:tc>
              </a:tr>
            </a:tbl>
          </a:graphicData>
        </a:graphic>
      </p:graphicFrame>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Appendix B: Case-study detail</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declared ladder, per lock</a:t>
            </a:r>
          </a:p>
        </p:txBody>
      </p:sp>
      <p:sp>
        <p:nvSpPr>
          <p:cNvPr id="3" name="Content Placeholder 2"/>
          <p:cNvSpPr>
            <a:spLocks noGrp="1"/>
          </p:cNvSpPr>
          <p:nvPr>
            <p:ph idx="1"/>
          </p:nvPr>
        </p:nvSpPr>
        <p:spPr/>
        <p:txBody>
          <a:bodyPr/>
          <a:lstStyle/>
          <a:p>
            <a:pPr lvl="0" indent="0" marL="0">
              <a:buNone/>
            </a:pPr>
            <a:r>
              <a:rPr/>
              <a:t>Identical across the five locks, declared before outcome access: primary ATE with IPCW for missing outcomes; fallbacks trimmed ATE [0.05, 0.95], then ATT, then ATO; trigger SEVERE. The matched ATT is assessed in the feasibility table and support map as a design-stage sensitivity, not estimated on the ladder.</a:t>
            </a:r>
          </a:p>
          <a:p>
            <a:pPr lvl="0" indent="0" marL="0">
              <a:buNone/>
            </a:pPr>
            <a:r>
              <a:rPr/>
              <a:t>Propensity library: the </a:t>
            </a:r>
            <a:r>
              <a:rPr>
                <a:latin typeface="Courier"/>
              </a:rPr>
              <a:t>build_sl_library()</a:t>
            </a:r>
            <a:r>
              <a:rPr/>
              <a:t> preset for wide registry designs (penalised logistic learners, PCA-reduced GLMs, marginal mean; no tree learners, which can separate arms on wide indicator sets), ten folds.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Negative-control ladder, exact rows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Contrast</a:t>
                      </a:r>
                    </a:p>
                  </a:txBody>
                  <a:tcPr/>
                </a:tc>
                <a:tc>
                  <a:txBody>
                    <a:bodyPr/>
                    <a:lstStyle/>
                    <a:p>
                      <a:pPr lvl="0" indent="0" marL="0">
                        <a:buNone/>
                      </a:pPr>
                      <a:r>
                        <a:rPr/>
                        <a:t>Cohort</a:t>
                      </a:r>
                    </a:p>
                  </a:txBody>
                  <a:tcPr/>
                </a:tc>
                <a:tc>
                  <a:txBody>
                    <a:bodyPr/>
                    <a:lstStyle/>
                    <a:p>
                      <a:pPr lvl="0" indent="0" marL="0" algn="r">
                        <a:buNone/>
                      </a:pPr>
                      <a:r>
                        <a:rPr/>
                        <a:t>Urban household</a:t>
                      </a:r>
                    </a:p>
                  </a:txBody>
                  <a:tcPr/>
                </a:tc>
                <a:tc>
                  <a:txBody>
                    <a:bodyPr/>
                    <a:lstStyle/>
                    <a:p>
                      <a:pPr lvl="0" indent="0" marL="0" algn="r">
                        <a:buNone/>
                      </a:pPr>
                      <a:r>
                        <a:rPr/>
                        <a:t>Wood or charcoal fuel</a:t>
                      </a:r>
                    </a:p>
                  </a:txBody>
                  <a:tcPr/>
                </a:tc>
              </a:tr>
              <a:tr h="0">
                <a:tc>
                  <a:txBody>
                    <a:bodyPr/>
                    <a:lstStyle/>
                    <a:p>
                      <a:pPr lvl="0" indent="0" marL="0">
                        <a:buNone/>
                      </a:pPr>
                      <a:r>
                        <a:rPr/>
                        <a:t>C4</a:t>
                      </a:r>
                    </a:p>
                  </a:txBody>
                </a:tc>
                <a:tc>
                  <a:txBody>
                    <a:bodyPr/>
                    <a:lstStyle/>
                    <a:p>
                      <a:pPr lvl="0" indent="0" marL="0">
                        <a:buNone/>
                      </a:pPr>
                      <a:r>
                        <a:rPr/>
                        <a:t>Full (n = 2,197)</a:t>
                      </a:r>
                    </a:p>
                  </a:txBody>
                </a:tc>
                <a:tc>
                  <a:txBody>
                    <a:bodyPr/>
                    <a:lstStyle/>
                    <a:p>
                      <a:pPr lvl="0" indent="0" marL="0" algn="r">
                        <a:buNone/>
                      </a:pPr>
                      <a:r>
                        <a:rPr/>
                        <a:t>+0.068</a:t>
                      </a:r>
                    </a:p>
                  </a:txBody>
                </a:tc>
                <a:tc>
                  <a:txBody>
                    <a:bodyPr/>
                    <a:lstStyle/>
                    <a:p>
                      <a:pPr lvl="0" indent="0" marL="0" algn="r">
                        <a:buNone/>
                      </a:pPr>
                      <a:r>
                        <a:rPr/>
                        <a:t>-0.052</a:t>
                      </a:r>
                    </a:p>
                  </a:txBody>
                </a:tc>
              </a:tr>
              <a:tr h="0">
                <a:tc>
                  <a:txBody>
                    <a:bodyPr/>
                    <a:lstStyle/>
                    <a:p>
                      <a:pPr lvl="0" indent="0" marL="0">
                        <a:buNone/>
                      </a:pPr>
                      <a:r>
                        <a:rPr/>
                        <a:t>C4</a:t>
                      </a:r>
                    </a:p>
                  </a:txBody>
                </a:tc>
                <a:tc>
                  <a:txBody>
                    <a:bodyPr/>
                    <a:lstStyle/>
                    <a:p>
                      <a:pPr lvl="0" indent="0" marL="0">
                        <a:buNone/>
                      </a:pPr>
                      <a:r>
                        <a:rPr/>
                        <a:t>Transfers excluded (n = 1,703)</a:t>
                      </a:r>
                    </a:p>
                  </a:txBody>
                </a:tc>
                <a:tc>
                  <a:txBody>
                    <a:bodyPr/>
                    <a:lstStyle/>
                    <a:p>
                      <a:pPr lvl="0" indent="0" marL="0" algn="r">
                        <a:buNone/>
                      </a:pPr>
                      <a:r>
                        <a:rPr/>
                        <a:t>+0.001</a:t>
                      </a:r>
                    </a:p>
                  </a:txBody>
                </a:tc>
                <a:tc>
                  <a:txBody>
                    <a:bodyPr/>
                    <a:lstStyle/>
                    <a:p>
                      <a:pPr lvl="0" indent="0" marL="0" algn="r">
                        <a:buNone/>
                      </a:pPr>
                      <a:r>
                        <a:rPr/>
                        <a:t>+0.000</a:t>
                      </a:r>
                    </a:p>
                  </a:txBody>
                </a:tc>
              </a:tr>
              <a:tr h="0">
                <a:tc>
                  <a:txBody>
                    <a:bodyPr/>
                    <a:lstStyle/>
                    <a:p>
                      <a:pPr lvl="0" indent="0" marL="0">
                        <a:buNone/>
                      </a:pPr>
                      <a:r>
                        <a:rPr/>
                        <a:t>C4</a:t>
                      </a:r>
                    </a:p>
                  </a:txBody>
                </a:tc>
                <a:tc>
                  <a:txBody>
                    <a:bodyPr/>
                    <a:lstStyle/>
                    <a:p>
                      <a:pPr lvl="0" indent="0" marL="0">
                        <a:buNone/>
                      </a:pPr>
                      <a:r>
                        <a:rPr/>
                        <a:t>Prior care also excluded (n = 1,616)</a:t>
                      </a:r>
                    </a:p>
                  </a:txBody>
                </a:tc>
                <a:tc>
                  <a:txBody>
                    <a:bodyPr/>
                    <a:lstStyle/>
                    <a:p>
                      <a:pPr lvl="0" indent="0" marL="0" algn="r">
                        <a:buNone/>
                      </a:pPr>
                      <a:r>
                        <a:rPr/>
                        <a:t>-0.003</a:t>
                      </a:r>
                    </a:p>
                  </a:txBody>
                </a:tc>
                <a:tc>
                  <a:txBody>
                    <a:bodyPr/>
                    <a:lstStyle/>
                    <a:p>
                      <a:pPr lvl="0" indent="0" marL="0" algn="r">
                        <a:buNone/>
                      </a:pPr>
                      <a:r>
                        <a:rPr/>
                        <a:t>-0.001</a:t>
                      </a:r>
                    </a:p>
                  </a:txBody>
                </a:tc>
              </a:tr>
              <a:tr h="0">
                <a:tc>
                  <a:txBody>
                    <a:bodyPr/>
                    <a:lstStyle/>
                    <a:p>
                      <a:pPr lvl="0" indent="0" marL="0">
                        <a:buNone/>
                      </a:pPr>
                      <a:r>
                        <a:rPr/>
                        <a:t>C1</a:t>
                      </a:r>
                    </a:p>
                  </a:txBody>
                </a:tc>
                <a:tc>
                  <a:txBody>
                    <a:bodyPr/>
                    <a:lstStyle/>
                    <a:p>
                      <a:pPr lvl="0" indent="0" marL="0">
                        <a:buNone/>
                      </a:pPr>
                      <a:r>
                        <a:rPr/>
                        <a:t>Full (n = 8,323)</a:t>
                      </a:r>
                    </a:p>
                  </a:txBody>
                </a:tc>
                <a:tc>
                  <a:txBody>
                    <a:bodyPr/>
                    <a:lstStyle/>
                    <a:p>
                      <a:pPr lvl="0" indent="0" marL="0" algn="r">
                        <a:buNone/>
                      </a:pPr>
                      <a:r>
                        <a:rPr/>
                        <a:t>+0.013</a:t>
                      </a:r>
                    </a:p>
                  </a:txBody>
                </a:tc>
                <a:tc>
                  <a:txBody>
                    <a:bodyPr/>
                    <a:lstStyle/>
                    <a:p>
                      <a:pPr lvl="0" indent="0" marL="0" algn="r">
                        <a:buNone/>
                      </a:pPr>
                      <a:r>
                        <a:rPr/>
                        <a:t>-0.006</a:t>
                      </a:r>
                    </a:p>
                  </a:txBody>
                </a:tc>
              </a:tr>
            </a:tbl>
          </a:graphicData>
        </a:graphic>
      </p:graphicFrame>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Hypertension is null on every rung. Insulin-treated diabetes and HIV on ART are inestimable (a cell below 5 events) and labelled as such. A TMLE-adjusted variant is released with a caveat: on restricted rungs it conditions on design columns that are near-copies of the socioeconomic controls.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support-map reading rule, from the design log</a:t>
            </a:r>
          </a:p>
        </p:txBody>
      </p:sp>
      <p:sp>
        <p:nvSpPr>
          <p:cNvPr id="3" name="Content Placeholder 2"/>
          <p:cNvSpPr>
            <a:spLocks noGrp="1"/>
          </p:cNvSpPr>
          <p:nvPr>
            <p:ph idx="1"/>
          </p:nvPr>
        </p:nvSpPr>
        <p:spPr/>
        <p:txBody>
          <a:bodyPr/>
          <a:lstStyle/>
          <a:p>
            <a:pPr lvl="0" indent="0" marL="0">
              <a:buNone/>
            </a:pPr>
            <a:r>
              <a:rPr/>
              <a:t>Recorded before estimation: the maps are read over the moderate-confounding region (synthetic strength up to 1), with the whole-grid pass reported as a conservative bound.</a:t>
            </a:r>
          </a:p>
          <a:p>
            <a:pPr lvl="0" indent="0" marL="0">
              <a:buNone/>
            </a:pPr>
            <a:r>
              <a:rPr/>
              <a:t>The harshest rung stresses every weighting-based estimand at once, including on the PASS-verdict primary cohort, so a whole-grid rule conflates support failure with confounding stress. The signature used instead: failure at the mildest surface means a support problem (C1’s ATE, coverage 0.87 before any synthetic confounding); failure only under stress, hitting all unmatched estimands together, means stress (the primary cohort at strength 2, where the matched ATT holds 0.93 to 0.96).</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Candidate selection under stress (earlier single-contrast lock)</a:t>
            </a:r>
          </a:p>
        </p:txBody>
      </p:sp>
      <p:sp>
        <p:nvSpPr>
          <p:cNvPr id="3" name="Content Placeholder 2"/>
          <p:cNvSpPr>
            <a:spLocks noGrp="1"/>
          </p:cNvSpPr>
          <p:nvPr>
            <p:ph idx="1"/>
          </p:nvPr>
        </p:nvSpPr>
        <p:spPr/>
        <p:txBody>
          <a:bodyPr/>
          <a:lstStyle/>
          <a:p>
            <a:pPr lvl="0" indent="0" marL="0">
              <a:buNone/>
            </a:pPr>
            <a:r>
              <a:rPr/>
              <a:t>Four TMLE candidates varying propensity library and truncation tie on the clean baseline (RMSE within 0.0002), where the minimum-RMSE rule would lock </a:t>
            </a:r>
            <a:r>
              <a:rPr>
                <a:latin typeface="Courier"/>
              </a:rPr>
              <a:t>glm_t01</a:t>
            </a:r>
            <a:r>
              <a:rPr/>
              <a:t>. Under the five-threat sweep the worst-case RMSE ratios separate: 1.82, 1.73, 1.53, and 1.27 for </a:t>
            </a:r>
            <a:r>
              <a:rPr>
                <a:latin typeface="Courier"/>
              </a:rPr>
              <a:t>ensemble_t05</a:t>
            </a:r>
            <a:r>
              <a:rPr/>
              <a:t>.</a:t>
            </a:r>
          </a:p>
          <a:p>
            <a:pPr lvl="0" indent="0" marL="0">
              <a:buNone/>
            </a:pPr>
            <a:r>
              <a:rPr/>
              <a:t>The minimax rule locks </a:t>
            </a:r>
            <a:r>
              <a:rPr>
                <a:latin typeface="Courier"/>
              </a:rPr>
              <a:t>ensemble_t05</a:t>
            </a:r>
            <a:r>
              <a:rPr/>
              <a:t>. The candidate selected for clean-data efficiency was the most exposed under prespecified stress. Reported at 50 replicates as a workflow illustration; 200 is the inferential bar.</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Effect estimates, exact rows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43000"/>
                <a:gridCol w="1524000"/>
                <a:gridCol w="635000"/>
                <a:gridCol w="889000"/>
                <a:gridCol w="1143000"/>
                <a:gridCol w="1143000"/>
                <a:gridCol w="762000"/>
                <a:gridCol w="1016000"/>
              </a:tblGrid>
              <a:tr h="0">
                <a:tc>
                  <a:txBody>
                    <a:bodyPr/>
                    <a:lstStyle/>
                    <a:p>
                      <a:pPr lvl="0" indent="0" marL="0" algn="l">
                        <a:buNone/>
                      </a:pPr>
                      <a:r>
                        <a:rPr/>
                        <a:t>Contrast</a:t>
                      </a:r>
                    </a:p>
                  </a:txBody>
                  <a:tcPr/>
                </a:tc>
                <a:tc>
                  <a:txBody>
                    <a:bodyPr/>
                    <a:lstStyle/>
                    <a:p>
                      <a:pPr lvl="0" indent="0" marL="0" algn="l">
                        <a:buNone/>
                      </a:pPr>
                      <a:r>
                        <a:rPr/>
                        <a:t>Estimand</a:t>
                      </a:r>
                    </a:p>
                  </a:txBody>
                  <a:tcPr/>
                </a:tc>
                <a:tc>
                  <a:txBody>
                    <a:bodyPr/>
                    <a:lstStyle/>
                    <a:p>
                      <a:pPr lvl="0" indent="0" marL="0" algn="r">
                        <a:buNone/>
                      </a:pPr>
                      <a:r>
                        <a:rPr/>
                        <a:t>N</a:t>
                      </a:r>
                    </a:p>
                  </a:txBody>
                  <a:tcPr/>
                </a:tc>
                <a:tc>
                  <a:txBody>
                    <a:bodyPr/>
                    <a:lstStyle/>
                    <a:p>
                      <a:pPr lvl="0" indent="0" marL="0" algn="l">
                        <a:buNone/>
                      </a:pPr>
                      <a:r>
                        <a:rPr/>
                        <a:t>RD</a:t>
                      </a:r>
                    </a:p>
                  </a:txBody>
                  <a:tcPr/>
                </a:tc>
                <a:tc>
                  <a:txBody>
                    <a:bodyPr/>
                    <a:lstStyle/>
                    <a:p>
                      <a:pPr lvl="0" indent="0" marL="0" algn="l">
                        <a:buNone/>
                      </a:pPr>
                      <a:r>
                        <a:rPr/>
                        <a:t>CI lower</a:t>
                      </a:r>
                    </a:p>
                  </a:txBody>
                  <a:tcPr/>
                </a:tc>
                <a:tc>
                  <a:txBody>
                    <a:bodyPr/>
                    <a:lstStyle/>
                    <a:p>
                      <a:pPr lvl="0" indent="0" marL="0" algn="l">
                        <a:buNone/>
                      </a:pPr>
                      <a:r>
                        <a:rPr/>
                        <a:t>CI upper</a:t>
                      </a:r>
                    </a:p>
                  </a:txBody>
                  <a:tcPr/>
                </a:tc>
                <a:tc>
                  <a:txBody>
                    <a:bodyPr/>
                    <a:lstStyle/>
                    <a:p>
                      <a:pPr lvl="0" indent="0" marL="0" algn="l">
                        <a:buNone/>
                      </a:pPr>
                      <a:r>
                        <a:rPr/>
                        <a:t>p</a:t>
                      </a:r>
                    </a:p>
                  </a:txBody>
                  <a:tcPr/>
                </a:tc>
                <a:tc>
                  <a:txBody>
                    <a:bodyPr/>
                    <a:lstStyle/>
                    <a:p>
                      <a:pPr lvl="0" indent="0" marL="0" algn="l">
                        <a:buNone/>
                      </a:pPr>
                      <a:r>
                        <a:rPr/>
                        <a:t>Support</a:t>
                      </a:r>
                    </a:p>
                  </a:txBody>
                  <a:tcPr/>
                </a:tc>
              </a:tr>
              <a:tr h="0">
                <a:tc>
                  <a:txBody>
                    <a:bodyPr/>
                    <a:lstStyle/>
                    <a:p>
                      <a:pPr lvl="0" indent="0" marL="0" algn="l">
                        <a:buNone/>
                      </a:pPr>
                      <a:r>
                        <a:rPr/>
                        <a:t>C1</a:t>
                      </a:r>
                    </a:p>
                  </a:txBody>
                </a:tc>
                <a:tc>
                  <a:txBody>
                    <a:bodyPr/>
                    <a:lstStyle/>
                    <a:p>
                      <a:pPr lvl="0" indent="0" marL="0" algn="l">
                        <a:buNone/>
                      </a:pPr>
                      <a:r>
                        <a:rPr/>
                        <a:t>ATE</a:t>
                      </a:r>
                    </a:p>
                  </a:txBody>
                </a:tc>
                <a:tc>
                  <a:txBody>
                    <a:bodyPr/>
                    <a:lstStyle/>
                    <a:p>
                      <a:pPr lvl="0" indent="0" marL="0" algn="r">
                        <a:buNone/>
                      </a:pPr>
                      <a:r>
                        <a:rPr/>
                        <a:t>8323</a:t>
                      </a:r>
                    </a:p>
                  </a:txBody>
                </a:tc>
                <a:tc>
                  <a:txBody>
                    <a:bodyPr/>
                    <a:lstStyle/>
                    <a:p>
                      <a:pPr lvl="0" indent="0" marL="0" algn="l">
                        <a:buNone/>
                      </a:pPr>
                      <a:r>
                        <a:rPr/>
                        <a:t>0.006</a:t>
                      </a:r>
                    </a:p>
                  </a:txBody>
                </a:tc>
                <a:tc>
                  <a:txBody>
                    <a:bodyPr/>
                    <a:lstStyle/>
                    <a:p>
                      <a:pPr lvl="0" indent="0" marL="0" algn="l">
                        <a:buNone/>
                      </a:pPr>
                      <a:r>
                        <a:rPr/>
                        <a:t>-0.017</a:t>
                      </a:r>
                    </a:p>
                  </a:txBody>
                </a:tc>
                <a:tc>
                  <a:txBody>
                    <a:bodyPr/>
                    <a:lstStyle/>
                    <a:p>
                      <a:pPr lvl="0" indent="0" marL="0" algn="l">
                        <a:buNone/>
                      </a:pPr>
                      <a:r>
                        <a:rPr/>
                        <a:t>0.028</a:t>
                      </a:r>
                    </a:p>
                  </a:txBody>
                </a:tc>
                <a:tc>
                  <a:txBody>
                    <a:bodyPr/>
                    <a:lstStyle/>
                    <a:p>
                      <a:pPr lvl="0" indent="0" marL="0" algn="l">
                        <a:buNone/>
                      </a:pPr>
                      <a:r>
                        <a:rPr/>
                        <a:t>0.633</a:t>
                      </a:r>
                    </a:p>
                  </a:txBody>
                </a:tc>
                <a:tc>
                  <a:txBody>
                    <a:bodyPr/>
                    <a:lstStyle/>
                    <a:p>
                      <a:pPr lvl="0" indent="0" marL="0" algn="l">
                        <a:buNone/>
                      </a:pPr>
                      <a:r>
                        <a:rPr/>
                        <a:t>SEVERE</a:t>
                      </a:r>
                    </a:p>
                  </a:txBody>
                </a:tc>
              </a:tr>
              <a:tr h="0">
                <a:tc>
                  <a:txBody>
                    <a:bodyPr/>
                    <a:lstStyle/>
                    <a:p>
                      <a:pPr lvl="0" indent="0" marL="0" algn="l">
                        <a:buNone/>
                      </a:pPr>
                      <a:r>
                        <a:rPr/>
                        <a:t>C1</a:t>
                      </a:r>
                    </a:p>
                  </a:txBody>
                </a:tc>
                <a:tc>
                  <a:txBody>
                    <a:bodyPr/>
                    <a:lstStyle/>
                    <a:p>
                      <a:pPr lvl="0" indent="0" marL="0" algn="l">
                        <a:buNone/>
                      </a:pPr>
                      <a:r>
                        <a:rPr/>
                        <a:t>trimmed_ATE</a:t>
                      </a:r>
                    </a:p>
                  </a:txBody>
                </a:tc>
                <a:tc>
                  <a:txBody>
                    <a:bodyPr/>
                    <a:lstStyle/>
                    <a:p>
                      <a:pPr lvl="0" indent="0" marL="0" algn="r">
                        <a:buNone/>
                      </a:pPr>
                      <a:r>
                        <a:rPr/>
                        <a:t>4946</a:t>
                      </a:r>
                    </a:p>
                  </a:txBody>
                </a:tc>
                <a:tc>
                  <a:txBody>
                    <a:bodyPr/>
                    <a:lstStyle/>
                    <a:p>
                      <a:pPr lvl="0" indent="0" marL="0" algn="l">
                        <a:buNone/>
                      </a:pPr>
                      <a:r>
                        <a:rPr/>
                        <a:t>0.006</a:t>
                      </a:r>
                    </a:p>
                  </a:txBody>
                </a:tc>
                <a:tc>
                  <a:txBody>
                    <a:bodyPr/>
                    <a:lstStyle/>
                    <a:p>
                      <a:pPr lvl="0" indent="0" marL="0" algn="l">
                        <a:buNone/>
                      </a:pPr>
                      <a:r>
                        <a:rPr/>
                        <a:t>-0.006</a:t>
                      </a:r>
                    </a:p>
                  </a:txBody>
                </a:tc>
                <a:tc>
                  <a:txBody>
                    <a:bodyPr/>
                    <a:lstStyle/>
                    <a:p>
                      <a:pPr lvl="0" indent="0" marL="0" algn="l">
                        <a:buNone/>
                      </a:pPr>
                      <a:r>
                        <a:rPr/>
                        <a:t>0.018</a:t>
                      </a:r>
                    </a:p>
                  </a:txBody>
                </a:tc>
                <a:tc>
                  <a:txBody>
                    <a:bodyPr/>
                    <a:lstStyle/>
                    <a:p>
                      <a:pPr lvl="0" indent="0" marL="0" algn="l">
                        <a:buNone/>
                      </a:pPr>
                      <a:r>
                        <a:rPr/>
                        <a:t>0.349</a:t>
                      </a:r>
                    </a:p>
                  </a:txBody>
                </a:tc>
                <a:tc>
                  <a:txBody>
                    <a:bodyPr/>
                    <a:lstStyle/>
                    <a:p>
                      <a:pPr lvl="0" indent="0" marL="0" algn="l">
                        <a:buNone/>
                      </a:pPr>
                      <a:r>
                        <a:rPr/>
                        <a:t>PASS</a:t>
                      </a:r>
                    </a:p>
                  </a:txBody>
                </a:tc>
              </a:tr>
              <a:tr h="0">
                <a:tc>
                  <a:txBody>
                    <a:bodyPr/>
                    <a:lstStyle/>
                    <a:p>
                      <a:pPr lvl="0" indent="0" marL="0" algn="l">
                        <a:buNone/>
                      </a:pPr>
                      <a:r>
                        <a:rPr/>
                        <a:t>C1</a:t>
                      </a:r>
                    </a:p>
                  </a:txBody>
                </a:tc>
                <a:tc>
                  <a:txBody>
                    <a:bodyPr/>
                    <a:lstStyle/>
                    <a:p>
                      <a:pPr lvl="0" indent="0" marL="0" algn="l">
                        <a:buNone/>
                      </a:pPr>
                      <a:r>
                        <a:rPr/>
                        <a:t>ATT</a:t>
                      </a:r>
                    </a:p>
                  </a:txBody>
                </a:tc>
                <a:tc>
                  <a:txBody>
                    <a:bodyPr/>
                    <a:lstStyle/>
                    <a:p>
                      <a:pPr lvl="0" indent="0" marL="0" algn="r">
                        <a:buNone/>
                      </a:pPr>
                      <a:r>
                        <a:rPr/>
                        <a:t>6557</a:t>
                      </a:r>
                    </a:p>
                  </a:txBody>
                </a:tc>
                <a:tc>
                  <a:txBody>
                    <a:bodyPr/>
                    <a:lstStyle/>
                    <a:p>
                      <a:pPr lvl="0" indent="0" marL="0" algn="l">
                        <a:buNone/>
                      </a:pPr>
                      <a:r>
                        <a:rPr/>
                        <a:t>-0.005</a:t>
                      </a:r>
                    </a:p>
                  </a:txBody>
                </a:tc>
                <a:tc>
                  <a:txBody>
                    <a:bodyPr/>
                    <a:lstStyle/>
                    <a:p>
                      <a:pPr lvl="0" indent="0" marL="0" algn="l">
                        <a:buNone/>
                      </a:pPr>
                      <a:r>
                        <a:rPr/>
                        <a:t>-0.018</a:t>
                      </a:r>
                    </a:p>
                  </a:txBody>
                </a:tc>
                <a:tc>
                  <a:txBody>
                    <a:bodyPr/>
                    <a:lstStyle/>
                    <a:p>
                      <a:pPr lvl="0" indent="0" marL="0" algn="l">
                        <a:buNone/>
                      </a:pPr>
                      <a:r>
                        <a:rPr/>
                        <a:t>0.008</a:t>
                      </a:r>
                    </a:p>
                  </a:txBody>
                </a:tc>
                <a:tc>
                  <a:txBody>
                    <a:bodyPr/>
                    <a:lstStyle/>
                    <a:p>
                      <a:pPr lvl="0" indent="0" marL="0" algn="l">
                        <a:buNone/>
                      </a:pPr>
                      <a:r>
                        <a:rPr/>
                        <a:t>0.434</a:t>
                      </a:r>
                    </a:p>
                  </a:txBody>
                </a:tc>
                <a:tc>
                  <a:txBody>
                    <a:bodyPr/>
                    <a:lstStyle/>
                    <a:p>
                      <a:pPr lvl="0" indent="0" marL="0" algn="l">
                        <a:buNone/>
                      </a:pPr>
                      <a:r>
                        <a:rPr/>
                        <a:t>PASS</a:t>
                      </a:r>
                    </a:p>
                  </a:txBody>
                </a:tc>
              </a:tr>
              <a:tr h="0">
                <a:tc>
                  <a:txBody>
                    <a:bodyPr/>
                    <a:lstStyle/>
                    <a:p>
                      <a:pPr lvl="0" indent="0" marL="0" algn="l">
                        <a:buNone/>
                      </a:pPr>
                      <a:r>
                        <a:rPr/>
                        <a:t>C1</a:t>
                      </a:r>
                    </a:p>
                  </a:txBody>
                </a:tc>
                <a:tc>
                  <a:txBody>
                    <a:bodyPr/>
                    <a:lstStyle/>
                    <a:p>
                      <a:pPr lvl="0" indent="0" marL="0" algn="l">
                        <a:buNone/>
                      </a:pPr>
                      <a:r>
                        <a:rPr/>
                        <a:t>ATO</a:t>
                      </a:r>
                    </a:p>
                  </a:txBody>
                </a:tc>
                <a:tc>
                  <a:txBody>
                    <a:bodyPr/>
                    <a:lstStyle/>
                    <a:p>
                      <a:pPr lvl="0" indent="0" marL="0" algn="r">
                        <a:buNone/>
                      </a:pPr>
                      <a:r>
                        <a:rPr/>
                        <a:t>6557</a:t>
                      </a:r>
                    </a:p>
                  </a:txBody>
                </a:tc>
                <a:tc>
                  <a:txBody>
                    <a:bodyPr/>
                    <a:lstStyle/>
                    <a:p>
                      <a:pPr lvl="0" indent="0" marL="0" algn="l">
                        <a:buNone/>
                      </a:pPr>
                      <a:r>
                        <a:rPr/>
                        <a:t>0.000</a:t>
                      </a:r>
                    </a:p>
                  </a:txBody>
                </a:tc>
                <a:tc>
                  <a:txBody>
                    <a:bodyPr/>
                    <a:lstStyle/>
                    <a:p>
                      <a:pPr lvl="0" indent="0" marL="0" algn="l">
                        <a:buNone/>
                      </a:pPr>
                      <a:r>
                        <a:rPr/>
                        <a:t>-0.011</a:t>
                      </a:r>
                    </a:p>
                  </a:txBody>
                </a:tc>
                <a:tc>
                  <a:txBody>
                    <a:bodyPr/>
                    <a:lstStyle/>
                    <a:p>
                      <a:pPr lvl="0" indent="0" marL="0" algn="l">
                        <a:buNone/>
                      </a:pPr>
                      <a:r>
                        <a:rPr/>
                        <a:t>0.012</a:t>
                      </a:r>
                    </a:p>
                  </a:txBody>
                </a:tc>
                <a:tc>
                  <a:txBody>
                    <a:bodyPr/>
                    <a:lstStyle/>
                    <a:p>
                      <a:pPr lvl="0" indent="0" marL="0" algn="l">
                        <a:buNone/>
                      </a:pPr>
                      <a:r>
                        <a:rPr/>
                        <a:t>0.945</a:t>
                      </a:r>
                    </a:p>
                  </a:txBody>
                </a:tc>
                <a:tc>
                  <a:txBody>
                    <a:bodyPr/>
                    <a:lstStyle/>
                    <a:p>
                      <a:pPr lvl="0" indent="0" marL="0" algn="l">
                        <a:buNone/>
                      </a:pPr>
                      <a:r>
                        <a:rPr/>
                        <a:t>PASS</a:t>
                      </a:r>
                    </a:p>
                  </a:txBody>
                </a:tc>
              </a:tr>
              <a:tr h="0">
                <a:tc>
                  <a:txBody>
                    <a:bodyPr/>
                    <a:lstStyle/>
                    <a:p>
                      <a:pPr lvl="0" indent="0" marL="0" algn="l">
                        <a:buNone/>
                      </a:pPr>
                      <a:r>
                        <a:rPr/>
                        <a:t>C2</a:t>
                      </a:r>
                    </a:p>
                  </a:txBody>
                </a:tc>
                <a:tc>
                  <a:txBody>
                    <a:bodyPr/>
                    <a:lstStyle/>
                    <a:p>
                      <a:pPr lvl="0" indent="0" marL="0" algn="l">
                        <a:buNone/>
                      </a:pPr>
                      <a:r>
                        <a:rPr/>
                        <a:t>trimmed_ATE</a:t>
                      </a:r>
                    </a:p>
                  </a:txBody>
                </a:tc>
                <a:tc>
                  <a:txBody>
                    <a:bodyPr/>
                    <a:lstStyle/>
                    <a:p>
                      <a:pPr lvl="0" indent="0" marL="0" algn="r">
                        <a:buNone/>
                      </a:pPr>
                      <a:r>
                        <a:rPr/>
                        <a:t>4327</a:t>
                      </a:r>
                    </a:p>
                  </a:txBody>
                </a:tc>
                <a:tc>
                  <a:txBody>
                    <a:bodyPr/>
                    <a:lstStyle/>
                    <a:p>
                      <a:pPr lvl="0" indent="0" marL="0" algn="l">
                        <a:buNone/>
                      </a:pPr>
                      <a:r>
                        <a:rPr/>
                        <a:t>0.003</a:t>
                      </a:r>
                    </a:p>
                  </a:txBody>
                </a:tc>
                <a:tc>
                  <a:txBody>
                    <a:bodyPr/>
                    <a:lstStyle/>
                    <a:p>
                      <a:pPr lvl="0" indent="0" marL="0" algn="l">
                        <a:buNone/>
                      </a:pPr>
                      <a:r>
                        <a:rPr/>
                        <a:t>-0.008</a:t>
                      </a:r>
                    </a:p>
                  </a:txBody>
                </a:tc>
                <a:tc>
                  <a:txBody>
                    <a:bodyPr/>
                    <a:lstStyle/>
                    <a:p>
                      <a:pPr lvl="0" indent="0" marL="0" algn="l">
                        <a:buNone/>
                      </a:pPr>
                      <a:r>
                        <a:rPr/>
                        <a:t>0.014</a:t>
                      </a:r>
                    </a:p>
                  </a:txBody>
                </a:tc>
                <a:tc>
                  <a:txBody>
                    <a:bodyPr/>
                    <a:lstStyle/>
                    <a:p>
                      <a:pPr lvl="0" indent="0" marL="0" algn="l">
                        <a:buNone/>
                      </a:pPr>
                      <a:r>
                        <a:rPr/>
                        <a:t>0.570</a:t>
                      </a:r>
                    </a:p>
                  </a:txBody>
                </a:tc>
                <a:tc>
                  <a:txBody>
                    <a:bodyPr/>
                    <a:lstStyle/>
                    <a:p>
                      <a:pPr lvl="0" indent="0" marL="0" algn="l">
                        <a:buNone/>
                      </a:pPr>
                      <a:r>
                        <a:rPr/>
                        <a:t>PASS</a:t>
                      </a:r>
                    </a:p>
                  </a:txBody>
                </a:tc>
              </a:tr>
              <a:tr h="0">
                <a:tc>
                  <a:txBody>
                    <a:bodyPr/>
                    <a:lstStyle/>
                    <a:p>
                      <a:pPr lvl="0" indent="0" marL="0" algn="l">
                        <a:buNone/>
                      </a:pPr>
                      <a:r>
                        <a:rPr/>
                        <a:t>C2</a:t>
                      </a:r>
                    </a:p>
                  </a:txBody>
                </a:tc>
                <a:tc>
                  <a:txBody>
                    <a:bodyPr/>
                    <a:lstStyle/>
                    <a:p>
                      <a:pPr lvl="0" indent="0" marL="0" algn="l">
                        <a:buNone/>
                      </a:pPr>
                      <a:r>
                        <a:rPr/>
                        <a:t>ATT</a:t>
                      </a:r>
                    </a:p>
                  </a:txBody>
                </a:tc>
                <a:tc>
                  <a:txBody>
                    <a:bodyPr/>
                    <a:lstStyle/>
                    <a:p>
                      <a:pPr lvl="0" indent="0" marL="0" algn="r">
                        <a:buNone/>
                      </a:pPr>
                      <a:r>
                        <a:rPr/>
                        <a:t>5632</a:t>
                      </a:r>
                    </a:p>
                  </a:txBody>
                </a:tc>
                <a:tc>
                  <a:txBody>
                    <a:bodyPr/>
                    <a:lstStyle/>
                    <a:p>
                      <a:pPr lvl="0" indent="0" marL="0" algn="l">
                        <a:buNone/>
                      </a:pPr>
                      <a:r>
                        <a:rPr/>
                        <a:t>0.001</a:t>
                      </a:r>
                    </a:p>
                  </a:txBody>
                </a:tc>
                <a:tc>
                  <a:txBody>
                    <a:bodyPr/>
                    <a:lstStyle/>
                    <a:p>
                      <a:pPr lvl="0" indent="0" marL="0" algn="l">
                        <a:buNone/>
                      </a:pPr>
                      <a:r>
                        <a:rPr/>
                        <a:t>-0.014</a:t>
                      </a:r>
                    </a:p>
                  </a:txBody>
                </a:tc>
                <a:tc>
                  <a:txBody>
                    <a:bodyPr/>
                    <a:lstStyle/>
                    <a:p>
                      <a:pPr lvl="0" indent="0" marL="0" algn="l">
                        <a:buNone/>
                      </a:pPr>
                      <a:r>
                        <a:rPr/>
                        <a:t>0.016</a:t>
                      </a:r>
                    </a:p>
                  </a:txBody>
                </a:tc>
                <a:tc>
                  <a:txBody>
                    <a:bodyPr/>
                    <a:lstStyle/>
                    <a:p>
                      <a:pPr lvl="0" indent="0" marL="0" algn="l">
                        <a:buNone/>
                      </a:pPr>
                      <a:r>
                        <a:rPr/>
                        <a:t>0.918</a:t>
                      </a:r>
                    </a:p>
                  </a:txBody>
                </a:tc>
                <a:tc>
                  <a:txBody>
                    <a:bodyPr/>
                    <a:lstStyle/>
                    <a:p>
                      <a:pPr lvl="0" indent="0" marL="0" algn="l">
                        <a:buNone/>
                      </a:pPr>
                      <a:r>
                        <a:rPr/>
                        <a:t>PASS</a:t>
                      </a:r>
                    </a:p>
                  </a:txBody>
                </a:tc>
              </a:tr>
              <a:tr h="0">
                <a:tc>
                  <a:txBody>
                    <a:bodyPr/>
                    <a:lstStyle/>
                    <a:p>
                      <a:pPr lvl="0" indent="0" marL="0" algn="l">
                        <a:buNone/>
                      </a:pPr>
                      <a:r>
                        <a:rPr/>
                        <a:t>C2</a:t>
                      </a:r>
                    </a:p>
                  </a:txBody>
                </a:tc>
                <a:tc>
                  <a:txBody>
                    <a:bodyPr/>
                    <a:lstStyle/>
                    <a:p>
                      <a:pPr lvl="0" indent="0" marL="0" algn="l">
                        <a:buNone/>
                      </a:pPr>
                      <a:r>
                        <a:rPr/>
                        <a:t>ATO</a:t>
                      </a:r>
                    </a:p>
                  </a:txBody>
                </a:tc>
                <a:tc>
                  <a:txBody>
                    <a:bodyPr/>
                    <a:lstStyle/>
                    <a:p>
                      <a:pPr lvl="0" indent="0" marL="0" algn="r">
                        <a:buNone/>
                      </a:pPr>
                      <a:r>
                        <a:rPr/>
                        <a:t>5632</a:t>
                      </a:r>
                    </a:p>
                  </a:txBody>
                </a:tc>
                <a:tc>
                  <a:txBody>
                    <a:bodyPr/>
                    <a:lstStyle/>
                    <a:p>
                      <a:pPr lvl="0" indent="0" marL="0" algn="l">
                        <a:buNone/>
                      </a:pPr>
                      <a:r>
                        <a:rPr/>
                        <a:t>0.005</a:t>
                      </a:r>
                    </a:p>
                  </a:txBody>
                </a:tc>
                <a:tc>
                  <a:txBody>
                    <a:bodyPr/>
                    <a:lstStyle/>
                    <a:p>
                      <a:pPr lvl="0" indent="0" marL="0" algn="l">
                        <a:buNone/>
                      </a:pPr>
                      <a:r>
                        <a:rPr/>
                        <a:t>-0.006</a:t>
                      </a:r>
                    </a:p>
                  </a:txBody>
                </a:tc>
                <a:tc>
                  <a:txBody>
                    <a:bodyPr/>
                    <a:lstStyle/>
                    <a:p>
                      <a:pPr lvl="0" indent="0" marL="0" algn="l">
                        <a:buNone/>
                      </a:pPr>
                      <a:r>
                        <a:rPr/>
                        <a:t>0.016</a:t>
                      </a:r>
                    </a:p>
                  </a:txBody>
                </a:tc>
                <a:tc>
                  <a:txBody>
                    <a:bodyPr/>
                    <a:lstStyle/>
                    <a:p>
                      <a:pPr lvl="0" indent="0" marL="0" algn="l">
                        <a:buNone/>
                      </a:pPr>
                      <a:r>
                        <a:rPr/>
                        <a:t>0.376</a:t>
                      </a:r>
                    </a:p>
                  </a:txBody>
                </a:tc>
                <a:tc>
                  <a:txBody>
                    <a:bodyPr/>
                    <a:lstStyle/>
                    <a:p>
                      <a:pPr lvl="0" indent="0" marL="0" algn="l">
                        <a:buNone/>
                      </a:pPr>
                      <a:r>
                        <a:rPr/>
                        <a:t>PASS</a:t>
                      </a:r>
                    </a:p>
                  </a:txBody>
                </a:tc>
              </a:tr>
              <a:tr h="0">
                <a:tc>
                  <a:txBody>
                    <a:bodyPr/>
                    <a:lstStyle/>
                    <a:p>
                      <a:pPr lvl="0" indent="0" marL="0" algn="l">
                        <a:buNone/>
                      </a:pPr>
                      <a:r>
                        <a:rPr/>
                        <a:t>C3</a:t>
                      </a:r>
                    </a:p>
                  </a:txBody>
                </a:tc>
                <a:tc>
                  <a:txBody>
                    <a:bodyPr/>
                    <a:lstStyle/>
                    <a:p>
                      <a:pPr lvl="0" indent="0" marL="0" algn="l">
                        <a:buNone/>
                      </a:pPr>
                      <a:r>
                        <a:rPr/>
                        <a:t>ATE</a:t>
                      </a:r>
                    </a:p>
                  </a:txBody>
                </a:tc>
                <a:tc>
                  <a:txBody>
                    <a:bodyPr/>
                    <a:lstStyle/>
                    <a:p>
                      <a:pPr lvl="0" indent="0" marL="0" algn="r">
                        <a:buNone/>
                      </a:pPr>
                      <a:r>
                        <a:rPr/>
                        <a:t>8323</a:t>
                      </a:r>
                    </a:p>
                  </a:txBody>
                </a:tc>
                <a:tc>
                  <a:txBody>
                    <a:bodyPr/>
                    <a:lstStyle/>
                    <a:p>
                      <a:pPr lvl="0" indent="0" marL="0" algn="l">
                        <a:buNone/>
                      </a:pPr>
                      <a:r>
                        <a:rPr/>
                        <a:t>0.018</a:t>
                      </a:r>
                    </a:p>
                  </a:txBody>
                </a:tc>
                <a:tc>
                  <a:txBody>
                    <a:bodyPr/>
                    <a:lstStyle/>
                    <a:p>
                      <a:pPr lvl="0" indent="0" marL="0" algn="l">
                        <a:buNone/>
                      </a:pPr>
                      <a:r>
                        <a:rPr/>
                        <a:t>0.008</a:t>
                      </a:r>
                    </a:p>
                  </a:txBody>
                </a:tc>
                <a:tc>
                  <a:txBody>
                    <a:bodyPr/>
                    <a:lstStyle/>
                    <a:p>
                      <a:pPr lvl="0" indent="0" marL="0" algn="l">
                        <a:buNone/>
                      </a:pPr>
                      <a:r>
                        <a:rPr/>
                        <a:t>0.028</a:t>
                      </a:r>
                    </a:p>
                  </a:txBody>
                </a:tc>
                <a:tc>
                  <a:txBody>
                    <a:bodyPr/>
                    <a:lstStyle/>
                    <a:p>
                      <a:pPr lvl="0" indent="0" marL="0" algn="l">
                        <a:buNone/>
                      </a:pPr>
                      <a:r>
                        <a:rPr/>
                        <a:t>0.000</a:t>
                      </a:r>
                    </a:p>
                  </a:txBody>
                </a:tc>
                <a:tc>
                  <a:txBody>
                    <a:bodyPr/>
                    <a:lstStyle/>
                    <a:p>
                      <a:pPr lvl="0" indent="0" marL="0" algn="l">
                        <a:buNone/>
                      </a:pPr>
                      <a:r>
                        <a:rPr/>
                        <a:t>FLAG</a:t>
                      </a:r>
                    </a:p>
                  </a:txBody>
                </a:tc>
              </a:tr>
              <a:tr h="0">
                <a:tc>
                  <a:txBody>
                    <a:bodyPr/>
                    <a:lstStyle/>
                    <a:p>
                      <a:pPr lvl="0" indent="0" marL="0" algn="l">
                        <a:buNone/>
                      </a:pPr>
                      <a:r>
                        <a:rPr/>
                        <a:t>C3</a:t>
                      </a:r>
                    </a:p>
                  </a:txBody>
                </a:tc>
                <a:tc>
                  <a:txBody>
                    <a:bodyPr/>
                    <a:lstStyle/>
                    <a:p>
                      <a:pPr lvl="0" indent="0" marL="0" algn="l">
                        <a:buNone/>
                      </a:pPr>
                      <a:r>
                        <a:rPr/>
                        <a:t>trimmed_ATE</a:t>
                      </a:r>
                    </a:p>
                  </a:txBody>
                </a:tc>
                <a:tc>
                  <a:txBody>
                    <a:bodyPr/>
                    <a:lstStyle/>
                    <a:p>
                      <a:pPr lvl="0" indent="0" marL="0" algn="r">
                        <a:buNone/>
                      </a:pPr>
                      <a:r>
                        <a:rPr/>
                        <a:t>8009</a:t>
                      </a:r>
                    </a:p>
                  </a:txBody>
                </a:tc>
                <a:tc>
                  <a:txBody>
                    <a:bodyPr/>
                    <a:lstStyle/>
                    <a:p>
                      <a:pPr lvl="0" indent="0" marL="0" algn="l">
                        <a:buNone/>
                      </a:pPr>
                      <a:r>
                        <a:rPr/>
                        <a:t>0.019</a:t>
                      </a:r>
                    </a:p>
                  </a:txBody>
                </a:tc>
                <a:tc>
                  <a:txBody>
                    <a:bodyPr/>
                    <a:lstStyle/>
                    <a:p>
                      <a:pPr lvl="0" indent="0" marL="0" algn="l">
                        <a:buNone/>
                      </a:pPr>
                      <a:r>
                        <a:rPr/>
                        <a:t>0.008</a:t>
                      </a:r>
                    </a:p>
                  </a:txBody>
                </a:tc>
                <a:tc>
                  <a:txBody>
                    <a:bodyPr/>
                    <a:lstStyle/>
                    <a:p>
                      <a:pPr lvl="0" indent="0" marL="0" algn="l">
                        <a:buNone/>
                      </a:pPr>
                      <a:r>
                        <a:rPr/>
                        <a:t>0.029</a:t>
                      </a:r>
                    </a:p>
                  </a:txBody>
                </a:tc>
                <a:tc>
                  <a:txBody>
                    <a:bodyPr/>
                    <a:lstStyle/>
                    <a:p>
                      <a:pPr lvl="0" indent="0" marL="0" algn="l">
                        <a:buNone/>
                      </a:pPr>
                      <a:r>
                        <a:rPr/>
                        <a:t>0.000</a:t>
                      </a:r>
                    </a:p>
                  </a:txBody>
                </a:tc>
                <a:tc>
                  <a:txBody>
                    <a:bodyPr/>
                    <a:lstStyle/>
                    <a:p>
                      <a:pPr lvl="0" indent="0" marL="0" algn="l">
                        <a:buNone/>
                      </a:pPr>
                      <a:r>
                        <a:rPr/>
                        <a:t>PASS</a:t>
                      </a:r>
                    </a:p>
                  </a:txBody>
                </a:tc>
              </a:tr>
              <a:tr h="0">
                <a:tc>
                  <a:txBody>
                    <a:bodyPr/>
                    <a:lstStyle/>
                    <a:p>
                      <a:pPr lvl="0" indent="0" marL="0" algn="l">
                        <a:buNone/>
                      </a:pPr>
                      <a:r>
                        <a:rPr/>
                        <a:t>C3</a:t>
                      </a:r>
                    </a:p>
                  </a:txBody>
                </a:tc>
                <a:tc>
                  <a:txBody>
                    <a:bodyPr/>
                    <a:lstStyle/>
                    <a:p>
                      <a:pPr lvl="0" indent="0" marL="0" algn="l">
                        <a:buNone/>
                      </a:pPr>
                      <a:r>
                        <a:rPr/>
                        <a:t>ATT</a:t>
                      </a:r>
                    </a:p>
                  </a:txBody>
                </a:tc>
                <a:tc>
                  <a:txBody>
                    <a:bodyPr/>
                    <a:lstStyle/>
                    <a:p>
                      <a:pPr lvl="0" indent="0" marL="0" algn="r">
                        <a:buNone/>
                      </a:pPr>
                      <a:r>
                        <a:rPr/>
                        <a:t>6557</a:t>
                      </a:r>
                    </a:p>
                  </a:txBody>
                </a:tc>
                <a:tc>
                  <a:txBody>
                    <a:bodyPr/>
                    <a:lstStyle/>
                    <a:p>
                      <a:pPr lvl="0" indent="0" marL="0" algn="l">
                        <a:buNone/>
                      </a:pPr>
                      <a:r>
                        <a:rPr/>
                        <a:t>0.019</a:t>
                      </a:r>
                    </a:p>
                  </a:txBody>
                </a:tc>
                <a:tc>
                  <a:txBody>
                    <a:bodyPr/>
                    <a:lstStyle/>
                    <a:p>
                      <a:pPr lvl="0" indent="0" marL="0" algn="l">
                        <a:buNone/>
                      </a:pPr>
                      <a:r>
                        <a:rPr/>
                        <a:t>0.006</a:t>
                      </a:r>
                    </a:p>
                  </a:txBody>
                </a:tc>
                <a:tc>
                  <a:txBody>
                    <a:bodyPr/>
                    <a:lstStyle/>
                    <a:p>
                      <a:pPr lvl="0" indent="0" marL="0" algn="l">
                        <a:buNone/>
                      </a:pPr>
                      <a:r>
                        <a:rPr/>
                        <a:t>0.033</a:t>
                      </a:r>
                    </a:p>
                  </a:txBody>
                </a:tc>
                <a:tc>
                  <a:txBody>
                    <a:bodyPr/>
                    <a:lstStyle/>
                    <a:p>
                      <a:pPr lvl="0" indent="0" marL="0" algn="l">
                        <a:buNone/>
                      </a:pPr>
                      <a:r>
                        <a:rPr/>
                        <a:t>0.005</a:t>
                      </a:r>
                    </a:p>
                  </a:txBody>
                </a:tc>
                <a:tc>
                  <a:txBody>
                    <a:bodyPr/>
                    <a:lstStyle/>
                    <a:p>
                      <a:pPr lvl="0" indent="0" marL="0" algn="l">
                        <a:buNone/>
                      </a:pPr>
                      <a:r>
                        <a:rPr/>
                        <a:t>PASS</a:t>
                      </a:r>
                    </a:p>
                  </a:txBody>
                </a:tc>
              </a:tr>
              <a:tr h="0">
                <a:tc>
                  <a:txBody>
                    <a:bodyPr/>
                    <a:lstStyle/>
                    <a:p>
                      <a:pPr lvl="0" indent="0" marL="0" algn="l">
                        <a:buNone/>
                      </a:pPr>
                      <a:r>
                        <a:rPr/>
                        <a:t>C3</a:t>
                      </a:r>
                    </a:p>
                  </a:txBody>
                </a:tc>
                <a:tc>
                  <a:txBody>
                    <a:bodyPr/>
                    <a:lstStyle/>
                    <a:p>
                      <a:pPr lvl="0" indent="0" marL="0" algn="l">
                        <a:buNone/>
                      </a:pPr>
                      <a:r>
                        <a:rPr/>
                        <a:t>ATO</a:t>
                      </a:r>
                    </a:p>
                  </a:txBody>
                </a:tc>
                <a:tc>
                  <a:txBody>
                    <a:bodyPr/>
                    <a:lstStyle/>
                    <a:p>
                      <a:pPr lvl="0" indent="0" marL="0" algn="r">
                        <a:buNone/>
                      </a:pPr>
                      <a:r>
                        <a:rPr/>
                        <a:t>6557</a:t>
                      </a:r>
                    </a:p>
                  </a:txBody>
                </a:tc>
                <a:tc>
                  <a:txBody>
                    <a:bodyPr/>
                    <a:lstStyle/>
                    <a:p>
                      <a:pPr lvl="0" indent="0" marL="0" algn="l">
                        <a:buNone/>
                      </a:pPr>
                      <a:r>
                        <a:rPr/>
                        <a:t>0.017</a:t>
                      </a:r>
                    </a:p>
                  </a:txBody>
                </a:tc>
                <a:tc>
                  <a:txBody>
                    <a:bodyPr/>
                    <a:lstStyle/>
                    <a:p>
                      <a:pPr lvl="0" indent="0" marL="0" algn="l">
                        <a:buNone/>
                      </a:pPr>
                      <a:r>
                        <a:rPr/>
                        <a:t>0.007</a:t>
                      </a:r>
                    </a:p>
                  </a:txBody>
                </a:tc>
                <a:tc>
                  <a:txBody>
                    <a:bodyPr/>
                    <a:lstStyle/>
                    <a:p>
                      <a:pPr lvl="0" indent="0" marL="0" algn="l">
                        <a:buNone/>
                      </a:pPr>
                      <a:r>
                        <a:rPr/>
                        <a:t>0.026</a:t>
                      </a:r>
                    </a:p>
                  </a:txBody>
                </a:tc>
                <a:tc>
                  <a:txBody>
                    <a:bodyPr/>
                    <a:lstStyle/>
                    <a:p>
                      <a:pPr lvl="0" indent="0" marL="0" algn="l">
                        <a:buNone/>
                      </a:pPr>
                      <a:r>
                        <a:rPr/>
                        <a:t>0.000</a:t>
                      </a:r>
                    </a:p>
                  </a:txBody>
                </a:tc>
                <a:tc>
                  <a:txBody>
                    <a:bodyPr/>
                    <a:lstStyle/>
                    <a:p>
                      <a:pPr lvl="0" indent="0" marL="0" algn="l">
                        <a:buNone/>
                      </a:pPr>
                      <a:r>
                        <a:rPr/>
                        <a:t>PASS</a:t>
                      </a:r>
                    </a:p>
                  </a:txBody>
                </a:tc>
              </a:tr>
              <a:tr h="0">
                <a:tc>
                  <a:txBody>
                    <a:bodyPr/>
                    <a:lstStyle/>
                    <a:p>
                      <a:pPr lvl="0" indent="0" marL="0" algn="l">
                        <a:buNone/>
                      </a:pPr>
                      <a:r>
                        <a:rPr/>
                        <a:t>C4</a:t>
                      </a:r>
                    </a:p>
                  </a:txBody>
                </a:tc>
                <a:tc>
                  <a:txBody>
                    <a:bodyPr/>
                    <a:lstStyle/>
                    <a:p>
                      <a:pPr lvl="0" indent="0" marL="0" algn="l">
                        <a:buNone/>
                      </a:pPr>
                      <a:r>
                        <a:rPr/>
                        <a:t>ATE</a:t>
                      </a:r>
                    </a:p>
                  </a:txBody>
                </a:tc>
                <a:tc>
                  <a:txBody>
                    <a:bodyPr/>
                    <a:lstStyle/>
                    <a:p>
                      <a:pPr lvl="0" indent="0" marL="0" algn="r">
                        <a:buNone/>
                      </a:pPr>
                      <a:r>
                        <a:rPr/>
                        <a:t>2197</a:t>
                      </a:r>
                    </a:p>
                  </a:txBody>
                </a:tc>
                <a:tc>
                  <a:txBody>
                    <a:bodyPr/>
                    <a:lstStyle/>
                    <a:p>
                      <a:pPr lvl="0" indent="0" marL="0" algn="l">
                        <a:buNone/>
                      </a:pPr>
                      <a:r>
                        <a:rPr/>
                        <a:t>-0.029</a:t>
                      </a:r>
                    </a:p>
                  </a:txBody>
                </a:tc>
                <a:tc>
                  <a:txBody>
                    <a:bodyPr/>
                    <a:lstStyle/>
                    <a:p>
                      <a:pPr lvl="0" indent="0" marL="0" algn="l">
                        <a:buNone/>
                      </a:pPr>
                      <a:r>
                        <a:rPr/>
                        <a:t>-0.049</a:t>
                      </a:r>
                    </a:p>
                  </a:txBody>
                </a:tc>
                <a:tc>
                  <a:txBody>
                    <a:bodyPr/>
                    <a:lstStyle/>
                    <a:p>
                      <a:pPr lvl="0" indent="0" marL="0" algn="l">
                        <a:buNone/>
                      </a:pPr>
                      <a:r>
                        <a:rPr/>
                        <a:t>-0.009</a:t>
                      </a:r>
                    </a:p>
                  </a:txBody>
                </a:tc>
                <a:tc>
                  <a:txBody>
                    <a:bodyPr/>
                    <a:lstStyle/>
                    <a:p>
                      <a:pPr lvl="0" indent="0" marL="0" algn="l">
                        <a:buNone/>
                      </a:pPr>
                      <a:r>
                        <a:rPr/>
                        <a:t>0.004</a:t>
                      </a:r>
                    </a:p>
                  </a:txBody>
                </a:tc>
                <a:tc>
                  <a:txBody>
                    <a:bodyPr/>
                    <a:lstStyle/>
                    <a:p>
                      <a:pPr lvl="0" indent="0" marL="0" algn="l">
                        <a:buNone/>
                      </a:pPr>
                      <a:r>
                        <a:rPr/>
                        <a:t>FLAG</a:t>
                      </a:r>
                    </a:p>
                  </a:txBody>
                </a:tc>
              </a:tr>
              <a:tr h="0">
                <a:tc>
                  <a:txBody>
                    <a:bodyPr/>
                    <a:lstStyle/>
                    <a:p>
                      <a:pPr lvl="0" indent="0" marL="0" algn="l">
                        <a:buNone/>
                      </a:pPr>
                      <a:r>
                        <a:rPr/>
                        <a:t>C4</a:t>
                      </a:r>
                    </a:p>
                  </a:txBody>
                </a:tc>
                <a:tc>
                  <a:txBody>
                    <a:bodyPr/>
                    <a:lstStyle/>
                    <a:p>
                      <a:pPr lvl="0" indent="0" marL="0" algn="l">
                        <a:buNone/>
                      </a:pPr>
                      <a:r>
                        <a:rPr/>
                        <a:t>trimmed_ATE</a:t>
                      </a:r>
                    </a:p>
                  </a:txBody>
                </a:tc>
                <a:tc>
                  <a:txBody>
                    <a:bodyPr/>
                    <a:lstStyle/>
                    <a:p>
                      <a:pPr lvl="0" indent="0" marL="0" algn="r">
                        <a:buNone/>
                      </a:pPr>
                      <a:r>
                        <a:rPr/>
                        <a:t>2098</a:t>
                      </a:r>
                    </a:p>
                  </a:txBody>
                </a:tc>
                <a:tc>
                  <a:txBody>
                    <a:bodyPr/>
                    <a:lstStyle/>
                    <a:p>
                      <a:pPr lvl="0" indent="0" marL="0" algn="l">
                        <a:buNone/>
                      </a:pPr>
                      <a:r>
                        <a:rPr/>
                        <a:t>-0.021</a:t>
                      </a:r>
                    </a:p>
                  </a:txBody>
                </a:tc>
                <a:tc>
                  <a:txBody>
                    <a:bodyPr/>
                    <a:lstStyle/>
                    <a:p>
                      <a:pPr lvl="0" indent="0" marL="0" algn="l">
                        <a:buNone/>
                      </a:pPr>
                      <a:r>
                        <a:rPr/>
                        <a:t>-0.040</a:t>
                      </a:r>
                    </a:p>
                  </a:txBody>
                </a:tc>
                <a:tc>
                  <a:txBody>
                    <a:bodyPr/>
                    <a:lstStyle/>
                    <a:p>
                      <a:pPr lvl="0" indent="0" marL="0" algn="l">
                        <a:buNone/>
                      </a:pPr>
                      <a:r>
                        <a:rPr/>
                        <a:t>-0.002</a:t>
                      </a:r>
                    </a:p>
                  </a:txBody>
                </a:tc>
                <a:tc>
                  <a:txBody>
                    <a:bodyPr/>
                    <a:lstStyle/>
                    <a:p>
                      <a:pPr lvl="0" indent="0" marL="0" algn="l">
                        <a:buNone/>
                      </a:pPr>
                      <a:r>
                        <a:rPr/>
                        <a:t>0.031</a:t>
                      </a:r>
                    </a:p>
                  </a:txBody>
                </a:tc>
                <a:tc>
                  <a:txBody>
                    <a:bodyPr/>
                    <a:lstStyle/>
                    <a:p>
                      <a:pPr lvl="0" indent="0" marL="0" algn="l">
                        <a:buNone/>
                      </a:pPr>
                      <a:r>
                        <a:rPr/>
                        <a:t>PASS</a:t>
                      </a:r>
                    </a:p>
                  </a:txBody>
                </a:tc>
              </a:tr>
              <a:tr h="0">
                <a:tc>
                  <a:txBody>
                    <a:bodyPr/>
                    <a:lstStyle/>
                    <a:p>
                      <a:pPr lvl="0" indent="0" marL="0" algn="l">
                        <a:buNone/>
                      </a:pPr>
                      <a:r>
                        <a:rPr/>
                        <a:t>C4</a:t>
                      </a:r>
                    </a:p>
                  </a:txBody>
                </a:tc>
                <a:tc>
                  <a:txBody>
                    <a:bodyPr/>
                    <a:lstStyle/>
                    <a:p>
                      <a:pPr lvl="0" indent="0" marL="0" algn="l">
                        <a:buNone/>
                      </a:pPr>
                      <a:r>
                        <a:rPr/>
                        <a:t>ATT</a:t>
                      </a:r>
                    </a:p>
                  </a:txBody>
                </a:tc>
                <a:tc>
                  <a:txBody>
                    <a:bodyPr/>
                    <a:lstStyle/>
                    <a:p>
                      <a:pPr lvl="0" indent="0" marL="0" algn="r">
                        <a:buNone/>
                      </a:pPr>
                      <a:r>
                        <a:rPr/>
                        <a:t>1704</a:t>
                      </a:r>
                    </a:p>
                  </a:txBody>
                </a:tc>
                <a:tc>
                  <a:txBody>
                    <a:bodyPr/>
                    <a:lstStyle/>
                    <a:p>
                      <a:pPr lvl="0" indent="0" marL="0" algn="l">
                        <a:buNone/>
                      </a:pPr>
                      <a:r>
                        <a:rPr/>
                        <a:t>-0.019</a:t>
                      </a:r>
                    </a:p>
                  </a:txBody>
                </a:tc>
                <a:tc>
                  <a:txBody>
                    <a:bodyPr/>
                    <a:lstStyle/>
                    <a:p>
                      <a:pPr lvl="0" indent="0" marL="0" algn="l">
                        <a:buNone/>
                      </a:pPr>
                      <a:r>
                        <a:rPr/>
                        <a:t>-0.036</a:t>
                      </a:r>
                    </a:p>
                  </a:txBody>
                </a:tc>
                <a:tc>
                  <a:txBody>
                    <a:bodyPr/>
                    <a:lstStyle/>
                    <a:p>
                      <a:pPr lvl="0" indent="0" marL="0" algn="l">
                        <a:buNone/>
                      </a:pPr>
                      <a:r>
                        <a:rPr/>
                        <a:t>-0.002</a:t>
                      </a:r>
                    </a:p>
                  </a:txBody>
                </a:tc>
                <a:tc>
                  <a:txBody>
                    <a:bodyPr/>
                    <a:lstStyle/>
                    <a:p>
                      <a:pPr lvl="0" indent="0" marL="0" algn="l">
                        <a:buNone/>
                      </a:pPr>
                      <a:r>
                        <a:rPr/>
                        <a:t>0.033</a:t>
                      </a:r>
                    </a:p>
                  </a:txBody>
                </a:tc>
                <a:tc>
                  <a:txBody>
                    <a:bodyPr/>
                    <a:lstStyle/>
                    <a:p>
                      <a:pPr lvl="0" indent="0" marL="0" algn="l">
                        <a:buNone/>
                      </a:pPr>
                      <a:r>
                        <a:rPr/>
                        <a:t>PASS</a:t>
                      </a:r>
                    </a:p>
                  </a:txBody>
                </a:tc>
              </a:tr>
              <a:tr h="0">
                <a:tc>
                  <a:txBody>
                    <a:bodyPr/>
                    <a:lstStyle/>
                    <a:p>
                      <a:pPr lvl="0" indent="0" marL="0" algn="l">
                        <a:buNone/>
                      </a:pPr>
                      <a:r>
                        <a:rPr/>
                        <a:t>C4</a:t>
                      </a:r>
                    </a:p>
                  </a:txBody>
                </a:tc>
                <a:tc>
                  <a:txBody>
                    <a:bodyPr/>
                    <a:lstStyle/>
                    <a:p>
                      <a:pPr lvl="0" indent="0" marL="0" algn="l">
                        <a:buNone/>
                      </a:pPr>
                      <a:r>
                        <a:rPr/>
                        <a:t>ATO</a:t>
                      </a:r>
                    </a:p>
                  </a:txBody>
                </a:tc>
                <a:tc>
                  <a:txBody>
                    <a:bodyPr/>
                    <a:lstStyle/>
                    <a:p>
                      <a:pPr lvl="0" indent="0" marL="0" algn="r">
                        <a:buNone/>
                      </a:pPr>
                      <a:r>
                        <a:rPr/>
                        <a:t>1704</a:t>
                      </a:r>
                    </a:p>
                  </a:txBody>
                </a:tc>
                <a:tc>
                  <a:txBody>
                    <a:bodyPr/>
                    <a:lstStyle/>
                    <a:p>
                      <a:pPr lvl="0" indent="0" marL="0" algn="l">
                        <a:buNone/>
                      </a:pPr>
                      <a:r>
                        <a:rPr/>
                        <a:t>-0.008</a:t>
                      </a:r>
                    </a:p>
                  </a:txBody>
                </a:tc>
                <a:tc>
                  <a:txBody>
                    <a:bodyPr/>
                    <a:lstStyle/>
                    <a:p>
                      <a:pPr lvl="0" indent="0" marL="0" algn="l">
                        <a:buNone/>
                      </a:pPr>
                      <a:r>
                        <a:rPr/>
                        <a:t>-0.025</a:t>
                      </a:r>
                    </a:p>
                  </a:txBody>
                </a:tc>
                <a:tc>
                  <a:txBody>
                    <a:bodyPr/>
                    <a:lstStyle/>
                    <a:p>
                      <a:pPr lvl="0" indent="0" marL="0" algn="l">
                        <a:buNone/>
                      </a:pPr>
                      <a:r>
                        <a:rPr/>
                        <a:t>0.009</a:t>
                      </a:r>
                    </a:p>
                  </a:txBody>
                </a:tc>
                <a:tc>
                  <a:txBody>
                    <a:bodyPr/>
                    <a:lstStyle/>
                    <a:p>
                      <a:pPr lvl="0" indent="0" marL="0" algn="l">
                        <a:buNone/>
                      </a:pPr>
                      <a:r>
                        <a:rPr/>
                        <a:t>0.367</a:t>
                      </a:r>
                    </a:p>
                  </a:txBody>
                </a:tc>
                <a:tc>
                  <a:txBody>
                    <a:bodyPr/>
                    <a:lstStyle/>
                    <a:p>
                      <a:pPr lvl="0" indent="0" marL="0" algn="l">
                        <a:buNone/>
                      </a:pPr>
                      <a:r>
                        <a:rPr/>
                        <a:t>PASS</a:t>
                      </a:r>
                    </a:p>
                  </a:txBody>
                </a:tc>
              </a:tr>
              <a:tr h="0">
                <a:tc>
                  <a:txBody>
                    <a:bodyPr/>
                    <a:lstStyle/>
                    <a:p>
                      <a:pPr lvl="0" indent="0" marL="0" algn="l">
                        <a:buNone/>
                      </a:pPr>
                      <a:r>
                        <a:rPr/>
                        <a:t>PRIMARY</a:t>
                      </a:r>
                    </a:p>
                  </a:txBody>
                </a:tc>
                <a:tc>
                  <a:txBody>
                    <a:bodyPr/>
                    <a:lstStyle/>
                    <a:p>
                      <a:pPr lvl="0" indent="0" marL="0" algn="l">
                        <a:buNone/>
                      </a:pPr>
                      <a:r>
                        <a:rPr/>
                        <a:t>ATE</a:t>
                      </a:r>
                    </a:p>
                  </a:txBody>
                </a:tc>
                <a:tc>
                  <a:txBody>
                    <a:bodyPr/>
                    <a:lstStyle/>
                    <a:p>
                      <a:pPr lvl="0" indent="0" marL="0" algn="r">
                        <a:buNone/>
                      </a:pPr>
                      <a:r>
                        <a:rPr/>
                        <a:t>1616</a:t>
                      </a:r>
                    </a:p>
                  </a:txBody>
                </a:tc>
                <a:tc>
                  <a:txBody>
                    <a:bodyPr/>
                    <a:lstStyle/>
                    <a:p>
                      <a:pPr lvl="0" indent="0" marL="0" algn="l">
                        <a:buNone/>
                      </a:pPr>
                      <a:r>
                        <a:rPr/>
                        <a:t>-0.017</a:t>
                      </a:r>
                    </a:p>
                  </a:txBody>
                </a:tc>
                <a:tc>
                  <a:txBody>
                    <a:bodyPr/>
                    <a:lstStyle/>
                    <a:p>
                      <a:pPr lvl="0" indent="0" marL="0" algn="l">
                        <a:buNone/>
                      </a:pPr>
                      <a:r>
                        <a:rPr/>
                        <a:t>-0.035</a:t>
                      </a:r>
                    </a:p>
                  </a:txBody>
                </a:tc>
                <a:tc>
                  <a:txBody>
                    <a:bodyPr/>
                    <a:lstStyle/>
                    <a:p>
                      <a:pPr lvl="0" indent="0" marL="0" algn="l">
                        <a:buNone/>
                      </a:pPr>
                      <a:r>
                        <a:rPr/>
                        <a:t>0.001</a:t>
                      </a:r>
                    </a:p>
                  </a:txBody>
                </a:tc>
                <a:tc>
                  <a:txBody>
                    <a:bodyPr/>
                    <a:lstStyle/>
                    <a:p>
                      <a:pPr lvl="0" indent="0" marL="0" algn="l">
                        <a:buNone/>
                      </a:pPr>
                      <a:r>
                        <a:rPr/>
                        <a:t>0.068</a:t>
                      </a:r>
                    </a:p>
                  </a:txBody>
                </a:tc>
                <a:tc>
                  <a:txBody>
                    <a:bodyPr/>
                    <a:lstStyle/>
                    <a:p>
                      <a:pPr lvl="0" indent="0" marL="0" algn="l">
                        <a:buNone/>
                      </a:pPr>
                      <a:r>
                        <a:rPr/>
                        <a:t>PASS</a:t>
                      </a:r>
                    </a:p>
                  </a:txBody>
                </a:tc>
              </a:tr>
              <a:tr h="0">
                <a:tc>
                  <a:txBody>
                    <a:bodyPr/>
                    <a:lstStyle/>
                    <a:p>
                      <a:pPr lvl="0" indent="0" marL="0" algn="l">
                        <a:buNone/>
                      </a:pPr>
                      <a:r>
                        <a:rPr/>
                        <a:t>PRIMARY</a:t>
                      </a:r>
                    </a:p>
                  </a:txBody>
                </a:tc>
                <a:tc>
                  <a:txBody>
                    <a:bodyPr/>
                    <a:lstStyle/>
                    <a:p>
                      <a:pPr lvl="0" indent="0" marL="0" algn="l">
                        <a:buNone/>
                      </a:pPr>
                      <a:r>
                        <a:rPr/>
                        <a:t>trimmed_ATE</a:t>
                      </a:r>
                    </a:p>
                  </a:txBody>
                </a:tc>
                <a:tc>
                  <a:txBody>
                    <a:bodyPr/>
                    <a:lstStyle/>
                    <a:p>
                      <a:pPr lvl="0" indent="0" marL="0" algn="r">
                        <a:buNone/>
                      </a:pPr>
                      <a:r>
                        <a:rPr/>
                        <a:t>1615</a:t>
                      </a:r>
                    </a:p>
                  </a:txBody>
                </a:tc>
                <a:tc>
                  <a:txBody>
                    <a:bodyPr/>
                    <a:lstStyle/>
                    <a:p>
                      <a:pPr lvl="0" indent="0" marL="0" algn="l">
                        <a:buNone/>
                      </a:pPr>
                      <a:r>
                        <a:rPr/>
                        <a:t>-0.017</a:t>
                      </a:r>
                    </a:p>
                  </a:txBody>
                </a:tc>
                <a:tc>
                  <a:txBody>
                    <a:bodyPr/>
                    <a:lstStyle/>
                    <a:p>
                      <a:pPr lvl="0" indent="0" marL="0" algn="l">
                        <a:buNone/>
                      </a:pPr>
                      <a:r>
                        <a:rPr/>
                        <a:t>-0.035</a:t>
                      </a:r>
                    </a:p>
                  </a:txBody>
                </a:tc>
                <a:tc>
                  <a:txBody>
                    <a:bodyPr/>
                    <a:lstStyle/>
                    <a:p>
                      <a:pPr lvl="0" indent="0" marL="0" algn="l">
                        <a:buNone/>
                      </a:pPr>
                      <a:r>
                        <a:rPr/>
                        <a:t>0.001</a:t>
                      </a:r>
                    </a:p>
                  </a:txBody>
                </a:tc>
                <a:tc>
                  <a:txBody>
                    <a:bodyPr/>
                    <a:lstStyle/>
                    <a:p>
                      <a:pPr lvl="0" indent="0" marL="0" algn="l">
                        <a:buNone/>
                      </a:pPr>
                      <a:r>
                        <a:rPr/>
                        <a:t>0.062</a:t>
                      </a:r>
                    </a:p>
                  </a:txBody>
                </a:tc>
                <a:tc>
                  <a:txBody>
                    <a:bodyPr/>
                    <a:lstStyle/>
                    <a:p>
                      <a:pPr lvl="0" indent="0" marL="0" algn="l">
                        <a:buNone/>
                      </a:pPr>
                      <a:r>
                        <a:rPr/>
                        <a:t>PASS</a:t>
                      </a:r>
                    </a:p>
                  </a:txBody>
                </a:tc>
              </a:tr>
              <a:tr h="0">
                <a:tc>
                  <a:txBody>
                    <a:bodyPr/>
                    <a:lstStyle/>
                    <a:p>
                      <a:pPr lvl="0" indent="0" marL="0" algn="l">
                        <a:buNone/>
                      </a:pPr>
                      <a:r>
                        <a:rPr/>
                        <a:t>PRIMARY</a:t>
                      </a:r>
                    </a:p>
                  </a:txBody>
                </a:tc>
                <a:tc>
                  <a:txBody>
                    <a:bodyPr/>
                    <a:lstStyle/>
                    <a:p>
                      <a:pPr lvl="0" indent="0" marL="0" algn="l">
                        <a:buNone/>
                      </a:pPr>
                      <a:r>
                        <a:rPr/>
                        <a:t>ATT</a:t>
                      </a:r>
                    </a:p>
                  </a:txBody>
                </a:tc>
                <a:tc>
                  <a:txBody>
                    <a:bodyPr/>
                    <a:lstStyle/>
                    <a:p>
                      <a:pPr lvl="0" indent="0" marL="0" algn="r">
                        <a:buNone/>
                      </a:pPr>
                      <a:r>
                        <a:rPr/>
                        <a:t>1227</a:t>
                      </a:r>
                    </a:p>
                  </a:txBody>
                </a:tc>
                <a:tc>
                  <a:txBody>
                    <a:bodyPr/>
                    <a:lstStyle/>
                    <a:p>
                      <a:pPr lvl="0" indent="0" marL="0" algn="l">
                        <a:buNone/>
                      </a:pPr>
                      <a:r>
                        <a:rPr/>
                        <a:t>-0.028</a:t>
                      </a:r>
                    </a:p>
                  </a:txBody>
                </a:tc>
                <a:tc>
                  <a:txBody>
                    <a:bodyPr/>
                    <a:lstStyle/>
                    <a:p>
                      <a:pPr lvl="0" indent="0" marL="0" algn="l">
                        <a:buNone/>
                      </a:pPr>
                      <a:r>
                        <a:rPr/>
                        <a:t>-0.048</a:t>
                      </a:r>
                    </a:p>
                  </a:txBody>
                </a:tc>
                <a:tc>
                  <a:txBody>
                    <a:bodyPr/>
                    <a:lstStyle/>
                    <a:p>
                      <a:pPr lvl="0" indent="0" marL="0" algn="l">
                        <a:buNone/>
                      </a:pPr>
                      <a:r>
                        <a:rPr/>
                        <a:t>-0.009</a:t>
                      </a:r>
                    </a:p>
                  </a:txBody>
                </a:tc>
                <a:tc>
                  <a:txBody>
                    <a:bodyPr/>
                    <a:lstStyle/>
                    <a:p>
                      <a:pPr lvl="0" indent="0" marL="0" algn="l">
                        <a:buNone/>
                      </a:pPr>
                      <a:r>
                        <a:rPr/>
                        <a:t>0.005</a:t>
                      </a:r>
                    </a:p>
                  </a:txBody>
                </a:tc>
                <a:tc>
                  <a:txBody>
                    <a:bodyPr/>
                    <a:lstStyle/>
                    <a:p>
                      <a:pPr lvl="0" indent="0" marL="0" algn="l">
                        <a:buNone/>
                      </a:pPr>
                      <a:r>
                        <a:rPr/>
                        <a:t>PASS</a:t>
                      </a:r>
                    </a:p>
                  </a:txBody>
                </a:tc>
              </a:tr>
              <a:tr h="0">
                <a:tc>
                  <a:txBody>
                    <a:bodyPr/>
                    <a:lstStyle/>
                    <a:p>
                      <a:pPr lvl="0" indent="0" marL="0" algn="l">
                        <a:buNone/>
                      </a:pPr>
                      <a:r>
                        <a:rPr/>
                        <a:t>PRIMARY</a:t>
                      </a:r>
                    </a:p>
                  </a:txBody>
                </a:tc>
                <a:tc>
                  <a:txBody>
                    <a:bodyPr/>
                    <a:lstStyle/>
                    <a:p>
                      <a:pPr lvl="0" indent="0" marL="0" algn="l">
                        <a:buNone/>
                      </a:pPr>
                      <a:r>
                        <a:rPr/>
                        <a:t>ATO</a:t>
                      </a:r>
                    </a:p>
                  </a:txBody>
                </a:tc>
                <a:tc>
                  <a:txBody>
                    <a:bodyPr/>
                    <a:lstStyle/>
                    <a:p>
                      <a:pPr lvl="0" indent="0" marL="0" algn="r">
                        <a:buNone/>
                      </a:pPr>
                      <a:r>
                        <a:rPr/>
                        <a:t>1227</a:t>
                      </a:r>
                    </a:p>
                  </a:txBody>
                </a:tc>
                <a:tc>
                  <a:txBody>
                    <a:bodyPr/>
                    <a:lstStyle/>
                    <a:p>
                      <a:pPr lvl="0" indent="0" marL="0" algn="l">
                        <a:buNone/>
                      </a:pPr>
                      <a:r>
                        <a:rPr/>
                        <a:t>-0.012</a:t>
                      </a:r>
                    </a:p>
                  </a:txBody>
                </a:tc>
                <a:tc>
                  <a:txBody>
                    <a:bodyPr/>
                    <a:lstStyle/>
                    <a:p>
                      <a:pPr lvl="0" indent="0" marL="0" algn="l">
                        <a:buNone/>
                      </a:pPr>
                      <a:r>
                        <a:rPr/>
                        <a:t>-0.030</a:t>
                      </a:r>
                    </a:p>
                  </a:txBody>
                </a:tc>
                <a:tc>
                  <a:txBody>
                    <a:bodyPr/>
                    <a:lstStyle/>
                    <a:p>
                      <a:pPr lvl="0" indent="0" marL="0" algn="l">
                        <a:buNone/>
                      </a:pPr>
                      <a:r>
                        <a:rPr/>
                        <a:t>0.005</a:t>
                      </a:r>
                    </a:p>
                  </a:txBody>
                </a:tc>
                <a:tc>
                  <a:txBody>
                    <a:bodyPr/>
                    <a:lstStyle/>
                    <a:p>
                      <a:pPr lvl="0" indent="0" marL="0" algn="l">
                        <a:buNone/>
                      </a:pPr>
                      <a:r>
                        <a:rPr/>
                        <a:t>0.172</a:t>
                      </a:r>
                    </a:p>
                  </a:txBody>
                </a:tc>
                <a:tc>
                  <a:txBody>
                    <a:bodyPr/>
                    <a:lstStyle/>
                    <a:p>
                      <a:pPr lvl="0" indent="0" marL="0" algn="l">
                        <a:buNone/>
                      </a:pPr>
                      <a:r>
                        <a:rPr/>
                        <a:t>PASS</a:t>
                      </a:r>
                    </a:p>
                  </a:txBody>
                </a:tc>
              </a:tr>
            </a:tbl>
          </a:graphicData>
        </a:graphic>
      </p:graphicFrame>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Appendix C: Figures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Support maps</a:t>
            </a:r>
          </a:p>
        </p:txBody>
      </p:sp>
      <p:pic>
        <p:nvPicPr>
          <p:cNvPr descr="../rescueCo/results/multiarm/fig_supportmap_C1.png" id="0" name="Picture 1"/>
          <p:cNvPicPr>
            <a:picLocks noGrp="1" noChangeAspect="1"/>
          </p:cNvPicPr>
          <p:nvPr/>
        </p:nvPicPr>
        <p:blipFill>
          <a:blip r:embed="rId2"/>
          <a:stretch>
            <a:fillRect/>
          </a:stretch>
        </p:blipFill>
        <p:spPr bwMode="auto">
          <a:xfrm>
            <a:off x="457200" y="1295400"/>
            <a:ext cx="4038600" cy="26924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C1: the ATE fails at the mildest surface</a:t>
            </a:r>
          </a:p>
        </p:txBody>
      </p:sp>
      <p:pic>
        <p:nvPicPr>
          <p:cNvPr descr="../rescueCo/results/multiarm/fig_supportmap_PRIMARY.png" id="0" name="Picture 1"/>
          <p:cNvPicPr>
            <a:picLocks noGrp="1" noChangeAspect="1"/>
          </p:cNvPicPr>
          <p:nvPr/>
        </p:nvPicPr>
        <p:blipFill>
          <a:blip r:embed="rId3"/>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Primary cohort: degradation arrives only with stress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Support histograms, flagged contrasts</a:t>
            </a:r>
          </a:p>
        </p:txBody>
      </p:sp>
      <p:pic>
        <p:nvPicPr>
          <p:cNvPr descr="../rescueCo/results/multiarm/fig_support_C2.png" id="0" name="Picture 1"/>
          <p:cNvPicPr>
            <a:picLocks noGrp="1" noChangeAspect="1"/>
          </p:cNvPicPr>
          <p:nvPr/>
        </p:nvPicPr>
        <p:blipFill>
          <a:blip r:embed="rId2"/>
          <a:stretch>
            <a:fillRect/>
          </a:stretch>
        </p:blipFill>
        <p:spPr bwMode="auto">
          <a:xfrm>
            <a:off x="457200" y="1422400"/>
            <a:ext cx="4038600" cy="24257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C2: SEVERE</a:t>
            </a:r>
          </a:p>
        </p:txBody>
      </p:sp>
      <p:pic>
        <p:nvPicPr>
          <p:cNvPr descr="../rescueCo/results/multiarm/fig_support_C3.png" id="0" name="Picture 1"/>
          <p:cNvPicPr>
            <a:picLocks noGrp="1" noChangeAspect="1"/>
          </p:cNvPicPr>
          <p:nvPr/>
        </p:nvPicPr>
        <p:blipFill>
          <a:blip r:embed="rId3"/>
          <a:stretch>
            <a:fillRect/>
          </a:stretch>
        </p:blipFill>
        <p:spPr bwMode="auto">
          <a:xfrm>
            <a:off x="4648200" y="1422400"/>
            <a:ext cx="4038600" cy="24257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C3: FLAG</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Earlier single-contrast diagnostics</a:t>
            </a:r>
          </a:p>
        </p:txBody>
      </p:sp>
      <p:pic>
        <p:nvPicPr>
          <p:cNvPr descr="../rescueCo/results/plasmode_performance.png" id="0" name="Picture 1"/>
          <p:cNvPicPr>
            <a:picLocks noGrp="1" noChangeAspect="1"/>
          </p:cNvPicPr>
          <p:nvPr/>
        </p:nvPicPr>
        <p:blipFill>
          <a:blip r:embed="rId2"/>
          <a:stretch>
            <a:fillRect/>
          </a:stretch>
        </p:blipFill>
        <p:spPr bwMode="auto">
          <a:xfrm>
            <a:off x="457200" y="1625600"/>
            <a:ext cx="4038600" cy="20193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Plasmode candidate performance</a:t>
            </a:r>
          </a:p>
        </p:txBody>
      </p:sp>
      <p:pic>
        <p:nvPicPr>
          <p:cNvPr descr="../rescueCo/results/manuscript_artifacts/fig_dq_gradient.png" id="0" name="Picture 1"/>
          <p:cNvPicPr>
            <a:picLocks noGrp="1" noChangeAspect="1"/>
          </p:cNvPicPr>
          <p:nvPr/>
        </p:nvPicPr>
        <p:blipFill>
          <a:blip r:embed="rId3"/>
          <a:stretch>
            <a:fillRect/>
          </a:stretch>
        </p:blipFill>
        <p:spPr bwMode="auto">
          <a:xfrm>
            <a:off x="4648200" y="1625600"/>
            <a:ext cx="4038600" cy="20193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DQ degradation gradient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TMLE internals (earlier lock)</a:t>
            </a:r>
          </a:p>
        </p:txBody>
      </p:sp>
      <p:pic>
        <p:nvPicPr>
          <p:cNvPr descr="../rescueCo/results/manuscript_artifacts/fig_ic_plot.png" id="0" name="Picture 1"/>
          <p:cNvPicPr>
            <a:picLocks noGrp="1" noChangeAspect="1"/>
          </p:cNvPicPr>
          <p:nvPr/>
        </p:nvPicPr>
        <p:blipFill>
          <a:blip r:embed="rId2"/>
          <a:stretch>
            <a:fillRect/>
          </a:stretch>
        </p:blipFill>
        <p:spPr bwMode="auto">
          <a:xfrm>
            <a:off x="457200" y="1371600"/>
            <a:ext cx="4038600" cy="25273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Influence-curve distribution</a:t>
            </a:r>
          </a:p>
        </p:txBody>
      </p:sp>
      <p:pic>
        <p:nvPicPr>
          <p:cNvPr descr="../rescueCo/results/manuscript_artifacts/fig_clever_covariate.png" id="0" name="Picture 1"/>
          <p:cNvPicPr>
            <a:picLocks noGrp="1" noChangeAspect="1"/>
          </p:cNvPicPr>
          <p:nvPr/>
        </p:nvPicPr>
        <p:blipFill>
          <a:blip r:embed="rId3"/>
          <a:stretch>
            <a:fillRect/>
          </a:stretch>
        </p:blipFill>
        <p:spPr bwMode="auto">
          <a:xfrm>
            <a:off x="4648200" y="1371600"/>
            <a:ext cx="4038600" cy="25273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Clever covariate by arm</a:t>
            </a:r>
          </a:p>
        </p:txBody>
      </p:sp>
    </p:spTree>
  </p:cSld>
</p:sld>
</file>

<file path=ppt/theme/theme1.xml><?xml version="1.0" encoding="utf-8"?>
<a:theme xmlns:a="http://schemas.openxmlformats.org/drawingml/2006/main" name="BMGF_ki_Theme_v002">
  <a:themeElements>
    <a:clrScheme name="HBGDki_color_v1">
      <a:dk1>
        <a:srgbClr val="343131"/>
      </a:dk1>
      <a:lt1>
        <a:srgbClr val="FFFFFF"/>
      </a:lt1>
      <a:dk2>
        <a:srgbClr val="9B242D"/>
      </a:dk2>
      <a:lt2>
        <a:srgbClr val="FFFFFF"/>
      </a:lt2>
      <a:accent1>
        <a:srgbClr val="3086AB"/>
      </a:accent1>
      <a:accent2>
        <a:srgbClr val="E67021"/>
      </a:accent2>
      <a:accent3>
        <a:srgbClr val="F29B0E"/>
      </a:accent3>
      <a:accent4>
        <a:srgbClr val="B51F29"/>
      </a:accent4>
      <a:accent5>
        <a:srgbClr val="823B69"/>
      </a:accent5>
      <a:accent6>
        <a:srgbClr val="AAA092"/>
      </a:accent6>
      <a:hlink>
        <a:srgbClr val="3086AB"/>
      </a:hlink>
      <a:folHlink>
        <a:srgbClr val="823B69"/>
      </a:folHlink>
    </a:clrScheme>
    <a:fontScheme name="Foundation PPT Fonts - Jan 2014">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ctr">
          <a:defRPr sz="800" dirty="0"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BMGF_ki_Theme_v002" id="{246C18AA-3F48-4B76-BAE8-BB32034B1366}" vid="{791D82C9-73BB-4286-B133-6928F94790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cleanTMLE</dc:title>
  <dc:creator>Andrew Mertens</dc:creator>
  <cp:keywords/>
  <dcterms:created xsi:type="dcterms:W3CDTF">2026-09-14T05:55:16Z</dcterms:created>
  <dcterms:modified xsi:type="dcterms:W3CDTF">2026-09-14T05:55:16Z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2026-09-13</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University of California, Berkeley</vt:lpwstr>
  </property>
  <property fmtid="{D5CDD505-2E9C-101B-9397-08002B2CF9AE}" pid="13" name="institutes">
    <vt:lpwstr/>
  </property>
  <property fmtid="{D5CDD505-2E9C-101B-9397-08002B2CF9AE}" pid="14" name="labels">
    <vt:lpwstr/>
  </property>
  <property fmtid="{D5CDD505-2E9C-101B-9397-08002B2CF9AE}" pid="15" name="subtitle">
    <vt:lpwstr>Deciding the estimand before outcomes</vt:lpwstr>
  </property>
  <property fmtid="{D5CDD505-2E9C-101B-9397-08002B2CF9AE}" pid="16" name="toc-title">
    <vt:lpwstr>Table of contents</vt:lpwstr>
  </property>
</Properties>
</file>