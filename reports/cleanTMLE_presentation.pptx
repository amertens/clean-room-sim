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4" Type="http://schemas.openxmlformats.org/officeDocument/2006/relationships/viewProps" Target="viewProps.xml" /><Relationship Id="rId63" Type="http://schemas.openxmlformats.org/officeDocument/2006/relationships/presProps" Target="presProps.xml" /><Relationship Id="rId1" Type="http://schemas.openxmlformats.org/officeDocument/2006/relationships/slideMaster" Target="slideMasters/slideMaster1.xml" /><Relationship Id="rId66" Type="http://schemas.openxmlformats.org/officeDocument/2006/relationships/tableStyles" Target="tableStyles.xml" /><Relationship Id="rId6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21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050">
                <a:solidFill>
                  <a:schemeClr val="tx1">
                    <a:tint val="75000"/>
                  </a:schemeClr>
                </a:solidFill>
              </a:defRPr>
            </a:lvl1pPr>
            <a:lvl2pPr marL="342900" indent="0">
              <a:buNone/>
              <a:defRPr sz="944">
                <a:solidFill>
                  <a:schemeClr val="tx1">
                    <a:tint val="75000"/>
                  </a:schemeClr>
                </a:solidFill>
              </a:defRPr>
            </a:lvl2pPr>
            <a:lvl3pPr marL="685800" indent="0">
              <a:buNone/>
              <a:defRPr sz="840">
                <a:solidFill>
                  <a:schemeClr val="tx1">
                    <a:tint val="75000"/>
                  </a:schemeClr>
                </a:solidFill>
              </a:defRPr>
            </a:lvl3pPr>
            <a:lvl4pPr marL="1028700" indent="0">
              <a:buNone/>
              <a:defRPr sz="800">
                <a:solidFill>
                  <a:schemeClr val="tx1">
                    <a:tint val="75000"/>
                  </a:schemeClr>
                </a:solidFill>
              </a:defRPr>
            </a:lvl4pPr>
            <a:lvl5pPr marL="1371600" indent="0">
              <a:buNone/>
              <a:defRPr sz="800">
                <a:solidFill>
                  <a:schemeClr val="tx1">
                    <a:tint val="75000"/>
                  </a:schemeClr>
                </a:solidFill>
              </a:defRPr>
            </a:lvl5pPr>
            <a:lvl6pPr marL="1714500" indent="0">
              <a:buNone/>
              <a:defRPr sz="800">
                <a:solidFill>
                  <a:schemeClr val="tx1">
                    <a:tint val="75000"/>
                  </a:schemeClr>
                </a:solidFill>
              </a:defRPr>
            </a:lvl6pPr>
            <a:lvl7pPr marL="2057400" indent="0">
              <a:buNone/>
              <a:defRPr sz="800">
                <a:solidFill>
                  <a:schemeClr val="tx1">
                    <a:tint val="75000"/>
                  </a:schemeClr>
                </a:solidFill>
              </a:defRPr>
            </a:lvl7pPr>
            <a:lvl8pPr marL="2400300" indent="0">
              <a:buNone/>
              <a:defRPr sz="800">
                <a:solidFill>
                  <a:schemeClr val="tx1">
                    <a:tint val="75000"/>
                  </a:schemeClr>
                </a:solidFill>
              </a:defRPr>
            </a:lvl8pPr>
            <a:lvl9pPr marL="2743200" indent="0">
              <a:buNone/>
              <a:defRPr sz="8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470"/>
            </a:lvl1pPr>
            <a:lvl2pPr>
              <a:defRPr sz="1260"/>
            </a:lvl2pPr>
            <a:lvl3pPr>
              <a:defRPr sz="1050"/>
            </a:lvl3pPr>
            <a:lvl4pPr>
              <a:defRPr sz="944"/>
            </a:lvl4pPr>
            <a:lvl5pPr>
              <a:defRPr sz="944"/>
            </a:lvl5pPr>
            <a:lvl6pPr>
              <a:defRPr sz="944"/>
            </a:lvl6pPr>
            <a:lvl7pPr>
              <a:defRPr sz="944"/>
            </a:lvl7pPr>
            <a:lvl8pPr>
              <a:defRPr sz="944"/>
            </a:lvl8pPr>
            <a:lvl9pPr>
              <a:defRPr sz="944"/>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260" b="1"/>
            </a:lvl1pPr>
            <a:lvl2pPr marL="342900" indent="0">
              <a:buNone/>
              <a:defRPr sz="1050" b="1"/>
            </a:lvl2pPr>
            <a:lvl3pPr marL="685800" indent="0">
              <a:buNone/>
              <a:defRPr sz="944" b="1"/>
            </a:lvl3pPr>
            <a:lvl4pPr marL="1028700" indent="0">
              <a:buNone/>
              <a:defRPr sz="840" b="1"/>
            </a:lvl4pPr>
            <a:lvl5pPr marL="1371600" indent="0">
              <a:buNone/>
              <a:defRPr sz="840" b="1"/>
            </a:lvl5pPr>
            <a:lvl6pPr marL="1714500" indent="0">
              <a:buNone/>
              <a:defRPr sz="840" b="1"/>
            </a:lvl6pPr>
            <a:lvl7pPr marL="2057400" indent="0">
              <a:buNone/>
              <a:defRPr sz="840" b="1"/>
            </a:lvl7pPr>
            <a:lvl8pPr marL="2400300" indent="0">
              <a:buNone/>
              <a:defRPr sz="840" b="1"/>
            </a:lvl8pPr>
            <a:lvl9pPr marL="2743200" indent="0">
              <a:buNone/>
              <a:defRPr sz="84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260"/>
            </a:lvl1pPr>
            <a:lvl2pPr>
              <a:defRPr sz="1050"/>
            </a:lvl2pPr>
            <a:lvl3pPr>
              <a:defRPr sz="944"/>
            </a:lvl3pPr>
            <a:lvl4pPr>
              <a:defRPr sz="840"/>
            </a:lvl4pPr>
            <a:lvl5pPr>
              <a:defRPr sz="840"/>
            </a:lvl5pPr>
            <a:lvl6pPr>
              <a:defRPr sz="840"/>
            </a:lvl6pPr>
            <a:lvl7pPr>
              <a:defRPr sz="840"/>
            </a:lvl7pPr>
            <a:lvl8pPr>
              <a:defRPr sz="840"/>
            </a:lvl8pPr>
            <a:lvl9pPr>
              <a:defRPr sz="84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0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680"/>
            </a:lvl1pPr>
            <a:lvl2pPr>
              <a:defRPr sz="1470"/>
            </a:lvl2pPr>
            <a:lvl3pPr>
              <a:defRPr sz="1260"/>
            </a:lvl3pPr>
            <a:lvl4pPr>
              <a:defRPr sz="1050"/>
            </a:lvl4pPr>
            <a:lvl5pPr>
              <a:defRPr sz="1050"/>
            </a:lvl5pPr>
            <a:lvl6pPr>
              <a:defRPr sz="1050"/>
            </a:lvl6pPr>
            <a:lvl7pPr>
              <a:defRPr sz="1050"/>
            </a:lvl7pPr>
            <a:lvl8pPr>
              <a:defRPr sz="1050"/>
            </a:lvl8pPr>
            <a:lvl9pPr>
              <a:defRPr sz="10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0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680"/>
            </a:lvl1pPr>
            <a:lvl2pPr marL="342900" indent="0">
              <a:buNone/>
              <a:defRPr sz="1470"/>
            </a:lvl2pPr>
            <a:lvl3pPr marL="685800" indent="0">
              <a:buNone/>
              <a:defRPr sz="1260"/>
            </a:lvl3pPr>
            <a:lvl4pPr marL="1028700" indent="0">
              <a:buNone/>
              <a:defRPr sz="1050"/>
            </a:lvl4pPr>
            <a:lvl5pPr marL="1371600" indent="0">
              <a:buNone/>
              <a:defRPr sz="1050"/>
            </a:lvl5pPr>
            <a:lvl6pPr marL="1714500" indent="0">
              <a:buNone/>
              <a:defRPr sz="1050"/>
            </a:lvl6pPr>
            <a:lvl7pPr marL="2057400" indent="0">
              <a:buNone/>
              <a:defRPr sz="1050"/>
            </a:lvl7pPr>
            <a:lvl8pPr marL="2400300" indent="0">
              <a:buNone/>
              <a:defRPr sz="1050"/>
            </a:lvl8pPr>
            <a:lvl9pPr marL="2743200" indent="0">
              <a:buNone/>
              <a:defRPr sz="10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800"/>
            </a:lvl1pPr>
            <a:lvl2pPr marL="342900" indent="0">
              <a:buNone/>
              <a:defRPr sz="800"/>
            </a:lvl2pPr>
            <a:lvl3pPr marL="685800" indent="0">
              <a:buNone/>
              <a:defRPr sz="800"/>
            </a:lvl3pPr>
            <a:lvl4pPr marL="1028700" indent="0">
              <a:buNone/>
              <a:defRPr sz="800"/>
            </a:lvl4pPr>
            <a:lvl5pPr marL="1371600" indent="0">
              <a:buNone/>
              <a:defRPr sz="800"/>
            </a:lvl5pPr>
            <a:lvl6pPr marL="1714500" indent="0">
              <a:buNone/>
              <a:defRPr sz="800"/>
            </a:lvl6pPr>
            <a:lvl7pPr marL="2057400" indent="0">
              <a:buNone/>
              <a:defRPr sz="800"/>
            </a:lvl7pPr>
            <a:lvl8pPr marL="2400300" indent="0">
              <a:buNone/>
              <a:defRPr sz="800"/>
            </a:lvl8pPr>
            <a:lvl9pPr marL="2743200" indent="0">
              <a:buNone/>
              <a:defRPr sz="80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8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8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8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31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68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47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26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0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0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0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0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0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050">
          <a:solidFill>
            <a:schemeClr val="tx1"/>
          </a:solidFill>
          <a:latin typeface="+mn-lt"/>
          <a:ea typeface="+mn-ea"/>
          <a:cs typeface="+mn-cs"/>
        </a:defRPr>
      </a:lvl9pPr>
    </p:bodyStyle>
    <p:otherStyle>
      <a:defPPr>
        <a:defRPr lang="en-US"/>
      </a:defPPr>
      <a:lvl1pPr algn="l" defTabSz="342900" eaLnBrk="1" hangingPunct="1" latinLnBrk="0" marL="0" rtl="0">
        <a:defRPr kern="1200" sz="944">
          <a:solidFill>
            <a:schemeClr val="tx1"/>
          </a:solidFill>
          <a:latin typeface="+mn-lt"/>
          <a:ea typeface="+mn-ea"/>
          <a:cs typeface="+mn-cs"/>
        </a:defRPr>
      </a:lvl1pPr>
      <a:lvl2pPr algn="l" defTabSz="342900" eaLnBrk="1" hangingPunct="1" latinLnBrk="0" marL="342900" rtl="0">
        <a:defRPr kern="1200" sz="944">
          <a:solidFill>
            <a:schemeClr val="tx1"/>
          </a:solidFill>
          <a:latin typeface="+mn-lt"/>
          <a:ea typeface="+mn-ea"/>
          <a:cs typeface="+mn-cs"/>
        </a:defRPr>
      </a:lvl2pPr>
      <a:lvl3pPr algn="l" defTabSz="342900" eaLnBrk="1" hangingPunct="1" latinLnBrk="0" marL="685800" rtl="0">
        <a:defRPr kern="1200" sz="944">
          <a:solidFill>
            <a:schemeClr val="tx1"/>
          </a:solidFill>
          <a:latin typeface="+mn-lt"/>
          <a:ea typeface="+mn-ea"/>
          <a:cs typeface="+mn-cs"/>
        </a:defRPr>
      </a:lvl3pPr>
      <a:lvl4pPr algn="l" defTabSz="342900" eaLnBrk="1" hangingPunct="1" latinLnBrk="0" marL="1028700" rtl="0">
        <a:defRPr kern="1200" sz="944">
          <a:solidFill>
            <a:schemeClr val="tx1"/>
          </a:solidFill>
          <a:latin typeface="+mn-lt"/>
          <a:ea typeface="+mn-ea"/>
          <a:cs typeface="+mn-cs"/>
        </a:defRPr>
      </a:lvl4pPr>
      <a:lvl5pPr algn="l" defTabSz="342900" eaLnBrk="1" hangingPunct="1" latinLnBrk="0" marL="1371600" rtl="0">
        <a:defRPr kern="1200" sz="944">
          <a:solidFill>
            <a:schemeClr val="tx1"/>
          </a:solidFill>
          <a:latin typeface="+mn-lt"/>
          <a:ea typeface="+mn-ea"/>
          <a:cs typeface="+mn-cs"/>
        </a:defRPr>
      </a:lvl5pPr>
      <a:lvl6pPr algn="l" defTabSz="342900" eaLnBrk="1" hangingPunct="1" latinLnBrk="0" marL="1714500" rtl="0">
        <a:defRPr kern="1200" sz="944">
          <a:solidFill>
            <a:schemeClr val="tx1"/>
          </a:solidFill>
          <a:latin typeface="+mn-lt"/>
          <a:ea typeface="+mn-ea"/>
          <a:cs typeface="+mn-cs"/>
        </a:defRPr>
      </a:lvl6pPr>
      <a:lvl7pPr algn="l" defTabSz="342900" eaLnBrk="1" hangingPunct="1" latinLnBrk="0" marL="2057400" rtl="0">
        <a:defRPr kern="1200" sz="944">
          <a:solidFill>
            <a:schemeClr val="tx1"/>
          </a:solidFill>
          <a:latin typeface="+mn-lt"/>
          <a:ea typeface="+mn-ea"/>
          <a:cs typeface="+mn-cs"/>
        </a:defRPr>
      </a:lvl7pPr>
      <a:lvl8pPr algn="l" defTabSz="342900" eaLnBrk="1" hangingPunct="1" latinLnBrk="0" marL="2400300" rtl="0">
        <a:defRPr kern="1200" sz="944">
          <a:solidFill>
            <a:schemeClr val="tx1"/>
          </a:solidFill>
          <a:latin typeface="+mn-lt"/>
          <a:ea typeface="+mn-ea"/>
          <a:cs typeface="+mn-cs"/>
        </a:defRPr>
      </a:lvl8pPr>
      <a:lvl9pPr algn="l" defTabSz="342900" eaLnBrk="1" hangingPunct="1" latinLnBrk="0" marL="2743200" rtl="0">
        <a:defRPr kern="1200" sz="944">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9.png" /><Relationship Id="rId2" Type="http://schemas.openxmlformats.org/officeDocument/2006/relationships/image" Target="../media/image8.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1.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amertens/cleanTMLE"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5.png" /><Relationship Id="rId2" Type="http://schemas.openxmlformats.org/officeDocument/2006/relationships/image" Target="../media/image6.png" /></Relationships>
</file>

<file path=ppt/slides/_rels/slide59.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7.png" /><Relationship Id="rId2" Type="http://schemas.openxmlformats.org/officeDocument/2006/relationships/image" Target="../media/image16.png"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7.png" /><Relationship Id="rId2" Type="http://schemas.openxmlformats.org/officeDocument/2006/relationships/image" Target="../media/image18.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0.png" /><Relationship Id="rId2" Type="http://schemas.openxmlformats.org/officeDocument/2006/relationships/image" Target="../media/image19.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cleanTMLE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Deciding the estimand before outcomes</a:t>
            </a:r>
            <a:br/>
            <a:br/>
            <a:r>
              <a:rPr/>
              <a:t>Andrew Mertens</a:t>
            </a:r>
          </a:p>
        </p:txBody>
      </p:sp>
      <p:sp>
        <p:nvSpPr>
          <p:cNvPr id="4" name="Date Placeholder 3"/>
          <p:cNvSpPr>
            <a:spLocks noGrp="1"/>
          </p:cNvSpPr>
          <p:nvPr>
            <p:ph idx="10" sz="half" type="dt"/>
          </p:nvPr>
        </p:nvSpPr>
        <p:spPr/>
        <p:txBody>
          <a:bodyPr/>
          <a:lstStyle/>
          <a:p>
            <a:pPr lvl="0" indent="0" marL="0">
              <a:buNone/>
            </a:pPr>
            <a:r>
              <a:rPr/>
              <a:t>2026-09-14</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goes wrong</a:t>
            </a:r>
          </a:p>
        </p:txBody>
      </p:sp>
      <p:sp>
        <p:nvSpPr>
          <p:cNvPr id="3" name="Content Placeholder 2"/>
          <p:cNvSpPr>
            <a:spLocks noGrp="1"/>
          </p:cNvSpPr>
          <p:nvPr>
            <p:ph idx="1"/>
          </p:nvPr>
        </p:nvSpPr>
        <p:spPr/>
        <p:txBody>
          <a:bodyPr/>
          <a:lstStyle/>
          <a:p>
            <a:pPr lvl="0" indent="0" marL="0">
              <a:buNone/>
            </a:pPr>
            <a:r>
              <a:rPr/>
              <a:t>Two things go wrong in comparative analyses of routine health data.</a:t>
            </a:r>
          </a:p>
          <a:p>
            <a:pPr lvl="0" indent="0" marL="0">
              <a:buNone/>
            </a:pPr>
            <a:r>
              <a:rPr/>
              <a:t>Analysts can see how each modelling choice moves the answer, so the choices drift toward the answer.</a:t>
            </a:r>
          </a:p>
          <a:p>
            <a:pPr lvl="0" indent="0" marL="0">
              <a:buNone/>
            </a:pPr>
            <a:r>
              <a:rPr/>
              <a:t>And some comparisons cannot be estimated from the data at hand. The estimator returns a number anyway.</a:t>
            </a:r>
          </a:p>
          <a:p>
            <a:pPr lvl="0" indent="0" marL="0">
              <a:buNone/>
            </a:pPr>
            <a:r>
              <a:rPr/>
              <a:t>A clean room handles the first. cleanTMLE also answers the second, while the team is still blind: can this be estimated, and as what?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This talk</a:t>
            </a:r>
          </a:p>
        </p:txBody>
      </p:sp>
      <p:sp>
        <p:nvSpPr>
          <p:cNvPr id="3" name="Content Placeholder 2"/>
          <p:cNvSpPr>
            <a:spLocks noGrp="1"/>
          </p:cNvSpPr>
          <p:nvPr>
            <p:ph idx="1"/>
          </p:nvPr>
        </p:nvSpPr>
        <p:spPr/>
        <p:txBody>
          <a:bodyPr/>
          <a:lstStyle/>
          <a:p>
            <a:pPr lvl="0" indent="-342900" marL="342900">
              <a:buAutoNum type="arabicPeriod"/>
            </a:pPr>
            <a:r>
              <a:rPr/>
              <a:t>The two failures, and the analysis where we hit the second one</a:t>
            </a:r>
          </a:p>
          <a:p>
            <a:pPr lvl="0" indent="-342900" marL="342900">
              <a:buAutoNum type="arabicPeriod"/>
            </a:pPr>
            <a:r>
              <a:rPr/>
              <a:t>A walkthrough: sixteen verbs on one lock</a:t>
            </a:r>
          </a:p>
          <a:p>
            <a:pPr lvl="0" indent="-342900" marL="342900">
              <a:buAutoNum type="arabicPeriod"/>
            </a:pPr>
            <a:r>
              <a:rPr/>
              <a:t>What the simulations showed</a:t>
            </a:r>
          </a:p>
          <a:p>
            <a:pPr lvl="0" indent="-342900" marL="342900">
              <a:buAutoNum type="arabicPeriod"/>
            </a:pPr>
            <a:r>
              <a:rPr/>
              <a:t>Five ambulance contrasts in Nairobi</a:t>
            </a:r>
          </a:p>
          <a:p>
            <a:pPr lvl="0" indent="-342900" marL="342900">
              <a:buAutoNum type="arabicPeriod"/>
            </a:pPr>
            <a:r>
              <a:rPr/>
              <a:t>Where this sits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1. Why this matters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Peeking</a:t>
            </a:r>
          </a:p>
        </p:txBody>
      </p:sp>
      <p:sp>
        <p:nvSpPr>
          <p:cNvPr id="3" name="Content Placeholder 2"/>
          <p:cNvSpPr>
            <a:spLocks noGrp="1"/>
          </p:cNvSpPr>
          <p:nvPr>
            <p:ph idx="1"/>
          </p:nvPr>
        </p:nvSpPr>
        <p:spPr/>
        <p:txBody>
          <a:bodyPr/>
          <a:lstStyle/>
          <a:p>
            <a:pPr lvl="0" indent="0" marL="0">
              <a:buNone/>
            </a:pPr>
            <a:r>
              <a:rPr/>
              <a:t>A written plan never covers everything. Sparse cells, say, or a model that will not converge.</a:t>
            </a:r>
          </a:p>
          <a:p>
            <a:pPr lvl="0" indent="0" marL="0">
              <a:buNone/>
            </a:pPr>
            <a:r>
              <a:rPr/>
              <a:t>If those calls get made after a glimpse of the treatment-outcome association, the analysis is no longer prespecified.</a:t>
            </a:r>
          </a:p>
          <a:p>
            <a:pPr lvl="0" indent="0" marL="0">
              <a:buNone/>
            </a:pPr>
            <a:r>
              <a:rPr/>
              <a:t>Muntner et al. (2024): a design team builds the cohort and diagnostics blind, then a separate team estimates.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failure blinding cannot touch</a:t>
            </a:r>
          </a:p>
        </p:txBody>
      </p:sp>
      <p:sp>
        <p:nvSpPr>
          <p:cNvPr id="3" name="Content Placeholder 2"/>
          <p:cNvSpPr>
            <a:spLocks noGrp="1"/>
          </p:cNvSpPr>
          <p:nvPr>
            <p:ph idx="1"/>
          </p:nvPr>
        </p:nvSpPr>
        <p:spPr/>
        <p:txBody>
          <a:bodyPr/>
          <a:lstStyle/>
          <a:p>
            <a:pPr lvl="0" indent="0" marL="0">
              <a:buNone/>
            </a:pPr>
            <a:r>
              <a:rPr/>
              <a:t>The ATE asks what happens if everyone is treated versus no one. That needs every kind of patient to have had a real chance of either arm.</a:t>
            </a:r>
          </a:p>
          <a:p>
            <a:pPr lvl="0" indent="0" marL="0">
              <a:buNone/>
            </a:pPr>
            <a:r>
              <a:rPr/>
              <a:t>When a whole stratum almost never gets one treatment, the estimator extrapolates instead of refusing. Truncating the weights shrinks the interval and restores no information.</a:t>
            </a:r>
          </a:p>
          <a:p>
            <a:pPr lvl="0" indent="0" marL="0">
              <a:buNone/>
            </a:pPr>
            <a:r>
              <a:rPr/>
              <a:t>Blinding does not check whether the question is answerable. The lock just makes the question binding.</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We know because it happened to us</a:t>
            </a:r>
          </a:p>
        </p:txBody>
      </p:sp>
      <p:sp>
        <p:nvSpPr>
          <p:cNvPr id="3" name="Content Placeholder 2"/>
          <p:cNvSpPr>
            <a:spLocks noGrp="1"/>
          </p:cNvSpPr>
          <p:nvPr>
            <p:ph idx="1" sz="half"/>
          </p:nvPr>
        </p:nvSpPr>
        <p:spPr/>
        <p:txBody>
          <a:bodyPr/>
          <a:lstStyle/>
          <a:p>
            <a:pPr lvl="0" indent="0" marL="0">
              <a:buNone/>
            </a:pPr>
            <a:r>
              <a:rPr b="1"/>
              <a:t>Estimated effect on time to ambulance arrival</a:t>
            </a:r>
          </a:p>
          <a:p>
            <a:pPr lvl="0" indent="0" marL="0">
              <a:buNone/>
            </a:pPr>
            <a:r>
              <a:rPr b="1"/>
              <a:t>+14,637 minutes</a:t>
            </a:r>
          </a:p>
          <a:p>
            <a:pPr lvl="0" indent="0" marL="0">
              <a:buNone/>
            </a:pPr>
            <a:r>
              <a:rPr/>
              <a:t>tight confidence interval</a:t>
            </a:r>
          </a:p>
        </p:txBody>
      </p:sp>
      <p:sp>
        <p:nvSpPr>
          <p:cNvPr id="4" name="Content Placeholder 3"/>
          <p:cNvSpPr>
            <a:spLocks noGrp="1"/>
          </p:cNvSpPr>
          <p:nvPr>
            <p:ph idx="2" sz="half"/>
          </p:nvPr>
        </p:nvSpPr>
        <p:spPr/>
        <p:txBody>
          <a:bodyPr/>
          <a:lstStyle/>
          <a:p>
            <a:pPr lvl="0" indent="0" marL="0">
              <a:buNone/>
            </a:pPr>
            <a:r>
              <a:rPr b="1"/>
              <a:t>Crude difference</a:t>
            </a:r>
          </a:p>
          <a:p>
            <a:pPr lvl="0" indent="0" marL="0">
              <a:buNone/>
            </a:pPr>
            <a:r>
              <a:rPr b="1"/>
              <a:t>about 7 hours</a:t>
            </a:r>
          </a:p>
          <a:p>
            <a:pPr lvl="0" indent="0" marL="0">
              <a:buNone/>
            </a:pPr>
            <a:r>
              <a:rPr/>
              <a:t>in the other direction</a:t>
            </a:r>
          </a:p>
          <a:p>
            <a:pPr lvl="0" indent="0" marL="0">
              <a:buNone/>
            </a:pPr>
            <a:r>
              <a:rPr/>
              <a:t>Same cohort. Some patients almost never receive the service, and the estimator’s own output gave no warning.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blind phase has to settle</a:t>
            </a:r>
          </a:p>
        </p:txBody>
      </p:sp>
      <p:sp>
        <p:nvSpPr>
          <p:cNvPr id="3" name="Content Placeholder 2"/>
          <p:cNvSpPr>
            <a:spLocks noGrp="1"/>
          </p:cNvSpPr>
          <p:nvPr>
            <p:ph idx="1"/>
          </p:nvPr>
        </p:nvSpPr>
        <p:spPr/>
        <p:txBody>
          <a:bodyPr/>
          <a:lstStyle/>
          <a:p>
            <a:pPr lvl="0" indent="-342900" marL="342900">
              <a:buAutoNum type="arabicPeriod"/>
            </a:pPr>
            <a:r>
              <a:rPr/>
              <a:t>Cohort, treatment, outcome, and horizon fixed in advance</a:t>
            </a:r>
          </a:p>
          <a:p>
            <a:pPr lvl="0" indent="-342900" marL="342900">
              <a:buAutoNum type="arabicPeriod"/>
            </a:pPr>
            <a:r>
              <a:rPr/>
              <a:t>The declared comparison is estimable, or a named neighbour is</a:t>
            </a:r>
          </a:p>
          <a:p>
            <a:pPr lvl="0" indent="-342900" marL="342900">
              <a:buAutoNum type="arabicPeriod"/>
            </a:pPr>
            <a:r>
              <a:rPr/>
              <a:t>The estimator was prespecified and screened against plausible data problems</a:t>
            </a:r>
          </a:p>
          <a:p>
            <a:pPr lvl="0" indent="-342900" marL="342900">
              <a:buAutoNum type="arabicPeriod"/>
            </a:pPr>
            <a:r>
              <a:rPr/>
              <a:t>Any switch followed a rule declared before outcome access, on the record</a:t>
            </a:r>
          </a:p>
          <a:p>
            <a:pPr lvl="0" indent="0" marL="0">
              <a:buNone/>
            </a:pPr>
            <a:r>
              <a:rPr>
                <a:latin typeface="Courier"/>
              </a:rPr>
              <a:t>design_report()</a:t>
            </a:r>
            <a:r>
              <a:rPr/>
              <a:t> is the document a review team reads with those four answers in 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2. How the package works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Sixteen verbs, one lock</a:t>
            </a:r>
          </a:p>
        </p:txBody>
      </p:sp>
      <p:sp>
        <p:nvSpPr>
          <p:cNvPr id="4" name="Text Placeholder 3"/>
          <p:cNvSpPr>
            <a:spLocks noGrp="1"/>
          </p:cNvSpPr>
          <p:nvPr>
            <p:ph idx="2" sz="half" type="body"/>
          </p:nvPr>
        </p:nvSpPr>
        <p:spPr/>
        <p:txBody>
          <a:bodyPr/>
          <a:lstStyle/>
          <a:p>
            <a:pPr lvl="0" indent="0" marL="0">
              <a:buNone/>
            </a:pPr>
            <a:r>
              <a:rPr/>
              <a:t>Only the last box reads the outcome. The next slides run this on a simulated cohort.</a:t>
            </a:r>
          </a:p>
          <a:p>
            <a:pPr lvl="0" indent="0" marL="0">
              <a:buNone/>
            </a:pPr>
          </a:p>
        </p:txBody>
      </p:sp>
      <p:pic>
        <p:nvPicPr>
          <p:cNvPr descr="cleanTMLE_presentation_files\figure-pptx\mermaid-figure-1.png" id="0" name="Picture 1"/>
          <p:cNvPicPr>
            <a:picLocks noGrp="1" noChangeAspect="1"/>
          </p:cNvPicPr>
          <p:nvPr/>
        </p:nvPicPr>
        <p:blipFill>
          <a:blip r:embed="rId2"/>
          <a:stretch>
            <a:fillRect/>
          </a:stretch>
        </p:blipFill>
        <p:spPr bwMode="auto">
          <a:xfrm>
            <a:off x="3568700" y="2120900"/>
            <a:ext cx="5105400" cy="5461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Walkthrough: lock the plan</a:t>
            </a:r>
          </a:p>
        </p:txBody>
      </p:sp>
      <p:sp>
        <p:nvSpPr>
          <p:cNvPr id="3" name="Content Placeholder 2"/>
          <p:cNvSpPr>
            <a:spLocks noGrp="1"/>
          </p:cNvSpPr>
          <p:nvPr>
            <p:ph idx="1"/>
          </p:nvPr>
        </p:nvSpPr>
        <p:spPr/>
        <p:txBody>
          <a:bodyPr/>
          <a:lstStyle/>
          <a:p>
            <a:pPr lvl="0" indent="0" marL="0">
              <a:buNone/>
            </a:pPr>
            <a:r>
              <a:rPr/>
              <a:t>The thresholds go into the fingerprint. The outcome column is already out of </a:t>
            </a:r>
            <a:r>
              <a:rPr>
                <a:latin typeface="Courier"/>
              </a:rPr>
              <a:t>lock$data</a:t>
            </a:r>
            <a:r>
              <a:rPr/>
              <a:t>, in a store that only Stage 4 rejoins.</a:t>
            </a:r>
          </a:p>
          <a:p>
            <a:pPr lvl="0" indent="0">
              <a:buNone/>
            </a:pPr>
            <a:r>
              <a:rPr>
                <a:solidFill>
                  <a:srgbClr val="003B4F"/>
                </a:solidFill>
                <a:latin typeface="Courier"/>
              </a:rPr>
              <a:t>dat  &lt;- </a:t>
            </a:r>
            <a:r>
              <a:rPr>
                <a:solidFill>
                  <a:srgbClr val="4758AB"/>
                </a:solidFill>
                <a:latin typeface="Courier"/>
              </a:rPr>
              <a:t>sim_func1</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AD0000"/>
                </a:solidFill>
                <a:latin typeface="Courier"/>
              </a:rPr>
              <a:t>1000</a:t>
            </a: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a:t>
            </a:r>
            <a:br/>
            <a:r>
              <a:rPr>
                <a:solidFill>
                  <a:srgbClr val="003B4F"/>
                </a:solidFill>
                <a:latin typeface="Courier"/>
              </a:rPr>
              <a:t>lock &lt;- </a:t>
            </a:r>
            <a:r>
              <a:rPr>
                <a:solidFill>
                  <a:srgbClr val="4758AB"/>
                </a:solidFill>
                <a:latin typeface="Courier"/>
              </a:rPr>
              <a:t>create_analysis_lock</a:t>
            </a:r>
            <a:r>
              <a:rPr>
                <a:solidFill>
                  <a:srgbClr val="003B4F"/>
                </a:solidFill>
                <a:latin typeface="Courier"/>
              </a:rPr>
              <a:t>(</a:t>
            </a:r>
            <a:br/>
            <a:r>
              <a:rPr>
                <a:solidFill>
                  <a:srgbClr val="003B4F"/>
                </a:solidFill>
                <a:latin typeface="Courier"/>
              </a:rPr>
              <a:t>  dat, </a:t>
            </a:r>
            <a:r>
              <a:rPr>
                <a:solidFill>
                  <a:srgbClr val="20794D"/>
                </a:solidFill>
                <a:latin typeface="Courier"/>
              </a:rPr>
              <a:t>"treatment"</a:t>
            </a:r>
            <a:r>
              <a:rPr>
                <a:solidFill>
                  <a:srgbClr val="003B4F"/>
                </a:solidFill>
                <a:latin typeface="Courier"/>
              </a:rPr>
              <a:t>, </a:t>
            </a:r>
            <a:r>
              <a:rPr>
                <a:solidFill>
                  <a:srgbClr val="20794D"/>
                </a:solidFill>
                <a:latin typeface="Courier"/>
              </a:rPr>
              <a:t>"event_24"</a:t>
            </a:r>
            <a:r>
              <a:rPr>
                <a:solidFill>
                  <a:srgbClr val="003B4F"/>
                </a:solidFill>
                <a:latin typeface="Courier"/>
              </a:rPr>
              <a:t>,</a:t>
            </a:r>
            <a:br/>
            <a:r>
              <a:rPr>
                <a:solidFill>
                  <a:srgbClr val="003B4F"/>
                </a:solidFill>
                <a:latin typeface="Courier"/>
              </a:rPr>
              <a:t>  </a:t>
            </a:r>
            <a:r>
              <a:rPr>
                <a:solidFill>
                  <a:srgbClr val="657422"/>
                </a:solidFill>
                <a:latin typeface="Courier"/>
              </a:rPr>
              <a:t>covariates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"age"</a:t>
            </a:r>
            <a:r>
              <a:rPr>
                <a:solidFill>
                  <a:srgbClr val="003B4F"/>
                </a:solidFill>
                <a:latin typeface="Courier"/>
              </a:rPr>
              <a:t>, </a:t>
            </a:r>
            <a:r>
              <a:rPr>
                <a:solidFill>
                  <a:srgbClr val="20794D"/>
                </a:solidFill>
                <a:latin typeface="Courier"/>
              </a:rPr>
              <a:t>"sex"</a:t>
            </a:r>
            <a:r>
              <a:rPr>
                <a:solidFill>
                  <a:srgbClr val="003B4F"/>
                </a:solidFill>
                <a:latin typeface="Courier"/>
              </a:rPr>
              <a:t>, </a:t>
            </a:r>
            <a:r>
              <a:rPr>
                <a:solidFill>
                  <a:srgbClr val="20794D"/>
                </a:solidFill>
                <a:latin typeface="Courier"/>
              </a:rPr>
              <a:t>"biomarker"</a:t>
            </a:r>
            <a:r>
              <a:rPr>
                <a:solidFill>
                  <a:srgbClr val="003B4F"/>
                </a:solidFill>
                <a:latin typeface="Courier"/>
              </a:rPr>
              <a:t>, </a:t>
            </a:r>
            <a:r>
              <a:rPr>
                <a:solidFill>
                  <a:srgbClr val="20794D"/>
                </a:solidFill>
                <a:latin typeface="Courier"/>
              </a:rPr>
              <a:t>"comorbidity"</a:t>
            </a:r>
            <a:r>
              <a:rPr>
                <a:solidFill>
                  <a:srgbClr val="003B4F"/>
                </a:solidFill>
                <a:latin typeface="Courier"/>
              </a:rPr>
              <a:t>),</a:t>
            </a:r>
            <a:br/>
            <a:r>
              <a:rPr>
                <a:solidFill>
                  <a:srgbClr val="003B4F"/>
                </a:solidFill>
                <a:latin typeface="Courier"/>
              </a:rPr>
              <a:t>  </a:t>
            </a:r>
            <a:r>
              <a:rPr>
                <a:solidFill>
                  <a:srgbClr val="657422"/>
                </a:solidFill>
                <a:latin typeface="Courier"/>
              </a:rPr>
              <a:t>negative_controls =</a:t>
            </a:r>
            <a:r>
              <a:rPr>
                <a:solidFill>
                  <a:srgbClr val="003B4F"/>
                </a:solidFill>
                <a:latin typeface="Courier"/>
              </a:rPr>
              <a:t> </a:t>
            </a:r>
            <a:r>
              <a:rPr>
                <a:solidFill>
                  <a:srgbClr val="20794D"/>
                </a:solidFill>
                <a:latin typeface="Courier"/>
              </a:rPr>
              <a:t>"nc_outcome"</a:t>
            </a:r>
            <a:r>
              <a:rPr>
                <a:solidFill>
                  <a:srgbClr val="003B4F"/>
                </a:solidFill>
                <a:latin typeface="Courier"/>
              </a:rPr>
              <a:t>,</a:t>
            </a:r>
            <a:br/>
            <a:r>
              <a:rPr>
                <a:solidFill>
                  <a:srgbClr val="003B4F"/>
                </a:solidFill>
                <a:latin typeface="Courier"/>
              </a:rPr>
              <a:t>  </a:t>
            </a:r>
            <a:r>
              <a:rPr>
                <a:solidFill>
                  <a:srgbClr val="657422"/>
                </a:solidFill>
                <a:latin typeface="Courier"/>
              </a:rPr>
              <a:t>dq_thresholds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max_abs_bias =</a:t>
            </a:r>
            <a:r>
              <a:rPr>
                <a:solidFill>
                  <a:srgbClr val="003B4F"/>
                </a:solidFill>
                <a:latin typeface="Courier"/>
              </a:rPr>
              <a:t> </a:t>
            </a:r>
            <a:r>
              <a:rPr>
                <a:solidFill>
                  <a:srgbClr val="AD0000"/>
                </a:solidFill>
                <a:latin typeface="Courier"/>
              </a:rPr>
              <a:t>0.02</a:t>
            </a:r>
            <a:r>
              <a:rPr>
                <a:solidFill>
                  <a:srgbClr val="003B4F"/>
                </a:solidFill>
                <a:latin typeface="Courier"/>
              </a:rPr>
              <a:t>,</a:t>
            </a:r>
            <a:br/>
            <a:r>
              <a:rPr>
                <a:solidFill>
                  <a:srgbClr val="003B4F"/>
                </a:solidFill>
                <a:latin typeface="Courier"/>
              </a:rPr>
              <a:t>                       </a:t>
            </a:r>
            <a:r>
              <a:rPr>
                <a:solidFill>
                  <a:srgbClr val="657422"/>
                </a:solidFill>
                <a:latin typeface="Courier"/>
              </a:rPr>
              <a:t>min_coverage =</a:t>
            </a:r>
            <a:r>
              <a:rPr>
                <a:solidFill>
                  <a:srgbClr val="003B4F"/>
                </a:solidFill>
                <a:latin typeface="Courier"/>
              </a:rPr>
              <a:t> </a:t>
            </a:r>
            <a:r>
              <a:rPr>
                <a:solidFill>
                  <a:srgbClr val="AD0000"/>
                </a:solidFill>
                <a:latin typeface="Courier"/>
              </a:rPr>
              <a:t>0.90</a:t>
            </a:r>
            <a:r>
              <a:rPr>
                <a:solidFill>
                  <a:srgbClr val="003B4F"/>
                </a:solidFill>
                <a:latin typeface="Courier"/>
              </a:rPr>
              <a:t>, </a:t>
            </a:r>
            <a:r>
              <a:rPr>
                <a:solidFill>
                  <a:srgbClr val="657422"/>
                </a:solidFill>
                <a:latin typeface="Courier"/>
              </a:rPr>
              <a:t>max_rmse_ratio =</a:t>
            </a:r>
            <a:r>
              <a:rPr>
                <a:solidFill>
                  <a:srgbClr val="003B4F"/>
                </a:solidFill>
                <a:latin typeface="Courier"/>
              </a:rPr>
              <a:t> </a:t>
            </a:r>
            <a:r>
              <a:rPr>
                <a:solidFill>
                  <a:srgbClr val="AD0000"/>
                </a:solidFill>
                <a:latin typeface="Courier"/>
              </a:rPr>
              <a:t>1.5</a:t>
            </a:r>
            <a:r>
              <a:rPr>
                <a:solidFill>
                  <a:srgbClr val="003B4F"/>
                </a:solidFill>
                <a:latin typeface="Courier"/>
              </a:rPr>
              <a:t>),</a:t>
            </a:r>
            <a:br/>
            <a:r>
              <a:rPr>
                <a:solidFill>
                  <a:srgbClr val="003B4F"/>
                </a:solidFill>
                <a:latin typeface="Courier"/>
              </a:rPr>
              <a:t>  </a:t>
            </a:r>
            <a:r>
              <a:rPr>
                <a:solidFill>
                  <a:srgbClr val="657422"/>
                </a:solidFill>
                <a:latin typeface="Courier"/>
              </a:rPr>
              <a:t>nc_criteria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null_band =</a:t>
            </a:r>
            <a:r>
              <a:rPr>
                <a:solidFill>
                  <a:srgbClr val="003B4F"/>
                </a:solidFill>
                <a:latin typeface="Courier"/>
              </a:rPr>
              <a:t> </a:t>
            </a:r>
            <a:r>
              <a:rPr>
                <a:solidFill>
                  <a:srgbClr val="AD0000"/>
                </a:solidFill>
                <a:latin typeface="Courier"/>
              </a:rPr>
              <a:t>0.02</a:t>
            </a:r>
            <a:r>
              <a:rPr>
                <a:solidFill>
                  <a:srgbClr val="003B4F"/>
                </a:solidFill>
                <a:latin typeface="Courier"/>
              </a:rPr>
              <a:t>),</a:t>
            </a:r>
            <a:br/>
            <a:r>
              <a:rPr>
                <a:solidFill>
                  <a:srgbClr val="003B4F"/>
                </a:solidFill>
                <a:latin typeface="Courier"/>
              </a:rPr>
              <a:t>  </a:t>
            </a:r>
            <a:r>
              <a:rPr>
                <a:solidFill>
                  <a:srgbClr val="657422"/>
                </a:solidFill>
                <a:latin typeface="Courier"/>
              </a:rPr>
              <a:t>seed =</a:t>
            </a:r>
            <a:r>
              <a:rPr>
                <a:solidFill>
                  <a:srgbClr val="003B4F"/>
                </a:solidFill>
                <a:latin typeface="Courier"/>
              </a:rPr>
              <a:t> </a:t>
            </a:r>
            <a:r>
              <a:rPr>
                <a:solidFill>
                  <a:srgbClr val="AD0000"/>
                </a:solidFill>
                <a:latin typeface="Courier"/>
              </a:rPr>
              <a:t>42</a:t>
            </a:r>
            <a:r>
              <a:rPr>
                <a:solidFill>
                  <a:srgbClr val="003B4F"/>
                </a:solidFill>
                <a:latin typeface="Courier"/>
              </a:rPr>
              <a:t>, </a:t>
            </a:r>
            <a:r>
              <a:rPr>
                <a:solidFill>
                  <a:srgbClr val="657422"/>
                </a:solidFill>
                <a:latin typeface="Courier"/>
              </a:rPr>
              <a:t>enforce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lock &lt;- </a:t>
            </a:r>
            <a:r>
              <a:rPr>
                <a:solidFill>
                  <a:srgbClr val="4758AB"/>
                </a:solidFill>
                <a:latin typeface="Courier"/>
              </a:rPr>
              <a:t>declare_estimand_ladder</a:t>
            </a:r>
            <a:r>
              <a:rPr>
                <a:solidFill>
                  <a:srgbClr val="003B4F"/>
                </a:solidFill>
                <a:latin typeface="Courier"/>
              </a:rPr>
              <a:t>(lock, </a:t>
            </a:r>
            <a:r>
              <a:rPr>
                <a:solidFill>
                  <a:srgbClr val="657422"/>
                </a:solidFill>
                <a:latin typeface="Courier"/>
              </a:rPr>
              <a:t>primary =</a:t>
            </a:r>
            <a:r>
              <a:rPr>
                <a:solidFill>
                  <a:srgbClr val="003B4F"/>
                </a:solidFill>
                <a:latin typeface="Courier"/>
              </a:rPr>
              <a:t> </a:t>
            </a:r>
            <a:r>
              <a:rPr>
                <a:solidFill>
                  <a:srgbClr val="20794D"/>
                </a:solidFill>
                <a:latin typeface="Courier"/>
              </a:rPr>
              <a:t>"ATE"</a:t>
            </a:r>
            <a:r>
              <a:rPr>
                <a:solidFill>
                  <a:srgbClr val="003B4F"/>
                </a:solidFill>
                <a:latin typeface="Courier"/>
              </a:rPr>
              <a:t>,</a:t>
            </a:r>
            <a:br/>
            <a:r>
              <a:rPr>
                <a:solidFill>
                  <a:srgbClr val="003B4F"/>
                </a:solidFill>
                <a:latin typeface="Courier"/>
              </a:rPr>
              <a:t>          </a:t>
            </a:r>
            <a:r>
              <a:rPr>
                <a:solidFill>
                  <a:srgbClr val="657422"/>
                </a:solidFill>
                <a:latin typeface="Courier"/>
              </a:rPr>
              <a:t>fallbacks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"trimmed_ATE"</a:t>
            </a:r>
            <a:r>
              <a:rPr>
                <a:solidFill>
                  <a:srgbClr val="003B4F"/>
                </a:solidFill>
                <a:latin typeface="Courier"/>
              </a:rPr>
              <a:t>, </a:t>
            </a:r>
            <a:r>
              <a:rPr>
                <a:solidFill>
                  <a:srgbClr val="20794D"/>
                </a:solidFill>
                <a:latin typeface="Courier"/>
              </a:rPr>
              <a:t>"ATT"</a:t>
            </a:r>
            <a:r>
              <a:rPr>
                <a:solidFill>
                  <a:srgbClr val="003B4F"/>
                </a:solidFill>
                <a:latin typeface="Courier"/>
              </a:rPr>
              <a:t>), </a:t>
            </a:r>
            <a:r>
              <a:rPr>
                <a:solidFill>
                  <a:srgbClr val="657422"/>
                </a:solidFill>
                <a:latin typeface="Courier"/>
              </a:rPr>
              <a:t>trigger =</a:t>
            </a:r>
            <a:r>
              <a:rPr>
                <a:solidFill>
                  <a:srgbClr val="003B4F"/>
                </a:solidFill>
                <a:latin typeface="Courier"/>
              </a:rPr>
              <a:t> </a:t>
            </a:r>
            <a:r>
              <a:rPr>
                <a:solidFill>
                  <a:srgbClr val="20794D"/>
                </a:solidFill>
                <a:latin typeface="Courier"/>
              </a:rPr>
              <a:t>"SEVERE"</a:t>
            </a:r>
            <a:r>
              <a:rPr>
                <a:solidFill>
                  <a:srgbClr val="003B4F"/>
                </a:solidFill>
                <a:latin typeface="Courier"/>
              </a:rPr>
              <a:t>)</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Walkthrough: can this be estimated?</a:t>
            </a:r>
          </a:p>
        </p:txBody>
      </p:sp>
      <p:sp>
        <p:nvSpPr>
          <p:cNvPr id="4" name="Text Placeholder 3"/>
          <p:cNvSpPr>
            <a:spLocks noGrp="1"/>
          </p:cNvSpPr>
          <p:nvPr>
            <p:ph idx="2" sz="half" type="body"/>
          </p:nvPr>
        </p:nvSpPr>
        <p:spPr/>
        <p:txBody>
          <a:bodyPr/>
          <a:lstStyle/>
          <a:p>
            <a:pPr lvl="0" indent="0">
              <a:buNone/>
            </a:pPr>
            <a:r>
              <a:rPr>
                <a:solidFill>
                  <a:srgbClr val="003B4F"/>
                </a:solidFill>
                <a:latin typeface="Courier"/>
              </a:rPr>
              <a:t>ps  &lt;- </a:t>
            </a:r>
            <a:r>
              <a:rPr>
                <a:solidFill>
                  <a:srgbClr val="4758AB"/>
                </a:solidFill>
                <a:latin typeface="Courier"/>
              </a:rPr>
              <a:t>fit_ps</a:t>
            </a:r>
            <a:r>
              <a:rPr>
                <a:solidFill>
                  <a:srgbClr val="003B4F"/>
                </a:solidFill>
                <a:latin typeface="Courier"/>
              </a:rPr>
              <a:t>(lock, </a:t>
            </a:r>
            <a:r>
              <a:rPr>
                <a:solidFill>
                  <a:srgbClr val="657422"/>
                </a:solidFill>
                <a:latin typeface="Courier"/>
              </a:rPr>
              <a:t>method =</a:t>
            </a:r>
            <a:r>
              <a:rPr>
                <a:solidFill>
                  <a:srgbClr val="003B4F"/>
                </a:solidFill>
                <a:latin typeface="Courier"/>
              </a:rPr>
              <a:t> </a:t>
            </a:r>
            <a:r>
              <a:rPr>
                <a:solidFill>
                  <a:srgbClr val="20794D"/>
                </a:solidFill>
                <a:latin typeface="Courier"/>
              </a:rPr>
              <a:t>"glm"</a:t>
            </a:r>
            <a:r>
              <a:rPr>
                <a:solidFill>
                  <a:srgbClr val="003B4F"/>
                </a:solidFill>
                <a:latin typeface="Courier"/>
              </a:rPr>
              <a:t>)</a:t>
            </a:r>
            <a:br/>
            <a:r>
              <a:rPr>
                <a:solidFill>
                  <a:srgbClr val="003B4F"/>
                </a:solidFill>
                <a:latin typeface="Courier"/>
              </a:rPr>
              <a:t>sup &lt;- </a:t>
            </a:r>
            <a:r>
              <a:rPr>
                <a:solidFill>
                  <a:srgbClr val="4758AB"/>
                </a:solidFill>
                <a:latin typeface="Courier"/>
              </a:rPr>
              <a:t>assess_support</a:t>
            </a:r>
            <a:r>
              <a:rPr>
                <a:solidFill>
                  <a:srgbClr val="003B4F"/>
                </a:solidFill>
                <a:latin typeface="Courier"/>
              </a:rPr>
              <a:t>(ps)</a:t>
            </a:r>
            <a:br/>
            <a:r>
              <a:rPr>
                <a:solidFill>
                  <a:srgbClr val="003B4F"/>
                </a:solidFill>
                <a:latin typeface="Courier"/>
              </a:rPr>
              <a:t>fea &lt;- </a:t>
            </a:r>
            <a:r>
              <a:rPr>
                <a:solidFill>
                  <a:srgbClr val="4758AB"/>
                </a:solidFill>
                <a:latin typeface="Courier"/>
              </a:rPr>
              <a:t>estimand_feasibility</a:t>
            </a:r>
            <a:r>
              <a:rPr>
                <a:solidFill>
                  <a:srgbClr val="003B4F"/>
                </a:solidFill>
                <a:latin typeface="Courier"/>
              </a:rPr>
              <a:t>(ps)</a:t>
            </a:r>
          </a:p>
        </p:txBody>
      </p:sp>
      <p:pic>
        <p:nvPicPr>
          <p:cNvPr descr="cleanTMLE_presentation_files/figure-pptx/wt-support-fig-1.png" id="0" name="Picture 1"/>
          <p:cNvPicPr>
            <a:picLocks noGrp="1" noChangeAspect="1"/>
          </p:cNvPicPr>
          <p:nvPr/>
        </p:nvPicPr>
        <p:blipFill>
          <a:blip r:embed="rId2"/>
          <a:stretch>
            <a:fillRect/>
          </a:stretch>
        </p:blipFill>
        <p:spPr bwMode="auto">
          <a:xfrm>
            <a:off x="3568700" y="1320800"/>
            <a:ext cx="5105400" cy="2146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Walkthrough: which estimands survive this fit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lgn="l">
                        <a:buNone/>
                      </a:pPr>
                      <a:r>
                        <a:rPr/>
                        <a:t>estimand</a:t>
                      </a:r>
                    </a:p>
                  </a:txBody>
                  <a:tcPr/>
                </a:tc>
                <a:tc>
                  <a:txBody>
                    <a:bodyPr/>
                    <a:lstStyle/>
                    <a:p>
                      <a:pPr lvl="0" indent="0" marL="0" algn="r">
                        <a:buNone/>
                      </a:pPr>
                      <a:r>
                        <a:rPr/>
                        <a:t>max_weight</a:t>
                      </a:r>
                    </a:p>
                  </a:txBody>
                  <a:tcPr/>
                </a:tc>
                <a:tc>
                  <a:txBody>
                    <a:bodyPr/>
                    <a:lstStyle/>
                    <a:p>
                      <a:pPr lvl="0" indent="0" marL="0" algn="r">
                        <a:buNone/>
                      </a:pPr>
                      <a:r>
                        <a:rPr/>
                        <a:t>ess_treated</a:t>
                      </a:r>
                    </a:p>
                  </a:txBody>
                  <a:tcPr/>
                </a:tc>
                <a:tc>
                  <a:txBody>
                    <a:bodyPr/>
                    <a:lstStyle/>
                    <a:p>
                      <a:pPr lvl="0" indent="0" marL="0" algn="l">
                        <a:buNone/>
                      </a:pPr>
                      <a:r>
                        <a:rPr/>
                        <a:t>verdict</a:t>
                      </a:r>
                    </a:p>
                  </a:txBody>
                  <a:tcPr/>
                </a:tc>
              </a:tr>
              <a:tr h="0">
                <a:tc>
                  <a:txBody>
                    <a:bodyPr/>
                    <a:lstStyle/>
                    <a:p>
                      <a:pPr lvl="0" indent="0" marL="0" algn="l">
                        <a:buNone/>
                      </a:pPr>
                      <a:r>
                        <a:rPr/>
                        <a:t>ATE</a:t>
                      </a:r>
                    </a:p>
                  </a:txBody>
                </a:tc>
                <a:tc>
                  <a:txBody>
                    <a:bodyPr/>
                    <a:lstStyle/>
                    <a:p>
                      <a:pPr lvl="0" indent="0" marL="0" algn="r">
                        <a:buNone/>
                      </a:pPr>
                      <a:r>
                        <a:rPr/>
                        <a:t>7.4</a:t>
                      </a:r>
                    </a:p>
                  </a:txBody>
                </a:tc>
                <a:tc>
                  <a:txBody>
                    <a:bodyPr/>
                    <a:lstStyle/>
                    <a:p>
                      <a:pPr lvl="0" indent="0" marL="0" algn="r">
                        <a:buNone/>
                      </a:pPr>
                      <a:r>
                        <a:rPr/>
                        <a:t>493.8</a:t>
                      </a:r>
                    </a:p>
                  </a:txBody>
                </a:tc>
                <a:tc>
                  <a:txBody>
                    <a:bodyPr/>
                    <a:lstStyle/>
                    <a:p>
                      <a:pPr lvl="0" indent="0" marL="0" algn="l">
                        <a:buNone/>
                      </a:pPr>
                      <a:r>
                        <a:rPr/>
                        <a:t>PASS</a:t>
                      </a:r>
                    </a:p>
                  </a:txBody>
                </a:tc>
              </a:tr>
              <a:tr h="0">
                <a:tc>
                  <a:txBody>
                    <a:bodyPr/>
                    <a:lstStyle/>
                    <a:p>
                      <a:pPr lvl="0" indent="0" marL="0" algn="l">
                        <a:buNone/>
                      </a:pPr>
                      <a:r>
                        <a:rPr/>
                        <a:t>trimmed_ATE [0.05, 0.95]</a:t>
                      </a:r>
                    </a:p>
                  </a:txBody>
                </a:tc>
                <a:tc>
                  <a:txBody>
                    <a:bodyPr/>
                    <a:lstStyle/>
                    <a:p>
                      <a:pPr lvl="0" indent="0" marL="0" algn="r">
                        <a:buNone/>
                      </a:pPr>
                      <a:r>
                        <a:rPr/>
                        <a:t>7.4</a:t>
                      </a:r>
                    </a:p>
                  </a:txBody>
                </a:tc>
                <a:tc>
                  <a:txBody>
                    <a:bodyPr/>
                    <a:lstStyle/>
                    <a:p>
                      <a:pPr lvl="0" indent="0" marL="0" algn="r">
                        <a:buNone/>
                      </a:pPr>
                      <a:r>
                        <a:rPr/>
                        <a:t>493.8</a:t>
                      </a:r>
                    </a:p>
                  </a:txBody>
                </a:tc>
                <a:tc>
                  <a:txBody>
                    <a:bodyPr/>
                    <a:lstStyle/>
                    <a:p>
                      <a:pPr lvl="0" indent="0" marL="0" algn="l">
                        <a:buNone/>
                      </a:pPr>
                      <a:r>
                        <a:rPr/>
                        <a:t>PASS</a:t>
                      </a:r>
                    </a:p>
                  </a:txBody>
                </a:tc>
              </a:tr>
              <a:tr h="0">
                <a:tc>
                  <a:txBody>
                    <a:bodyPr/>
                    <a:lstStyle/>
                    <a:p>
                      <a:pPr lvl="0" indent="0" marL="0" algn="l">
                        <a:buNone/>
                      </a:pPr>
                      <a:r>
                        <a:rPr/>
                        <a:t>trimmed_ATE [0.10, 0.90]</a:t>
                      </a:r>
                    </a:p>
                  </a:txBody>
                </a:tc>
                <a:tc>
                  <a:txBody>
                    <a:bodyPr/>
                    <a:lstStyle/>
                    <a:p>
                      <a:pPr lvl="0" indent="0" marL="0" algn="r">
                        <a:buNone/>
                      </a:pPr>
                      <a:r>
                        <a:rPr/>
                        <a:t>7.4</a:t>
                      </a:r>
                    </a:p>
                  </a:txBody>
                </a:tc>
                <a:tc>
                  <a:txBody>
                    <a:bodyPr/>
                    <a:lstStyle/>
                    <a:p>
                      <a:pPr lvl="0" indent="0" marL="0" algn="r">
                        <a:buNone/>
                      </a:pPr>
                      <a:r>
                        <a:rPr/>
                        <a:t>492.2</a:t>
                      </a:r>
                    </a:p>
                  </a:txBody>
                </a:tc>
                <a:tc>
                  <a:txBody>
                    <a:bodyPr/>
                    <a:lstStyle/>
                    <a:p>
                      <a:pPr lvl="0" indent="0" marL="0" algn="l">
                        <a:buNone/>
                      </a:pPr>
                      <a:r>
                        <a:rPr/>
                        <a:t>PASS</a:t>
                      </a:r>
                    </a:p>
                  </a:txBody>
                </a:tc>
              </a:tr>
              <a:tr h="0">
                <a:tc>
                  <a:txBody>
                    <a:bodyPr/>
                    <a:lstStyle/>
                    <a:p>
                      <a:pPr lvl="0" indent="0" marL="0" algn="l">
                        <a:buNone/>
                      </a:pPr>
                      <a:r>
                        <a:rPr/>
                        <a:t>ATT</a:t>
                      </a:r>
                    </a:p>
                  </a:txBody>
                </a:tc>
                <a:tc>
                  <a:txBody>
                    <a:bodyPr/>
                    <a:lstStyle/>
                    <a:p>
                      <a:pPr lvl="0" indent="0" marL="0" algn="r">
                        <a:buNone/>
                      </a:pPr>
                      <a:r>
                        <a:rPr/>
                        <a:t>6.4</a:t>
                      </a:r>
                    </a:p>
                  </a:txBody>
                </a:tc>
                <a:tc>
                  <a:txBody>
                    <a:bodyPr/>
                    <a:lstStyle/>
                    <a:p>
                      <a:pPr lvl="0" indent="0" marL="0" algn="r">
                        <a:buNone/>
                      </a:pPr>
                      <a:r>
                        <a:rPr/>
                        <a:t>535.0</a:t>
                      </a:r>
                    </a:p>
                  </a:txBody>
                </a:tc>
                <a:tc>
                  <a:txBody>
                    <a:bodyPr/>
                    <a:lstStyle/>
                    <a:p>
                      <a:pPr lvl="0" indent="0" marL="0" algn="l">
                        <a:buNone/>
                      </a:pPr>
                      <a:r>
                        <a:rPr/>
                        <a:t>PASS</a:t>
                      </a:r>
                    </a:p>
                  </a:txBody>
                </a:tc>
              </a:tr>
              <a:tr h="0">
                <a:tc>
                  <a:txBody>
                    <a:bodyPr/>
                    <a:lstStyle/>
                    <a:p>
                      <a:pPr lvl="0" indent="0" marL="0" algn="l">
                        <a:buNone/>
                      </a:pPr>
                      <a:r>
                        <a:rPr/>
                        <a:t>ATC</a:t>
                      </a:r>
                    </a:p>
                  </a:txBody>
                </a:tc>
                <a:tc>
                  <a:txBody>
                    <a:bodyPr/>
                    <a:lstStyle/>
                    <a:p>
                      <a:pPr lvl="0" indent="0" marL="0" algn="r">
                        <a:buNone/>
                      </a:pPr>
                      <a:r>
                        <a:rPr/>
                        <a:t>3.3</a:t>
                      </a:r>
                    </a:p>
                  </a:txBody>
                </a:tc>
                <a:tc>
                  <a:txBody>
                    <a:bodyPr/>
                    <a:lstStyle/>
                    <a:p>
                      <a:pPr lvl="0" indent="0" marL="0" algn="r">
                        <a:buNone/>
                      </a:pPr>
                      <a:r>
                        <a:rPr/>
                        <a:t>385.7</a:t>
                      </a:r>
                    </a:p>
                  </a:txBody>
                </a:tc>
                <a:tc>
                  <a:txBody>
                    <a:bodyPr/>
                    <a:lstStyle/>
                    <a:p>
                      <a:pPr lvl="0" indent="0" marL="0" algn="l">
                        <a:buNone/>
                      </a:pPr>
                      <a:r>
                        <a:rPr/>
                        <a:t>PASS</a:t>
                      </a:r>
                    </a:p>
                  </a:txBody>
                </a:tc>
              </a:tr>
              <a:tr h="0">
                <a:tc>
                  <a:txBody>
                    <a:bodyPr/>
                    <a:lstStyle/>
                    <a:p>
                      <a:pPr lvl="0" indent="0" marL="0" algn="l">
                        <a:buNone/>
                      </a:pPr>
                      <a:r>
                        <a:rPr/>
                        <a:t>ATO</a:t>
                      </a:r>
                    </a:p>
                  </a:txBody>
                </a:tc>
                <a:tc>
                  <a:txBody>
                    <a:bodyPr/>
                    <a:lstStyle/>
                    <a:p>
                      <a:pPr lvl="0" indent="0" marL="0" algn="r">
                        <a:buNone/>
                      </a:pPr>
                      <a:r>
                        <a:rPr/>
                        <a:t>0.9</a:t>
                      </a:r>
                    </a:p>
                  </a:txBody>
                </a:tc>
                <a:tc>
                  <a:txBody>
                    <a:bodyPr/>
                    <a:lstStyle/>
                    <a:p>
                      <a:pPr lvl="0" indent="0" marL="0" algn="r">
                        <a:buNone/>
                      </a:pPr>
                      <a:r>
                        <a:rPr/>
                        <a:t>484.6</a:t>
                      </a:r>
                    </a:p>
                  </a:txBody>
                </a:tc>
                <a:tc>
                  <a:txBody>
                    <a:bodyPr/>
                    <a:lstStyle/>
                    <a:p>
                      <a:pPr lvl="0" indent="0" marL="0" algn="l">
                        <a:buNone/>
                      </a:pPr>
                      <a:r>
                        <a:rPr/>
                        <a:t>PASS</a:t>
                      </a:r>
                    </a:p>
                  </a:txBody>
                </a:tc>
              </a:tr>
              <a:tr h="0">
                <a:tc>
                  <a:txBody>
                    <a:bodyPr/>
                    <a:lstStyle/>
                    <a:p>
                      <a:pPr lvl="0" indent="0" marL="0" algn="l">
                        <a:buNone/>
                      </a:pPr>
                      <a:r>
                        <a:rPr/>
                        <a:t>matched_ATT</a:t>
                      </a:r>
                    </a:p>
                  </a:txBody>
                </a:tc>
                <a:tc>
                  <a:txBody>
                    <a:bodyPr/>
                    <a:lstStyle/>
                    <a:p>
                      <a:pPr lvl="0" indent="0" marL="0" algn="r">
                        <a:buNone/>
                      </a:pPr>
                      <a:r>
                        <a:rPr/>
                        <a:t>1.0</a:t>
                      </a:r>
                    </a:p>
                  </a:txBody>
                </a:tc>
                <a:tc>
                  <a:txBody>
                    <a:bodyPr/>
                    <a:lstStyle/>
                    <a:p>
                      <a:pPr lvl="0" indent="0" marL="0" algn="r">
                        <a:buNone/>
                      </a:pPr>
                      <a:r>
                        <a:rPr/>
                        <a:t>418.0</a:t>
                      </a:r>
                    </a:p>
                  </a:txBody>
                </a:tc>
                <a:tc>
                  <a:txBody>
                    <a:bodyPr/>
                    <a:lstStyle/>
                    <a:p>
                      <a:pPr lvl="0" indent="0" marL="0" algn="l">
                        <a:buNone/>
                      </a:pPr>
                      <a:r>
                        <a:rPr/>
                        <a:t>PASS</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Walkthrough: candidates under declared threats</a:t>
            </a:r>
          </a:p>
        </p:txBody>
      </p:sp>
      <p:sp>
        <p:nvSpPr>
          <p:cNvPr id="4" name="Text Placeholder 3"/>
          <p:cNvSpPr>
            <a:spLocks noGrp="1"/>
          </p:cNvSpPr>
          <p:nvPr>
            <p:ph idx="2" sz="half" type="body"/>
          </p:nvPr>
        </p:nvSpPr>
        <p:spPr/>
        <p:txBody>
          <a:bodyPr/>
          <a:lstStyle/>
          <a:p>
            <a:pPr lvl="0" indent="0">
              <a:buNone/>
            </a:pPr>
            <a:r>
              <a:rPr>
                <a:solidFill>
                  <a:srgbClr val="003B4F"/>
                </a:solidFill>
                <a:latin typeface="Courier"/>
              </a:rPr>
              <a:t>cands &lt;- </a:t>
            </a:r>
            <a:r>
              <a:rPr>
                <a:solidFill>
                  <a:srgbClr val="4758AB"/>
                </a:solidFill>
                <a:latin typeface="Courier"/>
              </a:rPr>
              <a:t>define_candidates</a:t>
            </a:r>
            <a:r>
              <a:rPr>
                <a:solidFill>
                  <a:srgbClr val="003B4F"/>
                </a:solidFill>
                <a:latin typeface="Courier"/>
              </a:rPr>
              <a:t>(</a:t>
            </a:r>
            <a:r>
              <a:rPr>
                <a:solidFill>
                  <a:srgbClr val="657422"/>
                </a:solidFill>
                <a:latin typeface="Courier"/>
              </a:rPr>
              <a:t>grid =</a:t>
            </a:r>
            <a:r>
              <a:rPr>
                <a:solidFill>
                  <a:srgbClr val="003B4F"/>
                </a:solidFill>
                <a:latin typeface="Courier"/>
              </a:rPr>
              <a: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657422"/>
                </a:solidFill>
                <a:latin typeface="Courier"/>
              </a:rPr>
              <a:t>truncations =</a:t>
            </a:r>
            <a:r>
              <a:rPr>
                <a:solidFill>
                  <a:srgbClr val="003B4F"/>
                </a:solidFill>
                <a:latin typeface="Courier"/>
              </a:rPr>
              <a:t> </a:t>
            </a:r>
            <a:r>
              <a:rPr>
                <a:solidFill>
                  <a:srgbClr val="AD0000"/>
                </a:solidFill>
                <a:latin typeface="Courier"/>
              </a:rPr>
              <a:t>0.01</a:t>
            </a:r>
            <a:r>
              <a:rPr>
                <a:solidFill>
                  <a:srgbClr val="003B4F"/>
                </a:solidFill>
                <a:latin typeface="Courier"/>
              </a:rPr>
              <a:t>,</a:t>
            </a:r>
            <a:br/>
            <a:r>
              <a:rPr>
                <a:solidFill>
                  <a:srgbClr val="003B4F"/>
                </a:solidFill>
                <a:latin typeface="Courier"/>
              </a:rPr>
              <a:t>  </a:t>
            </a:r>
            <a:r>
              <a:rPr>
                <a:solidFill>
                  <a:srgbClr val="657422"/>
                </a:solidFill>
                <a:latin typeface="Courier"/>
              </a:rPr>
              <a:t>libraries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glm =</a:t>
            </a:r>
            <a:r>
              <a:rPr>
                <a:solidFill>
                  <a:srgbClr val="003B4F"/>
                </a:solidFill>
                <a:latin typeface="Courier"/>
              </a:rPr>
              <a:t> </a:t>
            </a:r>
            <a:r>
              <a:rPr>
                <a:solidFill>
                  <a:srgbClr val="20794D"/>
                </a:solidFill>
                <a:latin typeface="Courier"/>
              </a:rPr>
              <a:t>"SL.glm"</a:t>
            </a:r>
            <a:r>
              <a:rPr>
                <a:solidFill>
                  <a:srgbClr val="003B4F"/>
                </a:solidFill>
                <a:latin typeface="Courier"/>
              </a:rPr>
              <a:t>, </a:t>
            </a:r>
            <a:r>
              <a:rPr>
                <a:solidFill>
                  <a:srgbClr val="657422"/>
                </a:solidFill>
                <a:latin typeface="Courier"/>
              </a:rPr>
              <a:t>glm_mean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"SL.glm"</a:t>
            </a:r>
            <a:r>
              <a:rPr>
                <a:solidFill>
                  <a:srgbClr val="003B4F"/>
                </a:solidFill>
                <a:latin typeface="Courier"/>
              </a:rPr>
              <a:t>, </a:t>
            </a:r>
            <a:r>
              <a:rPr>
                <a:solidFill>
                  <a:srgbClr val="20794D"/>
                </a:solidFill>
                <a:latin typeface="Courier"/>
              </a:rPr>
              <a:t>"SL.mean"</a:t>
            </a:r>
            <a:r>
              <a:rPr>
                <a:solidFill>
                  <a:srgbClr val="003B4F"/>
                </a:solidFill>
                <a:latin typeface="Courier"/>
              </a:rPr>
              <a:t>))))</a:t>
            </a:r>
            <a:br/>
            <a:r>
              <a:rPr>
                <a:solidFill>
                  <a:srgbClr val="003B4F"/>
                </a:solidFill>
                <a:latin typeface="Courier"/>
              </a:rPr>
              <a:t>st &lt;- </a:t>
            </a:r>
            <a:r>
              <a:rPr>
                <a:solidFill>
                  <a:srgbClr val="4758AB"/>
                </a:solidFill>
                <a:latin typeface="Courier"/>
              </a:rPr>
              <a:t>stress_test</a:t>
            </a:r>
            <a:r>
              <a:rPr>
                <a:solidFill>
                  <a:srgbClr val="003B4F"/>
                </a:solidFill>
                <a:latin typeface="Courier"/>
              </a:rPr>
              <a:t>(lock, cands, </a:t>
            </a:r>
            <a:r>
              <a:rPr>
                <a:solidFill>
                  <a:srgbClr val="657422"/>
                </a:solidFill>
                <a:latin typeface="Courier"/>
              </a:rPr>
              <a:t>reps =</a:t>
            </a:r>
            <a:r>
              <a:rPr>
                <a:solidFill>
                  <a:srgbClr val="003B4F"/>
                </a:solidFill>
                <a:latin typeface="Courier"/>
              </a:rPr>
              <a:t> </a:t>
            </a:r>
            <a:r>
              <a:rPr>
                <a:solidFill>
                  <a:srgbClr val="AD0000"/>
                </a:solidFill>
                <a:latin typeface="Courier"/>
              </a:rPr>
              <a:t>20</a:t>
            </a:r>
            <a:r>
              <a:rPr>
                <a:solidFill>
                  <a:srgbClr val="003B4F"/>
                </a:solidFill>
                <a:latin typeface="Courier"/>
              </a:rPr>
              <a:t>, </a:t>
            </a:r>
            <a:r>
              <a:rPr>
                <a:solidFill>
                  <a:srgbClr val="657422"/>
                </a:solidFill>
                <a:latin typeface="Courier"/>
              </a:rPr>
              <a:t>verbose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  </a:t>
            </a:r>
            <a:r>
              <a:rPr>
                <a:solidFill>
                  <a:srgbClr val="657422"/>
                </a:solidFill>
                <a:latin typeface="Courier"/>
              </a:rPr>
              <a:t>threats =</a:t>
            </a:r>
            <a:r>
              <a:rPr>
                <a:solidFill>
                  <a:srgbClr val="003B4F"/>
                </a:solidFill>
                <a:latin typeface="Courier"/>
              </a:rPr>
              <a: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657422"/>
                </a:solidFill>
                <a:latin typeface="Courier"/>
              </a:rPr>
              <a:t>covariate_missingness_mnar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fractions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0.1</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AD0000"/>
                </a:solidFill>
                <a:latin typeface="Courier"/>
              </a:rPr>
              <a:t>0.3</a:t>
            </a:r>
            <a:r>
              <a:rPr>
                <a:solidFill>
                  <a:srgbClr val="003B4F"/>
                </a:solidFill>
                <a:latin typeface="Courier"/>
              </a:rPr>
              <a:t>)),</a:t>
            </a:r>
            <a:br/>
            <a:r>
              <a:rPr>
                <a:solidFill>
                  <a:srgbClr val="003B4F"/>
                </a:solidFill>
                <a:latin typeface="Courier"/>
              </a:rPr>
              <a:t>    </a:t>
            </a:r>
            <a:r>
              <a:rPr>
                <a:solidFill>
                  <a:srgbClr val="657422"/>
                </a:solidFill>
                <a:latin typeface="Courier"/>
              </a:rPr>
              <a:t>unmeasured_confounding =</a:t>
            </a:r>
            <a:r>
              <a:rPr>
                <a:solidFill>
                  <a:srgbClr val="003B4F"/>
                </a:solidFill>
                <a:latin typeface="Courier"/>
              </a:rPr>
              <a:t> </a:t>
            </a:r>
            <a:r>
              <a:rPr>
                <a:solidFill>
                  <a:srgbClr val="4758AB"/>
                </a:solidFill>
                <a:latin typeface="Courier"/>
              </a:rPr>
              <a:t>list</a:t>
            </a:r>
            <a:r>
              <a:rPr>
                <a:solidFill>
                  <a:srgbClr val="003B4F"/>
                </a:solidFill>
                <a:latin typeface="Courier"/>
              </a:rPr>
              <a:t>(</a:t>
            </a:r>
            <a:br/>
            <a:r>
              <a:rPr>
                <a:solidFill>
                  <a:srgbClr val="003B4F"/>
                </a:solidFill>
                <a:latin typeface="Courier"/>
              </a:rPr>
              <a:t>      </a:t>
            </a:r>
            <a:r>
              <a:rPr>
                <a:solidFill>
                  <a:srgbClr val="657422"/>
                </a:solidFill>
                <a:latin typeface="Courier"/>
              </a:rPr>
              <a:t>U_prevalence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U_treatment_OR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U_outcome_OR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1.5</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3</a:t>
            </a:r>
            <a:r>
              <a:rPr>
                <a:solidFill>
                  <a:srgbClr val="003B4F"/>
                </a:solidFill>
                <a:latin typeface="Courier"/>
              </a:rPr>
              <a:t>))))</a:t>
            </a:r>
          </a:p>
        </p:txBody>
      </p:sp>
      <p:pic>
        <p:nvPicPr>
          <p:cNvPr descr="cleanTMLE_presentation_files/figure-pptx/wt-stress-fig-1.png" id="0" name="Picture 1"/>
          <p:cNvPicPr>
            <a:picLocks noGrp="1" noChangeAspect="1"/>
          </p:cNvPicPr>
          <p:nvPr/>
        </p:nvPicPr>
        <p:blipFill>
          <a:blip r:embed="rId2"/>
          <a:stretch>
            <a:fillRect/>
          </a:stretch>
        </p:blipFill>
        <p:spPr bwMode="auto">
          <a:xfrm>
            <a:off x="3568700" y="1422400"/>
            <a:ext cx="5105400" cy="19304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Walkthrough: the verdict is a lookup, and so is the choice</a:t>
            </a:r>
          </a:p>
        </p:txBody>
      </p:sp>
      <p:sp>
        <p:nvSpPr>
          <p:cNvPr id="4" name="Text Placeholder 3"/>
          <p:cNvSpPr>
            <a:spLocks noGrp="1"/>
          </p:cNvSpPr>
          <p:nvPr>
            <p:ph idx="2" sz="half" type="body"/>
          </p:nvPr>
        </p:nvSpPr>
        <p:spPr/>
        <p:txBody>
          <a:bodyPr/>
          <a:lstStyle/>
          <a:p>
            <a:pPr lvl="0" indent="0">
              <a:buNone/>
            </a:pPr>
            <a:r>
              <a:rPr>
                <a:solidFill>
                  <a:srgbClr val="003B4F"/>
                </a:solidFill>
                <a:latin typeface="Courier"/>
              </a:rPr>
              <a:t>best &lt;- </a:t>
            </a:r>
            <a:r>
              <a:rPr>
                <a:solidFill>
                  <a:srgbClr val="4758AB"/>
                </a:solidFill>
                <a:latin typeface="Courier"/>
              </a:rPr>
              <a:t>select_candidate</a:t>
            </a:r>
            <a:r>
              <a:rPr>
                <a:solidFill>
                  <a:srgbClr val="003B4F"/>
                </a:solidFill>
                <a:latin typeface="Courier"/>
              </a:rPr>
              <a:t>(st, </a:t>
            </a:r>
            <a:r>
              <a:rPr>
                <a:solidFill>
                  <a:srgbClr val="657422"/>
                </a:solidFill>
                <a:latin typeface="Courier"/>
              </a:rPr>
              <a:t>rule =</a:t>
            </a:r>
            <a:r>
              <a:rPr>
                <a:solidFill>
                  <a:srgbClr val="003B4F"/>
                </a:solidFill>
                <a:latin typeface="Courier"/>
              </a:rPr>
              <a:t> </a:t>
            </a:r>
            <a:r>
              <a:rPr>
                <a:solidFill>
                  <a:srgbClr val="20794D"/>
                </a:solidFill>
                <a:latin typeface="Courier"/>
              </a:rPr>
              <a:t>"min_max_rmse"</a:t>
            </a:r>
            <a:r>
              <a:rPr>
                <a:solidFill>
                  <a:srgbClr val="003B4F"/>
                </a:solidFill>
                <a:latin typeface="Courier"/>
              </a:rPr>
              <a:t>)</a:t>
            </a:r>
            <a:br/>
            <a:r>
              <a:rPr>
                <a:solidFill>
                  <a:srgbClr val="003B4F"/>
                </a:solidFill>
                <a:latin typeface="Courier"/>
              </a:rPr>
              <a:t>lock &lt;- </a:t>
            </a:r>
            <a:r>
              <a:rPr>
                <a:solidFill>
                  <a:srgbClr val="4758AB"/>
                </a:solidFill>
                <a:latin typeface="Courier"/>
              </a:rPr>
              <a:t>declare_estimand_ladder</a:t>
            </a:r>
            <a:r>
              <a:rPr>
                <a:solidFill>
                  <a:srgbClr val="003B4F"/>
                </a:solidFill>
                <a:latin typeface="Courier"/>
              </a:rPr>
              <a:t>(lock, </a:t>
            </a:r>
            <a:r>
              <a:rPr>
                <a:solidFill>
                  <a:srgbClr val="657422"/>
                </a:solidFill>
                <a:latin typeface="Courier"/>
              </a:rPr>
              <a:t>primary =</a:t>
            </a:r>
            <a:r>
              <a:rPr>
                <a:solidFill>
                  <a:srgbClr val="003B4F"/>
                </a:solidFill>
                <a:latin typeface="Courier"/>
              </a:rPr>
              <a:t> </a:t>
            </a:r>
            <a:r>
              <a:rPr>
                <a:solidFill>
                  <a:srgbClr val="20794D"/>
                </a:solidFill>
                <a:latin typeface="Courier"/>
              </a:rPr>
              <a:t>"ATE"</a:t>
            </a:r>
            <a:r>
              <a:rPr>
                <a:solidFill>
                  <a:srgbClr val="003B4F"/>
                </a:solidFill>
                <a:latin typeface="Courier"/>
              </a:rPr>
              <a:t>,</a:t>
            </a:r>
            <a:br/>
            <a:r>
              <a:rPr>
                <a:solidFill>
                  <a:srgbClr val="003B4F"/>
                </a:solidFill>
                <a:latin typeface="Courier"/>
              </a:rPr>
              <a:t>          </a:t>
            </a:r>
            <a:r>
              <a:rPr>
                <a:solidFill>
                  <a:srgbClr val="657422"/>
                </a:solidFill>
                <a:latin typeface="Courier"/>
              </a:rPr>
              <a:t>fallbacks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"trimmed_ATE"</a:t>
            </a:r>
            <a:r>
              <a:rPr>
                <a:solidFill>
                  <a:srgbClr val="003B4F"/>
                </a:solidFill>
                <a:latin typeface="Courier"/>
              </a:rPr>
              <a:t>, </a:t>
            </a:r>
            <a:r>
              <a:rPr>
                <a:solidFill>
                  <a:srgbClr val="20794D"/>
                </a:solidFill>
                <a:latin typeface="Courier"/>
              </a:rPr>
              <a:t>"ATT"</a:t>
            </a:r>
            <a:r>
              <a:rPr>
                <a:solidFill>
                  <a:srgbClr val="003B4F"/>
                </a:solidFill>
                <a:latin typeface="Courier"/>
              </a:rPr>
              <a:t>),</a:t>
            </a:r>
            <a:br/>
            <a:r>
              <a:rPr>
                <a:solidFill>
                  <a:srgbClr val="003B4F"/>
                </a:solidFill>
                <a:latin typeface="Courier"/>
              </a:rPr>
              <a:t>          </a:t>
            </a:r>
            <a:r>
              <a:rPr>
                <a:solidFill>
                  <a:srgbClr val="657422"/>
                </a:solidFill>
                <a:latin typeface="Courier"/>
              </a:rPr>
              <a:t>trigger =</a:t>
            </a:r>
            <a:r>
              <a:rPr>
                <a:solidFill>
                  <a:srgbClr val="003B4F"/>
                </a:solidFill>
                <a:latin typeface="Courier"/>
              </a:rPr>
              <a:t> </a:t>
            </a:r>
            <a:r>
              <a:rPr>
                <a:solidFill>
                  <a:srgbClr val="20794D"/>
                </a:solidFill>
                <a:latin typeface="Courier"/>
              </a:rPr>
              <a:t>"SEVERE"</a:t>
            </a:r>
            <a:r>
              <a:rPr>
                <a:solidFill>
                  <a:srgbClr val="003B4F"/>
                </a:solidFill>
                <a:latin typeface="Courier"/>
              </a:rPr>
              <a:t>, </a:t>
            </a:r>
            <a:r>
              <a:rPr>
                <a:solidFill>
                  <a:srgbClr val="657422"/>
                </a:solidFill>
                <a:latin typeface="Courier"/>
              </a:rPr>
              <a:t>candidate =</a:t>
            </a:r>
            <a:r>
              <a:rPr>
                <a:solidFill>
                  <a:srgbClr val="003B4F"/>
                </a:solidFill>
                <a:latin typeface="Courier"/>
              </a:rPr>
              <a:t> best)</a:t>
            </a:r>
          </a:p>
          <a:p>
            <a:pPr lvl="0" indent="0" marL="0">
              <a:buNone/>
            </a:pPr>
            <a:r>
              <a:rPr/>
              <a:t>Selected: tmle_glm_t001. The rule ran on simulated outcomes against thresholds fixed in the fingerprint, so the real effect direction played no part.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lgn="l">
                        <a:buNone/>
                      </a:pPr>
                      <a:r>
                        <a:rPr/>
                        <a:t>candidate</a:t>
                      </a:r>
                    </a:p>
                  </a:txBody>
                  <a:tcPr/>
                </a:tc>
                <a:tc>
                  <a:txBody>
                    <a:bodyPr/>
                    <a:lstStyle/>
                    <a:p>
                      <a:pPr lvl="0" indent="0" marL="0" algn="r">
                        <a:buNone/>
                      </a:pPr>
                      <a:r>
                        <a:rPr/>
                        <a:t>worst_abs_bias</a:t>
                      </a:r>
                    </a:p>
                  </a:txBody>
                  <a:tcPr/>
                </a:tc>
                <a:tc>
                  <a:txBody>
                    <a:bodyPr/>
                    <a:lstStyle/>
                    <a:p>
                      <a:pPr lvl="0" indent="0" marL="0" algn="r">
                        <a:buNone/>
                      </a:pPr>
                      <a:r>
                        <a:rPr/>
                        <a:t>worst_coverage</a:t>
                      </a:r>
                    </a:p>
                  </a:txBody>
                  <a:tcPr/>
                </a:tc>
                <a:tc>
                  <a:txBody>
                    <a:bodyPr/>
                    <a:lstStyle/>
                    <a:p>
                      <a:pPr lvl="0" indent="0" marL="0" algn="l">
                        <a:buNone/>
                      </a:pPr>
                      <a:r>
                        <a:rPr/>
                        <a:t>verdict</a:t>
                      </a:r>
                    </a:p>
                  </a:txBody>
                  <a:tcPr/>
                </a:tc>
              </a:tr>
              <a:tr h="0">
                <a:tc>
                  <a:txBody>
                    <a:bodyPr/>
                    <a:lstStyle/>
                    <a:p>
                      <a:pPr lvl="0" indent="0" marL="0" algn="l">
                        <a:buNone/>
                      </a:pPr>
                      <a:r>
                        <a:rPr/>
                        <a:t>tmle_glm_mean_t001</a:t>
                      </a:r>
                    </a:p>
                  </a:txBody>
                </a:tc>
                <a:tc>
                  <a:txBody>
                    <a:bodyPr/>
                    <a:lstStyle/>
                    <a:p>
                      <a:pPr lvl="0" indent="0" marL="0" algn="r">
                        <a:buNone/>
                      </a:pPr>
                      <a:r>
                        <a:rPr/>
                        <a:t>0.039</a:t>
                      </a:r>
                    </a:p>
                  </a:txBody>
                </a:tc>
                <a:tc>
                  <a:txBody>
                    <a:bodyPr/>
                    <a:lstStyle/>
                    <a:p>
                      <a:pPr lvl="0" indent="0" marL="0" algn="r">
                        <a:buNone/>
                      </a:pPr>
                      <a:r>
                        <a:rPr/>
                        <a:t>0.7</a:t>
                      </a:r>
                    </a:p>
                  </a:txBody>
                </a:tc>
                <a:tc>
                  <a:txBody>
                    <a:bodyPr/>
                    <a:lstStyle/>
                    <a:p>
                      <a:pPr lvl="0" indent="0" marL="0" algn="l">
                        <a:buNone/>
                      </a:pPr>
                      <a:r>
                        <a:rPr/>
                        <a:t>STOP</a:t>
                      </a:r>
                    </a:p>
                  </a:txBody>
                </a:tc>
              </a:tr>
              <a:tr h="0">
                <a:tc>
                  <a:txBody>
                    <a:bodyPr/>
                    <a:lstStyle/>
                    <a:p>
                      <a:pPr lvl="0" indent="0" marL="0" algn="l">
                        <a:buNone/>
                      </a:pPr>
                      <a:r>
                        <a:rPr/>
                        <a:t>tmle_glm_t001</a:t>
                      </a:r>
                    </a:p>
                  </a:txBody>
                </a:tc>
                <a:tc>
                  <a:txBody>
                    <a:bodyPr/>
                    <a:lstStyle/>
                    <a:p>
                      <a:pPr lvl="0" indent="0" marL="0" algn="r">
                        <a:buNone/>
                      </a:pPr>
                      <a:r>
                        <a:rPr/>
                        <a:t>0.038</a:t>
                      </a:r>
                    </a:p>
                  </a:txBody>
                </a:tc>
                <a:tc>
                  <a:txBody>
                    <a:bodyPr/>
                    <a:lstStyle/>
                    <a:p>
                      <a:pPr lvl="0" indent="0" marL="0" algn="r">
                        <a:buNone/>
                      </a:pPr>
                      <a:r>
                        <a:rPr/>
                        <a:t>0.7</a:t>
                      </a:r>
                    </a:p>
                  </a:txBody>
                </a:tc>
                <a:tc>
                  <a:txBody>
                    <a:bodyPr/>
                    <a:lstStyle/>
                    <a:p>
                      <a:pPr lvl="0" indent="0" marL="0" algn="l">
                        <a:buNone/>
                      </a:pPr>
                      <a:r>
                        <a:rPr/>
                        <a:t>STOP</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Walkthrough: the record</a:t>
            </a:r>
          </a:p>
        </p:txBody>
      </p:sp>
      <p:sp>
        <p:nvSpPr>
          <p:cNvPr id="4" name="Text Placeholder 3"/>
          <p:cNvSpPr>
            <a:spLocks noGrp="1"/>
          </p:cNvSpPr>
          <p:nvPr>
            <p:ph idx="2" sz="half" type="body"/>
          </p:nvPr>
        </p:nvSpPr>
        <p:spPr/>
        <p:txBody>
          <a:bodyPr/>
          <a:lstStyle/>
          <a:p>
            <a:pPr lvl="0" indent="0" marL="0">
              <a:buNone/>
            </a:pPr>
            <a:r>
              <a:rPr/>
              <a:t>There is no token and no gate object. </a:t>
            </a:r>
            <a:r>
              <a:rPr>
                <a:latin typeface="Courier"/>
              </a:rPr>
              <a:t>enforce = TRUE</a:t>
            </a:r>
            <a:r>
              <a:rPr/>
              <a:t> withholds estimation until someone signs the unmasking, and the signature sits in the log.</a:t>
            </a:r>
          </a:p>
          <a:p>
            <a:pPr lvl="0" indent="0">
              <a:buNone/>
            </a:pPr>
            <a:r>
              <a:rPr>
                <a:solidFill>
                  <a:srgbClr val="003B4F"/>
                </a:solidFill>
                <a:latin typeface="Courier"/>
              </a:rPr>
              <a:t>masked &lt;- </a:t>
            </a:r>
            <a:r>
              <a:rPr>
                <a:solidFill>
                  <a:srgbClr val="4758AB"/>
                </a:solidFill>
                <a:latin typeface="Courier"/>
              </a:rPr>
              <a:t>mask_outcome</a:t>
            </a:r>
            <a:r>
              <a:rPr>
                <a:solidFill>
                  <a:srgbClr val="003B4F"/>
                </a:solidFill>
                <a:latin typeface="Courier"/>
              </a:rPr>
              <a:t>(lock)</a:t>
            </a:r>
            <a:br/>
            <a:r>
              <a:rPr>
                <a:solidFill>
                  <a:srgbClr val="003B4F"/>
                </a:solidFill>
                <a:latin typeface="Courier"/>
              </a:rPr>
              <a:t>lock   &lt;- </a:t>
            </a:r>
            <a:r>
              <a:rPr>
                <a:solidFill>
                  <a:srgbClr val="4758AB"/>
                </a:solidFill>
                <a:latin typeface="Courier"/>
              </a:rPr>
              <a:t>unmask_outcome</a:t>
            </a:r>
            <a:r>
              <a:rPr>
                <a:solidFill>
                  <a:srgbClr val="003B4F"/>
                </a:solidFill>
                <a:latin typeface="Courier"/>
              </a:rPr>
              <a:t>(masked, lock,</a:t>
            </a:r>
            <a:br/>
            <a:r>
              <a:rPr>
                <a:solidFill>
                  <a:srgbClr val="003B4F"/>
                </a:solidFill>
                <a:latin typeface="Courier"/>
              </a:rPr>
              <a:t>                         </a:t>
            </a:r>
            <a:r>
              <a:rPr>
                <a:solidFill>
                  <a:srgbClr val="657422"/>
                </a:solidFill>
                <a:latin typeface="Courier"/>
              </a:rPr>
              <a:t>approved_by =</a:t>
            </a:r>
            <a:r>
              <a:rPr>
                <a:solidFill>
                  <a:srgbClr val="003B4F"/>
                </a:solidFill>
                <a:latin typeface="Courier"/>
              </a:rPr>
              <a:t> </a:t>
            </a:r>
            <a:r>
              <a:rPr>
                <a:solidFill>
                  <a:srgbClr val="20794D"/>
                </a:solidFill>
                <a:latin typeface="Courier"/>
              </a:rPr>
              <a:t>"review team"</a:t>
            </a:r>
            <a:r>
              <a:rPr>
                <a:solidFill>
                  <a:srgbClr val="003B4F"/>
                </a:solidFill>
                <a:latin typeface="Courie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l">
                        <a:buNone/>
                      </a:pPr>
                      <a:r>
                        <a:rPr/>
                        <a:t>stage</a:t>
                      </a:r>
                    </a:p>
                  </a:txBody>
                  <a:tcPr/>
                </a:tc>
                <a:tc>
                  <a:txBody>
                    <a:bodyPr/>
                    <a:lstStyle/>
                    <a:p>
                      <a:pPr lvl="0" indent="0" marL="0" algn="l">
                        <a:buNone/>
                      </a:pPr>
                      <a:r>
                        <a:rPr/>
                        <a:t>decision</a:t>
                      </a:r>
                    </a:p>
                  </a:txBody>
                  <a:tcPr/>
                </a:tc>
                <a:tc>
                  <a:txBody>
                    <a:bodyPr/>
                    <a:lstStyle/>
                    <a:p>
                      <a:pPr lvl="0" indent="0" marL="0" algn="l">
                        <a:buNone/>
                      </a:pPr>
                      <a:r>
                        <a:rPr/>
                        <a:t>decided_by</a:t>
                      </a:r>
                    </a:p>
                  </a:txBody>
                  <a:tcPr/>
                </a:tc>
              </a:tr>
              <a:tr h="0">
                <a:tc>
                  <a:txBody>
                    <a:bodyPr/>
                    <a:lstStyle/>
                    <a:p>
                      <a:pPr lvl="0" indent="0" marL="0" algn="l">
                        <a:buNone/>
                      </a:pPr>
                      <a:r>
                        <a:rPr/>
                        <a:t>estimand_ladder</a:t>
                      </a:r>
                    </a:p>
                  </a:txBody>
                </a:tc>
                <a:tc>
                  <a:txBody>
                    <a:bodyPr/>
                    <a:lstStyle/>
                    <a:p>
                      <a:pPr lvl="0" indent="0" marL="0" algn="l">
                        <a:buNone/>
                      </a:pPr>
                      <a:r>
                        <a:rPr/>
                        <a:t>NA</a:t>
                      </a:r>
                    </a:p>
                  </a:txBody>
                </a:tc>
                <a:tc>
                  <a:txBody>
                    <a:bodyPr/>
                    <a:lstStyle/>
                    <a:p>
                      <a:pPr lvl="0" indent="0" marL="0" algn="l">
                        <a:buNone/>
                      </a:pPr>
                      <a:r>
                        <a:rPr/>
                        <a:t>NA</a:t>
                      </a:r>
                    </a:p>
                  </a:txBody>
                </a:tc>
              </a:tr>
              <a:tr h="0">
                <a:tc>
                  <a:txBody>
                    <a:bodyPr/>
                    <a:lstStyle/>
                    <a:p>
                      <a:pPr lvl="0" indent="0" marL="0" algn="l">
                        <a:buNone/>
                      </a:pPr>
                      <a:r>
                        <a:rPr/>
                        <a:t>estimand_ladder</a:t>
                      </a:r>
                    </a:p>
                  </a:txBody>
                </a:tc>
                <a:tc>
                  <a:txBody>
                    <a:bodyPr/>
                    <a:lstStyle/>
                    <a:p>
                      <a:pPr lvl="0" indent="0" marL="0" algn="l">
                        <a:buNone/>
                      </a:pPr>
                      <a:r>
                        <a:rPr/>
                        <a:t>NA</a:t>
                      </a:r>
                    </a:p>
                  </a:txBody>
                </a:tc>
                <a:tc>
                  <a:txBody>
                    <a:bodyPr/>
                    <a:lstStyle/>
                    <a:p>
                      <a:pPr lvl="0" indent="0" marL="0" algn="l">
                        <a:buNone/>
                      </a:pPr>
                      <a:r>
                        <a:rPr/>
                        <a:t>NA</a:t>
                      </a:r>
                    </a:p>
                  </a:txBody>
                </a:tc>
              </a:tr>
              <a:tr h="0">
                <a:tc>
                  <a:txBody>
                    <a:bodyPr/>
                    <a:lstStyle/>
                    <a:p>
                      <a:pPr lvl="0" indent="0" marL="0" algn="l">
                        <a:buNone/>
                      </a:pPr>
                      <a:r>
                        <a:rPr/>
                        <a:t>Stage 4 (unmasking)</a:t>
                      </a:r>
                    </a:p>
                  </a:txBody>
                </a:tc>
                <a:tc>
                  <a:txBody>
                    <a:bodyPr/>
                    <a:lstStyle/>
                    <a:p>
                      <a:pPr lvl="0" indent="0" marL="0" algn="l">
                        <a:buNone/>
                      </a:pPr>
                      <a:r>
                        <a:rPr/>
                        <a:t>unmask and authorise estimation</a:t>
                      </a:r>
                    </a:p>
                  </a:txBody>
                </a:tc>
                <a:tc>
                  <a:txBody>
                    <a:bodyPr/>
                    <a:lstStyle/>
                    <a:p>
                      <a:pPr lvl="0" indent="0" marL="0" algn="l">
                        <a:buNone/>
                      </a:pPr>
                      <a:r>
                        <a:rPr/>
                        <a:t>review team</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Walkthrough: estimate what was declared</a:t>
            </a:r>
          </a:p>
        </p:txBody>
      </p:sp>
      <p:sp>
        <p:nvSpPr>
          <p:cNvPr id="4" name="Text Placeholder 3"/>
          <p:cNvSpPr>
            <a:spLocks noGrp="1"/>
          </p:cNvSpPr>
          <p:nvPr>
            <p:ph idx="2" sz="half" type="body"/>
          </p:nvPr>
        </p:nvSpPr>
        <p:spPr/>
        <p:txBody>
          <a:bodyPr/>
          <a:lstStyle/>
          <a:p>
            <a:pPr lvl="0" indent="0">
              <a:buNone/>
            </a:pPr>
            <a:r>
              <a:rPr>
                <a:solidFill>
                  <a:srgbClr val="003B4F"/>
                </a:solidFill>
                <a:latin typeface="Courier"/>
              </a:rPr>
              <a:t>fit &lt;- </a:t>
            </a:r>
            <a:r>
              <a:rPr>
                <a:solidFill>
                  <a:srgbClr val="4758AB"/>
                </a:solidFill>
                <a:latin typeface="Courier"/>
              </a:rPr>
              <a:t>run_estimand_ladder</a:t>
            </a:r>
            <a:r>
              <a:rPr>
                <a:solidFill>
                  <a:srgbClr val="003B4F"/>
                </a:solidFill>
                <a:latin typeface="Courier"/>
              </a:rPr>
              <a:t>(lock, ps)</a:t>
            </a:r>
          </a:p>
        </p:txBody>
      </p:sp>
      <p:pic>
        <p:nvPicPr>
          <p:cNvPr descr="cleanTMLE_presentation_files/figure-pptx/wt-estimate-fig-1.png" id="0" name="Picture 1"/>
          <p:cNvPicPr>
            <a:picLocks noGrp="1" noChangeAspect="1"/>
          </p:cNvPicPr>
          <p:nvPr/>
        </p:nvPicPr>
        <p:blipFill>
          <a:blip r:embed="rId2"/>
          <a:stretch>
            <a:fillRect/>
          </a:stretch>
        </p:blipFill>
        <p:spPr bwMode="auto">
          <a:xfrm>
            <a:off x="3568700" y="1485900"/>
            <a:ext cx="5105400" cy="18288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One fitted score, four estimands, very different weights</a:t>
            </a:r>
          </a:p>
        </p:txBody>
      </p:sp>
      <p:pic>
        <p:nvPicPr>
          <p:cNvPr descr="cleanTMLE_presentation_files/figure-pptx/fig-weights-1.png" id="0" name="Picture 1"/>
          <p:cNvPicPr>
            <a:picLocks noGrp="1" noChangeAspect="1"/>
          </p:cNvPicPr>
          <p:nvPr/>
        </p:nvPicPr>
        <p:blipFill>
          <a:blip r:embed="rId2"/>
          <a:stretch>
            <a:fillRect/>
          </a:stretch>
        </p:blipFill>
        <p:spPr bwMode="auto">
          <a:xfrm>
            <a:off x="1384300" y="1193800"/>
            <a:ext cx="6375400" cy="2882900"/>
          </a:xfrm>
          <a:prstGeom prst="rect">
            <a:avLst/>
          </a:prstGeom>
          <a:noFill/>
          <a:ln w="9525">
            <a:noFill/>
            <a:headEnd/>
            <a:tailEnd/>
          </a:ln>
        </p:spPr>
      </p:pic>
      <p:sp>
        <p:nvSpPr>
          <p:cNvPr id="1" name="TextBox 3"/>
          <p:cNvSpPr txBox="1"/>
          <p:nvPr/>
        </p:nvSpPr>
        <p:spPr>
          <a:xfrm>
            <a:off x="457200" y="4076700"/>
            <a:ext cx="8229600" cy="508000"/>
          </a:xfrm>
          <a:prstGeom prst="rect">
            <a:avLst/>
          </a:prstGeom>
          <a:noFill/>
        </p:spPr>
        <p:txBody>
          <a:bodyPr/>
          <a:lstStyle/>
          <a:p>
            <a:pPr lvl="0" indent="0" marL="0" algn="ctr">
              <a:buNone/>
            </a:pPr>
            <a:r>
              <a:rPr/>
              <a:t>Figure 1: Implied weights on the protocol contrast, one point per patient, log scale. The ATE needs weights up to 257; the effect among the treated (ATT) is bounded at 5 by the largest propensity; the overlap-weighted ATO never exceeds 1.</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estimand ladder</a:t>
            </a:r>
          </a:p>
        </p:txBody>
      </p:sp>
      <p:sp>
        <p:nvSpPr>
          <p:cNvPr id="3" name="Content Placeholder 2"/>
          <p:cNvSpPr>
            <a:spLocks noGrp="1"/>
          </p:cNvSpPr>
          <p:nvPr>
            <p:ph idx="1"/>
          </p:nvPr>
        </p:nvSpPr>
        <p:spPr/>
        <p:txBody>
          <a:bodyPr/>
          <a:lstStyle/>
          <a:p>
            <a:pPr lvl="0" indent="0" marL="0">
              <a:buNone/>
            </a:pPr>
            <a:r>
              <a:rPr/>
              <a:t>Switching estimands after the results are in is a garden of forking paths. Never switching wastes a design that could answer a neighbouring question.</a:t>
            </a:r>
          </a:p>
          <a:p>
            <a:pPr lvl="0" indent="0" marL="0">
              <a:buNone/>
            </a:pPr>
            <a:r>
              <a:rPr/>
              <a:t>So the switch rule is written down first: the primary, the ordered fallbacks, and the verdict that triggers a move. An infeasible primary is refused unless someone supplies a reason, and the reason is logged.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outcome-blind support map</a:t>
            </a:r>
          </a:p>
        </p:txBody>
      </p:sp>
      <p:sp>
        <p:nvSpPr>
          <p:cNvPr id="4" name="Text Placeholder 3"/>
          <p:cNvSpPr>
            <a:spLocks noGrp="1"/>
          </p:cNvSpPr>
          <p:nvPr>
            <p:ph idx="2" sz="half" type="body"/>
          </p:nvPr>
        </p:nvSpPr>
        <p:spPr/>
        <p:txBody>
          <a:bodyPr/>
          <a:lstStyle/>
          <a:p>
            <a:pPr lvl="0" indent="0" marL="0">
              <a:buNone/>
            </a:pPr>
            <a:r>
              <a:rPr/>
              <a:t>Covariates resampled, treatment redrawn from the fitted propensity, outcomes simulated from a prespecified surface family. Truth is known on every replicate, per estimand.</a:t>
            </a:r>
          </a:p>
        </p:txBody>
      </p:sp>
      <p:pic>
        <p:nvPicPr>
          <p:cNvPr descr="../rescueCo/results/multiarm/fig_supportmap_C1.png" id="0" name="Picture 1"/>
          <p:cNvPicPr>
            <a:picLocks noGrp="1" noChangeAspect="1"/>
          </p:cNvPicPr>
          <p:nvPr/>
        </p:nvPicPr>
        <p:blipFill>
          <a:blip r:embed="rId2"/>
          <a:stretch>
            <a:fillRect/>
          </a:stretch>
        </p:blipFill>
        <p:spPr bwMode="auto">
          <a:xfrm>
            <a:off x="3568700" y="431800"/>
            <a:ext cx="5105400" cy="34036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C1: the ATE fails at the mildest surface</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Redraw treatment, or keep it?</a:t>
            </a:r>
          </a:p>
        </p:txBody>
      </p:sp>
      <p:sp>
        <p:nvSpPr>
          <p:cNvPr id="3" name="Content Placeholder 2"/>
          <p:cNvSpPr>
            <a:spLocks noGrp="1"/>
          </p:cNvSpPr>
          <p:nvPr>
            <p:ph idx="1"/>
          </p:nvPr>
        </p:nvSpPr>
        <p:spPr/>
        <p:txBody>
          <a:bodyPr/>
          <a:lstStyle/>
          <a:p>
            <a:pPr lvl="0" indent="0" marL="0">
              <a:buNone/>
            </a:pPr>
            <a:r>
              <a:rPr/>
              <a:t>Most plasmode studies keep each subject’s observed treatment. Shaw et al. (2025) showed this bakes a positivity violation into the simulation: all-treated regions stay all-treated in every replicate.</a:t>
            </a:r>
          </a:p>
          <a:p>
            <a:pPr lvl="0" indent="0" marL="0">
              <a:buNone/>
            </a:pPr>
            <a:r>
              <a:rPr/>
              <a:t>For a support map that is disqualifying, because the violation is what we are trying to measure. cleanTMLE redraws treatment. The case study compares the two designs on real data.</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same loop stress-tests the estimator</a:t>
            </a:r>
          </a:p>
        </p:txBody>
      </p:sp>
      <p:sp>
        <p:nvSpPr>
          <p:cNvPr id="4" name="Text Placeholder 3"/>
          <p:cNvSpPr>
            <a:spLocks noGrp="1"/>
          </p:cNvSpPr>
          <p:nvPr>
            <p:ph idx="2" sz="half" type="body"/>
          </p:nvPr>
        </p:nvSpPr>
        <p:spPr/>
        <p:txBody>
          <a:bodyPr/>
          <a:lstStyle/>
          <a:p>
            <a:pPr lvl="0" indent="0" marL="0">
              <a:buNone/>
            </a:pPr>
            <a:r>
              <a:rPr/>
              <a:t>Candidates re-run under declared threats: missingness (MCAR, MAR, MNAR), misclassification of exposure or outcome, near-positivity, unmeasured confounding. A minimax rule picks the best worst case.</a:t>
            </a:r>
          </a:p>
        </p:txBody>
      </p:sp>
      <p:pic>
        <p:nvPicPr>
          <p:cNvPr descr="../rescueCo/results/manuscript_artifacts/fig_dq_gradient.png" id="0" name="Picture 1"/>
          <p:cNvPicPr>
            <a:picLocks noGrp="1" noChangeAspect="1"/>
          </p:cNvPicPr>
          <p:nvPr/>
        </p:nvPicPr>
        <p:blipFill>
          <a:blip r:embed="rId2"/>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Degradation gradient, earlier single-contrast lock</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the software controls, and what it cannot</a:t>
            </a:r>
          </a:p>
        </p:txBody>
      </p:sp>
      <p:sp>
        <p:nvSpPr>
          <p:cNvPr id="3" name="Content Placeholder 2"/>
          <p:cNvSpPr>
            <a:spLocks noGrp="1"/>
          </p:cNvSpPr>
          <p:nvPr>
            <p:ph idx="1"/>
          </p:nvPr>
        </p:nvSpPr>
        <p:spPr/>
        <p:txBody>
          <a:bodyPr/>
          <a:lstStyle/>
          <a:p>
            <a:pPr lvl="0" indent="0" marL="0">
              <a:buNone/>
            </a:pPr>
            <a:r>
              <a:rPr/>
              <a:t>It can keep the outcome physically absent from the design stage, log every declaration and switch inside a fingerprinted lock, and flag estimates the raw data cannot support.</a:t>
            </a:r>
          </a:p>
          <a:p>
            <a:pPr lvl="0" indent="0" marL="0">
              <a:buNone/>
            </a:pPr>
            <a:r>
              <a:rPr/>
              <a:t>It cannot stop someone with raw-data access from looking elsewhere, check how variables were measured, or see a confounder nobody recorded. Those stay institutional.</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3. What the simulations showed</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scenarios, six estimators</a:t>
            </a:r>
          </a:p>
        </p:txBody>
      </p:sp>
      <p:sp>
        <p:nvSpPr>
          <p:cNvPr id="3" name="Content Placeholder 2"/>
          <p:cNvSpPr>
            <a:spLocks noGrp="1"/>
          </p:cNvSpPr>
          <p:nvPr>
            <p:ph idx="1"/>
          </p:nvPr>
        </p:nvSpPr>
        <p:spPr/>
        <p:txBody>
          <a:bodyPr/>
          <a:lstStyle/>
          <a:p>
            <a:pPr lvl="0" indent="0" marL="0">
              <a:buNone/>
            </a:pPr>
            <a:r>
              <a:rPr/>
              <a:t>2,000 people, 200 repetitions. Scenario A has good overlap, B marginal overlap, C a confounder the analyst cannot measure. Estimators: crude, matching, IPTW, TMLE, CV-TMLE, matched TMLE.</a:t>
            </a:r>
          </a:p>
          <a:p>
            <a:pPr lvl="0" indent="0" marL="0">
              <a:buNone/>
            </a:pPr>
            <a:r>
              <a:rPr/>
              <a:t>Under good overlap every adjusted estimator recovers the truth. Under marginal overlap, bias stays small but IPTW and matched TMLE intervals come out too wide, because their variance formulas treat the propensity score as known. A bootstrap fixes that, and the workflow says so before unblinding.</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Same fits, different pipeline</a:t>
            </a:r>
          </a:p>
        </p:txBody>
      </p:sp>
      <p:sp>
        <p:nvSpPr>
          <p:cNvPr id="4" name="Text Placeholder 3"/>
          <p:cNvSpPr>
            <a:spLocks noGrp="1"/>
          </p:cNvSpPr>
          <p:nvPr>
            <p:ph idx="2" sz="half" type="body"/>
          </p:nvPr>
        </p:nvSpPr>
        <p:spPr/>
        <p:txBody>
          <a:bodyPr/>
          <a:lstStyle/>
          <a:p>
            <a:pPr lvl="0" indent="0" marL="0">
              <a:buNone/>
            </a:pPr>
            <a:r>
              <a:rPr/>
              <a:t>In scenario C every estimator is biased the same way and TMLE is merely least biased. The software did not detect the hidden confounder. It stopped because a prespecified threat scenario failed.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Scenario</a:t>
                      </a:r>
                    </a:p>
                  </a:txBody>
                  <a:tcPr/>
                </a:tc>
                <a:tc>
                  <a:txBody>
                    <a:bodyPr/>
                    <a:lstStyle/>
                    <a:p>
                      <a:pPr lvl="0" indent="0" marL="0">
                        <a:buNone/>
                      </a:pPr>
                      <a:r>
                        <a:rPr/>
                        <a:t>Traditional analyst</a:t>
                      </a:r>
                    </a:p>
                  </a:txBody>
                  <a:tcPr/>
                </a:tc>
                <a:tc>
                  <a:txBody>
                    <a:bodyPr/>
                    <a:lstStyle/>
                    <a:p>
                      <a:pPr lvl="0" indent="0" marL="0">
                        <a:buNone/>
                      </a:pPr>
                      <a:r>
                        <a:rPr/>
                        <a:t>Outcome-blind workflow</a:t>
                      </a:r>
                    </a:p>
                  </a:txBody>
                  <a:tcPr/>
                </a:tc>
              </a:tr>
              <a:tr h="0">
                <a:tc>
                  <a:txBody>
                    <a:bodyPr/>
                    <a:lstStyle/>
                    <a:p>
                      <a:pPr lvl="0" indent="0" marL="0">
                        <a:buNone/>
                      </a:pPr>
                      <a:r>
                        <a:rPr/>
                        <a:t>Good overlap</a:t>
                      </a:r>
                    </a:p>
                  </a:txBody>
                </a:tc>
                <a:tc>
                  <a:txBody>
                    <a:bodyPr/>
                    <a:lstStyle/>
                    <a:p>
                      <a:pPr lvl="0" indent="0" marL="0">
                        <a:buNone/>
                      </a:pPr>
                      <a:r>
                        <a:rPr/>
                        <a:t>Diagnostics look fine; report.</a:t>
                      </a:r>
                    </a:p>
                  </a:txBody>
                </a:tc>
                <a:tc>
                  <a:txBody>
                    <a:bodyPr/>
                    <a:lstStyle/>
                    <a:p>
                      <a:pPr lvl="0" indent="0" marL="0">
                        <a:buNone/>
                      </a:pPr>
                      <a:r>
                        <a:rPr/>
                        <a:t>Same, plus simulation confirms the candidates. Proceed.</a:t>
                      </a:r>
                    </a:p>
                  </a:txBody>
                </a:tc>
              </a:tr>
              <a:tr h="0">
                <a:tc>
                  <a:txBody>
                    <a:bodyPr/>
                    <a:lstStyle/>
                    <a:p>
                      <a:pPr lvl="0" indent="0" marL="0">
                        <a:buNone/>
                      </a:pPr>
                      <a:r>
                        <a:rPr/>
                        <a:t>Marginal overlap</a:t>
                      </a:r>
                    </a:p>
                  </a:txBody>
                </a:tc>
                <a:tc>
                  <a:txBody>
                    <a:bodyPr/>
                    <a:lstStyle/>
                    <a:p>
                      <a:pPr lvl="0" indent="0" marL="0">
                        <a:buNone/>
                      </a:pPr>
                      <a:r>
                        <a:rPr/>
                        <a:t>An attentive analyst adapts. Many do not.</a:t>
                      </a:r>
                    </a:p>
                  </a:txBody>
                </a:tc>
                <a:tc>
                  <a:txBody>
                    <a:bodyPr/>
                    <a:lstStyle/>
                    <a:p>
                      <a:pPr lvl="0" indent="0" marL="0">
                        <a:buNone/>
                      </a:pPr>
                      <a:r>
                        <a:rPr/>
                        <a:t>Variance miscalibration quantified before unblinding. Proceed with qualification.</a:t>
                      </a:r>
                    </a:p>
                  </a:txBody>
                </a:tc>
              </a:tr>
              <a:tr h="0">
                <a:tc>
                  <a:txBody>
                    <a:bodyPr/>
                    <a:lstStyle/>
                    <a:p>
                      <a:pPr lvl="0" indent="0" marL="0">
                        <a:buNone/>
                      </a:pPr>
                      <a:r>
                        <a:rPr/>
                        <a:t>Unmeasured confounding</a:t>
                      </a:r>
                    </a:p>
                  </a:txBody>
                </a:tc>
                <a:tc>
                  <a:txBody>
                    <a:bodyPr/>
                    <a:lstStyle/>
                    <a:p>
                      <a:pPr lvl="0" indent="0" marL="0">
                        <a:buNone/>
                      </a:pPr>
                      <a:r>
                        <a:rPr/>
                        <a:t>All adjusted estimates agree; a misleading null gets published.</a:t>
                      </a:r>
                    </a:p>
                  </a:txBody>
                </a:tc>
                <a:tc>
                  <a:txBody>
                    <a:bodyPr/>
                    <a:lstStyle/>
                    <a:p>
                      <a:pPr lvl="0" indent="0" marL="0">
                        <a:buNone/>
                      </a:pPr>
                      <a:r>
                        <a:rPr/>
                        <a:t>The declared confounding row breaches the bias threshold. Stop.</a:t>
                      </a:r>
                    </a:p>
                  </a:txBody>
                </a:tc>
              </a:tr>
            </a:tbl>
          </a:graphicData>
        </a:graphic>
      </p:graphicFrame>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4. Case study: Rescue.Co, Nairobi</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Five contrasts, one registry</a:t>
            </a:r>
          </a:p>
        </p:txBody>
      </p:sp>
      <p:sp>
        <p:nvSpPr>
          <p:cNvPr id="4" name="Text Placeholder 3"/>
          <p:cNvSpPr>
            <a:spLocks noGrp="1"/>
          </p:cNvSpPr>
          <p:nvPr>
            <p:ph idx="2" sz="half" type="body"/>
          </p:nvPr>
        </p:nvSpPr>
        <p:spPr/>
        <p:txBody>
          <a:bodyPr/>
          <a:lstStyle/>
          <a:p>
            <a:pPr lvl="0" indent="0" marL="0">
              <a:buNone/>
            </a:pPr>
            <a:r>
              <a:rPr/>
              <a:t>8,323 trauma patients with known transport mode, three Nairobi hospitals, 2018 to 2024. One lock per contrast on the shared cohort, 90 design columns, the same declared ladder. Outcomes: six-month mortality, and time to arrival.</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92200"/>
                <a:gridCol w="1092200"/>
                <a:gridCol w="1460500"/>
                <a:gridCol w="1460500"/>
              </a:tblGrid>
              <a:tr h="0">
                <a:tc>
                  <a:txBody>
                    <a:bodyPr/>
                    <a:lstStyle/>
                    <a:p>
                      <a:pPr lvl="0" indent="0" marL="0">
                        <a:buNone/>
                      </a:pPr>
                      <a:r>
                        <a:rPr/>
                        <a:t>Lock</a:t>
                      </a:r>
                    </a:p>
                  </a:txBody>
                  <a:tcPr/>
                </a:tc>
                <a:tc>
                  <a:txBody>
                    <a:bodyPr/>
                    <a:lstStyle/>
                    <a:p>
                      <a:pPr lvl="0" indent="0" marL="0">
                        <a:buNone/>
                      </a:pPr>
                      <a:r>
                        <a:rPr/>
                        <a:t>Comparison</a:t>
                      </a:r>
                    </a:p>
                  </a:txBody>
                  <a:tcPr/>
                </a:tc>
                <a:tc>
                  <a:txBody>
                    <a:bodyPr/>
                    <a:lstStyle/>
                    <a:p>
                      <a:pPr lvl="0" indent="0" marL="0" algn="r">
                        <a:buNone/>
                      </a:pPr>
                      <a:r>
                        <a:rPr/>
                        <a:t>N</a:t>
                      </a:r>
                    </a:p>
                  </a:txBody>
                  <a:tcPr/>
                </a:tc>
                <a:tc>
                  <a:txBody>
                    <a:bodyPr/>
                    <a:lstStyle/>
                    <a:p>
                      <a:pPr lvl="0" indent="0" marL="0" algn="r">
                        <a:buNone/>
                      </a:pPr>
                      <a:r>
                        <a:rPr/>
                        <a:t>Treated</a:t>
                      </a:r>
                    </a:p>
                  </a:txBody>
                  <a:tcPr/>
                </a:tc>
              </a:tr>
              <a:tr h="0">
                <a:tc>
                  <a:txBody>
                    <a:bodyPr/>
                    <a:lstStyle/>
                    <a:p>
                      <a:pPr lvl="0" indent="0" marL="0">
                        <a:buNone/>
                      </a:pPr>
                      <a:r>
                        <a:rPr/>
                        <a:t>C1</a:t>
                      </a:r>
                    </a:p>
                  </a:txBody>
                </a:tc>
                <a:tc>
                  <a:txBody>
                    <a:bodyPr/>
                    <a:lstStyle/>
                    <a:p>
                      <a:pPr lvl="0" indent="0" marL="0">
                        <a:buNone/>
                      </a:pPr>
                      <a:r>
                        <a:rPr/>
                        <a:t>Rescue.Co vs everyone else (protocol comparator)</a:t>
                      </a:r>
                    </a:p>
                  </a:txBody>
                </a:tc>
                <a:tc>
                  <a:txBody>
                    <a:bodyPr/>
                    <a:lstStyle/>
                    <a:p>
                      <a:pPr lvl="0" indent="0" marL="0" algn="r">
                        <a:buNone/>
                      </a:pPr>
                      <a:r>
                        <a:rPr/>
                        <a:t>8,323</a:t>
                      </a:r>
                    </a:p>
                  </a:txBody>
                </a:tc>
                <a:tc>
                  <a:txBody>
                    <a:bodyPr/>
                    <a:lstStyle/>
                    <a:p>
                      <a:pPr lvl="0" indent="0" marL="0" algn="r">
                        <a:buNone/>
                      </a:pPr>
                      <a:r>
                        <a:rPr/>
                        <a:t>1,039</a:t>
                      </a:r>
                    </a:p>
                  </a:txBody>
                </a:tc>
              </a:tr>
              <a:tr h="0">
                <a:tc>
                  <a:txBody>
                    <a:bodyPr/>
                    <a:lstStyle/>
                    <a:p>
                      <a:pPr lvl="0" indent="0" marL="0">
                        <a:buNone/>
                      </a:pPr>
                      <a:r>
                        <a:rPr/>
                        <a:t>C2</a:t>
                      </a:r>
                    </a:p>
                  </a:txBody>
                </a:tc>
                <a:tc>
                  <a:txBody>
                    <a:bodyPr/>
                    <a:lstStyle/>
                    <a:p>
                      <a:pPr lvl="0" indent="0" marL="0">
                        <a:buNone/>
                      </a:pPr>
                      <a:r>
                        <a:rPr/>
                        <a:t>Rescue.Co vs non-ambulance</a:t>
                      </a:r>
                    </a:p>
                  </a:txBody>
                </a:tc>
                <a:tc>
                  <a:txBody>
                    <a:bodyPr/>
                    <a:lstStyle/>
                    <a:p>
                      <a:pPr lvl="0" indent="0" marL="0" algn="r">
                        <a:buNone/>
                      </a:pPr>
                      <a:r>
                        <a:rPr/>
                        <a:t>7,165</a:t>
                      </a:r>
                    </a:p>
                  </a:txBody>
                </a:tc>
                <a:tc>
                  <a:txBody>
                    <a:bodyPr/>
                    <a:lstStyle/>
                    <a:p>
                      <a:pPr lvl="0" indent="0" marL="0" algn="r">
                        <a:buNone/>
                      </a:pPr>
                      <a:r>
                        <a:rPr/>
                        <a:t>1,039</a:t>
                      </a:r>
                    </a:p>
                  </a:txBody>
                </a:tc>
              </a:tr>
              <a:tr h="0">
                <a:tc>
                  <a:txBody>
                    <a:bodyPr/>
                    <a:lstStyle/>
                    <a:p>
                      <a:pPr lvl="0" indent="0" marL="0">
                        <a:buNone/>
                      </a:pPr>
                      <a:r>
                        <a:rPr/>
                        <a:t>C3</a:t>
                      </a:r>
                    </a:p>
                  </a:txBody>
                </a:tc>
                <a:tc>
                  <a:txBody>
                    <a:bodyPr/>
                    <a:lstStyle/>
                    <a:p>
                      <a:pPr lvl="0" indent="0" marL="0">
                        <a:buNone/>
                      </a:pPr>
                      <a:r>
                        <a:rPr/>
                        <a:t>Any ambulance vs non-ambulance</a:t>
                      </a:r>
                    </a:p>
                  </a:txBody>
                </a:tc>
                <a:tc>
                  <a:txBody>
                    <a:bodyPr/>
                    <a:lstStyle/>
                    <a:p>
                      <a:pPr lvl="0" indent="0" marL="0" algn="r">
                        <a:buNone/>
                      </a:pPr>
                      <a:r>
                        <a:rPr/>
                        <a:t>8,323</a:t>
                      </a:r>
                    </a:p>
                  </a:txBody>
                </a:tc>
                <a:tc>
                  <a:txBody>
                    <a:bodyPr/>
                    <a:lstStyle/>
                    <a:p>
                      <a:pPr lvl="0" indent="0" marL="0" algn="r">
                        <a:buNone/>
                      </a:pPr>
                      <a:r>
                        <a:rPr/>
                        <a:t>2,197</a:t>
                      </a:r>
                    </a:p>
                  </a:txBody>
                </a:tc>
              </a:tr>
              <a:tr h="0">
                <a:tc>
                  <a:txBody>
                    <a:bodyPr/>
                    <a:lstStyle/>
                    <a:p>
                      <a:pPr lvl="0" indent="0" marL="0">
                        <a:buNone/>
                      </a:pPr>
                      <a:r>
                        <a:rPr/>
                        <a:t>C4</a:t>
                      </a:r>
                    </a:p>
                  </a:txBody>
                </a:tc>
                <a:tc>
                  <a:txBody>
                    <a:bodyPr/>
                    <a:lstStyle/>
                    <a:p>
                      <a:pPr lvl="0" indent="0" marL="0">
                        <a:buNone/>
                      </a:pPr>
                      <a:r>
                        <a:rPr/>
                        <a:t>Rescue.Co vs other ambulance, transfers included</a:t>
                      </a:r>
                    </a:p>
                  </a:txBody>
                </a:tc>
                <a:tc>
                  <a:txBody>
                    <a:bodyPr/>
                    <a:lstStyle/>
                    <a:p>
                      <a:pPr lvl="0" indent="0" marL="0" algn="r">
                        <a:buNone/>
                      </a:pPr>
                      <a:r>
                        <a:rPr/>
                        <a:t>2,197</a:t>
                      </a:r>
                    </a:p>
                  </a:txBody>
                </a:tc>
                <a:tc>
                  <a:txBody>
                    <a:bodyPr/>
                    <a:lstStyle/>
                    <a:p>
                      <a:pPr lvl="0" indent="0" marL="0" algn="r">
                        <a:buNone/>
                      </a:pPr>
                      <a:r>
                        <a:rPr/>
                        <a:t>1,039</a:t>
                      </a:r>
                    </a:p>
                  </a:txBody>
                </a:tc>
              </a:tr>
              <a:tr h="0">
                <a:tc>
                  <a:txBody>
                    <a:bodyPr/>
                    <a:lstStyle/>
                    <a:p>
                      <a:pPr lvl="0" indent="0" marL="0">
                        <a:buNone/>
                      </a:pPr>
                      <a:r>
                        <a:rPr/>
                        <a:t>Primary</a:t>
                      </a:r>
                    </a:p>
                  </a:txBody>
                </a:tc>
                <a:tc>
                  <a:txBody>
                    <a:bodyPr/>
                    <a:lstStyle/>
                    <a:p>
                      <a:pPr lvl="0" indent="0" marL="0">
                        <a:buNone/>
                      </a:pPr>
                      <a:r>
                        <a:rPr/>
                        <a:t>Rescue.Co vs other ambulance, transfers and prior care excluded</a:t>
                      </a:r>
                    </a:p>
                  </a:txBody>
                </a:tc>
                <a:tc>
                  <a:txBody>
                    <a:bodyPr/>
                    <a:lstStyle/>
                    <a:p>
                      <a:pPr lvl="0" indent="0" marL="0" algn="r">
                        <a:buNone/>
                      </a:pPr>
                      <a:r>
                        <a:rPr/>
                        <a:t>1,616</a:t>
                      </a:r>
                    </a:p>
                  </a:txBody>
                </a:tc>
                <a:tc>
                  <a:txBody>
                    <a:bodyPr/>
                    <a:lstStyle/>
                    <a:p>
                      <a:pPr lvl="0" indent="0" marL="0" algn="r">
                        <a:buNone/>
                      </a:pPr>
                      <a:r>
                        <a:rPr/>
                        <a:t>1,003</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severe non-overlap looks like</a:t>
            </a:r>
          </a:p>
        </p:txBody>
      </p:sp>
      <p:pic>
        <p:nvPicPr>
          <p:cNvPr descr="../rescueCo/results/multiarm/fig_support_C1.png" id="0" name="Picture 1"/>
          <p:cNvPicPr>
            <a:picLocks noGrp="1" noChangeAspect="1"/>
          </p:cNvPicPr>
          <p:nvPr/>
        </p:nvPicPr>
        <p:blipFill>
          <a:blip r:embed="rId2"/>
          <a:stretch>
            <a:fillRect/>
          </a:stretch>
        </p:blipFill>
        <p:spPr bwMode="auto">
          <a:xfrm>
            <a:off x="457200" y="1422400"/>
            <a:ext cx="4038600" cy="2425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Protocol contrast: SEVERE. Treated above the axis, controls below, band shaded.</a:t>
            </a:r>
          </a:p>
        </p:txBody>
      </p:sp>
      <p:pic>
        <p:nvPicPr>
          <p:cNvPr descr="../rescueCo/results/multiarm/fig_support_PRIMARY.png" id="0" name="Picture 1"/>
          <p:cNvPicPr>
            <a:picLocks noGrp="1" noChangeAspect="1"/>
          </p:cNvPicPr>
          <p:nvPr/>
        </p:nvPicPr>
        <p:blipFill>
          <a:blip r:embed="rId3"/>
          <a:stretch>
            <a:fillRect/>
          </a:stretch>
        </p:blipFill>
        <p:spPr bwMode="auto">
          <a:xfrm>
            <a:off x="4648200" y="1422400"/>
            <a:ext cx="4038600" cy="24257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Primary cohort: PASS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support verdicts</a:t>
            </a:r>
          </a:p>
        </p:txBody>
      </p:sp>
      <p:sp>
        <p:nvSpPr>
          <p:cNvPr id="4" name="Text Placeholder 3"/>
          <p:cNvSpPr>
            <a:spLocks noGrp="1"/>
          </p:cNvSpPr>
          <p:nvPr>
            <p:ph idx="2" sz="half" type="body"/>
          </p:nvPr>
        </p:nvSpPr>
        <p:spPr/>
        <p:txBody>
          <a:bodyPr/>
          <a:lstStyle/>
          <a:p>
            <a:pPr lvl="0" indent="0" marL="0">
              <a:buNone/>
            </a:pPr>
            <a:r>
              <a:rPr/>
              <a:t>Two-fifths of the protocol sample sits outside the band. C1 and C2 meet the declared trigger before any outcome is joined.</a:t>
            </a:r>
          </a:p>
        </p:txBody>
      </p:sp>
      <p:pic>
        <p:nvPicPr>
          <p:cNvPr descr="cleanTMLE_presentation_files/figure-pptx/fig-support-1.png" id="0" name="Picture 1"/>
          <p:cNvPicPr>
            <a:picLocks noGrp="1" noChangeAspect="1"/>
          </p:cNvPicPr>
          <p:nvPr/>
        </p:nvPicPr>
        <p:blipFill>
          <a:blip r:embed="rId2"/>
          <a:stretch>
            <a:fillRect/>
          </a:stretch>
        </p:blipFill>
        <p:spPr bwMode="auto">
          <a:xfrm>
            <a:off x="3568700" y="990600"/>
            <a:ext cx="5105400" cy="2311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2: Share of each contrast outside the propensity band [0.05, 0.95]. Dotted lines mark the verdict thresholds: FLAG above 1%, SEVERE above 25%. Labels give the largest implied ATE weight.</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Who never gets a Rescue.Co ambulance?</a:t>
            </a:r>
          </a:p>
        </p:txBody>
      </p:sp>
      <p:sp>
        <p:nvSpPr>
          <p:cNvPr id="3" name="Content Placeholder 2"/>
          <p:cNvSpPr>
            <a:spLocks noGrp="1"/>
          </p:cNvSpPr>
          <p:nvPr>
            <p:ph idx="1"/>
          </p:nvPr>
        </p:nvSpPr>
        <p:spPr/>
        <p:txBody>
          <a:bodyPr/>
          <a:lstStyle/>
          <a:p>
            <a:pPr lvl="0" indent="0" marL="0">
              <a:buNone/>
            </a:pPr>
            <a:r>
              <a:rPr/>
              <a:t>The tree search names the C1 violation:</a:t>
            </a:r>
          </a:p>
          <a:p>
            <a:pPr lvl="0"/>
            <a:r>
              <a:rPr/>
              <a:t>injured at a private home: 1,386 patients, 1.4% treated</a:t>
            </a:r>
          </a:p>
          <a:p>
            <a:pPr lvl="0"/>
            <a:r>
              <a:rPr/>
              <a:t>other non-street injury places: 1,438 patients, 2.5% treated</a:t>
            </a:r>
          </a:p>
          <a:p>
            <a:pPr lvl="0"/>
            <a:r>
              <a:rPr/>
              <a:t>assault victims elsewhere: 1,062 patients, 4.2% treated</a:t>
            </a:r>
          </a:p>
          <a:p>
            <a:pPr lvl="0" indent="0" marL="0">
              <a:buNone/>
            </a:pPr>
            <a:r>
              <a:rPr/>
              <a:t>For these patients “what if everyone were transported by Rescue.Co” has no answer in the data. Trimming removes 3,377 people, nearly all controls: 40% home injuries against 1% of those kept, more assaults, younger, farther away.</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Which estimands survive the C1 fit</a:t>
            </a:r>
          </a:p>
        </p:txBody>
      </p:sp>
      <p:sp>
        <p:nvSpPr>
          <p:cNvPr id="4" name="Text Placeholder 3"/>
          <p:cNvSpPr>
            <a:spLocks noGrp="1"/>
          </p:cNvSpPr>
          <p:nvPr>
            <p:ph idx="2" sz="half" type="body"/>
          </p:nvPr>
        </p:nvSpPr>
        <p:spPr/>
        <p:txBody>
          <a:bodyPr/>
          <a:lstStyle/>
          <a:p>
            <a:pPr lvl="0" indent="0" marL="0">
              <a:buNone/>
            </a:pPr>
            <a:r>
              <a:rPr/>
              <a:t>The design can answer a question. It is a different question from the one in the protocol.</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Estimand</a:t>
                      </a:r>
                    </a:p>
                  </a:txBody>
                  <a:tcPr/>
                </a:tc>
                <a:tc>
                  <a:txBody>
                    <a:bodyPr/>
                    <a:lstStyle/>
                    <a:p>
                      <a:pPr lvl="0" indent="0" marL="0" algn="r">
                        <a:buNone/>
                      </a:pPr>
                      <a:r>
                        <a:rPr/>
                        <a:t>Max weight</a:t>
                      </a:r>
                    </a:p>
                  </a:txBody>
                  <a:tcPr/>
                </a:tc>
                <a:tc>
                  <a:txBody>
                    <a:bodyPr/>
                    <a:lstStyle/>
                    <a:p>
                      <a:pPr lvl="0" indent="0" marL="0">
                        <a:buNone/>
                      </a:pPr>
                      <a:r>
                        <a:rPr/>
                        <a:t>Verdict</a:t>
                      </a:r>
                    </a:p>
                  </a:txBody>
                  <a:tcPr/>
                </a:tc>
              </a:tr>
              <a:tr h="0">
                <a:tc>
                  <a:txBody>
                    <a:bodyPr/>
                    <a:lstStyle/>
                    <a:p>
                      <a:pPr lvl="0" indent="0" marL="0">
                        <a:buNone/>
                      </a:pPr>
                      <a:r>
                        <a:rPr/>
                        <a:t>ATE</a:t>
                      </a:r>
                    </a:p>
                  </a:txBody>
                </a:tc>
                <a:tc>
                  <a:txBody>
                    <a:bodyPr/>
                    <a:lstStyle/>
                    <a:p>
                      <a:pPr lvl="0" indent="0" marL="0" algn="r">
                        <a:buNone/>
                      </a:pPr>
                      <a:r>
                        <a:rPr/>
                        <a:t>257</a:t>
                      </a:r>
                    </a:p>
                  </a:txBody>
                </a:tc>
                <a:tc>
                  <a:txBody>
                    <a:bodyPr/>
                    <a:lstStyle/>
                    <a:p>
                      <a:pPr lvl="0" indent="0" marL="0">
                        <a:buNone/>
                      </a:pPr>
                      <a:r>
                        <a:rPr/>
                        <a:t>SEVERE, infeasible</a:t>
                      </a:r>
                    </a:p>
                  </a:txBody>
                </a:tc>
              </a:tr>
              <a:tr h="0">
                <a:tc>
                  <a:txBody>
                    <a:bodyPr/>
                    <a:lstStyle/>
                    <a:p>
                      <a:pPr lvl="0" indent="0" marL="0">
                        <a:buNone/>
                      </a:pPr>
                      <a:r>
                        <a:rPr/>
                        <a:t>Trimmed ATE</a:t>
                      </a:r>
                    </a:p>
                  </a:txBody>
                </a:tc>
                <a:tc>
                  <a:txBody>
                    <a:bodyPr/>
                    <a:lstStyle/>
                    <a:p>
                      <a:pPr lvl="0" indent="0" marL="0" algn="r">
                        <a:buNone/>
                      </a:pPr>
                      <a:r>
                        <a:rPr/>
                        <a:t>20</a:t>
                      </a:r>
                    </a:p>
                  </a:txBody>
                </a:tc>
                <a:tc>
                  <a:txBody>
                    <a:bodyPr/>
                    <a:lstStyle/>
                    <a:p>
                      <a:pPr lvl="0" indent="0" marL="0">
                        <a:buNone/>
                      </a:pPr>
                      <a:r>
                        <a:rPr/>
                        <a:t>PASS, population changes</a:t>
                      </a:r>
                    </a:p>
                  </a:txBody>
                </a:tc>
              </a:tr>
              <a:tr h="0">
                <a:tc>
                  <a:txBody>
                    <a:bodyPr/>
                    <a:lstStyle/>
                    <a:p>
                      <a:pPr lvl="0" indent="0" marL="0">
                        <a:buNone/>
                      </a:pPr>
                      <a:r>
                        <a:rPr/>
                        <a:t>ATT</a:t>
                      </a:r>
                    </a:p>
                  </a:txBody>
                </a:tc>
                <a:tc>
                  <a:txBody>
                    <a:bodyPr/>
                    <a:lstStyle/>
                    <a:p>
                      <a:pPr lvl="0" indent="0" marL="0" algn="r">
                        <a:buNone/>
                      </a:pPr>
                      <a:r>
                        <a:rPr/>
                        <a:t>5.0</a:t>
                      </a:r>
                    </a:p>
                  </a:txBody>
                </a:tc>
                <a:tc>
                  <a:txBody>
                    <a:bodyPr/>
                    <a:lstStyle/>
                    <a:p>
                      <a:pPr lvl="0" indent="0" marL="0">
                        <a:buNone/>
                      </a:pPr>
                      <a:r>
                        <a:rPr/>
                        <a:t>PASS</a:t>
                      </a:r>
                    </a:p>
                  </a:txBody>
                </a:tc>
              </a:tr>
              <a:tr h="0">
                <a:tc>
                  <a:txBody>
                    <a:bodyPr/>
                    <a:lstStyle/>
                    <a:p>
                      <a:pPr lvl="0" indent="0" marL="0">
                        <a:buNone/>
                      </a:pPr>
                      <a:r>
                        <a:rPr/>
                        <a:t>ATO</a:t>
                      </a:r>
                    </a:p>
                  </a:txBody>
                </a:tc>
                <a:tc>
                  <a:txBody>
                    <a:bodyPr/>
                    <a:lstStyle/>
                    <a:p>
                      <a:pPr lvl="0" indent="0" marL="0" algn="r">
                        <a:buNone/>
                      </a:pPr>
                      <a:r>
                        <a:rPr/>
                        <a:t>1.0</a:t>
                      </a:r>
                    </a:p>
                  </a:txBody>
                </a:tc>
                <a:tc>
                  <a:txBody>
                    <a:bodyPr/>
                    <a:lstStyle/>
                    <a:p>
                      <a:pPr lvl="0" indent="0" marL="0">
                        <a:buNone/>
                      </a:pPr>
                      <a:r>
                        <a:rPr/>
                        <a:t>PASS</a:t>
                      </a:r>
                    </a:p>
                  </a:txBody>
                </a:tc>
              </a:tr>
              <a:tr h="0">
                <a:tc>
                  <a:txBody>
                    <a:bodyPr/>
                    <a:lstStyle/>
                    <a:p>
                      <a:pPr lvl="0" indent="0" marL="0">
                        <a:buNone/>
                      </a:pPr>
                      <a:r>
                        <a:rPr/>
                        <a:t>Matched ATT</a:t>
                      </a:r>
                    </a:p>
                  </a:txBody>
                </a:tc>
                <a:tc>
                  <a:txBody>
                    <a:bodyPr/>
                    <a:lstStyle/>
                    <a:p>
                      <a:pPr lvl="0" indent="0" marL="0" algn="r">
                        <a:buNone/>
                      </a:pPr>
                      <a:r>
                        <a:rPr/>
                        <a:t>1.0</a:t>
                      </a:r>
                    </a:p>
                  </a:txBody>
                </a:tc>
                <a:tc>
                  <a:txBody>
                    <a:bodyPr/>
                    <a:lstStyle/>
                    <a:p>
                      <a:pPr lvl="0" indent="0" marL="0">
                        <a:buNone/>
                      </a:pPr>
                      <a:r>
                        <a:rPr/>
                        <a:t>PASS, 95% of treated matched</a:t>
                      </a:r>
                    </a:p>
                  </a:txBody>
                </a:tc>
              </a:tr>
            </a:tbl>
          </a:graphicData>
        </a:graphic>
      </p:graphicFrame>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exclusions removed the confounding</a:t>
            </a:r>
          </a:p>
        </p:txBody>
      </p:sp>
      <p:sp>
        <p:nvSpPr>
          <p:cNvPr id="4" name="Text Placeholder 3"/>
          <p:cNvSpPr>
            <a:spLocks noGrp="1"/>
          </p:cNvSpPr>
          <p:nvPr>
            <p:ph idx="2" sz="half" type="body"/>
          </p:nvPr>
        </p:nvSpPr>
        <p:spPr/>
        <p:txBody>
          <a:bodyPr/>
          <a:lstStyle/>
          <a:p>
            <a:pPr lvl="0" indent="0" marL="0">
              <a:buNone/>
            </a:pPr>
            <a:r>
              <a:rPr/>
              <a:t>Both controls fail on the full cohort and go null after the pre-registered transfer exclusion. On C1 the urban-household control fails on every rung. Two rare controls are labelled inestimable.</a:t>
            </a:r>
          </a:p>
        </p:txBody>
      </p:sp>
      <p:pic>
        <p:nvPicPr>
          <p:cNvPr descr="cleanTMLE_presentation_files/figure-pptx/fig-nc-1.png" id="0" name="Picture 1"/>
          <p:cNvPicPr>
            <a:picLocks noGrp="1" noChangeAspect="1"/>
          </p:cNvPicPr>
          <p:nvPr/>
        </p:nvPicPr>
        <p:blipFill>
          <a:blip r:embed="rId2"/>
          <a:stretch>
            <a:fillRect/>
          </a:stretch>
        </p:blipFill>
        <p:spPr bwMode="auto">
          <a:xfrm>
            <a:off x="3568700" y="990600"/>
            <a:ext cx="5105400" cy="2311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3: Two socioeconomic negative controls on the transfers-included contrast, refit on each nested cohort. Points are unadjusted risk differences with 95% intervals.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Care processes stay out of the adjustment set</a:t>
            </a:r>
          </a:p>
        </p:txBody>
      </p:sp>
      <p:sp>
        <p:nvSpPr>
          <p:cNvPr id="3" name="Content Placeholder 2"/>
          <p:cNvSpPr>
            <a:spLocks noGrp="1"/>
          </p:cNvSpPr>
          <p:nvPr>
            <p:ph idx="1"/>
          </p:nvPr>
        </p:nvSpPr>
        <p:spPr/>
        <p:txBody>
          <a:bodyPr/>
          <a:lstStyle/>
          <a:p>
            <a:pPr lvl="0" indent="0" marL="0">
              <a:buNone/>
            </a:pPr>
            <a:r>
              <a:rPr/>
              <a:t>Vitals within an hour, and blood-pressure missingness, are predicted by treatment on three of five contrasts (standardised differences up to 0.34). Transport mode changes the care process.</a:t>
            </a:r>
          </a:p>
          <a:p>
            <a:pPr lvl="0" indent="0" marL="0">
              <a:buNone/>
            </a:pPr>
            <a:r>
              <a:rPr/>
              <a:t>Conditioning on them would open collider paths through in-hospital care. The locks leave them out and the check records why.</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pre-outcome decisions</a:t>
            </a:r>
          </a:p>
        </p:txBody>
      </p:sp>
      <p:sp>
        <p:nvSpPr>
          <p:cNvPr id="4" name="Text Placeholder 3"/>
          <p:cNvSpPr>
            <a:spLocks noGrp="1"/>
          </p:cNvSpPr>
          <p:nvPr>
            <p:ph idx="2" sz="half" type="body"/>
          </p:nvPr>
        </p:nvSpPr>
        <p:spPr/>
        <p:txBody>
          <a:bodyPr/>
          <a:lstStyle/>
          <a:p>
            <a:pPr lvl="0" indent="0" marL="0">
              <a:buNone/>
            </a:pPr>
            <a:r>
              <a:rPr/>
              <a:t>All fixed before the outcome store was joined.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Contrast</a:t>
                      </a:r>
                    </a:p>
                  </a:txBody>
                  <a:tcPr/>
                </a:tc>
                <a:tc>
                  <a:txBody>
                    <a:bodyPr/>
                    <a:lstStyle/>
                    <a:p>
                      <a:pPr lvl="0" indent="0" marL="0">
                        <a:buNone/>
                      </a:pPr>
                      <a:r>
                        <a:rPr/>
                        <a:t>Recommendation</a:t>
                      </a:r>
                    </a:p>
                  </a:txBody>
                  <a:tcPr/>
                </a:tc>
              </a:tr>
              <a:tr h="0">
                <a:tc>
                  <a:txBody>
                    <a:bodyPr/>
                    <a:lstStyle/>
                    <a:p>
                      <a:pPr lvl="0" indent="0" marL="0">
                        <a:buNone/>
                      </a:pPr>
                      <a:r>
                        <a:rPr/>
                        <a:t>Primary</a:t>
                      </a:r>
                    </a:p>
                  </a:txBody>
                </a:tc>
                <a:tc>
                  <a:txBody>
                    <a:bodyPr/>
                    <a:lstStyle/>
                    <a:p>
                      <a:pPr lvl="0" indent="0" marL="0">
                        <a:buNone/>
                      </a:pPr>
                      <a:r>
                        <a:rPr/>
                        <a:t>Proceed</a:t>
                      </a:r>
                    </a:p>
                  </a:txBody>
                </a:tc>
              </a:tr>
              <a:tr h="0">
                <a:tc>
                  <a:txBody>
                    <a:bodyPr/>
                    <a:lstStyle/>
                    <a:p>
                      <a:pPr lvl="0" indent="0" marL="0">
                        <a:buNone/>
                      </a:pPr>
                      <a:r>
                        <a:rPr/>
                        <a:t>C3, C4</a:t>
                      </a:r>
                    </a:p>
                  </a:txBody>
                </a:tc>
                <a:tc>
                  <a:txBody>
                    <a:bodyPr/>
                    <a:lstStyle/>
                    <a:p>
                      <a:pPr lvl="0" indent="0" marL="0">
                        <a:buNone/>
                      </a:pPr>
                      <a:r>
                        <a:rPr/>
                        <a:t>Proceed, FLAG caveat attached</a:t>
                      </a:r>
                    </a:p>
                  </a:txBody>
                </a:tc>
              </a:tr>
              <a:tr h="0">
                <a:tc>
                  <a:txBody>
                    <a:bodyPr/>
                    <a:lstStyle/>
                    <a:p>
                      <a:pPr lvl="0" indent="0" marL="0">
                        <a:buNone/>
                      </a:pPr>
                      <a:r>
                        <a:rPr/>
                        <a:t>C1, C2</a:t>
                      </a:r>
                    </a:p>
                  </a:txBody>
                </a:tc>
                <a:tc>
                  <a:txBody>
                    <a:bodyPr/>
                    <a:lstStyle/>
                    <a:p>
                      <a:pPr lvl="0" indent="0" marL="0">
                        <a:buNone/>
                      </a:pPr>
                      <a:r>
                        <a:rPr/>
                        <a:t>Proceed with qualification. ATE not supported; ladder moves to trimmed ATE, then ATT, then ATO, logged with SEVERE as the trigger</a:t>
                      </a:r>
                    </a:p>
                  </a:txBody>
                </a:tc>
              </a:tr>
            </a:tbl>
          </a:graphicData>
        </a:graphic>
      </p:graphicFrame>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Six-month mortality, down the ladder</a:t>
            </a:r>
          </a:p>
        </p:txBody>
      </p:sp>
      <p:sp>
        <p:nvSpPr>
          <p:cNvPr id="4" name="Text Placeholder 3"/>
          <p:cNvSpPr>
            <a:spLocks noGrp="1"/>
          </p:cNvSpPr>
          <p:nvPr>
            <p:ph idx="2" sz="half" type="body"/>
          </p:nvPr>
        </p:nvSpPr>
        <p:spPr/>
        <p:txBody>
          <a:bodyPr/>
          <a:lstStyle/>
          <a:p>
            <a:pPr lvl="0" indent="0" marL="0">
              <a:buNone/>
            </a:pPr>
            <a:r>
              <a:rPr/>
              <a:t>C2 reports no ATE. The C1 ATE appears once, as a logged override kept for reconciliation, with its SEVERE label and a standard error several times wider than the rows beside it.</a:t>
            </a:r>
          </a:p>
        </p:txBody>
      </p:sp>
      <p:pic>
        <p:nvPicPr>
          <p:cNvPr descr="cleanTMLE_presentation_files/figure-pptx/fig-forest-1.png" id="0" name="Picture 1"/>
          <p:cNvPicPr>
            <a:picLocks noGrp="1" noChangeAspect="1"/>
          </p:cNvPicPr>
          <p:nvPr/>
        </p:nvPicPr>
        <p:blipFill>
          <a:blip r:embed="rId2"/>
          <a:stretch>
            <a:fillRect/>
          </a:stretch>
        </p:blipFill>
        <p:spPr bwMode="auto">
          <a:xfrm>
            <a:off x="3568700" y="990600"/>
            <a:ext cx="5105400" cy="2311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4: Risk differences with 95% intervals, one row per feasible estimand per contrast. Negative favours Rescue.Co.</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disaster outcome, re-analysed</a:t>
            </a:r>
          </a:p>
        </p:txBody>
      </p:sp>
      <p:sp>
        <p:nvSpPr>
          <p:cNvPr id="4" name="Text Placeholder 3"/>
          <p:cNvSpPr>
            <a:spLocks noGrp="1"/>
          </p:cNvSpPr>
          <p:nvPr>
            <p:ph idx="2" sz="half" type="body"/>
          </p:nvPr>
        </p:nvSpPr>
        <p:spPr/>
        <p:txBody>
          <a:bodyPr/>
          <a:lstStyle/>
          <a:p>
            <a:pPr lvl="0" indent="0" marL="0">
              <a:buNone/>
            </a:pPr>
            <a:r>
              <a:rPr/>
              <a:t>Once +14,637 minutes; now the bounded estimands agree on three to four and a half hours sooner. The implausibility guard checks every row against the raw arm summaries and would have caught the original.</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lgn="l">
                        <a:buNone/>
                      </a:pPr>
                      <a:r>
                        <a:rPr/>
                        <a:t>Contrast</a:t>
                      </a:r>
                    </a:p>
                  </a:txBody>
                  <a:tcPr/>
                </a:tc>
                <a:tc>
                  <a:txBody>
                    <a:bodyPr/>
                    <a:lstStyle/>
                    <a:p>
                      <a:pPr lvl="0" indent="0" marL="0" algn="l">
                        <a:buNone/>
                      </a:pPr>
                      <a:r>
                        <a:rPr/>
                        <a:t>Estimand</a:t>
                      </a:r>
                    </a:p>
                  </a:txBody>
                  <a:tcPr/>
                </a:tc>
                <a:tc>
                  <a:txBody>
                    <a:bodyPr/>
                    <a:lstStyle/>
                    <a:p>
                      <a:pPr lvl="0" indent="0" marL="0" algn="l">
                        <a:buNone/>
                      </a:pPr>
                      <a:r>
                        <a:rPr/>
                        <a:t>Minutes</a:t>
                      </a:r>
                    </a:p>
                  </a:txBody>
                  <a:tcPr/>
                </a:tc>
                <a:tc>
                  <a:txBody>
                    <a:bodyPr/>
                    <a:lstStyle/>
                    <a:p>
                      <a:pPr lvl="0" indent="0" marL="0" algn="l">
                        <a:buNone/>
                      </a:pPr>
                      <a:r>
                        <a:rPr/>
                        <a:t>CI lower</a:t>
                      </a:r>
                    </a:p>
                  </a:txBody>
                  <a:tcPr/>
                </a:tc>
                <a:tc>
                  <a:txBody>
                    <a:bodyPr/>
                    <a:lstStyle/>
                    <a:p>
                      <a:pPr lvl="0" indent="0" marL="0" algn="l">
                        <a:buNone/>
                      </a:pPr>
                      <a:r>
                        <a:rPr/>
                        <a:t>CI upper</a:t>
                      </a:r>
                    </a:p>
                  </a:txBody>
                  <a:tcPr/>
                </a:tc>
                <a:tc>
                  <a:txBody>
                    <a:bodyPr/>
                    <a:lstStyle/>
                    <a:p>
                      <a:pPr lvl="0" indent="0" marL="0" algn="l">
                        <a:buNone/>
                      </a:pPr>
                      <a:r>
                        <a:rPr/>
                        <a:t>Flagged</a:t>
                      </a:r>
                    </a:p>
                  </a:txBody>
                  <a:tcPr/>
                </a:tc>
              </a:tr>
              <a:tr h="0">
                <a:tc>
                  <a:txBody>
                    <a:bodyPr/>
                    <a:lstStyle/>
                    <a:p>
                      <a:pPr lvl="0" indent="0" marL="0" algn="l">
                        <a:buNone/>
                      </a:pPr>
                      <a:r>
                        <a:rPr/>
                        <a:t>C1</a:t>
                      </a:r>
                    </a:p>
                  </a:txBody>
                </a:tc>
                <a:tc>
                  <a:txBody>
                    <a:bodyPr/>
                    <a:lstStyle/>
                    <a:p>
                      <a:pPr lvl="0" indent="0" marL="0" algn="l">
                        <a:buNone/>
                      </a:pPr>
                      <a:r>
                        <a:rPr/>
                        <a:t>ATE</a:t>
                      </a:r>
                    </a:p>
                  </a:txBody>
                </a:tc>
                <a:tc>
                  <a:txBody>
                    <a:bodyPr/>
                    <a:lstStyle/>
                    <a:p>
                      <a:pPr lvl="0" indent="0" marL="0" algn="l">
                        <a:buNone/>
                      </a:pPr>
                      <a:r>
                        <a:rPr/>
                        <a:t>-183.5</a:t>
                      </a:r>
                    </a:p>
                  </a:txBody>
                </a:tc>
                <a:tc>
                  <a:txBody>
                    <a:bodyPr/>
                    <a:lstStyle/>
                    <a:p>
                      <a:pPr lvl="0" indent="0" marL="0" algn="l">
                        <a:buNone/>
                      </a:pPr>
                      <a:r>
                        <a:rPr/>
                        <a:t>-400.4</a:t>
                      </a:r>
                    </a:p>
                  </a:txBody>
                </a:tc>
                <a:tc>
                  <a:txBody>
                    <a:bodyPr/>
                    <a:lstStyle/>
                    <a:p>
                      <a:pPr lvl="0" indent="0" marL="0" algn="l">
                        <a:buNone/>
                      </a:pPr>
                      <a:r>
                        <a:rPr/>
                        <a:t>33.5</a:t>
                      </a:r>
                    </a:p>
                  </a:txBody>
                </a:tc>
                <a:tc>
                  <a:txBody>
                    <a:bodyPr/>
                    <a:lstStyle/>
                    <a:p>
                      <a:pPr lvl="0" indent="0" marL="0" algn="l">
                        <a:buNone/>
                      </a:pPr>
                      <a:r>
                        <a:rPr/>
                        <a:t>FALSE</a:t>
                      </a:r>
                    </a:p>
                  </a:txBody>
                </a:tc>
              </a:tr>
              <a:tr h="0">
                <a:tc>
                  <a:txBody>
                    <a:bodyPr/>
                    <a:lstStyle/>
                    <a:p>
                      <a:pPr lvl="0" indent="0" marL="0" algn="l">
                        <a:buNone/>
                      </a:pPr>
                      <a:r>
                        <a:rPr/>
                        <a:t>C1</a:t>
                      </a:r>
                    </a:p>
                  </a:txBody>
                </a:tc>
                <a:tc>
                  <a:txBody>
                    <a:bodyPr/>
                    <a:lstStyle/>
                    <a:p>
                      <a:pPr lvl="0" indent="0" marL="0" algn="l">
                        <a:buNone/>
                      </a:pPr>
                      <a:r>
                        <a:rPr/>
                        <a:t>trimmed_ATE</a:t>
                      </a:r>
                    </a:p>
                  </a:txBody>
                </a:tc>
                <a:tc>
                  <a:txBody>
                    <a:bodyPr/>
                    <a:lstStyle/>
                    <a:p>
                      <a:pPr lvl="0" indent="0" marL="0" algn="l">
                        <a:buNone/>
                      </a:pPr>
                      <a:r>
                        <a:rPr/>
                        <a:t>-270.4</a:t>
                      </a:r>
                    </a:p>
                  </a:txBody>
                </a:tc>
                <a:tc>
                  <a:txBody>
                    <a:bodyPr/>
                    <a:lstStyle/>
                    <a:p>
                      <a:pPr lvl="0" indent="0" marL="0" algn="l">
                        <a:buNone/>
                      </a:pPr>
                      <a:r>
                        <a:rPr/>
                        <a:t>-313.4</a:t>
                      </a:r>
                    </a:p>
                  </a:txBody>
                </a:tc>
                <a:tc>
                  <a:txBody>
                    <a:bodyPr/>
                    <a:lstStyle/>
                    <a:p>
                      <a:pPr lvl="0" indent="0" marL="0" algn="l">
                        <a:buNone/>
                      </a:pPr>
                      <a:r>
                        <a:rPr/>
                        <a:t>-227.4</a:t>
                      </a:r>
                    </a:p>
                  </a:txBody>
                </a:tc>
                <a:tc>
                  <a:txBody>
                    <a:bodyPr/>
                    <a:lstStyle/>
                    <a:p>
                      <a:pPr lvl="0" indent="0" marL="0" algn="l">
                        <a:buNone/>
                      </a:pPr>
                      <a:r>
                        <a:rPr/>
                        <a:t>FALSE</a:t>
                      </a:r>
                    </a:p>
                  </a:txBody>
                </a:tc>
              </a:tr>
              <a:tr h="0">
                <a:tc>
                  <a:txBody>
                    <a:bodyPr/>
                    <a:lstStyle/>
                    <a:p>
                      <a:pPr lvl="0" indent="0" marL="0" algn="l">
                        <a:buNone/>
                      </a:pPr>
                      <a:r>
                        <a:rPr/>
                        <a:t>C1</a:t>
                      </a:r>
                    </a:p>
                  </a:txBody>
                </a:tc>
                <a:tc>
                  <a:txBody>
                    <a:bodyPr/>
                    <a:lstStyle/>
                    <a:p>
                      <a:pPr lvl="0" indent="0" marL="0" algn="l">
                        <a:buNone/>
                      </a:pPr>
                      <a:r>
                        <a:rPr/>
                        <a:t>ATT</a:t>
                      </a:r>
                    </a:p>
                  </a:txBody>
                </a:tc>
                <a:tc>
                  <a:txBody>
                    <a:bodyPr/>
                    <a:lstStyle/>
                    <a:p>
                      <a:pPr lvl="0" indent="0" marL="0" algn="l">
                        <a:buNone/>
                      </a:pPr>
                      <a:r>
                        <a:rPr/>
                        <a:t>-219.0</a:t>
                      </a:r>
                    </a:p>
                  </a:txBody>
                </a:tc>
                <a:tc>
                  <a:txBody>
                    <a:bodyPr/>
                    <a:lstStyle/>
                    <a:p>
                      <a:pPr lvl="0" indent="0" marL="0" algn="l">
                        <a:buNone/>
                      </a:pPr>
                      <a:r>
                        <a:rPr/>
                        <a:t>-268.1</a:t>
                      </a:r>
                    </a:p>
                  </a:txBody>
                </a:tc>
                <a:tc>
                  <a:txBody>
                    <a:bodyPr/>
                    <a:lstStyle/>
                    <a:p>
                      <a:pPr lvl="0" indent="0" marL="0" algn="l">
                        <a:buNone/>
                      </a:pPr>
                      <a:r>
                        <a:rPr/>
                        <a:t>-170.0</a:t>
                      </a:r>
                    </a:p>
                  </a:txBody>
                </a:tc>
                <a:tc>
                  <a:txBody>
                    <a:bodyPr/>
                    <a:lstStyle/>
                    <a:p>
                      <a:pPr lvl="0" indent="0" marL="0" algn="l">
                        <a:buNone/>
                      </a:pPr>
                      <a:r>
                        <a:rPr/>
                        <a:t>FALSE</a:t>
                      </a:r>
                    </a:p>
                  </a:txBody>
                </a:tc>
              </a:tr>
              <a:tr h="0">
                <a:tc>
                  <a:txBody>
                    <a:bodyPr/>
                    <a:lstStyle/>
                    <a:p>
                      <a:pPr lvl="0" indent="0" marL="0" algn="l">
                        <a:buNone/>
                      </a:pPr>
                      <a:r>
                        <a:rPr/>
                        <a:t>C1</a:t>
                      </a:r>
                    </a:p>
                  </a:txBody>
                </a:tc>
                <a:tc>
                  <a:txBody>
                    <a:bodyPr/>
                    <a:lstStyle/>
                    <a:p>
                      <a:pPr lvl="0" indent="0" marL="0" algn="l">
                        <a:buNone/>
                      </a:pPr>
                      <a:r>
                        <a:rPr/>
                        <a:t>ATO</a:t>
                      </a:r>
                    </a:p>
                  </a:txBody>
                </a:tc>
                <a:tc>
                  <a:txBody>
                    <a:bodyPr/>
                    <a:lstStyle/>
                    <a:p>
                      <a:pPr lvl="0" indent="0" marL="0" algn="l">
                        <a:buNone/>
                      </a:pPr>
                      <a:r>
                        <a:rPr/>
                        <a:t>-198.8</a:t>
                      </a:r>
                    </a:p>
                  </a:txBody>
                </a:tc>
                <a:tc>
                  <a:txBody>
                    <a:bodyPr/>
                    <a:lstStyle/>
                    <a:p>
                      <a:pPr lvl="0" indent="0" marL="0" algn="l">
                        <a:buNone/>
                      </a:pPr>
                      <a:r>
                        <a:rPr/>
                        <a:t>-255.3</a:t>
                      </a:r>
                    </a:p>
                  </a:txBody>
                </a:tc>
                <a:tc>
                  <a:txBody>
                    <a:bodyPr/>
                    <a:lstStyle/>
                    <a:p>
                      <a:pPr lvl="0" indent="0" marL="0" algn="l">
                        <a:buNone/>
                      </a:pPr>
                      <a:r>
                        <a:rPr/>
                        <a:t>-142.3</a:t>
                      </a:r>
                    </a:p>
                  </a:txBody>
                </a:tc>
                <a:tc>
                  <a:txBody>
                    <a:bodyPr/>
                    <a:lstStyle/>
                    <a:p>
                      <a:pPr lvl="0" indent="0" marL="0" algn="l">
                        <a:buNone/>
                      </a:pPr>
                      <a:r>
                        <a:rPr/>
                        <a:t>FALSE</a:t>
                      </a:r>
                    </a:p>
                  </a:txBody>
                </a:tc>
              </a:tr>
              <a:tr h="0">
                <a:tc>
                  <a:txBody>
                    <a:bodyPr/>
                    <a:lstStyle/>
                    <a:p>
                      <a:pPr lvl="0" indent="0" marL="0" algn="l">
                        <a:buNone/>
                      </a:pPr>
                      <a:r>
                        <a:rPr/>
                        <a:t>C2</a:t>
                      </a:r>
                    </a:p>
                  </a:txBody>
                </a:tc>
                <a:tc>
                  <a:txBody>
                    <a:bodyPr/>
                    <a:lstStyle/>
                    <a:p>
                      <a:pPr lvl="0" indent="0" marL="0" algn="l">
                        <a:buNone/>
                      </a:pPr>
                      <a:r>
                        <a:rPr/>
                        <a:t>trimmed_ATE</a:t>
                      </a:r>
                    </a:p>
                  </a:txBody>
                </a:tc>
                <a:tc>
                  <a:txBody>
                    <a:bodyPr/>
                    <a:lstStyle/>
                    <a:p>
                      <a:pPr lvl="0" indent="0" marL="0" algn="l">
                        <a:buNone/>
                      </a:pPr>
                      <a:r>
                        <a:rPr/>
                        <a:t>-278.8</a:t>
                      </a:r>
                    </a:p>
                  </a:txBody>
                </a:tc>
                <a:tc>
                  <a:txBody>
                    <a:bodyPr/>
                    <a:lstStyle/>
                    <a:p>
                      <a:pPr lvl="0" indent="0" marL="0" algn="l">
                        <a:buNone/>
                      </a:pPr>
                      <a:r>
                        <a:rPr/>
                        <a:t>-346.7</a:t>
                      </a:r>
                    </a:p>
                  </a:txBody>
                </a:tc>
                <a:tc>
                  <a:txBody>
                    <a:bodyPr/>
                    <a:lstStyle/>
                    <a:p>
                      <a:pPr lvl="0" indent="0" marL="0" algn="l">
                        <a:buNone/>
                      </a:pPr>
                      <a:r>
                        <a:rPr/>
                        <a:t>-210.8</a:t>
                      </a:r>
                    </a:p>
                  </a:txBody>
                </a:tc>
                <a:tc>
                  <a:txBody>
                    <a:bodyPr/>
                    <a:lstStyle/>
                    <a:p>
                      <a:pPr lvl="0" indent="0" marL="0" algn="l">
                        <a:buNone/>
                      </a:pPr>
                      <a:r>
                        <a:rPr/>
                        <a:t>FALSE</a:t>
                      </a:r>
                    </a:p>
                  </a:txBody>
                </a:tc>
              </a:tr>
              <a:tr h="0">
                <a:tc>
                  <a:txBody>
                    <a:bodyPr/>
                    <a:lstStyle/>
                    <a:p>
                      <a:pPr lvl="0" indent="0" marL="0" algn="l">
                        <a:buNone/>
                      </a:pPr>
                      <a:r>
                        <a:rPr/>
                        <a:t>C2</a:t>
                      </a:r>
                    </a:p>
                  </a:txBody>
                </a:tc>
                <a:tc>
                  <a:txBody>
                    <a:bodyPr/>
                    <a:lstStyle/>
                    <a:p>
                      <a:pPr lvl="0" indent="0" marL="0" algn="l">
                        <a:buNone/>
                      </a:pPr>
                      <a:r>
                        <a:rPr/>
                        <a:t>ATT</a:t>
                      </a:r>
                    </a:p>
                  </a:txBody>
                </a:tc>
                <a:tc>
                  <a:txBody>
                    <a:bodyPr/>
                    <a:lstStyle/>
                    <a:p>
                      <a:pPr lvl="0" indent="0" marL="0" algn="l">
                        <a:buNone/>
                      </a:pPr>
                      <a:r>
                        <a:rPr/>
                        <a:t>-272.4</a:t>
                      </a:r>
                    </a:p>
                  </a:txBody>
                </a:tc>
                <a:tc>
                  <a:txBody>
                    <a:bodyPr/>
                    <a:lstStyle/>
                    <a:p>
                      <a:pPr lvl="0" indent="0" marL="0" algn="l">
                        <a:buNone/>
                      </a:pPr>
                      <a:r>
                        <a:rPr/>
                        <a:t>-328.8</a:t>
                      </a:r>
                    </a:p>
                  </a:txBody>
                </a:tc>
                <a:tc>
                  <a:txBody>
                    <a:bodyPr/>
                    <a:lstStyle/>
                    <a:p>
                      <a:pPr lvl="0" indent="0" marL="0" algn="l">
                        <a:buNone/>
                      </a:pPr>
                      <a:r>
                        <a:rPr/>
                        <a:t>-215.9</a:t>
                      </a:r>
                    </a:p>
                  </a:txBody>
                </a:tc>
                <a:tc>
                  <a:txBody>
                    <a:bodyPr/>
                    <a:lstStyle/>
                    <a:p>
                      <a:pPr lvl="0" indent="0" marL="0" algn="l">
                        <a:buNone/>
                      </a:pPr>
                      <a:r>
                        <a:rPr/>
                        <a:t>FALSE</a:t>
                      </a:r>
                    </a:p>
                  </a:txBody>
                </a:tc>
              </a:tr>
              <a:tr h="0">
                <a:tc>
                  <a:txBody>
                    <a:bodyPr/>
                    <a:lstStyle/>
                    <a:p>
                      <a:pPr lvl="0" indent="0" marL="0" algn="l">
                        <a:buNone/>
                      </a:pPr>
                      <a:r>
                        <a:rPr/>
                        <a:t>C2</a:t>
                      </a:r>
                    </a:p>
                  </a:txBody>
                </a:tc>
                <a:tc>
                  <a:txBody>
                    <a:bodyPr/>
                    <a:lstStyle/>
                    <a:p>
                      <a:pPr lvl="0" indent="0" marL="0" algn="l">
                        <a:buNone/>
                      </a:pPr>
                      <a:r>
                        <a:rPr/>
                        <a:t>ATO</a:t>
                      </a:r>
                    </a:p>
                  </a:txBody>
                </a:tc>
                <a:tc>
                  <a:txBody>
                    <a:bodyPr/>
                    <a:lstStyle/>
                    <a:p>
                      <a:pPr lvl="0" indent="0" marL="0" algn="l">
                        <a:buNone/>
                      </a:pPr>
                      <a:r>
                        <a:rPr/>
                        <a:t>-250.1</a:t>
                      </a:r>
                    </a:p>
                  </a:txBody>
                </a:tc>
                <a:tc>
                  <a:txBody>
                    <a:bodyPr/>
                    <a:lstStyle/>
                    <a:p>
                      <a:pPr lvl="0" indent="0" marL="0" algn="l">
                        <a:buNone/>
                      </a:pPr>
                      <a:r>
                        <a:rPr/>
                        <a:t>-315.5</a:t>
                      </a:r>
                    </a:p>
                  </a:txBody>
                </a:tc>
                <a:tc>
                  <a:txBody>
                    <a:bodyPr/>
                    <a:lstStyle/>
                    <a:p>
                      <a:pPr lvl="0" indent="0" marL="0" algn="l">
                        <a:buNone/>
                      </a:pPr>
                      <a:r>
                        <a:rPr/>
                        <a:t>-184.7</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ATE</a:t>
                      </a:r>
                    </a:p>
                  </a:txBody>
                </a:tc>
                <a:tc>
                  <a:txBody>
                    <a:bodyPr/>
                    <a:lstStyle/>
                    <a:p>
                      <a:pPr lvl="0" indent="0" marL="0" algn="l">
                        <a:buNone/>
                      </a:pPr>
                      <a:r>
                        <a:rPr/>
                        <a:t>-244.8</a:t>
                      </a:r>
                    </a:p>
                  </a:txBody>
                </a:tc>
                <a:tc>
                  <a:txBody>
                    <a:bodyPr/>
                    <a:lstStyle/>
                    <a:p>
                      <a:pPr lvl="0" indent="0" marL="0" algn="l">
                        <a:buNone/>
                      </a:pPr>
                      <a:r>
                        <a:rPr/>
                        <a:t>-320.5</a:t>
                      </a:r>
                    </a:p>
                  </a:txBody>
                </a:tc>
                <a:tc>
                  <a:txBody>
                    <a:bodyPr/>
                    <a:lstStyle/>
                    <a:p>
                      <a:pPr lvl="0" indent="0" marL="0" algn="l">
                        <a:buNone/>
                      </a:pPr>
                      <a:r>
                        <a:rPr/>
                        <a:t>-169.1</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trimmed_ATE</a:t>
                      </a:r>
                    </a:p>
                  </a:txBody>
                </a:tc>
                <a:tc>
                  <a:txBody>
                    <a:bodyPr/>
                    <a:lstStyle/>
                    <a:p>
                      <a:pPr lvl="0" indent="0" marL="0" algn="l">
                        <a:buNone/>
                      </a:pPr>
                      <a:r>
                        <a:rPr/>
                        <a:t>-242.1</a:t>
                      </a:r>
                    </a:p>
                  </a:txBody>
                </a:tc>
                <a:tc>
                  <a:txBody>
                    <a:bodyPr/>
                    <a:lstStyle/>
                    <a:p>
                      <a:pPr lvl="0" indent="0" marL="0" algn="l">
                        <a:buNone/>
                      </a:pPr>
                      <a:r>
                        <a:rPr/>
                        <a:t>-312.2</a:t>
                      </a:r>
                    </a:p>
                  </a:txBody>
                </a:tc>
                <a:tc>
                  <a:txBody>
                    <a:bodyPr/>
                    <a:lstStyle/>
                    <a:p>
                      <a:pPr lvl="0" indent="0" marL="0" algn="l">
                        <a:buNone/>
                      </a:pPr>
                      <a:r>
                        <a:rPr/>
                        <a:t>-171.9</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ATT</a:t>
                      </a:r>
                    </a:p>
                  </a:txBody>
                </a:tc>
                <a:tc>
                  <a:txBody>
                    <a:bodyPr/>
                    <a:lstStyle/>
                    <a:p>
                      <a:pPr lvl="0" indent="0" marL="0" algn="l">
                        <a:buNone/>
                      </a:pPr>
                      <a:r>
                        <a:rPr/>
                        <a:t>-295.8</a:t>
                      </a:r>
                    </a:p>
                  </a:txBody>
                </a:tc>
                <a:tc>
                  <a:txBody>
                    <a:bodyPr/>
                    <a:lstStyle/>
                    <a:p>
                      <a:pPr lvl="0" indent="0" marL="0" algn="l">
                        <a:buNone/>
                      </a:pPr>
                      <a:r>
                        <a:rPr/>
                        <a:t>-381.6</a:t>
                      </a:r>
                    </a:p>
                  </a:txBody>
                </a:tc>
                <a:tc>
                  <a:txBody>
                    <a:bodyPr/>
                    <a:lstStyle/>
                    <a:p>
                      <a:pPr lvl="0" indent="0" marL="0" algn="l">
                        <a:buNone/>
                      </a:pPr>
                      <a:r>
                        <a:rPr/>
                        <a:t>-210.0</a:t>
                      </a:r>
                    </a:p>
                  </a:txBody>
                </a:tc>
                <a:tc>
                  <a:txBody>
                    <a:bodyPr/>
                    <a:lstStyle/>
                    <a:p>
                      <a:pPr lvl="0" indent="0" marL="0" algn="l">
                        <a:buNone/>
                      </a:pPr>
                      <a:r>
                        <a:rPr/>
                        <a:t>FALSE</a:t>
                      </a:r>
                    </a:p>
                  </a:txBody>
                </a:tc>
              </a:tr>
              <a:tr h="0">
                <a:tc>
                  <a:txBody>
                    <a:bodyPr/>
                    <a:lstStyle/>
                    <a:p>
                      <a:pPr lvl="0" indent="0" marL="0" algn="l">
                        <a:buNone/>
                      </a:pPr>
                      <a:r>
                        <a:rPr/>
                        <a:t>C3</a:t>
                      </a:r>
                    </a:p>
                  </a:txBody>
                </a:tc>
                <a:tc>
                  <a:txBody>
                    <a:bodyPr/>
                    <a:lstStyle/>
                    <a:p>
                      <a:pPr lvl="0" indent="0" marL="0" algn="l">
                        <a:buNone/>
                      </a:pPr>
                      <a:r>
                        <a:rPr/>
                        <a:t>ATO</a:t>
                      </a:r>
                    </a:p>
                  </a:txBody>
                </a:tc>
                <a:tc>
                  <a:txBody>
                    <a:bodyPr/>
                    <a:lstStyle/>
                    <a:p>
                      <a:pPr lvl="0" indent="0" marL="0" algn="l">
                        <a:buNone/>
                      </a:pPr>
                      <a:r>
                        <a:rPr/>
                        <a:t>-248.2</a:t>
                      </a:r>
                    </a:p>
                  </a:txBody>
                </a:tc>
                <a:tc>
                  <a:txBody>
                    <a:bodyPr/>
                    <a:lstStyle/>
                    <a:p>
                      <a:pPr lvl="0" indent="0" marL="0" algn="l">
                        <a:buNone/>
                      </a:pPr>
                      <a:r>
                        <a:rPr/>
                        <a:t>-316.7</a:t>
                      </a:r>
                    </a:p>
                  </a:txBody>
                </a:tc>
                <a:tc>
                  <a:txBody>
                    <a:bodyPr/>
                    <a:lstStyle/>
                    <a:p>
                      <a:pPr lvl="0" indent="0" marL="0" algn="l">
                        <a:buNone/>
                      </a:pPr>
                      <a:r>
                        <a:rPr/>
                        <a:t>-179.7</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ATE</a:t>
                      </a:r>
                    </a:p>
                  </a:txBody>
                </a:tc>
                <a:tc>
                  <a:txBody>
                    <a:bodyPr/>
                    <a:lstStyle/>
                    <a:p>
                      <a:pPr lvl="0" indent="0" marL="0" algn="l">
                        <a:buNone/>
                      </a:pPr>
                      <a:r>
                        <a:rPr/>
                        <a:t>-204.7</a:t>
                      </a:r>
                    </a:p>
                  </a:txBody>
                </a:tc>
                <a:tc>
                  <a:txBody>
                    <a:bodyPr/>
                    <a:lstStyle/>
                    <a:p>
                      <a:pPr lvl="0" indent="0" marL="0" algn="l">
                        <a:buNone/>
                      </a:pPr>
                      <a:r>
                        <a:rPr/>
                        <a:t>-284.0</a:t>
                      </a:r>
                    </a:p>
                  </a:txBody>
                </a:tc>
                <a:tc>
                  <a:txBody>
                    <a:bodyPr/>
                    <a:lstStyle/>
                    <a:p>
                      <a:pPr lvl="0" indent="0" marL="0" algn="l">
                        <a:buNone/>
                      </a:pPr>
                      <a:r>
                        <a:rPr/>
                        <a:t>-125.3</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trimmed_ATE</a:t>
                      </a:r>
                    </a:p>
                  </a:txBody>
                </a:tc>
                <a:tc>
                  <a:txBody>
                    <a:bodyPr/>
                    <a:lstStyle/>
                    <a:p>
                      <a:pPr lvl="0" indent="0" marL="0" algn="l">
                        <a:buNone/>
                      </a:pPr>
                      <a:r>
                        <a:rPr/>
                        <a:t>-134.3</a:t>
                      </a:r>
                    </a:p>
                  </a:txBody>
                </a:tc>
                <a:tc>
                  <a:txBody>
                    <a:bodyPr/>
                    <a:lstStyle/>
                    <a:p>
                      <a:pPr lvl="0" indent="0" marL="0" algn="l">
                        <a:buNone/>
                      </a:pPr>
                      <a:r>
                        <a:rPr/>
                        <a:t>-220.6</a:t>
                      </a:r>
                    </a:p>
                  </a:txBody>
                </a:tc>
                <a:tc>
                  <a:txBody>
                    <a:bodyPr/>
                    <a:lstStyle/>
                    <a:p>
                      <a:pPr lvl="0" indent="0" marL="0" algn="l">
                        <a:buNone/>
                      </a:pPr>
                      <a:r>
                        <a:rPr/>
                        <a:t>-48.0</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ATT</a:t>
                      </a:r>
                    </a:p>
                  </a:txBody>
                </a:tc>
                <a:tc>
                  <a:txBody>
                    <a:bodyPr/>
                    <a:lstStyle/>
                    <a:p>
                      <a:pPr lvl="0" indent="0" marL="0" algn="l">
                        <a:buNone/>
                      </a:pPr>
                      <a:r>
                        <a:rPr/>
                        <a:t>-99.7</a:t>
                      </a:r>
                    </a:p>
                  </a:txBody>
                </a:tc>
                <a:tc>
                  <a:txBody>
                    <a:bodyPr/>
                    <a:lstStyle/>
                    <a:p>
                      <a:pPr lvl="0" indent="0" marL="0" algn="l">
                        <a:buNone/>
                      </a:pPr>
                      <a:r>
                        <a:rPr/>
                        <a:t>-158.9</a:t>
                      </a:r>
                    </a:p>
                  </a:txBody>
                </a:tc>
                <a:tc>
                  <a:txBody>
                    <a:bodyPr/>
                    <a:lstStyle/>
                    <a:p>
                      <a:pPr lvl="0" indent="0" marL="0" algn="l">
                        <a:buNone/>
                      </a:pPr>
                      <a:r>
                        <a:rPr/>
                        <a:t>-40.5</a:t>
                      </a:r>
                    </a:p>
                  </a:txBody>
                </a:tc>
                <a:tc>
                  <a:txBody>
                    <a:bodyPr/>
                    <a:lstStyle/>
                    <a:p>
                      <a:pPr lvl="0" indent="0" marL="0" algn="l">
                        <a:buNone/>
                      </a:pPr>
                      <a:r>
                        <a:rPr/>
                        <a:t>FALSE</a:t>
                      </a:r>
                    </a:p>
                  </a:txBody>
                </a:tc>
              </a:tr>
              <a:tr h="0">
                <a:tc>
                  <a:txBody>
                    <a:bodyPr/>
                    <a:lstStyle/>
                    <a:p>
                      <a:pPr lvl="0" indent="0" marL="0" algn="l">
                        <a:buNone/>
                      </a:pPr>
                      <a:r>
                        <a:rPr/>
                        <a:t>C4</a:t>
                      </a:r>
                    </a:p>
                  </a:txBody>
                </a:tc>
                <a:tc>
                  <a:txBody>
                    <a:bodyPr/>
                    <a:lstStyle/>
                    <a:p>
                      <a:pPr lvl="0" indent="0" marL="0" algn="l">
                        <a:buNone/>
                      </a:pPr>
                      <a:r>
                        <a:rPr/>
                        <a:t>ATO</a:t>
                      </a:r>
                    </a:p>
                  </a:txBody>
                </a:tc>
                <a:tc>
                  <a:txBody>
                    <a:bodyPr/>
                    <a:lstStyle/>
                    <a:p>
                      <a:pPr lvl="0" indent="0" marL="0" algn="l">
                        <a:buNone/>
                      </a:pPr>
                      <a:r>
                        <a:rPr/>
                        <a:t>-89.7</a:t>
                      </a:r>
                    </a:p>
                  </a:txBody>
                </a:tc>
                <a:tc>
                  <a:txBody>
                    <a:bodyPr/>
                    <a:lstStyle/>
                    <a:p>
                      <a:pPr lvl="0" indent="0" marL="0" algn="l">
                        <a:buNone/>
                      </a:pPr>
                      <a:r>
                        <a:rPr/>
                        <a:t>-165.8</a:t>
                      </a:r>
                    </a:p>
                  </a:txBody>
                </a:tc>
                <a:tc>
                  <a:txBody>
                    <a:bodyPr/>
                    <a:lstStyle/>
                    <a:p>
                      <a:pPr lvl="0" indent="0" marL="0" algn="l">
                        <a:buNone/>
                      </a:pPr>
                      <a:r>
                        <a:rPr/>
                        <a:t>-13.6</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ATE</a:t>
                      </a:r>
                    </a:p>
                  </a:txBody>
                </a:tc>
                <a:tc>
                  <a:txBody>
                    <a:bodyPr/>
                    <a:lstStyle/>
                    <a:p>
                      <a:pPr lvl="0" indent="0" marL="0" algn="l">
                        <a:buNone/>
                      </a:pPr>
                      <a:r>
                        <a:rPr/>
                        <a:t>-0.1</a:t>
                      </a:r>
                    </a:p>
                  </a:txBody>
                </a:tc>
                <a:tc>
                  <a:txBody>
                    <a:bodyPr/>
                    <a:lstStyle/>
                    <a:p>
                      <a:pPr lvl="0" indent="0" marL="0" algn="l">
                        <a:buNone/>
                      </a:pPr>
                      <a:r>
                        <a:rPr/>
                        <a:t>-31.6</a:t>
                      </a:r>
                    </a:p>
                  </a:txBody>
                </a:tc>
                <a:tc>
                  <a:txBody>
                    <a:bodyPr/>
                    <a:lstStyle/>
                    <a:p>
                      <a:pPr lvl="0" indent="0" marL="0" algn="l">
                        <a:buNone/>
                      </a:pPr>
                      <a:r>
                        <a:rPr/>
                        <a:t>31.5</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trimmed_ATE</a:t>
                      </a:r>
                    </a:p>
                  </a:txBody>
                </a:tc>
                <a:tc>
                  <a:txBody>
                    <a:bodyPr/>
                    <a:lstStyle/>
                    <a:p>
                      <a:pPr lvl="0" indent="0" marL="0" algn="l">
                        <a:buNone/>
                      </a:pPr>
                      <a:r>
                        <a:rPr/>
                        <a:t>-2.8</a:t>
                      </a:r>
                    </a:p>
                  </a:txBody>
                </a:tc>
                <a:tc>
                  <a:txBody>
                    <a:bodyPr/>
                    <a:lstStyle/>
                    <a:p>
                      <a:pPr lvl="0" indent="0" marL="0" algn="l">
                        <a:buNone/>
                      </a:pPr>
                      <a:r>
                        <a:rPr/>
                        <a:t>-34.4</a:t>
                      </a:r>
                    </a:p>
                  </a:txBody>
                </a:tc>
                <a:tc>
                  <a:txBody>
                    <a:bodyPr/>
                    <a:lstStyle/>
                    <a:p>
                      <a:pPr lvl="0" indent="0" marL="0" algn="l">
                        <a:buNone/>
                      </a:pPr>
                      <a:r>
                        <a:rPr/>
                        <a:t>28.7</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ATT</a:t>
                      </a:r>
                    </a:p>
                  </a:txBody>
                </a:tc>
                <a:tc>
                  <a:txBody>
                    <a:bodyPr/>
                    <a:lstStyle/>
                    <a:p>
                      <a:pPr lvl="0" indent="0" marL="0" algn="l">
                        <a:buNone/>
                      </a:pPr>
                      <a:r>
                        <a:rPr/>
                        <a:t>-4.0</a:t>
                      </a:r>
                    </a:p>
                  </a:txBody>
                </a:tc>
                <a:tc>
                  <a:txBody>
                    <a:bodyPr/>
                    <a:lstStyle/>
                    <a:p>
                      <a:pPr lvl="0" indent="0" marL="0" algn="l">
                        <a:buNone/>
                      </a:pPr>
                      <a:r>
                        <a:rPr/>
                        <a:t>-35.1</a:t>
                      </a:r>
                    </a:p>
                  </a:txBody>
                </a:tc>
                <a:tc>
                  <a:txBody>
                    <a:bodyPr/>
                    <a:lstStyle/>
                    <a:p>
                      <a:pPr lvl="0" indent="0" marL="0" algn="l">
                        <a:buNone/>
                      </a:pPr>
                      <a:r>
                        <a:rPr/>
                        <a:t>27.1</a:t>
                      </a:r>
                    </a:p>
                  </a:txBody>
                </a:tc>
                <a:tc>
                  <a:txBody>
                    <a:bodyPr/>
                    <a:lstStyle/>
                    <a:p>
                      <a:pPr lvl="0" indent="0" marL="0" algn="l">
                        <a:buNone/>
                      </a:pPr>
                      <a:r>
                        <a:rPr/>
                        <a:t>FALSE</a:t>
                      </a:r>
                    </a:p>
                  </a:txBody>
                </a:tc>
              </a:tr>
              <a:tr h="0">
                <a:tc>
                  <a:txBody>
                    <a:bodyPr/>
                    <a:lstStyle/>
                    <a:p>
                      <a:pPr lvl="0" indent="0" marL="0" algn="l">
                        <a:buNone/>
                      </a:pPr>
                      <a:r>
                        <a:rPr/>
                        <a:t>PRIMARY</a:t>
                      </a:r>
                    </a:p>
                  </a:txBody>
                </a:tc>
                <a:tc>
                  <a:txBody>
                    <a:bodyPr/>
                    <a:lstStyle/>
                    <a:p>
                      <a:pPr lvl="0" indent="0" marL="0" algn="l">
                        <a:buNone/>
                      </a:pPr>
                      <a:r>
                        <a:rPr/>
                        <a:t>ATO</a:t>
                      </a:r>
                    </a:p>
                  </a:txBody>
                </a:tc>
                <a:tc>
                  <a:txBody>
                    <a:bodyPr/>
                    <a:lstStyle/>
                    <a:p>
                      <a:pPr lvl="0" indent="0" marL="0" algn="l">
                        <a:buNone/>
                      </a:pPr>
                      <a:r>
                        <a:rPr/>
                        <a:t>2.6</a:t>
                      </a:r>
                    </a:p>
                  </a:txBody>
                </a:tc>
                <a:tc>
                  <a:txBody>
                    <a:bodyPr/>
                    <a:lstStyle/>
                    <a:p>
                      <a:pPr lvl="0" indent="0" marL="0" algn="l">
                        <a:buNone/>
                      </a:pPr>
                      <a:r>
                        <a:rPr/>
                        <a:t>-34.4</a:t>
                      </a:r>
                    </a:p>
                  </a:txBody>
                </a:tc>
                <a:tc>
                  <a:txBody>
                    <a:bodyPr/>
                    <a:lstStyle/>
                    <a:p>
                      <a:pPr lvl="0" indent="0" marL="0" algn="l">
                        <a:buNone/>
                      </a:pPr>
                      <a:r>
                        <a:rPr/>
                        <a:t>39.6</a:t>
                      </a:r>
                    </a:p>
                  </a:txBody>
                </a:tc>
                <a:tc>
                  <a:txBody>
                    <a:bodyPr/>
                    <a:lstStyle/>
                    <a:p>
                      <a:pPr lvl="0" indent="0" marL="0" algn="l">
                        <a:buNone/>
                      </a:pPr>
                      <a:r>
                        <a:rPr/>
                        <a:t>FALSE</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simulation trap, on real data</a:t>
            </a:r>
          </a:p>
        </p:txBody>
      </p:sp>
      <p:sp>
        <p:nvSpPr>
          <p:cNvPr id="4" name="Text Placeholder 3"/>
          <p:cNvSpPr>
            <a:spLocks noGrp="1"/>
          </p:cNvSpPr>
          <p:nvPr>
            <p:ph idx="2" sz="half" type="body"/>
          </p:nvPr>
        </p:nvSpPr>
        <p:spPr/>
        <p:txBody>
          <a:bodyPr/>
          <a:lstStyle/>
          <a:p>
            <a:pPr lvl="0" indent="0" marL="0">
              <a:buNone/>
            </a:pPr>
            <a:r>
              <a:rPr/>
              <a:t>A support map built on the kept-treatment design would call sound designs infeasible.</a:t>
            </a:r>
          </a:p>
        </p:txBody>
      </p:sp>
      <p:pic>
        <p:nvPicPr>
          <p:cNvPr descr="cleanTMLE_presentation_files/figure-pptx/fig-designcmp-1.png" id="0" name="Picture 1"/>
          <p:cNvPicPr>
            <a:picLocks noGrp="1" noChangeAspect="1"/>
          </p:cNvPicPr>
          <p:nvPr/>
        </p:nvPicPr>
        <p:blipFill>
          <a:blip r:embed="rId2"/>
          <a:stretch>
            <a:fillRect/>
          </a:stretch>
        </p:blipFill>
        <p:spPr bwMode="auto">
          <a:xfrm>
            <a:off x="3568700" y="990600"/>
            <a:ext cx="5105400" cy="23114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Figure 5: Coverage under the stressed outcome surface, 200 replicates per design. Keeping the observed treatment degrades every estimand, on the sound design too.</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workflow caught its own earlier mistake</a:t>
            </a:r>
          </a:p>
        </p:txBody>
      </p:sp>
      <p:sp>
        <p:nvSpPr>
          <p:cNvPr id="3" name="Content Placeholder 2"/>
          <p:cNvSpPr>
            <a:spLocks noGrp="1"/>
          </p:cNvSpPr>
          <p:nvPr>
            <p:ph idx="1"/>
          </p:nvPr>
        </p:nvSpPr>
        <p:spPr/>
        <p:txBody>
          <a:bodyPr/>
          <a:lstStyle/>
          <a:p>
            <a:pPr lvl="0" indent="0" marL="0">
              <a:buNone/>
            </a:pPr>
            <a:r>
              <a:rPr/>
              <a:t>The first single-contrast run had a design flaw: its primary outcome was the common category of a 92%-prevalence dichotomy. The cohort-adequacy check recorded a stop, and the pipeline went on through an unlogged override.</a:t>
            </a:r>
          </a:p>
          <a:p>
            <a:pPr lvl="0" indent="0" marL="0">
              <a:buNone/>
            </a:pPr>
            <a:r>
              <a:rPr/>
              <a:t>The rebuild’s reconciliation found it because both entries were still in the record, the stop and the estimate, with nothing between them. Mortality became the primary outcome; overrides now need a logged reason.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a reviewer reads the case study</a:t>
            </a:r>
          </a:p>
        </p:txBody>
      </p:sp>
      <p:sp>
        <p:nvSpPr>
          <p:cNvPr id="3" name="Content Placeholder 2"/>
          <p:cNvSpPr>
            <a:spLocks noGrp="1"/>
          </p:cNvSpPr>
          <p:nvPr>
            <p:ph idx="1"/>
          </p:nvPr>
        </p:nvSpPr>
        <p:spPr/>
        <p:txBody>
          <a:bodyPr/>
          <a:lstStyle/>
          <a:p>
            <a:pPr lvl="0"/>
            <a:r>
              <a:rPr/>
              <a:t>Every verdict, declaration, and switch was logged before the outcome store was joined.</a:t>
            </a:r>
          </a:p>
          <a:p>
            <a:pPr lvl="0"/>
            <a:r>
              <a:rPr/>
              <a:t>The protocol’s primary comparison was refused on the record, with the evidence attached. Reported estimands carry the population they describe.</a:t>
            </a:r>
          </a:p>
          <a:p>
            <a:pPr lvl="0"/>
            <a:r>
              <a:rPr/>
              <a:t>Where the two pipelines are comparable, the clean-room estimates match the parallel unblinded analysis to within fractions of a standard error, row by row, in a released reconciliation table.</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5. Where this sits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Side by side</a:t>
            </a:r>
          </a:p>
        </p:txBody>
      </p:sp>
      <p:sp>
        <p:nvSpPr>
          <p:cNvPr id="4" name="Text Placeholder 3"/>
          <p:cNvSpPr>
            <a:spLocks noGrp="1"/>
          </p:cNvSpPr>
          <p:nvPr>
            <p:ph idx="2" sz="half" type="body"/>
          </p:nvPr>
        </p:nvSpPr>
        <p:spPr/>
        <p:txBody>
          <a:bodyPr/>
          <a:lstStyle/>
          <a:p>
            <a:pPr lvl="0" indent="0" marL="0">
              <a:buNone/>
            </a:pPr>
            <a:r>
              <a:rPr/>
              <a:t>TMLE is a decade old and the staged idea is published guidance. The new part is answering the estimability question inside the blind phase, with a record of when it was answered.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660400"/>
                <a:gridCol w="1104900"/>
                <a:gridCol w="1104900"/>
                <a:gridCol w="1104900"/>
                <a:gridCol w="1104900"/>
              </a:tblGrid>
              <a:tr h="0">
                <a:tc>
                  <a:txBody>
                    <a:bodyPr/>
                    <a:lstStyle/>
                    <a:p>
                      <a:pPr lvl="0" indent="0" marL="0">
                        <a:buNone/>
                      </a:pPr>
                      <a:r>
                        <a:rPr/>
                        <a:t>Feature</a:t>
                      </a:r>
                    </a:p>
                  </a:txBody>
                  <a:tcPr/>
                </a:tc>
                <a:tc>
                  <a:txBody>
                    <a:bodyPr/>
                    <a:lstStyle/>
                    <a:p>
                      <a:pPr lvl="0" indent="0" marL="0" algn="ctr">
                        <a:buNone/>
                      </a:pPr>
                      <a:r>
                        <a:rPr/>
                        <a:t>TMLE packages</a:t>
                      </a:r>
                    </a:p>
                  </a:txBody>
                  <a:tcPr/>
                </a:tc>
                <a:tc>
                  <a:txBody>
                    <a:bodyPr/>
                    <a:lstStyle/>
                    <a:p>
                      <a:pPr lvl="0" indent="0" marL="0" algn="ctr">
                        <a:buNone/>
                      </a:pPr>
                      <a:r>
                        <a:rPr/>
                        <a:t>causalRisk</a:t>
                      </a:r>
                    </a:p>
                  </a:txBody>
                  <a:tcPr/>
                </a:tc>
                <a:tc>
                  <a:txBody>
                    <a:bodyPr/>
                    <a:lstStyle/>
                    <a:p>
                      <a:pPr lvl="0" indent="0" marL="0" algn="ctr">
                        <a:buNone/>
                      </a:pPr>
                      <a:r>
                        <a:rPr/>
                        <a:t>Clean-room papers</a:t>
                      </a:r>
                    </a:p>
                  </a:txBody>
                  <a:tcPr/>
                </a:tc>
                <a:tc>
                  <a:txBody>
                    <a:bodyPr/>
                    <a:lstStyle/>
                    <a:p>
                      <a:pPr lvl="0" indent="0" marL="0" algn="ctr">
                        <a:buNone/>
                      </a:pPr>
                      <a:r>
                        <a:rPr/>
                        <a:t>cleanTMLE</a:t>
                      </a:r>
                    </a:p>
                  </a:txBody>
                  <a:tcPr/>
                </a:tc>
              </a:tr>
              <a:tr h="0">
                <a:tc>
                  <a:txBody>
                    <a:bodyPr/>
                    <a:lstStyle/>
                    <a:p>
                      <a:pPr lvl="0" indent="0" marL="0">
                        <a:buNone/>
                      </a:pPr>
                      <a:r>
                        <a:rPr/>
                        <a:t>Targeted-learning estimation</a:t>
                      </a:r>
                    </a:p>
                  </a:txBody>
                </a:tc>
                <a:tc>
                  <a:txBody>
                    <a:bodyPr/>
                    <a:lstStyle/>
                    <a:p>
                      <a:pPr lvl="0" indent="0" marL="0" algn="ctr">
                        <a:buNone/>
                      </a:pPr>
                      <a:r>
                        <a:rPr/>
                        <a:t>yes</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Cohort grammar, cumulative-risk reporting</a:t>
                      </a:r>
                    </a:p>
                  </a:txBody>
                </a:tc>
                <a:tc>
                  <a:txBody>
                    <a:bodyPr/>
                    <a:lstStyle/>
                    <a:p>
                      <a:pPr lvl="0" indent="0" marL="0" algn="ctr">
                        <a:buNone/>
                      </a:pPr>
                      <a:r>
                        <a:rPr/>
                        <a:t>partial</a:t>
                      </a:r>
                    </a:p>
                  </a:txBody>
                </a:tc>
                <a:tc>
                  <a:txBody>
                    <a:bodyPr/>
                    <a:lstStyle/>
                    <a:p>
                      <a:pPr lvl="0" indent="0" marL="0" algn="ctr">
                        <a:buNone/>
                      </a:pPr>
                      <a:r>
                        <a:rPr/>
                        <a:t>yes</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Graded support verdict, per-estimand feasibility</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Pre-registered estimand ladder, logged switching</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Outcome-blind support map</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Plasmode candidate selection, DQ stress test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yes</a:t>
                      </a:r>
                    </a:p>
                  </a:txBody>
                </a:tc>
              </a:tr>
              <a:tr h="0">
                <a:tc>
                  <a:txBody>
                    <a:bodyPr/>
                    <a:lstStyle/>
                    <a:p>
                      <a:pPr lvl="0" indent="0" marL="0">
                        <a:buNone/>
                      </a:pPr>
                      <a:r>
                        <a:rPr/>
                        <a:t>Fingerprinted lock and design log</a:t>
                      </a:r>
                    </a:p>
                  </a:txBody>
                </a:tc>
                <a:tc>
                  <a:txBody>
                    <a:bodyPr/>
                    <a:lstStyle/>
                    <a:p>
                      <a:pPr lvl="0" indent="0" marL="0" algn="ctr">
                        <a:buNone/>
                      </a:pPr>
                      <a:r>
                        <a:rPr/>
                        <a:t>–</a:t>
                      </a:r>
                    </a:p>
                  </a:txBody>
                </a:tc>
                <a:tc>
                  <a:txBody>
                    <a:bodyPr/>
                    <a:lstStyle/>
                    <a:p>
                      <a:pPr lvl="0" indent="0" marL="0" algn="ctr">
                        <a:buNone/>
                      </a:pPr>
                      <a:r>
                        <a:rPr/>
                        <a:t>–</a:t>
                      </a:r>
                    </a:p>
                  </a:txBody>
                </a:tc>
                <a:tc>
                  <a:txBody>
                    <a:bodyPr/>
                    <a:lstStyle/>
                    <a:p>
                      <a:pPr lvl="0" indent="0" marL="0" algn="ctr">
                        <a:buNone/>
                      </a:pPr>
                      <a:r>
                        <a:rPr/>
                        <a:t>guidance</a:t>
                      </a:r>
                    </a:p>
                  </a:txBody>
                </a:tc>
                <a:tc>
                  <a:txBody>
                    <a:bodyPr/>
                    <a:lstStyle/>
                    <a:p>
                      <a:pPr lvl="0" indent="0" marL="0" algn="ctr">
                        <a:buNone/>
                      </a:pPr>
                      <a:r>
                        <a:rPr/>
                        <a:t>yes</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to use it, and its limits</a:t>
            </a:r>
          </a:p>
        </p:txBody>
      </p:sp>
      <p:sp>
        <p:nvSpPr>
          <p:cNvPr id="3" name="Content Placeholder 2"/>
          <p:cNvSpPr>
            <a:spLocks noGrp="1"/>
          </p:cNvSpPr>
          <p:nvPr>
            <p:ph idx="1"/>
          </p:nvPr>
        </p:nvSpPr>
        <p:spPr/>
        <p:txBody>
          <a:bodyPr/>
          <a:lstStyle/>
          <a:p>
            <a:pPr lvl="0" indent="0" marL="0">
              <a:buNone/>
            </a:pPr>
            <a:r>
              <a:rPr/>
              <a:t>Use it when a reviewer will ask whether a decision was made before you saw the answer.</a:t>
            </a:r>
          </a:p>
          <a:p>
            <a:pPr lvl="0" indent="0" marL="0">
              <a:buNone/>
            </a:pPr>
            <a:r>
              <a:rPr/>
              <a:t>It does not automate design, validate data or phenotypes, or replace negative controls and post-outcome sensitivity analysis. For confirmatory work it belongs inside institutional governance, with role separation and independent review. </a:t>
            </a:r>
            <a:r>
              <a:rPr>
                <a:latin typeface="Courier"/>
              </a:rPr>
              <a:t>enforce = TRUE</a:t>
            </a:r>
            <a:r>
              <a:rPr/>
              <a:t> withholds estimation until a named person signs the unmasking, where an institution wants that in software.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I want input</a:t>
            </a:r>
          </a:p>
        </p:txBody>
      </p:sp>
      <p:sp>
        <p:nvSpPr>
          <p:cNvPr id="3" name="Content Placeholder 2"/>
          <p:cNvSpPr>
            <a:spLocks noGrp="1"/>
          </p:cNvSpPr>
          <p:nvPr>
            <p:ph idx="1"/>
          </p:nvPr>
        </p:nvSpPr>
        <p:spPr/>
        <p:txBody>
          <a:bodyPr/>
          <a:lstStyle/>
          <a:p>
            <a:pPr lvl="0" indent="-342900" marL="342900">
              <a:buAutoNum type="arabicPeriod"/>
            </a:pPr>
            <a:r>
              <a:rPr/>
              <a:t>The harshest support-map surfaces look like strong unmeasured confounding, so a whole-grid pass rule mixes two threats. How should the plausible region be elicited and pre-registered?</a:t>
            </a:r>
          </a:p>
          <a:p>
            <a:pPr lvl="0" indent="-342900" marL="342900">
              <a:buAutoNum type="arabicPeriod"/>
            </a:pPr>
            <a:r>
              <a:rPr/>
              <a:t>Is SEVERE the right default trigger, and trimmed ATE, ATT, ATO the right order?</a:t>
            </a:r>
          </a:p>
          <a:p>
            <a:pPr lvl="0" indent="-342900" marL="342900">
              <a:buAutoNum type="arabicPeriod"/>
            </a:pPr>
            <a:r>
              <a:rPr/>
              <a:t>How should stress-test severity ranges be documented so a reviewer accepts them?</a:t>
            </a:r>
          </a:p>
          <a:p>
            <a:pPr lvl="0" indent="-342900" marL="342900">
              <a:buAutoNum type="arabicPeriod"/>
            </a:pPr>
            <a:r>
              <a:rPr/>
              <a:t>The matched ATT is the most stable rung on every map and the least interpretable population. Sensitivity analysis, or candidate primary?</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Resources</a:t>
            </a:r>
          </a:p>
        </p:txBody>
      </p:sp>
      <p:sp>
        <p:nvSpPr>
          <p:cNvPr id="3" name="Content Placeholder 2"/>
          <p:cNvSpPr>
            <a:spLocks noGrp="1"/>
          </p:cNvSpPr>
          <p:nvPr>
            <p:ph idx="1"/>
          </p:nvPr>
        </p:nvSpPr>
        <p:spPr/>
        <p:txBody>
          <a:bodyPr/>
          <a:lstStyle/>
          <a:p>
            <a:pPr lvl="0"/>
            <a:r>
              <a:rPr/>
              <a:t>Package: </a:t>
            </a:r>
            <a:r>
              <a:rPr>
                <a:hlinkClick r:id="rId2"/>
              </a:rPr>
              <a:t>https://github.com/amertens/cleanTMLE</a:t>
            </a:r>
            <a:r>
              <a:rPr/>
              <a:t> (v0.3.0)</a:t>
            </a:r>
          </a:p>
          <a:p>
            <a:pPr lvl="0"/>
            <a:r>
              <a:rPr/>
              <a:t>Manuscript draft: </a:t>
            </a:r>
            <a:r>
              <a:rPr>
                <a:latin typeface="Courier"/>
              </a:rPr>
              <a:t>reports/manuscript_outcome_blind_dq.qmd</a:t>
            </a:r>
          </a:p>
          <a:p>
            <a:pPr lvl="0"/>
            <a:r>
              <a:rPr/>
              <a:t>Case-study artifacts: </a:t>
            </a:r>
            <a:r>
              <a:rPr>
                <a:latin typeface="Courier"/>
              </a:rPr>
              <a:t>rescueCo/results/multiarm/</a:t>
            </a:r>
          </a:p>
          <a:p>
            <a:pPr lvl="0"/>
            <a:r>
              <a:rPr/>
              <a:t>Vignettes: get started (five verbs), and the full workflow</a:t>
            </a:r>
          </a:p>
          <a:p>
            <a:pPr lvl="0"/>
            <a:r>
              <a:rPr/>
              <a:t>Tutorial: </a:t>
            </a:r>
            <a:r>
              <a:rPr>
                <a:latin typeface="Courier"/>
              </a:rPr>
              <a:t>tutorials/clean_room_targeted_learning_tutorial.qmd</a:t>
            </a:r>
          </a:p>
          <a:p>
            <a:pPr lvl="0" indent="0" marL="0">
              <a:buNone/>
            </a:pPr>
            <a:r>
              <a:rPr/>
              <a:t>Questions and pushback welcome.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A: Concepts and alignment</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Conceptual layers in the staged workflow</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Layer</a:t>
                      </a:r>
                    </a:p>
                  </a:txBody>
                  <a:tcPr/>
                </a:tc>
                <a:tc>
                  <a:txBody>
                    <a:bodyPr/>
                    <a:lstStyle/>
                    <a:p>
                      <a:pPr lvl="0" indent="0" marL="0">
                        <a:buNone/>
                      </a:pPr>
                      <a:r>
                        <a:rPr/>
                        <a:t>Description</a:t>
                      </a:r>
                    </a:p>
                  </a:txBody>
                  <a:tcPr/>
                </a:tc>
              </a:tr>
              <a:tr h="0">
                <a:tc>
                  <a:txBody>
                    <a:bodyPr/>
                    <a:lstStyle/>
                    <a:p>
                      <a:pPr lvl="0" indent="0" marL="0">
                        <a:buNone/>
                      </a:pPr>
                      <a:r>
                        <a:rPr/>
                        <a:t>Causal question</a:t>
                      </a:r>
                    </a:p>
                  </a:txBody>
                </a:tc>
                <a:tc>
                  <a:txBody>
                    <a:bodyPr/>
                    <a:lstStyle/>
                    <a:p>
                      <a:pPr lvl="0" indent="0" marL="0">
                        <a:buNone/>
                      </a:pPr>
                      <a:r>
                        <a:rPr/>
                        <a:t>Clinical or policy question framed as a target trial.</a:t>
                      </a:r>
                    </a:p>
                  </a:txBody>
                </a:tc>
              </a:tr>
              <a:tr h="0">
                <a:tc>
                  <a:txBody>
                    <a:bodyPr/>
                    <a:lstStyle/>
                    <a:p>
                      <a:pPr lvl="0" indent="0" marL="0">
                        <a:buNone/>
                      </a:pPr>
                      <a:r>
                        <a:rPr/>
                        <a:t>Causal estimand</a:t>
                      </a:r>
                    </a:p>
                  </a:txBody>
                </a:tc>
                <a:tc>
                  <a:txBody>
                    <a:bodyPr/>
                    <a:lstStyle/>
                    <a:p>
                      <a:pPr lvl="0" indent="0" marL="0">
                        <a:buNone/>
                      </a:pPr>
                      <a:r>
                        <a:rPr/>
                        <a:t>Counterfactual effect of interest, e.g. marginal risk difference.</a:t>
                      </a:r>
                    </a:p>
                  </a:txBody>
                </a:tc>
              </a:tr>
              <a:tr h="0">
                <a:tc>
                  <a:txBody>
                    <a:bodyPr/>
                    <a:lstStyle/>
                    <a:p>
                      <a:pPr lvl="0" indent="0" marL="0">
                        <a:buNone/>
                      </a:pPr>
                      <a:r>
                        <a:rPr/>
                        <a:t>Identification assumptions</a:t>
                      </a:r>
                    </a:p>
                  </a:txBody>
                </a:tc>
                <a:tc>
                  <a:txBody>
                    <a:bodyPr/>
                    <a:lstStyle/>
                    <a:p>
                      <a:pPr lvl="0" indent="0" marL="0">
                        <a:buNone/>
                      </a:pPr>
                      <a:r>
                        <a:rPr/>
                        <a:t>Conditions under which the estimand equals an observed-data parameter.</a:t>
                      </a:r>
                    </a:p>
                  </a:txBody>
                </a:tc>
              </a:tr>
              <a:tr h="0">
                <a:tc>
                  <a:txBody>
                    <a:bodyPr/>
                    <a:lstStyle/>
                    <a:p>
                      <a:pPr lvl="0" indent="0" marL="0">
                        <a:buNone/>
                      </a:pPr>
                      <a:r>
                        <a:rPr/>
                        <a:t>Statistical estimand</a:t>
                      </a:r>
                    </a:p>
                  </a:txBody>
                </a:tc>
                <a:tc>
                  <a:txBody>
                    <a:bodyPr/>
                    <a:lstStyle/>
                    <a:p>
                      <a:pPr lvl="0" indent="0" marL="0">
                        <a:buNone/>
                      </a:pPr>
                      <a:r>
                        <a:rPr/>
                        <a:t>That observed-data parameter.</a:t>
                      </a:r>
                    </a:p>
                  </a:txBody>
                </a:tc>
              </a:tr>
              <a:tr h="0">
                <a:tc>
                  <a:txBody>
                    <a:bodyPr/>
                    <a:lstStyle/>
                    <a:p>
                      <a:pPr lvl="0" indent="0" marL="0">
                        <a:buNone/>
                      </a:pPr>
                      <a:r>
                        <a:rPr/>
                        <a:t>Estimand ladder</a:t>
                      </a:r>
                    </a:p>
                  </a:txBody>
                </a:tc>
                <a:tc>
                  <a:txBody>
                    <a:bodyPr/>
                    <a:lstStyle/>
                    <a:p>
                      <a:pPr lvl="0" indent="0" marL="0">
                        <a:buNone/>
                      </a:pPr>
                      <a:r>
                        <a:rPr/>
                        <a:t>Pre-registered fallbacks and the verdict that triggers a switch.</a:t>
                      </a:r>
                    </a:p>
                  </a:txBody>
                </a:tc>
              </a:tr>
              <a:tr h="0">
                <a:tc>
                  <a:txBody>
                    <a:bodyPr/>
                    <a:lstStyle/>
                    <a:p>
                      <a:pPr lvl="0" indent="0" marL="0">
                        <a:buNone/>
                      </a:pPr>
                      <a:r>
                        <a:rPr/>
                        <a:t>Estimator</a:t>
                      </a:r>
                    </a:p>
                  </a:txBody>
                </a:tc>
                <a:tc>
                  <a:txBody>
                    <a:bodyPr/>
                    <a:lstStyle/>
                    <a:p>
                      <a:pPr lvl="0" indent="0" marL="0">
                        <a:buNone/>
                      </a:pPr>
                      <a:r>
                        <a:rPr/>
                        <a:t>TMLE, IPTW, matching.</a:t>
                      </a:r>
                    </a:p>
                  </a:txBody>
                </a:tc>
              </a:tr>
              <a:tr h="0">
                <a:tc>
                  <a:txBody>
                    <a:bodyPr/>
                    <a:lstStyle/>
                    <a:p>
                      <a:pPr lvl="0" indent="0" marL="0">
                        <a:buNone/>
                      </a:pPr>
                      <a:r>
                        <a:rPr/>
                        <a:t>Pre-outcome diagnostic</a:t>
                      </a:r>
                    </a:p>
                  </a:txBody>
                </a:tc>
                <a:tc>
                  <a:txBody>
                    <a:bodyPr/>
                    <a:lstStyle/>
                    <a:p>
                      <a:pPr lvl="0" indent="0" marL="0">
                        <a:buNone/>
                      </a:pPr>
                      <a:r>
                        <a:rPr/>
                        <a:t>Support verdict, feasibility, simulated bias and coverage, balance, negative controls.</a:t>
                      </a:r>
                    </a:p>
                  </a:txBody>
                </a:tc>
              </a:tr>
              <a:tr h="0">
                <a:tc>
                  <a:txBody>
                    <a:bodyPr/>
                    <a:lstStyle/>
                    <a:p>
                      <a:pPr lvl="0" indent="0" marL="0">
                        <a:buNone/>
                      </a:pPr>
                      <a:r>
                        <a:rPr/>
                        <a:t>Governance decision</a:t>
                      </a:r>
                    </a:p>
                  </a:txBody>
                </a:tc>
                <a:tc>
                  <a:txBody>
                    <a:bodyPr/>
                    <a:lstStyle/>
                    <a:p>
                      <a:pPr lvl="0" indent="0" marL="0">
                        <a:buNone/>
                      </a:pPr>
                      <a:r>
                        <a:rPr/>
                        <a:t>Proceed, proceed with qualification, or stop (Muntner et al. 2024).</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The causal roadmap, and what the package covers</a:t>
            </a:r>
          </a:p>
        </p:txBody>
      </p:sp>
      <p:sp>
        <p:nvSpPr>
          <p:cNvPr id="4" name="Text Placeholder 3"/>
          <p:cNvSpPr>
            <a:spLocks noGrp="1"/>
          </p:cNvSpPr>
          <p:nvPr>
            <p:ph idx="2" sz="half" type="body"/>
          </p:nvPr>
        </p:nvSpPr>
        <p:spPr/>
        <p:txBody>
          <a:bodyPr/>
          <a:lstStyle/>
          <a:p>
            <a:pPr lvl="0" indent="0" marL="0">
              <a:buNone/>
            </a:pPr>
          </a:p>
        </p:txBody>
      </p:sp>
      <p:pic>
        <p:nvPicPr>
          <p:cNvPr descr="cleanTMLE_presentation_files\figure-pptx\mermaid-figure-2.png" id="0" name="Picture 1"/>
          <p:cNvPicPr>
            <a:picLocks noGrp="1" noChangeAspect="1"/>
          </p:cNvPicPr>
          <p:nvPr/>
        </p:nvPicPr>
        <p:blipFill>
          <a:blip r:embed="rId2"/>
          <a:stretch>
            <a:fillRect/>
          </a:stretch>
        </p:blipFill>
        <p:spPr bwMode="auto">
          <a:xfrm>
            <a:off x="5664200" y="203200"/>
            <a:ext cx="914400" cy="43815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Regulatory alignment (excerpt)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Roadmap component</a:t>
                      </a:r>
                    </a:p>
                  </a:txBody>
                  <a:tcPr/>
                </a:tc>
                <a:tc>
                  <a:txBody>
                    <a:bodyPr/>
                    <a:lstStyle/>
                    <a:p>
                      <a:pPr lvl="0" indent="0" marL="0">
                        <a:buNone/>
                      </a:pPr>
                      <a:r>
                        <a:rPr/>
                        <a:t>FDA / EMA / ICH anchor</a:t>
                      </a:r>
                    </a:p>
                  </a:txBody>
                  <a:tcPr/>
                </a:tc>
                <a:tc>
                  <a:txBody>
                    <a:bodyPr/>
                    <a:lstStyle/>
                    <a:p>
                      <a:pPr lvl="0" indent="0" marL="0">
                        <a:buNone/>
                      </a:pPr>
                      <a:r>
                        <a:rPr/>
                        <a:t>cleanTMLE</a:t>
                      </a:r>
                    </a:p>
                  </a:txBody>
                  <a:tcPr/>
                </a:tc>
              </a:tr>
              <a:tr h="0">
                <a:tc>
                  <a:txBody>
                    <a:bodyPr/>
                    <a:lstStyle/>
                    <a:p>
                      <a:pPr lvl="0" indent="0" marL="0">
                        <a:buNone/>
                      </a:pPr>
                      <a:r>
                        <a:rPr/>
                        <a:t>Causal question</a:t>
                      </a:r>
                    </a:p>
                  </a:txBody>
                </a:tc>
                <a:tc>
                  <a:txBody>
                    <a:bodyPr/>
                    <a:lstStyle/>
                    <a:p>
                      <a:pPr lvl="0" indent="0" marL="0">
                        <a:buNone/>
                      </a:pPr>
                      <a:r>
                        <a:rPr/>
                        <a:t>Target-trial framework; FDA RWE Framework; ICH M14</a:t>
                      </a:r>
                    </a:p>
                  </a:txBody>
                </a:tc>
                <a:tc>
                  <a:txBody>
                    <a:bodyPr/>
                    <a:lstStyle/>
                    <a:p>
                      <a:pPr lvl="0" indent="0" marL="0">
                        <a:buNone/>
                      </a:pPr>
                      <a:r>
                        <a:rPr/>
                        <a:t>Lock record; </a:t>
                      </a:r>
                      <a:r>
                        <a:rPr>
                          <a:latin typeface="Courier"/>
                        </a:rPr>
                        <a:t>design_report(protocol = ...)</a:t>
                      </a:r>
                      <a:r>
                        <a:rPr/>
                        <a:t> emulation table</a:t>
                      </a:r>
                    </a:p>
                  </a:txBody>
                </a:tc>
              </a:tr>
              <a:tr h="0">
                <a:tc>
                  <a:txBody>
                    <a:bodyPr/>
                    <a:lstStyle/>
                    <a:p>
                      <a:pPr lvl="0" indent="0" marL="0">
                        <a:buNone/>
                      </a:pPr>
                      <a:r>
                        <a:rPr/>
                        <a:t>Identification (positivity)</a:t>
                      </a:r>
                    </a:p>
                  </a:txBody>
                </a:tc>
                <a:tc>
                  <a:txBody>
                    <a:bodyPr/>
                    <a:lstStyle/>
                    <a:p>
                      <a:pPr lvl="0" indent="0" marL="0">
                        <a:buNone/>
                      </a:pPr>
                      <a:r>
                        <a:rPr/>
                        <a:t>ICH E9(R1)</a:t>
                      </a:r>
                    </a:p>
                  </a:txBody>
                </a:tc>
                <a:tc>
                  <a:txBody>
                    <a:bodyPr/>
                    <a:lstStyle/>
                    <a:p>
                      <a:pPr lvl="0" indent="0" marL="0">
                        <a:buNone/>
                      </a:pPr>
                      <a:r>
                        <a:rPr>
                          <a:latin typeface="Courier"/>
                        </a:rPr>
                        <a:t>assess_support()</a:t>
                      </a:r>
                      <a:r>
                        <a:rPr/>
                        <a:t>, </a:t>
                      </a:r>
                      <a:r>
                        <a:rPr>
                          <a:latin typeface="Courier"/>
                        </a:rPr>
                        <a:t>estimand_feasibility()</a:t>
                      </a:r>
                    </a:p>
                  </a:txBody>
                </a:tc>
              </a:tr>
              <a:tr h="0">
                <a:tc>
                  <a:txBody>
                    <a:bodyPr/>
                    <a:lstStyle/>
                    <a:p>
                      <a:pPr lvl="0" indent="0" marL="0">
                        <a:buNone/>
                      </a:pPr>
                      <a:r>
                        <a:rPr/>
                        <a:t>Statistical estimand</a:t>
                      </a:r>
                    </a:p>
                  </a:txBody>
                </a:tc>
                <a:tc>
                  <a:txBody>
                    <a:bodyPr/>
                    <a:lstStyle/>
                    <a:p>
                      <a:pPr lvl="0" indent="0" marL="0">
                        <a:buNone/>
                      </a:pPr>
                      <a:r>
                        <a:rPr/>
                        <a:t>ICH E9(R1); FDA RWE Considerations</a:t>
                      </a:r>
                    </a:p>
                  </a:txBody>
                </a:tc>
                <a:tc>
                  <a:txBody>
                    <a:bodyPr/>
                    <a:lstStyle/>
                    <a:p>
                      <a:pPr lvl="0" indent="0" marL="0">
                        <a:buNone/>
                      </a:pPr>
                      <a:r>
                        <a:rPr>
                          <a:latin typeface="Courier"/>
                        </a:rPr>
                        <a:t>declare_estimand_ladder()</a:t>
                      </a:r>
                      <a:r>
                        <a:rPr/>
                        <a:t>, </a:t>
                      </a:r>
                      <a:r>
                        <a:rPr>
                          <a:latin typeface="Courier"/>
                        </a:rPr>
                        <a:t>run_estimand_ladder()</a:t>
                      </a:r>
                    </a:p>
                  </a:txBody>
                </a:tc>
              </a:tr>
              <a:tr h="0">
                <a:tc>
                  <a:txBody>
                    <a:bodyPr/>
                    <a:lstStyle/>
                    <a:p>
                      <a:pPr lvl="0" indent="0" marL="0">
                        <a:buNone/>
                      </a:pPr>
                      <a:r>
                        <a:rPr/>
                        <a:t>Estimator selection</a:t>
                      </a:r>
                    </a:p>
                  </a:txBody>
                </a:tc>
                <a:tc>
                  <a:txBody>
                    <a:bodyPr/>
                    <a:lstStyle/>
                    <a:p>
                      <a:pPr lvl="0" indent="0" marL="0">
                        <a:buNone/>
                      </a:pPr>
                      <a:r>
                        <a:rPr/>
                        <a:t>FDA non-interventional studies; ICH M14</a:t>
                      </a:r>
                    </a:p>
                  </a:txBody>
                </a:tc>
                <a:tc>
                  <a:txBody>
                    <a:bodyPr/>
                    <a:lstStyle/>
                    <a:p>
                      <a:pPr lvl="0" indent="0" marL="0">
                        <a:buNone/>
                      </a:pPr>
                      <a:r>
                        <a:rPr>
                          <a:latin typeface="Courier"/>
                        </a:rPr>
                        <a:t>define_candidates()</a:t>
                      </a:r>
                      <a:r>
                        <a:rPr/>
                        <a:t>, </a:t>
                      </a:r>
                      <a:r>
                        <a:rPr>
                          <a:latin typeface="Courier"/>
                        </a:rPr>
                        <a:t>select_candidate()</a:t>
                      </a:r>
                    </a:p>
                  </a:txBody>
                </a:tc>
              </a:tr>
              <a:tr h="0">
                <a:tc>
                  <a:txBody>
                    <a:bodyPr/>
                    <a:lstStyle/>
                    <a:p>
                      <a:pPr lvl="0" indent="0" marL="0">
                        <a:buNone/>
                      </a:pPr>
                      <a:r>
                        <a:rPr/>
                        <a:t>Pre-outcome DQ stress</a:t>
                      </a:r>
                    </a:p>
                  </a:txBody>
                </a:tc>
                <a:tc>
                  <a:txBody>
                    <a:bodyPr/>
                    <a:lstStyle/>
                    <a:p>
                      <a:pPr lvl="0" indent="0" marL="0">
                        <a:buNone/>
                      </a:pPr>
                      <a:r>
                        <a:rPr/>
                        <a:t>Source reliability (FDA, EMA)</a:t>
                      </a:r>
                    </a:p>
                  </a:txBody>
                </a:tc>
                <a:tc>
                  <a:txBody>
                    <a:bodyPr/>
                    <a:lstStyle/>
                    <a:p>
                      <a:pPr lvl="0" indent="0" marL="0">
                        <a:buNone/>
                      </a:pPr>
                      <a:r>
                        <a:rPr>
                          <a:latin typeface="Courier"/>
                        </a:rPr>
                        <a:t>stress_test()</a:t>
                      </a:r>
                      <a:r>
                        <a:rPr/>
                        <a:t>, </a:t>
                      </a:r>
                      <a:r>
                        <a:rPr>
                          <a:latin typeface="Courier"/>
                        </a:rPr>
                        <a:t>simulate_support()</a:t>
                      </a:r>
                    </a:p>
                  </a:txBody>
                </a:tc>
              </a:tr>
              <a:tr h="0">
                <a:tc>
                  <a:txBody>
                    <a:bodyPr/>
                    <a:lstStyle/>
                    <a:p>
                      <a:pPr lvl="0" indent="0" marL="0">
                        <a:buNone/>
                      </a:pPr>
                      <a:r>
                        <a:rPr/>
                        <a:t>Post-outcome sensitivity</a:t>
                      </a:r>
                    </a:p>
                  </a:txBody>
                </a:tc>
                <a:tc>
                  <a:txBody>
                    <a:bodyPr/>
                    <a:lstStyle/>
                    <a:p>
                      <a:pPr lvl="0" indent="0" marL="0">
                        <a:buNone/>
                      </a:pPr>
                      <a:r>
                        <a:rPr/>
                        <a:t>FDA non-interventional; ICH E9(R1)</a:t>
                      </a:r>
                    </a:p>
                  </a:txBody>
                </a:tc>
                <a:tc>
                  <a:txBody>
                    <a:bodyPr/>
                    <a:lstStyle/>
                    <a:p>
                      <a:pPr lvl="0" indent="0" marL="0">
                        <a:buNone/>
                      </a:pPr>
                      <a:r>
                        <a:rPr>
                          <a:latin typeface="Courier"/>
                        </a:rPr>
                        <a:t>compute_evalue()</a:t>
                      </a:r>
                      <a:r>
                        <a:rPr/>
                        <a:t>, </a:t>
                      </a:r>
                      <a:r>
                        <a:rPr>
                          <a:latin typeface="Courier"/>
                        </a:rPr>
                        <a:t>run_delta_sensitivity()</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stress-test threat families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Threat</a:t>
                      </a:r>
                    </a:p>
                  </a:txBody>
                  <a:tcPr/>
                </a:tc>
                <a:tc>
                  <a:txBody>
                    <a:bodyPr/>
                    <a:lstStyle/>
                    <a:p>
                      <a:pPr lvl="0" indent="0" marL="0">
                        <a:buNone/>
                      </a:pPr>
                      <a:r>
                        <a:rPr/>
                        <a:t>Mechanism</a:t>
                      </a:r>
                    </a:p>
                  </a:txBody>
                  <a:tcPr/>
                </a:tc>
                <a:tc>
                  <a:txBody>
                    <a:bodyPr/>
                    <a:lstStyle/>
                    <a:p>
                      <a:pPr lvl="0" indent="0" marL="0">
                        <a:buNone/>
                      </a:pPr>
                      <a:r>
                        <a:rPr/>
                        <a:t>Probes</a:t>
                      </a:r>
                    </a:p>
                  </a:txBody>
                  <a:tcPr/>
                </a:tc>
                <a:tc>
                  <a:txBody>
                    <a:bodyPr/>
                    <a:lstStyle/>
                    <a:p>
                      <a:pPr lvl="0" indent="0" marL="0">
                        <a:buNone/>
                      </a:pPr>
                      <a:r>
                        <a:rPr/>
                        <a:t>Does not probe</a:t>
                      </a:r>
                    </a:p>
                  </a:txBody>
                  <a:tcPr/>
                </a:tc>
              </a:tr>
              <a:tr h="0">
                <a:tc>
                  <a:txBody>
                    <a:bodyPr/>
                    <a:lstStyle/>
                    <a:p>
                      <a:pPr lvl="0" indent="0" marL="0">
                        <a:buNone/>
                      </a:pPr>
                      <a:r>
                        <a:rPr/>
                        <a:t>Covariate missingness</a:t>
                      </a:r>
                    </a:p>
                  </a:txBody>
                </a:tc>
                <a:tc>
                  <a:txBody>
                    <a:bodyPr/>
                    <a:lstStyle/>
                    <a:p>
                      <a:pPr lvl="0" indent="0" marL="0">
                        <a:buNone/>
                      </a:pPr>
                      <a:r>
                        <a:rPr/>
                        <a:t>MCAR, MAR, MNAR masks; median impute</a:t>
                      </a:r>
                    </a:p>
                  </a:txBody>
                </a:tc>
                <a:tc>
                  <a:txBody>
                    <a:bodyPr/>
                    <a:lstStyle/>
                    <a:p>
                      <a:pPr lvl="0" indent="0" marL="0">
                        <a:buNone/>
                      </a:pPr>
                      <a:r>
                        <a:rPr/>
                        <a:t>Imputation robustness</a:t>
                      </a:r>
                    </a:p>
                  </a:txBody>
                </a:tc>
                <a:tc>
                  <a:txBody>
                    <a:bodyPr/>
                    <a:lstStyle/>
                    <a:p>
                      <a:pPr lvl="0" indent="0" marL="0">
                        <a:buNone/>
                      </a:pPr>
                      <a:r>
                        <a:rPr/>
                        <a:t>Phenotype validity</a:t>
                      </a:r>
                    </a:p>
                  </a:txBody>
                </a:tc>
              </a:tr>
              <a:tr h="0">
                <a:tc>
                  <a:txBody>
                    <a:bodyPr/>
                    <a:lstStyle/>
                    <a:p>
                      <a:pPr lvl="0" indent="0" marL="0">
                        <a:buNone/>
                      </a:pPr>
                      <a:r>
                        <a:rPr/>
                        <a:t>Exposure misclassification</a:t>
                      </a:r>
                    </a:p>
                  </a:txBody>
                </a:tc>
                <a:tc>
                  <a:txBody>
                    <a:bodyPr/>
                    <a:lstStyle/>
                    <a:p>
                      <a:pPr lvl="0" indent="0" marL="0">
                        <a:buNone/>
                      </a:pPr>
                      <a:r>
                        <a:rPr/>
                        <a:t>Flip A at given sens and spec</a:t>
                      </a:r>
                    </a:p>
                  </a:txBody>
                </a:tc>
                <a:tc>
                  <a:txBody>
                    <a:bodyPr/>
                    <a:lstStyle/>
                    <a:p>
                      <a:pPr lvl="0" indent="0" marL="0">
                        <a:buNone/>
                      </a:pPr>
                      <a:r>
                        <a:rPr/>
                        <a:t>Treatment measurement</a:t>
                      </a:r>
                    </a:p>
                  </a:txBody>
                </a:tc>
                <a:tc>
                  <a:txBody>
                    <a:bodyPr/>
                    <a:lstStyle/>
                    <a:p>
                      <a:pPr lvl="0" indent="0" marL="0">
                        <a:buNone/>
                      </a:pPr>
                      <a:r>
                        <a:rPr/>
                        <a:t>Differential error by outcome</a:t>
                      </a:r>
                    </a:p>
                  </a:txBody>
                </a:tc>
              </a:tr>
              <a:tr h="0">
                <a:tc>
                  <a:txBody>
                    <a:bodyPr/>
                    <a:lstStyle/>
                    <a:p>
                      <a:pPr lvl="0" indent="0" marL="0">
                        <a:buNone/>
                      </a:pPr>
                      <a:r>
                        <a:rPr/>
                        <a:t>Outcome misclassification</a:t>
                      </a:r>
                    </a:p>
                  </a:txBody>
                </a:tc>
                <a:tc>
                  <a:txBody>
                    <a:bodyPr/>
                    <a:lstStyle/>
                    <a:p>
                      <a:pPr lvl="0" indent="0" marL="0">
                        <a:buNone/>
                      </a:pPr>
                      <a:r>
                        <a:rPr/>
                        <a:t>Flip Y, optionally per arm</a:t>
                      </a:r>
                    </a:p>
                  </a:txBody>
                </a:tc>
                <a:tc>
                  <a:txBody>
                    <a:bodyPr/>
                    <a:lstStyle/>
                    <a:p>
                      <a:pPr lvl="0" indent="0" marL="0">
                        <a:buNone/>
                      </a:pPr>
                      <a:r>
                        <a:rPr/>
                        <a:t>Outcome measurement</a:t>
                      </a:r>
                    </a:p>
                  </a:txBody>
                </a:tc>
                <a:tc>
                  <a:txBody>
                    <a:bodyPr/>
                    <a:lstStyle/>
                    <a:p>
                      <a:pPr lvl="0" indent="0" marL="0">
                        <a:buNone/>
                      </a:pPr>
                      <a:r>
                        <a:rPr/>
                        <a:t>Time-varying ascertainment</a:t>
                      </a:r>
                    </a:p>
                  </a:txBody>
                </a:tc>
              </a:tr>
              <a:tr h="0">
                <a:tc>
                  <a:txBody>
                    <a:bodyPr/>
                    <a:lstStyle/>
                    <a:p>
                      <a:pPr lvl="0" indent="0" marL="0">
                        <a:buNone/>
                      </a:pPr>
                      <a:r>
                        <a:rPr/>
                        <a:t>Near-positivity</a:t>
                      </a:r>
                    </a:p>
                  </a:txBody>
                </a:tc>
                <a:tc>
                  <a:txBody>
                    <a:bodyPr/>
                    <a:lstStyle/>
                    <a:p>
                      <a:pPr lvl="0" indent="0" marL="0">
                        <a:buNone/>
                      </a:pPr>
                      <a:r>
                        <a:rPr/>
                        <a:t>Amplify covariate-treatment association</a:t>
                      </a:r>
                    </a:p>
                  </a:txBody>
                </a:tc>
                <a:tc>
                  <a:txBody>
                    <a:bodyPr/>
                    <a:lstStyle/>
                    <a:p>
                      <a:pPr lvl="0" indent="0" marL="0">
                        <a:buNone/>
                      </a:pPr>
                      <a:r>
                        <a:rPr/>
                        <a:t>Estimator strain</a:t>
                      </a:r>
                    </a:p>
                  </a:txBody>
                </a:tc>
                <a:tc>
                  <a:txBody>
                    <a:bodyPr/>
                    <a:lstStyle/>
                    <a:p>
                      <a:pPr lvl="0" indent="0" marL="0">
                        <a:buNone/>
                      </a:pPr>
                      <a:r>
                        <a:rPr/>
                        <a:t>The realised design’s support</a:t>
                      </a:r>
                    </a:p>
                  </a:txBody>
                </a:tc>
              </a:tr>
              <a:tr h="0">
                <a:tc>
                  <a:txBody>
                    <a:bodyPr/>
                    <a:lstStyle/>
                    <a:p>
                      <a:pPr lvl="0" indent="0" marL="0">
                        <a:buNone/>
                      </a:pPr>
                      <a:r>
                        <a:rPr/>
                        <a:t>Unmeasured confounding</a:t>
                      </a:r>
                    </a:p>
                  </a:txBody>
                </a:tc>
                <a:tc>
                  <a:txBody>
                    <a:bodyPr/>
                    <a:lstStyle/>
                    <a:p>
                      <a:pPr lvl="0" indent="0" marL="0">
                        <a:buNone/>
                      </a:pPr>
                      <a:r>
                        <a:rPr/>
                        <a:t>Latent U shifts A and Y</a:t>
                      </a:r>
                    </a:p>
                  </a:txBody>
                </a:tc>
                <a:tc>
                  <a:txBody>
                    <a:bodyPr/>
                    <a:lstStyle/>
                    <a:p>
                      <a:pPr lvl="0" indent="0" marL="0">
                        <a:buNone/>
                      </a:pPr>
                      <a:r>
                        <a:rPr/>
                        <a:t>Exchangeability</a:t>
                      </a:r>
                    </a:p>
                  </a:txBody>
                </a:tc>
                <a:tc>
                  <a:txBody>
                    <a:bodyPr/>
                    <a:lstStyle/>
                    <a:p>
                      <a:pPr lvl="0" indent="0" marL="0">
                        <a:buNone/>
                      </a:pPr>
                      <a:r>
                        <a:rPr/>
                        <a:t>Multiple latent confounders</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B: Case-study detail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declared ladder, per lock</a:t>
            </a:r>
          </a:p>
        </p:txBody>
      </p:sp>
      <p:sp>
        <p:nvSpPr>
          <p:cNvPr id="3" name="Content Placeholder 2"/>
          <p:cNvSpPr>
            <a:spLocks noGrp="1"/>
          </p:cNvSpPr>
          <p:nvPr>
            <p:ph idx="1"/>
          </p:nvPr>
        </p:nvSpPr>
        <p:spPr/>
        <p:txBody>
          <a:bodyPr/>
          <a:lstStyle/>
          <a:p>
            <a:pPr lvl="0" indent="0" marL="0">
              <a:buNone/>
            </a:pPr>
            <a:r>
              <a:rPr/>
              <a:t>Identical across the five locks, declared before outcome access: primary ATE with IPCW for missing outcomes; fallbacks trimmed ATE [0.05, 0.95], then ATT, then ATO; trigger SEVERE. The matched ATT is assessed in the feasibility table and support map as a design-stage sensitivity and is not estimated on the ladder.</a:t>
            </a:r>
          </a:p>
          <a:p>
            <a:pPr lvl="0" indent="0" marL="0">
              <a:buNone/>
            </a:pPr>
            <a:r>
              <a:rPr/>
              <a:t>Propensity library: the </a:t>
            </a:r>
            <a:r>
              <a:rPr>
                <a:latin typeface="Courier"/>
              </a:rPr>
              <a:t>build_sl_library()</a:t>
            </a:r>
            <a:r>
              <a:rPr/>
              <a:t> preset for wide registry designs (penalised logistic learners, PCA-reduced GLMs, marginal mean; no tree learners, which can separate arms on wide indicator sets), ten folds.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Negative-control ladder, exact rows</a:t>
            </a:r>
          </a:p>
        </p:txBody>
      </p:sp>
      <p:sp>
        <p:nvSpPr>
          <p:cNvPr id="4" name="Text Placeholder 3"/>
          <p:cNvSpPr>
            <a:spLocks noGrp="1"/>
          </p:cNvSpPr>
          <p:nvPr>
            <p:ph idx="2" sz="half" type="body"/>
          </p:nvPr>
        </p:nvSpPr>
        <p:spPr/>
        <p:txBody>
          <a:bodyPr/>
          <a:lstStyle/>
          <a:p>
            <a:pPr lvl="0" indent="0" marL="0">
              <a:buNone/>
            </a:pPr>
            <a:r>
              <a:rPr/>
              <a:t>Hypertension is null on every rung. Insulin-treated diabetes and HIV on ART are inestimable (a cell below 5 events) and labelled as such. A TMLE-adjusted variant is released with a caveat: on restricted rungs it conditions on design columns that are near-copies of the socioeconomic controls.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270000"/>
                <a:gridCol w="1270000"/>
                <a:gridCol w="1270000"/>
                <a:gridCol w="1270000"/>
              </a:tblGrid>
              <a:tr h="0">
                <a:tc>
                  <a:txBody>
                    <a:bodyPr/>
                    <a:lstStyle/>
                    <a:p>
                      <a:pPr lvl="0" indent="0" marL="0">
                        <a:buNone/>
                      </a:pPr>
                      <a:r>
                        <a:rPr/>
                        <a:t>Contrast</a:t>
                      </a:r>
                    </a:p>
                  </a:txBody>
                  <a:tcPr/>
                </a:tc>
                <a:tc>
                  <a:txBody>
                    <a:bodyPr/>
                    <a:lstStyle/>
                    <a:p>
                      <a:pPr lvl="0" indent="0" marL="0">
                        <a:buNone/>
                      </a:pPr>
                      <a:r>
                        <a:rPr/>
                        <a:t>Cohort</a:t>
                      </a:r>
                    </a:p>
                  </a:txBody>
                  <a:tcPr/>
                </a:tc>
                <a:tc>
                  <a:txBody>
                    <a:bodyPr/>
                    <a:lstStyle/>
                    <a:p>
                      <a:pPr lvl="0" indent="0" marL="0" algn="r">
                        <a:buNone/>
                      </a:pPr>
                      <a:r>
                        <a:rPr/>
                        <a:t>Urban household</a:t>
                      </a:r>
                    </a:p>
                  </a:txBody>
                  <a:tcPr/>
                </a:tc>
                <a:tc>
                  <a:txBody>
                    <a:bodyPr/>
                    <a:lstStyle/>
                    <a:p>
                      <a:pPr lvl="0" indent="0" marL="0" algn="r">
                        <a:buNone/>
                      </a:pPr>
                      <a:r>
                        <a:rPr/>
                        <a:t>Wood or charcoal fuel</a:t>
                      </a:r>
                    </a:p>
                  </a:txBody>
                  <a:tcPr/>
                </a:tc>
              </a:tr>
              <a:tr h="0">
                <a:tc>
                  <a:txBody>
                    <a:bodyPr/>
                    <a:lstStyle/>
                    <a:p>
                      <a:pPr lvl="0" indent="0" marL="0">
                        <a:buNone/>
                      </a:pPr>
                      <a:r>
                        <a:rPr/>
                        <a:t>C4</a:t>
                      </a:r>
                    </a:p>
                  </a:txBody>
                </a:tc>
                <a:tc>
                  <a:txBody>
                    <a:bodyPr/>
                    <a:lstStyle/>
                    <a:p>
                      <a:pPr lvl="0" indent="0" marL="0">
                        <a:buNone/>
                      </a:pPr>
                      <a:r>
                        <a:rPr/>
                        <a:t>Full (n = 2,197)</a:t>
                      </a:r>
                    </a:p>
                  </a:txBody>
                </a:tc>
                <a:tc>
                  <a:txBody>
                    <a:bodyPr/>
                    <a:lstStyle/>
                    <a:p>
                      <a:pPr lvl="0" indent="0" marL="0" algn="r">
                        <a:buNone/>
                      </a:pPr>
                      <a:r>
                        <a:rPr/>
                        <a:t>+0.068</a:t>
                      </a:r>
                    </a:p>
                  </a:txBody>
                </a:tc>
                <a:tc>
                  <a:txBody>
                    <a:bodyPr/>
                    <a:lstStyle/>
                    <a:p>
                      <a:pPr lvl="0" indent="0" marL="0" algn="r">
                        <a:buNone/>
                      </a:pPr>
                      <a:r>
                        <a:rPr/>
                        <a:t>-0.052</a:t>
                      </a:r>
                    </a:p>
                  </a:txBody>
                </a:tc>
              </a:tr>
              <a:tr h="0">
                <a:tc>
                  <a:txBody>
                    <a:bodyPr/>
                    <a:lstStyle/>
                    <a:p>
                      <a:pPr lvl="0" indent="0" marL="0">
                        <a:buNone/>
                      </a:pPr>
                      <a:r>
                        <a:rPr/>
                        <a:t>C4</a:t>
                      </a:r>
                    </a:p>
                  </a:txBody>
                </a:tc>
                <a:tc>
                  <a:txBody>
                    <a:bodyPr/>
                    <a:lstStyle/>
                    <a:p>
                      <a:pPr lvl="0" indent="0" marL="0">
                        <a:buNone/>
                      </a:pPr>
                      <a:r>
                        <a:rPr/>
                        <a:t>Transfers excluded (n = 1,703)</a:t>
                      </a:r>
                    </a:p>
                  </a:txBody>
                </a:tc>
                <a:tc>
                  <a:txBody>
                    <a:bodyPr/>
                    <a:lstStyle/>
                    <a:p>
                      <a:pPr lvl="0" indent="0" marL="0" algn="r">
                        <a:buNone/>
                      </a:pPr>
                      <a:r>
                        <a:rPr/>
                        <a:t>+0.001</a:t>
                      </a:r>
                    </a:p>
                  </a:txBody>
                </a:tc>
                <a:tc>
                  <a:txBody>
                    <a:bodyPr/>
                    <a:lstStyle/>
                    <a:p>
                      <a:pPr lvl="0" indent="0" marL="0" algn="r">
                        <a:buNone/>
                      </a:pPr>
                      <a:r>
                        <a:rPr/>
                        <a:t>+0.000</a:t>
                      </a:r>
                    </a:p>
                  </a:txBody>
                </a:tc>
              </a:tr>
              <a:tr h="0">
                <a:tc>
                  <a:txBody>
                    <a:bodyPr/>
                    <a:lstStyle/>
                    <a:p>
                      <a:pPr lvl="0" indent="0" marL="0">
                        <a:buNone/>
                      </a:pPr>
                      <a:r>
                        <a:rPr/>
                        <a:t>C4</a:t>
                      </a:r>
                    </a:p>
                  </a:txBody>
                </a:tc>
                <a:tc>
                  <a:txBody>
                    <a:bodyPr/>
                    <a:lstStyle/>
                    <a:p>
                      <a:pPr lvl="0" indent="0" marL="0">
                        <a:buNone/>
                      </a:pPr>
                      <a:r>
                        <a:rPr/>
                        <a:t>Prior care also excluded (n = 1,616)</a:t>
                      </a:r>
                    </a:p>
                  </a:txBody>
                </a:tc>
                <a:tc>
                  <a:txBody>
                    <a:bodyPr/>
                    <a:lstStyle/>
                    <a:p>
                      <a:pPr lvl="0" indent="0" marL="0" algn="r">
                        <a:buNone/>
                      </a:pPr>
                      <a:r>
                        <a:rPr/>
                        <a:t>-0.003</a:t>
                      </a:r>
                    </a:p>
                  </a:txBody>
                </a:tc>
                <a:tc>
                  <a:txBody>
                    <a:bodyPr/>
                    <a:lstStyle/>
                    <a:p>
                      <a:pPr lvl="0" indent="0" marL="0" algn="r">
                        <a:buNone/>
                      </a:pPr>
                      <a:r>
                        <a:rPr/>
                        <a:t>-0.001</a:t>
                      </a:r>
                    </a:p>
                  </a:txBody>
                </a:tc>
              </a:tr>
              <a:tr h="0">
                <a:tc>
                  <a:txBody>
                    <a:bodyPr/>
                    <a:lstStyle/>
                    <a:p>
                      <a:pPr lvl="0" indent="0" marL="0">
                        <a:buNone/>
                      </a:pPr>
                      <a:r>
                        <a:rPr/>
                        <a:t>C1</a:t>
                      </a:r>
                    </a:p>
                  </a:txBody>
                </a:tc>
                <a:tc>
                  <a:txBody>
                    <a:bodyPr/>
                    <a:lstStyle/>
                    <a:p>
                      <a:pPr lvl="0" indent="0" marL="0">
                        <a:buNone/>
                      </a:pPr>
                      <a:r>
                        <a:rPr/>
                        <a:t>Full (n = 8,323)</a:t>
                      </a:r>
                    </a:p>
                  </a:txBody>
                </a:tc>
                <a:tc>
                  <a:txBody>
                    <a:bodyPr/>
                    <a:lstStyle/>
                    <a:p>
                      <a:pPr lvl="0" indent="0" marL="0" algn="r">
                        <a:buNone/>
                      </a:pPr>
                      <a:r>
                        <a:rPr/>
                        <a:t>+0.013</a:t>
                      </a:r>
                    </a:p>
                  </a:txBody>
                </a:tc>
                <a:tc>
                  <a:txBody>
                    <a:bodyPr/>
                    <a:lstStyle/>
                    <a:p>
                      <a:pPr lvl="0" indent="0" marL="0" algn="r">
                        <a:buNone/>
                      </a:pPr>
                      <a:r>
                        <a:rPr/>
                        <a:t>-0.006</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support-map reading rule, from the design log</a:t>
            </a:r>
          </a:p>
        </p:txBody>
      </p:sp>
      <p:sp>
        <p:nvSpPr>
          <p:cNvPr id="3" name="Content Placeholder 2"/>
          <p:cNvSpPr>
            <a:spLocks noGrp="1"/>
          </p:cNvSpPr>
          <p:nvPr>
            <p:ph idx="1"/>
          </p:nvPr>
        </p:nvSpPr>
        <p:spPr/>
        <p:txBody>
          <a:bodyPr/>
          <a:lstStyle/>
          <a:p>
            <a:pPr lvl="0" indent="0" marL="0">
              <a:buNone/>
            </a:pPr>
            <a:r>
              <a:rPr/>
              <a:t>Recorded before estimation: the maps are read over the moderate-confounding region (simulated confounding strength up to 1), with the whole-grid pass reported as a conservative bound.</a:t>
            </a:r>
          </a:p>
          <a:p>
            <a:pPr lvl="0" indent="0" marL="0">
              <a:buNone/>
            </a:pPr>
            <a:r>
              <a:rPr/>
              <a:t>The harshest rung stresses every weighting-based estimand at once, including on the PASS-verdict primary cohort, so a whole-grid rule conflates support failure with confounding stress. The signature used instead: failure at the mildest surface means a support problem (C1’s ATE, coverage 0.87 before any simulated confounding); failure only under stress, hitting all unmatched estimands together, means stress (the primary cohort at strength 2, where the matched ATT holds 0.93 to 0.96).</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Candidate selection under stress (earlier single-contrast lock)</a:t>
            </a:r>
          </a:p>
        </p:txBody>
      </p:sp>
      <p:sp>
        <p:nvSpPr>
          <p:cNvPr id="3" name="Content Placeholder 2"/>
          <p:cNvSpPr>
            <a:spLocks noGrp="1"/>
          </p:cNvSpPr>
          <p:nvPr>
            <p:ph idx="1"/>
          </p:nvPr>
        </p:nvSpPr>
        <p:spPr/>
        <p:txBody>
          <a:bodyPr/>
          <a:lstStyle/>
          <a:p>
            <a:pPr lvl="0" indent="0" marL="0">
              <a:buNone/>
            </a:pPr>
            <a:r>
              <a:rPr/>
              <a:t>Four TMLE candidates varying propensity library and truncation tie on the clean baseline (RMSE within 0.0002), where the minimum-RMSE rule would lock </a:t>
            </a:r>
            <a:r>
              <a:rPr>
                <a:latin typeface="Courier"/>
              </a:rPr>
              <a:t>glm_t01</a:t>
            </a:r>
            <a:r>
              <a:rPr/>
              <a:t>. Under the five-threat sweep the worst-case RMSE ratios separate: 1.82, 1.73, 1.53, and 1.27 for </a:t>
            </a:r>
            <a:r>
              <a:rPr>
                <a:latin typeface="Courier"/>
              </a:rPr>
              <a:t>ensemble_t05</a:t>
            </a:r>
            <a:r>
              <a:rPr/>
              <a:t>.</a:t>
            </a:r>
          </a:p>
          <a:p>
            <a:pPr lvl="0" indent="0" marL="0">
              <a:buNone/>
            </a:pPr>
            <a:r>
              <a:rPr/>
              <a:t>The minimax rule locks </a:t>
            </a:r>
            <a:r>
              <a:rPr>
                <a:latin typeface="Courier"/>
              </a:rPr>
              <a:t>ensemble_t05</a:t>
            </a:r>
            <a:r>
              <a:rPr/>
              <a:t>. The candidate chosen for clean-data efficiency was the most exposed under prespecified stress. Reported at 50 replicates as a workflow illustration; 200 is the inferential bar.</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Effect estimates, exact rows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143000"/>
                <a:gridCol w="1524000"/>
                <a:gridCol w="635000"/>
                <a:gridCol w="889000"/>
                <a:gridCol w="1143000"/>
                <a:gridCol w="1143000"/>
                <a:gridCol w="762000"/>
                <a:gridCol w="1016000"/>
              </a:tblGrid>
              <a:tr h="0">
                <a:tc>
                  <a:txBody>
                    <a:bodyPr/>
                    <a:lstStyle/>
                    <a:p>
                      <a:pPr lvl="0" indent="0" marL="0" algn="l">
                        <a:buNone/>
                      </a:pPr>
                      <a:r>
                        <a:rPr/>
                        <a:t>Contrast</a:t>
                      </a:r>
                    </a:p>
                  </a:txBody>
                  <a:tcPr/>
                </a:tc>
                <a:tc>
                  <a:txBody>
                    <a:bodyPr/>
                    <a:lstStyle/>
                    <a:p>
                      <a:pPr lvl="0" indent="0" marL="0" algn="l">
                        <a:buNone/>
                      </a:pPr>
                      <a:r>
                        <a:rPr/>
                        <a:t>Estimand</a:t>
                      </a:r>
                    </a:p>
                  </a:txBody>
                  <a:tcPr/>
                </a:tc>
                <a:tc>
                  <a:txBody>
                    <a:bodyPr/>
                    <a:lstStyle/>
                    <a:p>
                      <a:pPr lvl="0" indent="0" marL="0" algn="r">
                        <a:buNone/>
                      </a:pPr>
                      <a:r>
                        <a:rPr/>
                        <a:t>N</a:t>
                      </a:r>
                    </a:p>
                  </a:txBody>
                  <a:tcPr/>
                </a:tc>
                <a:tc>
                  <a:txBody>
                    <a:bodyPr/>
                    <a:lstStyle/>
                    <a:p>
                      <a:pPr lvl="0" indent="0" marL="0" algn="l">
                        <a:buNone/>
                      </a:pPr>
                      <a:r>
                        <a:rPr/>
                        <a:t>RD</a:t>
                      </a:r>
                    </a:p>
                  </a:txBody>
                  <a:tcPr/>
                </a:tc>
                <a:tc>
                  <a:txBody>
                    <a:bodyPr/>
                    <a:lstStyle/>
                    <a:p>
                      <a:pPr lvl="0" indent="0" marL="0" algn="l">
                        <a:buNone/>
                      </a:pPr>
                      <a:r>
                        <a:rPr/>
                        <a:t>CI lower</a:t>
                      </a:r>
                    </a:p>
                  </a:txBody>
                  <a:tcPr/>
                </a:tc>
                <a:tc>
                  <a:txBody>
                    <a:bodyPr/>
                    <a:lstStyle/>
                    <a:p>
                      <a:pPr lvl="0" indent="0" marL="0" algn="l">
                        <a:buNone/>
                      </a:pPr>
                      <a:r>
                        <a:rPr/>
                        <a:t>CI upper</a:t>
                      </a:r>
                    </a:p>
                  </a:txBody>
                  <a:tcPr/>
                </a:tc>
                <a:tc>
                  <a:txBody>
                    <a:bodyPr/>
                    <a:lstStyle/>
                    <a:p>
                      <a:pPr lvl="0" indent="0" marL="0" algn="l">
                        <a:buNone/>
                      </a:pPr>
                      <a:r>
                        <a:rPr/>
                        <a:t>p</a:t>
                      </a:r>
                    </a:p>
                  </a:txBody>
                  <a:tcPr/>
                </a:tc>
                <a:tc>
                  <a:txBody>
                    <a:bodyPr/>
                    <a:lstStyle/>
                    <a:p>
                      <a:pPr lvl="0" indent="0" marL="0" algn="l">
                        <a:buNone/>
                      </a:pPr>
                      <a:r>
                        <a:rPr/>
                        <a:t>Support</a:t>
                      </a:r>
                    </a:p>
                  </a:txBody>
                  <a:tcPr/>
                </a:tc>
              </a:tr>
              <a:tr h="0">
                <a:tc>
                  <a:txBody>
                    <a:bodyPr/>
                    <a:lstStyle/>
                    <a:p>
                      <a:pPr lvl="0" indent="0" marL="0" algn="l">
                        <a:buNone/>
                      </a:pPr>
                      <a:r>
                        <a:rPr/>
                        <a:t>C1</a:t>
                      </a:r>
                    </a:p>
                  </a:txBody>
                </a:tc>
                <a:tc>
                  <a:txBody>
                    <a:bodyPr/>
                    <a:lstStyle/>
                    <a:p>
                      <a:pPr lvl="0" indent="0" marL="0" algn="l">
                        <a:buNone/>
                      </a:pPr>
                      <a:r>
                        <a:rPr/>
                        <a:t>ATE</a:t>
                      </a:r>
                    </a:p>
                  </a:txBody>
                </a:tc>
                <a:tc>
                  <a:txBody>
                    <a:bodyPr/>
                    <a:lstStyle/>
                    <a:p>
                      <a:pPr lvl="0" indent="0" marL="0" algn="r">
                        <a:buNone/>
                      </a:pPr>
                      <a:r>
                        <a:rPr/>
                        <a:t>8323</a:t>
                      </a:r>
                    </a:p>
                  </a:txBody>
                </a:tc>
                <a:tc>
                  <a:txBody>
                    <a:bodyPr/>
                    <a:lstStyle/>
                    <a:p>
                      <a:pPr lvl="0" indent="0" marL="0" algn="l">
                        <a:buNone/>
                      </a:pPr>
                      <a:r>
                        <a:rPr/>
                        <a:t>0.006</a:t>
                      </a:r>
                    </a:p>
                  </a:txBody>
                </a:tc>
                <a:tc>
                  <a:txBody>
                    <a:bodyPr/>
                    <a:lstStyle/>
                    <a:p>
                      <a:pPr lvl="0" indent="0" marL="0" algn="l">
                        <a:buNone/>
                      </a:pPr>
                      <a:r>
                        <a:rPr/>
                        <a:t>-0.017</a:t>
                      </a:r>
                    </a:p>
                  </a:txBody>
                </a:tc>
                <a:tc>
                  <a:txBody>
                    <a:bodyPr/>
                    <a:lstStyle/>
                    <a:p>
                      <a:pPr lvl="0" indent="0" marL="0" algn="l">
                        <a:buNone/>
                      </a:pPr>
                      <a:r>
                        <a:rPr/>
                        <a:t>0.028</a:t>
                      </a:r>
                    </a:p>
                  </a:txBody>
                </a:tc>
                <a:tc>
                  <a:txBody>
                    <a:bodyPr/>
                    <a:lstStyle/>
                    <a:p>
                      <a:pPr lvl="0" indent="0" marL="0" algn="l">
                        <a:buNone/>
                      </a:pPr>
                      <a:r>
                        <a:rPr/>
                        <a:t>0.633</a:t>
                      </a:r>
                    </a:p>
                  </a:txBody>
                </a:tc>
                <a:tc>
                  <a:txBody>
                    <a:bodyPr/>
                    <a:lstStyle/>
                    <a:p>
                      <a:pPr lvl="0" indent="0" marL="0" algn="l">
                        <a:buNone/>
                      </a:pPr>
                      <a:r>
                        <a:rPr/>
                        <a:t>SEVERE</a:t>
                      </a:r>
                    </a:p>
                  </a:txBody>
                </a:tc>
              </a:tr>
              <a:tr h="0">
                <a:tc>
                  <a:txBody>
                    <a:bodyPr/>
                    <a:lstStyle/>
                    <a:p>
                      <a:pPr lvl="0" indent="0" marL="0" algn="l">
                        <a:buNone/>
                      </a:pPr>
                      <a:r>
                        <a:rPr/>
                        <a:t>C1</a:t>
                      </a:r>
                    </a:p>
                  </a:txBody>
                </a:tc>
                <a:tc>
                  <a:txBody>
                    <a:bodyPr/>
                    <a:lstStyle/>
                    <a:p>
                      <a:pPr lvl="0" indent="0" marL="0" algn="l">
                        <a:buNone/>
                      </a:pPr>
                      <a:r>
                        <a:rPr/>
                        <a:t>trimmed_ATE</a:t>
                      </a:r>
                    </a:p>
                  </a:txBody>
                </a:tc>
                <a:tc>
                  <a:txBody>
                    <a:bodyPr/>
                    <a:lstStyle/>
                    <a:p>
                      <a:pPr lvl="0" indent="0" marL="0" algn="r">
                        <a:buNone/>
                      </a:pPr>
                      <a:r>
                        <a:rPr/>
                        <a:t>4946</a:t>
                      </a:r>
                    </a:p>
                  </a:txBody>
                </a:tc>
                <a:tc>
                  <a:txBody>
                    <a:bodyPr/>
                    <a:lstStyle/>
                    <a:p>
                      <a:pPr lvl="0" indent="0" marL="0" algn="l">
                        <a:buNone/>
                      </a:pPr>
                      <a:r>
                        <a:rPr/>
                        <a:t>0.006</a:t>
                      </a:r>
                    </a:p>
                  </a:txBody>
                </a:tc>
                <a:tc>
                  <a:txBody>
                    <a:bodyPr/>
                    <a:lstStyle/>
                    <a:p>
                      <a:pPr lvl="0" indent="0" marL="0" algn="l">
                        <a:buNone/>
                      </a:pPr>
                      <a:r>
                        <a:rPr/>
                        <a:t>-0.006</a:t>
                      </a:r>
                    </a:p>
                  </a:txBody>
                </a:tc>
                <a:tc>
                  <a:txBody>
                    <a:bodyPr/>
                    <a:lstStyle/>
                    <a:p>
                      <a:pPr lvl="0" indent="0" marL="0" algn="l">
                        <a:buNone/>
                      </a:pPr>
                      <a:r>
                        <a:rPr/>
                        <a:t>0.018</a:t>
                      </a:r>
                    </a:p>
                  </a:txBody>
                </a:tc>
                <a:tc>
                  <a:txBody>
                    <a:bodyPr/>
                    <a:lstStyle/>
                    <a:p>
                      <a:pPr lvl="0" indent="0" marL="0" algn="l">
                        <a:buNone/>
                      </a:pPr>
                      <a:r>
                        <a:rPr/>
                        <a:t>0.349</a:t>
                      </a:r>
                    </a:p>
                  </a:txBody>
                </a:tc>
                <a:tc>
                  <a:txBody>
                    <a:bodyPr/>
                    <a:lstStyle/>
                    <a:p>
                      <a:pPr lvl="0" indent="0" marL="0" algn="l">
                        <a:buNone/>
                      </a:pPr>
                      <a:r>
                        <a:rPr/>
                        <a:t>PASS</a:t>
                      </a:r>
                    </a:p>
                  </a:txBody>
                </a:tc>
              </a:tr>
              <a:tr h="0">
                <a:tc>
                  <a:txBody>
                    <a:bodyPr/>
                    <a:lstStyle/>
                    <a:p>
                      <a:pPr lvl="0" indent="0" marL="0" algn="l">
                        <a:buNone/>
                      </a:pPr>
                      <a:r>
                        <a:rPr/>
                        <a:t>C1</a:t>
                      </a:r>
                    </a:p>
                  </a:txBody>
                </a:tc>
                <a:tc>
                  <a:txBody>
                    <a:bodyPr/>
                    <a:lstStyle/>
                    <a:p>
                      <a:pPr lvl="0" indent="0" marL="0" algn="l">
                        <a:buNone/>
                      </a:pPr>
                      <a:r>
                        <a:rPr/>
                        <a:t>ATT</a:t>
                      </a:r>
                    </a:p>
                  </a:txBody>
                </a:tc>
                <a:tc>
                  <a:txBody>
                    <a:bodyPr/>
                    <a:lstStyle/>
                    <a:p>
                      <a:pPr lvl="0" indent="0" marL="0" algn="r">
                        <a:buNone/>
                      </a:pPr>
                      <a:r>
                        <a:rPr/>
                        <a:t>6557</a:t>
                      </a:r>
                    </a:p>
                  </a:txBody>
                </a:tc>
                <a:tc>
                  <a:txBody>
                    <a:bodyPr/>
                    <a:lstStyle/>
                    <a:p>
                      <a:pPr lvl="0" indent="0" marL="0" algn="l">
                        <a:buNone/>
                      </a:pPr>
                      <a:r>
                        <a:rPr/>
                        <a:t>-0.005</a:t>
                      </a:r>
                    </a:p>
                  </a:txBody>
                </a:tc>
                <a:tc>
                  <a:txBody>
                    <a:bodyPr/>
                    <a:lstStyle/>
                    <a:p>
                      <a:pPr lvl="0" indent="0" marL="0" algn="l">
                        <a:buNone/>
                      </a:pPr>
                      <a:r>
                        <a:rPr/>
                        <a:t>-0.018</a:t>
                      </a:r>
                    </a:p>
                  </a:txBody>
                </a:tc>
                <a:tc>
                  <a:txBody>
                    <a:bodyPr/>
                    <a:lstStyle/>
                    <a:p>
                      <a:pPr lvl="0" indent="0" marL="0" algn="l">
                        <a:buNone/>
                      </a:pPr>
                      <a:r>
                        <a:rPr/>
                        <a:t>0.008</a:t>
                      </a:r>
                    </a:p>
                  </a:txBody>
                </a:tc>
                <a:tc>
                  <a:txBody>
                    <a:bodyPr/>
                    <a:lstStyle/>
                    <a:p>
                      <a:pPr lvl="0" indent="0" marL="0" algn="l">
                        <a:buNone/>
                      </a:pPr>
                      <a:r>
                        <a:rPr/>
                        <a:t>0.434</a:t>
                      </a:r>
                    </a:p>
                  </a:txBody>
                </a:tc>
                <a:tc>
                  <a:txBody>
                    <a:bodyPr/>
                    <a:lstStyle/>
                    <a:p>
                      <a:pPr lvl="0" indent="0" marL="0" algn="l">
                        <a:buNone/>
                      </a:pPr>
                      <a:r>
                        <a:rPr/>
                        <a:t>PASS</a:t>
                      </a:r>
                    </a:p>
                  </a:txBody>
                </a:tc>
              </a:tr>
              <a:tr h="0">
                <a:tc>
                  <a:txBody>
                    <a:bodyPr/>
                    <a:lstStyle/>
                    <a:p>
                      <a:pPr lvl="0" indent="0" marL="0" algn="l">
                        <a:buNone/>
                      </a:pPr>
                      <a:r>
                        <a:rPr/>
                        <a:t>C1</a:t>
                      </a:r>
                    </a:p>
                  </a:txBody>
                </a:tc>
                <a:tc>
                  <a:txBody>
                    <a:bodyPr/>
                    <a:lstStyle/>
                    <a:p>
                      <a:pPr lvl="0" indent="0" marL="0" algn="l">
                        <a:buNone/>
                      </a:pPr>
                      <a:r>
                        <a:rPr/>
                        <a:t>ATO</a:t>
                      </a:r>
                    </a:p>
                  </a:txBody>
                </a:tc>
                <a:tc>
                  <a:txBody>
                    <a:bodyPr/>
                    <a:lstStyle/>
                    <a:p>
                      <a:pPr lvl="0" indent="0" marL="0" algn="r">
                        <a:buNone/>
                      </a:pPr>
                      <a:r>
                        <a:rPr/>
                        <a:t>6557</a:t>
                      </a:r>
                    </a:p>
                  </a:txBody>
                </a:tc>
                <a:tc>
                  <a:txBody>
                    <a:bodyPr/>
                    <a:lstStyle/>
                    <a:p>
                      <a:pPr lvl="0" indent="0" marL="0" algn="l">
                        <a:buNone/>
                      </a:pPr>
                      <a:r>
                        <a:rPr/>
                        <a:t>0.000</a:t>
                      </a:r>
                    </a:p>
                  </a:txBody>
                </a:tc>
                <a:tc>
                  <a:txBody>
                    <a:bodyPr/>
                    <a:lstStyle/>
                    <a:p>
                      <a:pPr lvl="0" indent="0" marL="0" algn="l">
                        <a:buNone/>
                      </a:pPr>
                      <a:r>
                        <a:rPr/>
                        <a:t>-0.011</a:t>
                      </a:r>
                    </a:p>
                  </a:txBody>
                </a:tc>
                <a:tc>
                  <a:txBody>
                    <a:bodyPr/>
                    <a:lstStyle/>
                    <a:p>
                      <a:pPr lvl="0" indent="0" marL="0" algn="l">
                        <a:buNone/>
                      </a:pPr>
                      <a:r>
                        <a:rPr/>
                        <a:t>0.012</a:t>
                      </a:r>
                    </a:p>
                  </a:txBody>
                </a:tc>
                <a:tc>
                  <a:txBody>
                    <a:bodyPr/>
                    <a:lstStyle/>
                    <a:p>
                      <a:pPr lvl="0" indent="0" marL="0" algn="l">
                        <a:buNone/>
                      </a:pPr>
                      <a:r>
                        <a:rPr/>
                        <a:t>0.945</a:t>
                      </a:r>
                    </a:p>
                  </a:txBody>
                </a:tc>
                <a:tc>
                  <a:txBody>
                    <a:bodyPr/>
                    <a:lstStyle/>
                    <a:p>
                      <a:pPr lvl="0" indent="0" marL="0" algn="l">
                        <a:buNone/>
                      </a:pPr>
                      <a:r>
                        <a:rPr/>
                        <a:t>PASS</a:t>
                      </a:r>
                    </a:p>
                  </a:txBody>
                </a:tc>
              </a:tr>
              <a:tr h="0">
                <a:tc>
                  <a:txBody>
                    <a:bodyPr/>
                    <a:lstStyle/>
                    <a:p>
                      <a:pPr lvl="0" indent="0" marL="0" algn="l">
                        <a:buNone/>
                      </a:pPr>
                      <a:r>
                        <a:rPr/>
                        <a:t>C2</a:t>
                      </a:r>
                    </a:p>
                  </a:txBody>
                </a:tc>
                <a:tc>
                  <a:txBody>
                    <a:bodyPr/>
                    <a:lstStyle/>
                    <a:p>
                      <a:pPr lvl="0" indent="0" marL="0" algn="l">
                        <a:buNone/>
                      </a:pPr>
                      <a:r>
                        <a:rPr/>
                        <a:t>trimmed_ATE</a:t>
                      </a:r>
                    </a:p>
                  </a:txBody>
                </a:tc>
                <a:tc>
                  <a:txBody>
                    <a:bodyPr/>
                    <a:lstStyle/>
                    <a:p>
                      <a:pPr lvl="0" indent="0" marL="0" algn="r">
                        <a:buNone/>
                      </a:pPr>
                      <a:r>
                        <a:rPr/>
                        <a:t>4327</a:t>
                      </a:r>
                    </a:p>
                  </a:txBody>
                </a:tc>
                <a:tc>
                  <a:txBody>
                    <a:bodyPr/>
                    <a:lstStyle/>
                    <a:p>
                      <a:pPr lvl="0" indent="0" marL="0" algn="l">
                        <a:buNone/>
                      </a:pPr>
                      <a:r>
                        <a:rPr/>
                        <a:t>0.003</a:t>
                      </a:r>
                    </a:p>
                  </a:txBody>
                </a:tc>
                <a:tc>
                  <a:txBody>
                    <a:bodyPr/>
                    <a:lstStyle/>
                    <a:p>
                      <a:pPr lvl="0" indent="0" marL="0" algn="l">
                        <a:buNone/>
                      </a:pPr>
                      <a:r>
                        <a:rPr/>
                        <a:t>-0.008</a:t>
                      </a:r>
                    </a:p>
                  </a:txBody>
                </a:tc>
                <a:tc>
                  <a:txBody>
                    <a:bodyPr/>
                    <a:lstStyle/>
                    <a:p>
                      <a:pPr lvl="0" indent="0" marL="0" algn="l">
                        <a:buNone/>
                      </a:pPr>
                      <a:r>
                        <a:rPr/>
                        <a:t>0.014</a:t>
                      </a:r>
                    </a:p>
                  </a:txBody>
                </a:tc>
                <a:tc>
                  <a:txBody>
                    <a:bodyPr/>
                    <a:lstStyle/>
                    <a:p>
                      <a:pPr lvl="0" indent="0" marL="0" algn="l">
                        <a:buNone/>
                      </a:pPr>
                      <a:r>
                        <a:rPr/>
                        <a:t>0.570</a:t>
                      </a:r>
                    </a:p>
                  </a:txBody>
                </a:tc>
                <a:tc>
                  <a:txBody>
                    <a:bodyPr/>
                    <a:lstStyle/>
                    <a:p>
                      <a:pPr lvl="0" indent="0" marL="0" algn="l">
                        <a:buNone/>
                      </a:pPr>
                      <a:r>
                        <a:rPr/>
                        <a:t>PASS</a:t>
                      </a:r>
                    </a:p>
                  </a:txBody>
                </a:tc>
              </a:tr>
              <a:tr h="0">
                <a:tc>
                  <a:txBody>
                    <a:bodyPr/>
                    <a:lstStyle/>
                    <a:p>
                      <a:pPr lvl="0" indent="0" marL="0" algn="l">
                        <a:buNone/>
                      </a:pPr>
                      <a:r>
                        <a:rPr/>
                        <a:t>C2</a:t>
                      </a:r>
                    </a:p>
                  </a:txBody>
                </a:tc>
                <a:tc>
                  <a:txBody>
                    <a:bodyPr/>
                    <a:lstStyle/>
                    <a:p>
                      <a:pPr lvl="0" indent="0" marL="0" algn="l">
                        <a:buNone/>
                      </a:pPr>
                      <a:r>
                        <a:rPr/>
                        <a:t>ATT</a:t>
                      </a:r>
                    </a:p>
                  </a:txBody>
                </a:tc>
                <a:tc>
                  <a:txBody>
                    <a:bodyPr/>
                    <a:lstStyle/>
                    <a:p>
                      <a:pPr lvl="0" indent="0" marL="0" algn="r">
                        <a:buNone/>
                      </a:pPr>
                      <a:r>
                        <a:rPr/>
                        <a:t>5632</a:t>
                      </a:r>
                    </a:p>
                  </a:txBody>
                </a:tc>
                <a:tc>
                  <a:txBody>
                    <a:bodyPr/>
                    <a:lstStyle/>
                    <a:p>
                      <a:pPr lvl="0" indent="0" marL="0" algn="l">
                        <a:buNone/>
                      </a:pPr>
                      <a:r>
                        <a:rPr/>
                        <a:t>0.001</a:t>
                      </a:r>
                    </a:p>
                  </a:txBody>
                </a:tc>
                <a:tc>
                  <a:txBody>
                    <a:bodyPr/>
                    <a:lstStyle/>
                    <a:p>
                      <a:pPr lvl="0" indent="0" marL="0" algn="l">
                        <a:buNone/>
                      </a:pPr>
                      <a:r>
                        <a:rPr/>
                        <a:t>-0.014</a:t>
                      </a:r>
                    </a:p>
                  </a:txBody>
                </a:tc>
                <a:tc>
                  <a:txBody>
                    <a:bodyPr/>
                    <a:lstStyle/>
                    <a:p>
                      <a:pPr lvl="0" indent="0" marL="0" algn="l">
                        <a:buNone/>
                      </a:pPr>
                      <a:r>
                        <a:rPr/>
                        <a:t>0.016</a:t>
                      </a:r>
                    </a:p>
                  </a:txBody>
                </a:tc>
                <a:tc>
                  <a:txBody>
                    <a:bodyPr/>
                    <a:lstStyle/>
                    <a:p>
                      <a:pPr lvl="0" indent="0" marL="0" algn="l">
                        <a:buNone/>
                      </a:pPr>
                      <a:r>
                        <a:rPr/>
                        <a:t>0.918</a:t>
                      </a:r>
                    </a:p>
                  </a:txBody>
                </a:tc>
                <a:tc>
                  <a:txBody>
                    <a:bodyPr/>
                    <a:lstStyle/>
                    <a:p>
                      <a:pPr lvl="0" indent="0" marL="0" algn="l">
                        <a:buNone/>
                      </a:pPr>
                      <a:r>
                        <a:rPr/>
                        <a:t>PASS</a:t>
                      </a:r>
                    </a:p>
                  </a:txBody>
                </a:tc>
              </a:tr>
              <a:tr h="0">
                <a:tc>
                  <a:txBody>
                    <a:bodyPr/>
                    <a:lstStyle/>
                    <a:p>
                      <a:pPr lvl="0" indent="0" marL="0" algn="l">
                        <a:buNone/>
                      </a:pPr>
                      <a:r>
                        <a:rPr/>
                        <a:t>C2</a:t>
                      </a:r>
                    </a:p>
                  </a:txBody>
                </a:tc>
                <a:tc>
                  <a:txBody>
                    <a:bodyPr/>
                    <a:lstStyle/>
                    <a:p>
                      <a:pPr lvl="0" indent="0" marL="0" algn="l">
                        <a:buNone/>
                      </a:pPr>
                      <a:r>
                        <a:rPr/>
                        <a:t>ATO</a:t>
                      </a:r>
                    </a:p>
                  </a:txBody>
                </a:tc>
                <a:tc>
                  <a:txBody>
                    <a:bodyPr/>
                    <a:lstStyle/>
                    <a:p>
                      <a:pPr lvl="0" indent="0" marL="0" algn="r">
                        <a:buNone/>
                      </a:pPr>
                      <a:r>
                        <a:rPr/>
                        <a:t>5632</a:t>
                      </a:r>
                    </a:p>
                  </a:txBody>
                </a:tc>
                <a:tc>
                  <a:txBody>
                    <a:bodyPr/>
                    <a:lstStyle/>
                    <a:p>
                      <a:pPr lvl="0" indent="0" marL="0" algn="l">
                        <a:buNone/>
                      </a:pPr>
                      <a:r>
                        <a:rPr/>
                        <a:t>0.005</a:t>
                      </a:r>
                    </a:p>
                  </a:txBody>
                </a:tc>
                <a:tc>
                  <a:txBody>
                    <a:bodyPr/>
                    <a:lstStyle/>
                    <a:p>
                      <a:pPr lvl="0" indent="0" marL="0" algn="l">
                        <a:buNone/>
                      </a:pPr>
                      <a:r>
                        <a:rPr/>
                        <a:t>-0.006</a:t>
                      </a:r>
                    </a:p>
                  </a:txBody>
                </a:tc>
                <a:tc>
                  <a:txBody>
                    <a:bodyPr/>
                    <a:lstStyle/>
                    <a:p>
                      <a:pPr lvl="0" indent="0" marL="0" algn="l">
                        <a:buNone/>
                      </a:pPr>
                      <a:r>
                        <a:rPr/>
                        <a:t>0.016</a:t>
                      </a:r>
                    </a:p>
                  </a:txBody>
                </a:tc>
                <a:tc>
                  <a:txBody>
                    <a:bodyPr/>
                    <a:lstStyle/>
                    <a:p>
                      <a:pPr lvl="0" indent="0" marL="0" algn="l">
                        <a:buNone/>
                      </a:pPr>
                      <a:r>
                        <a:rPr/>
                        <a:t>0.376</a:t>
                      </a:r>
                    </a:p>
                  </a:txBody>
                </a:tc>
                <a:tc>
                  <a:txBody>
                    <a:bodyPr/>
                    <a:lstStyle/>
                    <a:p>
                      <a:pPr lvl="0" indent="0" marL="0" algn="l">
                        <a:buNone/>
                      </a:pPr>
                      <a:r>
                        <a:rPr/>
                        <a:t>PASS</a:t>
                      </a:r>
                    </a:p>
                  </a:txBody>
                </a:tc>
              </a:tr>
              <a:tr h="0">
                <a:tc>
                  <a:txBody>
                    <a:bodyPr/>
                    <a:lstStyle/>
                    <a:p>
                      <a:pPr lvl="0" indent="0" marL="0" algn="l">
                        <a:buNone/>
                      </a:pPr>
                      <a:r>
                        <a:rPr/>
                        <a:t>C3</a:t>
                      </a:r>
                    </a:p>
                  </a:txBody>
                </a:tc>
                <a:tc>
                  <a:txBody>
                    <a:bodyPr/>
                    <a:lstStyle/>
                    <a:p>
                      <a:pPr lvl="0" indent="0" marL="0" algn="l">
                        <a:buNone/>
                      </a:pPr>
                      <a:r>
                        <a:rPr/>
                        <a:t>ATE</a:t>
                      </a:r>
                    </a:p>
                  </a:txBody>
                </a:tc>
                <a:tc>
                  <a:txBody>
                    <a:bodyPr/>
                    <a:lstStyle/>
                    <a:p>
                      <a:pPr lvl="0" indent="0" marL="0" algn="r">
                        <a:buNone/>
                      </a:pPr>
                      <a:r>
                        <a:rPr/>
                        <a:t>8323</a:t>
                      </a:r>
                    </a:p>
                  </a:txBody>
                </a:tc>
                <a:tc>
                  <a:txBody>
                    <a:bodyPr/>
                    <a:lstStyle/>
                    <a:p>
                      <a:pPr lvl="0" indent="0" marL="0" algn="l">
                        <a:buNone/>
                      </a:pPr>
                      <a:r>
                        <a:rPr/>
                        <a:t>0.018</a:t>
                      </a:r>
                    </a:p>
                  </a:txBody>
                </a:tc>
                <a:tc>
                  <a:txBody>
                    <a:bodyPr/>
                    <a:lstStyle/>
                    <a:p>
                      <a:pPr lvl="0" indent="0" marL="0" algn="l">
                        <a:buNone/>
                      </a:pPr>
                      <a:r>
                        <a:rPr/>
                        <a:t>0.008</a:t>
                      </a:r>
                    </a:p>
                  </a:txBody>
                </a:tc>
                <a:tc>
                  <a:txBody>
                    <a:bodyPr/>
                    <a:lstStyle/>
                    <a:p>
                      <a:pPr lvl="0" indent="0" marL="0" algn="l">
                        <a:buNone/>
                      </a:pPr>
                      <a:r>
                        <a:rPr/>
                        <a:t>0.028</a:t>
                      </a:r>
                    </a:p>
                  </a:txBody>
                </a:tc>
                <a:tc>
                  <a:txBody>
                    <a:bodyPr/>
                    <a:lstStyle/>
                    <a:p>
                      <a:pPr lvl="0" indent="0" marL="0" algn="l">
                        <a:buNone/>
                      </a:pPr>
                      <a:r>
                        <a:rPr/>
                        <a:t>0.000</a:t>
                      </a:r>
                    </a:p>
                  </a:txBody>
                </a:tc>
                <a:tc>
                  <a:txBody>
                    <a:bodyPr/>
                    <a:lstStyle/>
                    <a:p>
                      <a:pPr lvl="0" indent="0" marL="0" algn="l">
                        <a:buNone/>
                      </a:pPr>
                      <a:r>
                        <a:rPr/>
                        <a:t>FLAG</a:t>
                      </a:r>
                    </a:p>
                  </a:txBody>
                </a:tc>
              </a:tr>
              <a:tr h="0">
                <a:tc>
                  <a:txBody>
                    <a:bodyPr/>
                    <a:lstStyle/>
                    <a:p>
                      <a:pPr lvl="0" indent="0" marL="0" algn="l">
                        <a:buNone/>
                      </a:pPr>
                      <a:r>
                        <a:rPr/>
                        <a:t>C3</a:t>
                      </a:r>
                    </a:p>
                  </a:txBody>
                </a:tc>
                <a:tc>
                  <a:txBody>
                    <a:bodyPr/>
                    <a:lstStyle/>
                    <a:p>
                      <a:pPr lvl="0" indent="0" marL="0" algn="l">
                        <a:buNone/>
                      </a:pPr>
                      <a:r>
                        <a:rPr/>
                        <a:t>trimmed_ATE</a:t>
                      </a:r>
                    </a:p>
                  </a:txBody>
                </a:tc>
                <a:tc>
                  <a:txBody>
                    <a:bodyPr/>
                    <a:lstStyle/>
                    <a:p>
                      <a:pPr lvl="0" indent="0" marL="0" algn="r">
                        <a:buNone/>
                      </a:pPr>
                      <a:r>
                        <a:rPr/>
                        <a:t>8009</a:t>
                      </a:r>
                    </a:p>
                  </a:txBody>
                </a:tc>
                <a:tc>
                  <a:txBody>
                    <a:bodyPr/>
                    <a:lstStyle/>
                    <a:p>
                      <a:pPr lvl="0" indent="0" marL="0" algn="l">
                        <a:buNone/>
                      </a:pPr>
                      <a:r>
                        <a:rPr/>
                        <a:t>0.019</a:t>
                      </a:r>
                    </a:p>
                  </a:txBody>
                </a:tc>
                <a:tc>
                  <a:txBody>
                    <a:bodyPr/>
                    <a:lstStyle/>
                    <a:p>
                      <a:pPr lvl="0" indent="0" marL="0" algn="l">
                        <a:buNone/>
                      </a:pPr>
                      <a:r>
                        <a:rPr/>
                        <a:t>0.008</a:t>
                      </a:r>
                    </a:p>
                  </a:txBody>
                </a:tc>
                <a:tc>
                  <a:txBody>
                    <a:bodyPr/>
                    <a:lstStyle/>
                    <a:p>
                      <a:pPr lvl="0" indent="0" marL="0" algn="l">
                        <a:buNone/>
                      </a:pPr>
                      <a:r>
                        <a:rPr/>
                        <a:t>0.029</a:t>
                      </a:r>
                    </a:p>
                  </a:txBody>
                </a:tc>
                <a:tc>
                  <a:txBody>
                    <a:bodyPr/>
                    <a:lstStyle/>
                    <a:p>
                      <a:pPr lvl="0" indent="0" marL="0" algn="l">
                        <a:buNone/>
                      </a:pPr>
                      <a:r>
                        <a:rPr/>
                        <a:t>0.000</a:t>
                      </a:r>
                    </a:p>
                  </a:txBody>
                </a:tc>
                <a:tc>
                  <a:txBody>
                    <a:bodyPr/>
                    <a:lstStyle/>
                    <a:p>
                      <a:pPr lvl="0" indent="0" marL="0" algn="l">
                        <a:buNone/>
                      </a:pPr>
                      <a:r>
                        <a:rPr/>
                        <a:t>PASS</a:t>
                      </a:r>
                    </a:p>
                  </a:txBody>
                </a:tc>
              </a:tr>
              <a:tr h="0">
                <a:tc>
                  <a:txBody>
                    <a:bodyPr/>
                    <a:lstStyle/>
                    <a:p>
                      <a:pPr lvl="0" indent="0" marL="0" algn="l">
                        <a:buNone/>
                      </a:pPr>
                      <a:r>
                        <a:rPr/>
                        <a:t>C3</a:t>
                      </a:r>
                    </a:p>
                  </a:txBody>
                </a:tc>
                <a:tc>
                  <a:txBody>
                    <a:bodyPr/>
                    <a:lstStyle/>
                    <a:p>
                      <a:pPr lvl="0" indent="0" marL="0" algn="l">
                        <a:buNone/>
                      </a:pPr>
                      <a:r>
                        <a:rPr/>
                        <a:t>ATT</a:t>
                      </a:r>
                    </a:p>
                  </a:txBody>
                </a:tc>
                <a:tc>
                  <a:txBody>
                    <a:bodyPr/>
                    <a:lstStyle/>
                    <a:p>
                      <a:pPr lvl="0" indent="0" marL="0" algn="r">
                        <a:buNone/>
                      </a:pPr>
                      <a:r>
                        <a:rPr/>
                        <a:t>6557</a:t>
                      </a:r>
                    </a:p>
                  </a:txBody>
                </a:tc>
                <a:tc>
                  <a:txBody>
                    <a:bodyPr/>
                    <a:lstStyle/>
                    <a:p>
                      <a:pPr lvl="0" indent="0" marL="0" algn="l">
                        <a:buNone/>
                      </a:pPr>
                      <a:r>
                        <a:rPr/>
                        <a:t>0.019</a:t>
                      </a:r>
                    </a:p>
                  </a:txBody>
                </a:tc>
                <a:tc>
                  <a:txBody>
                    <a:bodyPr/>
                    <a:lstStyle/>
                    <a:p>
                      <a:pPr lvl="0" indent="0" marL="0" algn="l">
                        <a:buNone/>
                      </a:pPr>
                      <a:r>
                        <a:rPr/>
                        <a:t>0.006</a:t>
                      </a:r>
                    </a:p>
                  </a:txBody>
                </a:tc>
                <a:tc>
                  <a:txBody>
                    <a:bodyPr/>
                    <a:lstStyle/>
                    <a:p>
                      <a:pPr lvl="0" indent="0" marL="0" algn="l">
                        <a:buNone/>
                      </a:pPr>
                      <a:r>
                        <a:rPr/>
                        <a:t>0.033</a:t>
                      </a:r>
                    </a:p>
                  </a:txBody>
                </a:tc>
                <a:tc>
                  <a:txBody>
                    <a:bodyPr/>
                    <a:lstStyle/>
                    <a:p>
                      <a:pPr lvl="0" indent="0" marL="0" algn="l">
                        <a:buNone/>
                      </a:pPr>
                      <a:r>
                        <a:rPr/>
                        <a:t>0.005</a:t>
                      </a:r>
                    </a:p>
                  </a:txBody>
                </a:tc>
                <a:tc>
                  <a:txBody>
                    <a:bodyPr/>
                    <a:lstStyle/>
                    <a:p>
                      <a:pPr lvl="0" indent="0" marL="0" algn="l">
                        <a:buNone/>
                      </a:pPr>
                      <a:r>
                        <a:rPr/>
                        <a:t>PASS</a:t>
                      </a:r>
                    </a:p>
                  </a:txBody>
                </a:tc>
              </a:tr>
              <a:tr h="0">
                <a:tc>
                  <a:txBody>
                    <a:bodyPr/>
                    <a:lstStyle/>
                    <a:p>
                      <a:pPr lvl="0" indent="0" marL="0" algn="l">
                        <a:buNone/>
                      </a:pPr>
                      <a:r>
                        <a:rPr/>
                        <a:t>C3</a:t>
                      </a:r>
                    </a:p>
                  </a:txBody>
                </a:tc>
                <a:tc>
                  <a:txBody>
                    <a:bodyPr/>
                    <a:lstStyle/>
                    <a:p>
                      <a:pPr lvl="0" indent="0" marL="0" algn="l">
                        <a:buNone/>
                      </a:pPr>
                      <a:r>
                        <a:rPr/>
                        <a:t>ATO</a:t>
                      </a:r>
                    </a:p>
                  </a:txBody>
                </a:tc>
                <a:tc>
                  <a:txBody>
                    <a:bodyPr/>
                    <a:lstStyle/>
                    <a:p>
                      <a:pPr lvl="0" indent="0" marL="0" algn="r">
                        <a:buNone/>
                      </a:pPr>
                      <a:r>
                        <a:rPr/>
                        <a:t>6557</a:t>
                      </a:r>
                    </a:p>
                  </a:txBody>
                </a:tc>
                <a:tc>
                  <a:txBody>
                    <a:bodyPr/>
                    <a:lstStyle/>
                    <a:p>
                      <a:pPr lvl="0" indent="0" marL="0" algn="l">
                        <a:buNone/>
                      </a:pPr>
                      <a:r>
                        <a:rPr/>
                        <a:t>0.017</a:t>
                      </a:r>
                    </a:p>
                  </a:txBody>
                </a:tc>
                <a:tc>
                  <a:txBody>
                    <a:bodyPr/>
                    <a:lstStyle/>
                    <a:p>
                      <a:pPr lvl="0" indent="0" marL="0" algn="l">
                        <a:buNone/>
                      </a:pPr>
                      <a:r>
                        <a:rPr/>
                        <a:t>0.007</a:t>
                      </a:r>
                    </a:p>
                  </a:txBody>
                </a:tc>
                <a:tc>
                  <a:txBody>
                    <a:bodyPr/>
                    <a:lstStyle/>
                    <a:p>
                      <a:pPr lvl="0" indent="0" marL="0" algn="l">
                        <a:buNone/>
                      </a:pPr>
                      <a:r>
                        <a:rPr/>
                        <a:t>0.026</a:t>
                      </a:r>
                    </a:p>
                  </a:txBody>
                </a:tc>
                <a:tc>
                  <a:txBody>
                    <a:bodyPr/>
                    <a:lstStyle/>
                    <a:p>
                      <a:pPr lvl="0" indent="0" marL="0" algn="l">
                        <a:buNone/>
                      </a:pPr>
                      <a:r>
                        <a:rPr/>
                        <a:t>0.000</a:t>
                      </a:r>
                    </a:p>
                  </a:txBody>
                </a:tc>
                <a:tc>
                  <a:txBody>
                    <a:bodyPr/>
                    <a:lstStyle/>
                    <a:p>
                      <a:pPr lvl="0" indent="0" marL="0" algn="l">
                        <a:buNone/>
                      </a:pPr>
                      <a:r>
                        <a:rPr/>
                        <a:t>PASS</a:t>
                      </a:r>
                    </a:p>
                  </a:txBody>
                </a:tc>
              </a:tr>
              <a:tr h="0">
                <a:tc>
                  <a:txBody>
                    <a:bodyPr/>
                    <a:lstStyle/>
                    <a:p>
                      <a:pPr lvl="0" indent="0" marL="0" algn="l">
                        <a:buNone/>
                      </a:pPr>
                      <a:r>
                        <a:rPr/>
                        <a:t>C4</a:t>
                      </a:r>
                    </a:p>
                  </a:txBody>
                </a:tc>
                <a:tc>
                  <a:txBody>
                    <a:bodyPr/>
                    <a:lstStyle/>
                    <a:p>
                      <a:pPr lvl="0" indent="0" marL="0" algn="l">
                        <a:buNone/>
                      </a:pPr>
                      <a:r>
                        <a:rPr/>
                        <a:t>ATE</a:t>
                      </a:r>
                    </a:p>
                  </a:txBody>
                </a:tc>
                <a:tc>
                  <a:txBody>
                    <a:bodyPr/>
                    <a:lstStyle/>
                    <a:p>
                      <a:pPr lvl="0" indent="0" marL="0" algn="r">
                        <a:buNone/>
                      </a:pPr>
                      <a:r>
                        <a:rPr/>
                        <a:t>2197</a:t>
                      </a:r>
                    </a:p>
                  </a:txBody>
                </a:tc>
                <a:tc>
                  <a:txBody>
                    <a:bodyPr/>
                    <a:lstStyle/>
                    <a:p>
                      <a:pPr lvl="0" indent="0" marL="0" algn="l">
                        <a:buNone/>
                      </a:pPr>
                      <a:r>
                        <a:rPr/>
                        <a:t>-0.029</a:t>
                      </a:r>
                    </a:p>
                  </a:txBody>
                </a:tc>
                <a:tc>
                  <a:txBody>
                    <a:bodyPr/>
                    <a:lstStyle/>
                    <a:p>
                      <a:pPr lvl="0" indent="0" marL="0" algn="l">
                        <a:buNone/>
                      </a:pPr>
                      <a:r>
                        <a:rPr/>
                        <a:t>-0.049</a:t>
                      </a:r>
                    </a:p>
                  </a:txBody>
                </a:tc>
                <a:tc>
                  <a:txBody>
                    <a:bodyPr/>
                    <a:lstStyle/>
                    <a:p>
                      <a:pPr lvl="0" indent="0" marL="0" algn="l">
                        <a:buNone/>
                      </a:pPr>
                      <a:r>
                        <a:rPr/>
                        <a:t>-0.009</a:t>
                      </a:r>
                    </a:p>
                  </a:txBody>
                </a:tc>
                <a:tc>
                  <a:txBody>
                    <a:bodyPr/>
                    <a:lstStyle/>
                    <a:p>
                      <a:pPr lvl="0" indent="0" marL="0" algn="l">
                        <a:buNone/>
                      </a:pPr>
                      <a:r>
                        <a:rPr/>
                        <a:t>0.004</a:t>
                      </a:r>
                    </a:p>
                  </a:txBody>
                </a:tc>
                <a:tc>
                  <a:txBody>
                    <a:bodyPr/>
                    <a:lstStyle/>
                    <a:p>
                      <a:pPr lvl="0" indent="0" marL="0" algn="l">
                        <a:buNone/>
                      </a:pPr>
                      <a:r>
                        <a:rPr/>
                        <a:t>FLAG</a:t>
                      </a:r>
                    </a:p>
                  </a:txBody>
                </a:tc>
              </a:tr>
              <a:tr h="0">
                <a:tc>
                  <a:txBody>
                    <a:bodyPr/>
                    <a:lstStyle/>
                    <a:p>
                      <a:pPr lvl="0" indent="0" marL="0" algn="l">
                        <a:buNone/>
                      </a:pPr>
                      <a:r>
                        <a:rPr/>
                        <a:t>C4</a:t>
                      </a:r>
                    </a:p>
                  </a:txBody>
                </a:tc>
                <a:tc>
                  <a:txBody>
                    <a:bodyPr/>
                    <a:lstStyle/>
                    <a:p>
                      <a:pPr lvl="0" indent="0" marL="0" algn="l">
                        <a:buNone/>
                      </a:pPr>
                      <a:r>
                        <a:rPr/>
                        <a:t>trimmed_ATE</a:t>
                      </a:r>
                    </a:p>
                  </a:txBody>
                </a:tc>
                <a:tc>
                  <a:txBody>
                    <a:bodyPr/>
                    <a:lstStyle/>
                    <a:p>
                      <a:pPr lvl="0" indent="0" marL="0" algn="r">
                        <a:buNone/>
                      </a:pPr>
                      <a:r>
                        <a:rPr/>
                        <a:t>2098</a:t>
                      </a:r>
                    </a:p>
                  </a:txBody>
                </a:tc>
                <a:tc>
                  <a:txBody>
                    <a:bodyPr/>
                    <a:lstStyle/>
                    <a:p>
                      <a:pPr lvl="0" indent="0" marL="0" algn="l">
                        <a:buNone/>
                      </a:pPr>
                      <a:r>
                        <a:rPr/>
                        <a:t>-0.021</a:t>
                      </a:r>
                    </a:p>
                  </a:txBody>
                </a:tc>
                <a:tc>
                  <a:txBody>
                    <a:bodyPr/>
                    <a:lstStyle/>
                    <a:p>
                      <a:pPr lvl="0" indent="0" marL="0" algn="l">
                        <a:buNone/>
                      </a:pPr>
                      <a:r>
                        <a:rPr/>
                        <a:t>-0.040</a:t>
                      </a:r>
                    </a:p>
                  </a:txBody>
                </a:tc>
                <a:tc>
                  <a:txBody>
                    <a:bodyPr/>
                    <a:lstStyle/>
                    <a:p>
                      <a:pPr lvl="0" indent="0" marL="0" algn="l">
                        <a:buNone/>
                      </a:pPr>
                      <a:r>
                        <a:rPr/>
                        <a:t>-0.002</a:t>
                      </a:r>
                    </a:p>
                  </a:txBody>
                </a:tc>
                <a:tc>
                  <a:txBody>
                    <a:bodyPr/>
                    <a:lstStyle/>
                    <a:p>
                      <a:pPr lvl="0" indent="0" marL="0" algn="l">
                        <a:buNone/>
                      </a:pPr>
                      <a:r>
                        <a:rPr/>
                        <a:t>0.031</a:t>
                      </a:r>
                    </a:p>
                  </a:txBody>
                </a:tc>
                <a:tc>
                  <a:txBody>
                    <a:bodyPr/>
                    <a:lstStyle/>
                    <a:p>
                      <a:pPr lvl="0" indent="0" marL="0" algn="l">
                        <a:buNone/>
                      </a:pPr>
                      <a:r>
                        <a:rPr/>
                        <a:t>PASS</a:t>
                      </a:r>
                    </a:p>
                  </a:txBody>
                </a:tc>
              </a:tr>
              <a:tr h="0">
                <a:tc>
                  <a:txBody>
                    <a:bodyPr/>
                    <a:lstStyle/>
                    <a:p>
                      <a:pPr lvl="0" indent="0" marL="0" algn="l">
                        <a:buNone/>
                      </a:pPr>
                      <a:r>
                        <a:rPr/>
                        <a:t>C4</a:t>
                      </a:r>
                    </a:p>
                  </a:txBody>
                </a:tc>
                <a:tc>
                  <a:txBody>
                    <a:bodyPr/>
                    <a:lstStyle/>
                    <a:p>
                      <a:pPr lvl="0" indent="0" marL="0" algn="l">
                        <a:buNone/>
                      </a:pPr>
                      <a:r>
                        <a:rPr/>
                        <a:t>ATT</a:t>
                      </a:r>
                    </a:p>
                  </a:txBody>
                </a:tc>
                <a:tc>
                  <a:txBody>
                    <a:bodyPr/>
                    <a:lstStyle/>
                    <a:p>
                      <a:pPr lvl="0" indent="0" marL="0" algn="r">
                        <a:buNone/>
                      </a:pPr>
                      <a:r>
                        <a:rPr/>
                        <a:t>1704</a:t>
                      </a:r>
                    </a:p>
                  </a:txBody>
                </a:tc>
                <a:tc>
                  <a:txBody>
                    <a:bodyPr/>
                    <a:lstStyle/>
                    <a:p>
                      <a:pPr lvl="0" indent="0" marL="0" algn="l">
                        <a:buNone/>
                      </a:pPr>
                      <a:r>
                        <a:rPr/>
                        <a:t>-0.019</a:t>
                      </a:r>
                    </a:p>
                  </a:txBody>
                </a:tc>
                <a:tc>
                  <a:txBody>
                    <a:bodyPr/>
                    <a:lstStyle/>
                    <a:p>
                      <a:pPr lvl="0" indent="0" marL="0" algn="l">
                        <a:buNone/>
                      </a:pPr>
                      <a:r>
                        <a:rPr/>
                        <a:t>-0.036</a:t>
                      </a:r>
                    </a:p>
                  </a:txBody>
                </a:tc>
                <a:tc>
                  <a:txBody>
                    <a:bodyPr/>
                    <a:lstStyle/>
                    <a:p>
                      <a:pPr lvl="0" indent="0" marL="0" algn="l">
                        <a:buNone/>
                      </a:pPr>
                      <a:r>
                        <a:rPr/>
                        <a:t>-0.002</a:t>
                      </a:r>
                    </a:p>
                  </a:txBody>
                </a:tc>
                <a:tc>
                  <a:txBody>
                    <a:bodyPr/>
                    <a:lstStyle/>
                    <a:p>
                      <a:pPr lvl="0" indent="0" marL="0" algn="l">
                        <a:buNone/>
                      </a:pPr>
                      <a:r>
                        <a:rPr/>
                        <a:t>0.033</a:t>
                      </a:r>
                    </a:p>
                  </a:txBody>
                </a:tc>
                <a:tc>
                  <a:txBody>
                    <a:bodyPr/>
                    <a:lstStyle/>
                    <a:p>
                      <a:pPr lvl="0" indent="0" marL="0" algn="l">
                        <a:buNone/>
                      </a:pPr>
                      <a:r>
                        <a:rPr/>
                        <a:t>PASS</a:t>
                      </a:r>
                    </a:p>
                  </a:txBody>
                </a:tc>
              </a:tr>
              <a:tr h="0">
                <a:tc>
                  <a:txBody>
                    <a:bodyPr/>
                    <a:lstStyle/>
                    <a:p>
                      <a:pPr lvl="0" indent="0" marL="0" algn="l">
                        <a:buNone/>
                      </a:pPr>
                      <a:r>
                        <a:rPr/>
                        <a:t>C4</a:t>
                      </a:r>
                    </a:p>
                  </a:txBody>
                </a:tc>
                <a:tc>
                  <a:txBody>
                    <a:bodyPr/>
                    <a:lstStyle/>
                    <a:p>
                      <a:pPr lvl="0" indent="0" marL="0" algn="l">
                        <a:buNone/>
                      </a:pPr>
                      <a:r>
                        <a:rPr/>
                        <a:t>ATO</a:t>
                      </a:r>
                    </a:p>
                  </a:txBody>
                </a:tc>
                <a:tc>
                  <a:txBody>
                    <a:bodyPr/>
                    <a:lstStyle/>
                    <a:p>
                      <a:pPr lvl="0" indent="0" marL="0" algn="r">
                        <a:buNone/>
                      </a:pPr>
                      <a:r>
                        <a:rPr/>
                        <a:t>1704</a:t>
                      </a:r>
                    </a:p>
                  </a:txBody>
                </a:tc>
                <a:tc>
                  <a:txBody>
                    <a:bodyPr/>
                    <a:lstStyle/>
                    <a:p>
                      <a:pPr lvl="0" indent="0" marL="0" algn="l">
                        <a:buNone/>
                      </a:pPr>
                      <a:r>
                        <a:rPr/>
                        <a:t>-0.008</a:t>
                      </a:r>
                    </a:p>
                  </a:txBody>
                </a:tc>
                <a:tc>
                  <a:txBody>
                    <a:bodyPr/>
                    <a:lstStyle/>
                    <a:p>
                      <a:pPr lvl="0" indent="0" marL="0" algn="l">
                        <a:buNone/>
                      </a:pPr>
                      <a:r>
                        <a:rPr/>
                        <a:t>-0.025</a:t>
                      </a:r>
                    </a:p>
                  </a:txBody>
                </a:tc>
                <a:tc>
                  <a:txBody>
                    <a:bodyPr/>
                    <a:lstStyle/>
                    <a:p>
                      <a:pPr lvl="0" indent="0" marL="0" algn="l">
                        <a:buNone/>
                      </a:pPr>
                      <a:r>
                        <a:rPr/>
                        <a:t>0.009</a:t>
                      </a:r>
                    </a:p>
                  </a:txBody>
                </a:tc>
                <a:tc>
                  <a:txBody>
                    <a:bodyPr/>
                    <a:lstStyle/>
                    <a:p>
                      <a:pPr lvl="0" indent="0" marL="0" algn="l">
                        <a:buNone/>
                      </a:pPr>
                      <a:r>
                        <a:rPr/>
                        <a:t>0.367</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ATE</a:t>
                      </a:r>
                    </a:p>
                  </a:txBody>
                </a:tc>
                <a:tc>
                  <a:txBody>
                    <a:bodyPr/>
                    <a:lstStyle/>
                    <a:p>
                      <a:pPr lvl="0" indent="0" marL="0" algn="r">
                        <a:buNone/>
                      </a:pPr>
                      <a:r>
                        <a:rPr/>
                        <a:t>1616</a:t>
                      </a:r>
                    </a:p>
                  </a:txBody>
                </a:tc>
                <a:tc>
                  <a:txBody>
                    <a:bodyPr/>
                    <a:lstStyle/>
                    <a:p>
                      <a:pPr lvl="0" indent="0" marL="0" algn="l">
                        <a:buNone/>
                      </a:pPr>
                      <a:r>
                        <a:rPr/>
                        <a:t>-0.017</a:t>
                      </a:r>
                    </a:p>
                  </a:txBody>
                </a:tc>
                <a:tc>
                  <a:txBody>
                    <a:bodyPr/>
                    <a:lstStyle/>
                    <a:p>
                      <a:pPr lvl="0" indent="0" marL="0" algn="l">
                        <a:buNone/>
                      </a:pPr>
                      <a:r>
                        <a:rPr/>
                        <a:t>-0.035</a:t>
                      </a:r>
                    </a:p>
                  </a:txBody>
                </a:tc>
                <a:tc>
                  <a:txBody>
                    <a:bodyPr/>
                    <a:lstStyle/>
                    <a:p>
                      <a:pPr lvl="0" indent="0" marL="0" algn="l">
                        <a:buNone/>
                      </a:pPr>
                      <a:r>
                        <a:rPr/>
                        <a:t>0.001</a:t>
                      </a:r>
                    </a:p>
                  </a:txBody>
                </a:tc>
                <a:tc>
                  <a:txBody>
                    <a:bodyPr/>
                    <a:lstStyle/>
                    <a:p>
                      <a:pPr lvl="0" indent="0" marL="0" algn="l">
                        <a:buNone/>
                      </a:pPr>
                      <a:r>
                        <a:rPr/>
                        <a:t>0.068</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trimmed_ATE</a:t>
                      </a:r>
                    </a:p>
                  </a:txBody>
                </a:tc>
                <a:tc>
                  <a:txBody>
                    <a:bodyPr/>
                    <a:lstStyle/>
                    <a:p>
                      <a:pPr lvl="0" indent="0" marL="0" algn="r">
                        <a:buNone/>
                      </a:pPr>
                      <a:r>
                        <a:rPr/>
                        <a:t>1615</a:t>
                      </a:r>
                    </a:p>
                  </a:txBody>
                </a:tc>
                <a:tc>
                  <a:txBody>
                    <a:bodyPr/>
                    <a:lstStyle/>
                    <a:p>
                      <a:pPr lvl="0" indent="0" marL="0" algn="l">
                        <a:buNone/>
                      </a:pPr>
                      <a:r>
                        <a:rPr/>
                        <a:t>-0.017</a:t>
                      </a:r>
                    </a:p>
                  </a:txBody>
                </a:tc>
                <a:tc>
                  <a:txBody>
                    <a:bodyPr/>
                    <a:lstStyle/>
                    <a:p>
                      <a:pPr lvl="0" indent="0" marL="0" algn="l">
                        <a:buNone/>
                      </a:pPr>
                      <a:r>
                        <a:rPr/>
                        <a:t>-0.035</a:t>
                      </a:r>
                    </a:p>
                  </a:txBody>
                </a:tc>
                <a:tc>
                  <a:txBody>
                    <a:bodyPr/>
                    <a:lstStyle/>
                    <a:p>
                      <a:pPr lvl="0" indent="0" marL="0" algn="l">
                        <a:buNone/>
                      </a:pPr>
                      <a:r>
                        <a:rPr/>
                        <a:t>0.001</a:t>
                      </a:r>
                    </a:p>
                  </a:txBody>
                </a:tc>
                <a:tc>
                  <a:txBody>
                    <a:bodyPr/>
                    <a:lstStyle/>
                    <a:p>
                      <a:pPr lvl="0" indent="0" marL="0" algn="l">
                        <a:buNone/>
                      </a:pPr>
                      <a:r>
                        <a:rPr/>
                        <a:t>0.062</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ATT</a:t>
                      </a:r>
                    </a:p>
                  </a:txBody>
                </a:tc>
                <a:tc>
                  <a:txBody>
                    <a:bodyPr/>
                    <a:lstStyle/>
                    <a:p>
                      <a:pPr lvl="0" indent="0" marL="0" algn="r">
                        <a:buNone/>
                      </a:pPr>
                      <a:r>
                        <a:rPr/>
                        <a:t>1227</a:t>
                      </a:r>
                    </a:p>
                  </a:txBody>
                </a:tc>
                <a:tc>
                  <a:txBody>
                    <a:bodyPr/>
                    <a:lstStyle/>
                    <a:p>
                      <a:pPr lvl="0" indent="0" marL="0" algn="l">
                        <a:buNone/>
                      </a:pPr>
                      <a:r>
                        <a:rPr/>
                        <a:t>-0.028</a:t>
                      </a:r>
                    </a:p>
                  </a:txBody>
                </a:tc>
                <a:tc>
                  <a:txBody>
                    <a:bodyPr/>
                    <a:lstStyle/>
                    <a:p>
                      <a:pPr lvl="0" indent="0" marL="0" algn="l">
                        <a:buNone/>
                      </a:pPr>
                      <a:r>
                        <a:rPr/>
                        <a:t>-0.048</a:t>
                      </a:r>
                    </a:p>
                  </a:txBody>
                </a:tc>
                <a:tc>
                  <a:txBody>
                    <a:bodyPr/>
                    <a:lstStyle/>
                    <a:p>
                      <a:pPr lvl="0" indent="0" marL="0" algn="l">
                        <a:buNone/>
                      </a:pPr>
                      <a:r>
                        <a:rPr/>
                        <a:t>-0.009</a:t>
                      </a:r>
                    </a:p>
                  </a:txBody>
                </a:tc>
                <a:tc>
                  <a:txBody>
                    <a:bodyPr/>
                    <a:lstStyle/>
                    <a:p>
                      <a:pPr lvl="0" indent="0" marL="0" algn="l">
                        <a:buNone/>
                      </a:pPr>
                      <a:r>
                        <a:rPr/>
                        <a:t>0.005</a:t>
                      </a:r>
                    </a:p>
                  </a:txBody>
                </a:tc>
                <a:tc>
                  <a:txBody>
                    <a:bodyPr/>
                    <a:lstStyle/>
                    <a:p>
                      <a:pPr lvl="0" indent="0" marL="0" algn="l">
                        <a:buNone/>
                      </a:pPr>
                      <a:r>
                        <a:rPr/>
                        <a:t>PASS</a:t>
                      </a:r>
                    </a:p>
                  </a:txBody>
                </a:tc>
              </a:tr>
              <a:tr h="0">
                <a:tc>
                  <a:txBody>
                    <a:bodyPr/>
                    <a:lstStyle/>
                    <a:p>
                      <a:pPr lvl="0" indent="0" marL="0" algn="l">
                        <a:buNone/>
                      </a:pPr>
                      <a:r>
                        <a:rPr/>
                        <a:t>PRIMARY</a:t>
                      </a:r>
                    </a:p>
                  </a:txBody>
                </a:tc>
                <a:tc>
                  <a:txBody>
                    <a:bodyPr/>
                    <a:lstStyle/>
                    <a:p>
                      <a:pPr lvl="0" indent="0" marL="0" algn="l">
                        <a:buNone/>
                      </a:pPr>
                      <a:r>
                        <a:rPr/>
                        <a:t>ATO</a:t>
                      </a:r>
                    </a:p>
                  </a:txBody>
                </a:tc>
                <a:tc>
                  <a:txBody>
                    <a:bodyPr/>
                    <a:lstStyle/>
                    <a:p>
                      <a:pPr lvl="0" indent="0" marL="0" algn="r">
                        <a:buNone/>
                      </a:pPr>
                      <a:r>
                        <a:rPr/>
                        <a:t>1227</a:t>
                      </a:r>
                    </a:p>
                  </a:txBody>
                </a:tc>
                <a:tc>
                  <a:txBody>
                    <a:bodyPr/>
                    <a:lstStyle/>
                    <a:p>
                      <a:pPr lvl="0" indent="0" marL="0" algn="l">
                        <a:buNone/>
                      </a:pPr>
                      <a:r>
                        <a:rPr/>
                        <a:t>-0.012</a:t>
                      </a:r>
                    </a:p>
                  </a:txBody>
                </a:tc>
                <a:tc>
                  <a:txBody>
                    <a:bodyPr/>
                    <a:lstStyle/>
                    <a:p>
                      <a:pPr lvl="0" indent="0" marL="0" algn="l">
                        <a:buNone/>
                      </a:pPr>
                      <a:r>
                        <a:rPr/>
                        <a:t>-0.030</a:t>
                      </a:r>
                    </a:p>
                  </a:txBody>
                </a:tc>
                <a:tc>
                  <a:txBody>
                    <a:bodyPr/>
                    <a:lstStyle/>
                    <a:p>
                      <a:pPr lvl="0" indent="0" marL="0" algn="l">
                        <a:buNone/>
                      </a:pPr>
                      <a:r>
                        <a:rPr/>
                        <a:t>0.005</a:t>
                      </a:r>
                    </a:p>
                  </a:txBody>
                </a:tc>
                <a:tc>
                  <a:txBody>
                    <a:bodyPr/>
                    <a:lstStyle/>
                    <a:p>
                      <a:pPr lvl="0" indent="0" marL="0" algn="l">
                        <a:buNone/>
                      </a:pPr>
                      <a:r>
                        <a:rPr/>
                        <a:t>0.172</a:t>
                      </a:r>
                    </a:p>
                  </a:txBody>
                </a:tc>
                <a:tc>
                  <a:txBody>
                    <a:bodyPr/>
                    <a:lstStyle/>
                    <a:p>
                      <a:pPr lvl="0" indent="0" marL="0" algn="l">
                        <a:buNone/>
                      </a:pPr>
                      <a:r>
                        <a:rPr/>
                        <a:t>PASS</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Appendix C: Figures</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Support maps</a:t>
            </a:r>
          </a:p>
        </p:txBody>
      </p:sp>
      <p:pic>
        <p:nvPicPr>
          <p:cNvPr descr="../rescueCo/results/multiarm/fig_supportmap_C1.png" id="0" name="Picture 1"/>
          <p:cNvPicPr>
            <a:picLocks noGrp="1" noChangeAspect="1"/>
          </p:cNvPicPr>
          <p:nvPr/>
        </p:nvPicPr>
        <p:blipFill>
          <a:blip r:embed="rId2"/>
          <a:stretch>
            <a:fillRect/>
          </a:stretch>
        </p:blipFill>
        <p:spPr bwMode="auto">
          <a:xfrm>
            <a:off x="457200" y="1295400"/>
            <a:ext cx="4038600" cy="26924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C1: the ATE fails at the mildest surface</a:t>
            </a:r>
          </a:p>
        </p:txBody>
      </p:sp>
      <p:pic>
        <p:nvPicPr>
          <p:cNvPr descr="../rescueCo/results/multiarm/fig_supportmap_PRIMARY.pn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Primary cohort: degradation arrives only with stress</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Support histograms, flagged contrasts</a:t>
            </a:r>
          </a:p>
        </p:txBody>
      </p:sp>
      <p:pic>
        <p:nvPicPr>
          <p:cNvPr descr="../rescueCo/results/multiarm/fig_support_C2.png" id="0" name="Picture 1"/>
          <p:cNvPicPr>
            <a:picLocks noGrp="1" noChangeAspect="1"/>
          </p:cNvPicPr>
          <p:nvPr/>
        </p:nvPicPr>
        <p:blipFill>
          <a:blip r:embed="rId2"/>
          <a:stretch>
            <a:fillRect/>
          </a:stretch>
        </p:blipFill>
        <p:spPr bwMode="auto">
          <a:xfrm>
            <a:off x="457200" y="1422400"/>
            <a:ext cx="4038600" cy="24257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C2: SEVERE</a:t>
            </a:r>
          </a:p>
        </p:txBody>
      </p:sp>
      <p:pic>
        <p:nvPicPr>
          <p:cNvPr descr="../rescueCo/results/multiarm/fig_support_C3.png" id="0" name="Picture 1"/>
          <p:cNvPicPr>
            <a:picLocks noGrp="1" noChangeAspect="1"/>
          </p:cNvPicPr>
          <p:nvPr/>
        </p:nvPicPr>
        <p:blipFill>
          <a:blip r:embed="rId3"/>
          <a:stretch>
            <a:fillRect/>
          </a:stretch>
        </p:blipFill>
        <p:spPr bwMode="auto">
          <a:xfrm>
            <a:off x="4648200" y="1422400"/>
            <a:ext cx="4038600" cy="24257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C3: FLAG</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Earlier single-contrast diagnostics</a:t>
            </a:r>
          </a:p>
        </p:txBody>
      </p:sp>
      <p:pic>
        <p:nvPicPr>
          <p:cNvPr descr="../rescueCo/results/plasmode_performance.png" id="0" name="Picture 1"/>
          <p:cNvPicPr>
            <a:picLocks noGrp="1" noChangeAspect="1"/>
          </p:cNvPicPr>
          <p:nvPr/>
        </p:nvPicPr>
        <p:blipFill>
          <a:blip r:embed="rId2"/>
          <a:stretch>
            <a:fillRect/>
          </a:stretch>
        </p:blipFill>
        <p:spPr bwMode="auto">
          <a:xfrm>
            <a:off x="457200" y="1625600"/>
            <a:ext cx="4038600" cy="2019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Plasmode candidate performance</a:t>
            </a:r>
          </a:p>
        </p:txBody>
      </p:sp>
      <p:pic>
        <p:nvPicPr>
          <p:cNvPr descr="../rescueCo/results/manuscript_artifacts/fig_dq_gradient.png" id="0" name="Picture 1"/>
          <p:cNvPicPr>
            <a:picLocks noGrp="1" noChangeAspect="1"/>
          </p:cNvPicPr>
          <p:nvPr/>
        </p:nvPicPr>
        <p:blipFill>
          <a:blip r:embed="rId3"/>
          <a:stretch>
            <a:fillRect/>
          </a:stretch>
        </p:blipFill>
        <p:spPr bwMode="auto">
          <a:xfrm>
            <a:off x="4648200" y="1625600"/>
            <a:ext cx="4038600" cy="2019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DQ degradation gradient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TMLE internals (earlier lock)</a:t>
            </a:r>
          </a:p>
        </p:txBody>
      </p:sp>
      <p:pic>
        <p:nvPicPr>
          <p:cNvPr descr="../rescueCo/results/manuscript_artifacts/fig_ic_plot.png" id="0" name="Picture 1"/>
          <p:cNvPicPr>
            <a:picLocks noGrp="1" noChangeAspect="1"/>
          </p:cNvPicPr>
          <p:nvPr/>
        </p:nvPicPr>
        <p:blipFill>
          <a:blip r:embed="rId2"/>
          <a:stretch>
            <a:fillRect/>
          </a:stretch>
        </p:blipFill>
        <p:spPr bwMode="auto">
          <a:xfrm>
            <a:off x="457200" y="1371600"/>
            <a:ext cx="4038600" cy="2527300"/>
          </a:xfrm>
          <a:prstGeom prst="rect">
            <a:avLst/>
          </a:prstGeom>
          <a:noFill/>
          <a:ln w="9525">
            <a:noFill/>
            <a:headEnd/>
            <a:tailEnd/>
          </a:ln>
        </p:spPr>
      </p:pic>
      <p:sp>
        <p:nvSpPr>
          <p:cNvPr id="1" name="TextBox 3"/>
          <p:cNvSpPr txBox="1"/>
          <p:nvPr/>
        </p:nvSpPr>
        <p:spPr>
          <a:xfrm>
            <a:off x="457200" y="4076700"/>
            <a:ext cx="4038600" cy="508000"/>
          </a:xfrm>
          <a:prstGeom prst="rect">
            <a:avLst/>
          </a:prstGeom>
          <a:noFill/>
        </p:spPr>
        <p:txBody>
          <a:bodyPr/>
          <a:lstStyle/>
          <a:p>
            <a:pPr lvl="0" indent="0" marL="0" algn="ctr">
              <a:buNone/>
            </a:pPr>
            <a:r>
              <a:rPr/>
              <a:t>Influence-curve distribution</a:t>
            </a:r>
          </a:p>
        </p:txBody>
      </p:sp>
      <p:pic>
        <p:nvPicPr>
          <p:cNvPr descr="../rescueCo/results/manuscript_artifacts/fig_clever_covariate.png" id="0" name="Picture 1"/>
          <p:cNvPicPr>
            <a:picLocks noGrp="1" noChangeAspect="1"/>
          </p:cNvPicPr>
          <p:nvPr/>
        </p:nvPicPr>
        <p:blipFill>
          <a:blip r:embed="rId3"/>
          <a:stretch>
            <a:fillRect/>
          </a:stretch>
        </p:blipFill>
        <p:spPr bwMode="auto">
          <a:xfrm>
            <a:off x="4648200" y="1371600"/>
            <a:ext cx="4038600" cy="25273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Clever covariate by arm</a:t>
            </a:r>
          </a:p>
        </p:txBody>
      </p:sp>
    </p:spTree>
  </p:cSld>
</p:sld>
</file>

<file path=ppt/theme/theme1.xml><?xml version="1.0" encoding="utf-8"?>
<a:theme xmlns:a="http://schemas.openxmlformats.org/drawingml/2006/main" name="BMGF_ki_Theme_v002">
  <a:themeElements>
    <a:clrScheme name="HBGDki_color_v1">
      <a:dk1>
        <a:srgbClr val="343131"/>
      </a:dk1>
      <a:lt1>
        <a:srgbClr val="FFFFFF"/>
      </a:lt1>
      <a:dk2>
        <a:srgbClr val="9B242D"/>
      </a:dk2>
      <a:lt2>
        <a:srgbClr val="FFFFFF"/>
      </a:lt2>
      <a:accent1>
        <a:srgbClr val="3086AB"/>
      </a:accent1>
      <a:accent2>
        <a:srgbClr val="E67021"/>
      </a:accent2>
      <a:accent3>
        <a:srgbClr val="F29B0E"/>
      </a:accent3>
      <a:accent4>
        <a:srgbClr val="B51F29"/>
      </a:accent4>
      <a:accent5>
        <a:srgbClr val="823B69"/>
      </a:accent5>
      <a:accent6>
        <a:srgbClr val="AAA092"/>
      </a:accent6>
      <a:hlink>
        <a:srgbClr val="3086AB"/>
      </a:hlink>
      <a:folHlink>
        <a:srgbClr val="823B69"/>
      </a:folHlink>
    </a:clrScheme>
    <a:fontScheme name="Foundation PPT Fonts - Jan 2014">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none" lIns="0" tIns="0" rIns="0" bIns="0" rtlCol="0">
        <a:spAutoFit/>
      </a:bodyPr>
      <a:lstStyle>
        <a:defPPr algn="ctr">
          <a:defRPr sz="800" dirty="0" smtClean="0">
            <a:latin typeface="Arial" pitchFamily="34" charset="0"/>
            <a:cs typeface="Arial" pitchFamily="34" charset="0"/>
          </a:defRPr>
        </a:defPPr>
      </a:lstStyle>
    </a:txDef>
  </a:objectDefaults>
  <a:extraClrSchemeLst/>
  <a:extLst>
    <a:ext uri="{05A4C25C-085E-4340-85A3-A5531E510DB2}">
      <thm15:themeFamily xmlns:thm15="http://schemas.microsoft.com/office/thememl/2012/main" name="BMGF_ki_Theme_v002" id="{246C18AA-3F48-4B76-BAE8-BB32034B1366}" vid="{791D82C9-73BB-4286-B133-6928F947903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cleanTMLE</dc:title>
  <dc:creator>Andrew Mertens</dc:creator>
  <cp:keywords/>
  <dcterms:created xsi:type="dcterms:W3CDTF">2026-09-14T16:29:24Z</dcterms:created>
  <dcterms:modified xsi:type="dcterms:W3CDTF">2026-09-14T16:29:24Z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2026-09-14</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University of California, Berkeley</vt:lpwstr>
  </property>
  <property fmtid="{D5CDD505-2E9C-101B-9397-08002B2CF9AE}" pid="13" name="institutes">
    <vt:lpwstr/>
  </property>
  <property fmtid="{D5CDD505-2E9C-101B-9397-08002B2CF9AE}" pid="14" name="labels">
    <vt:lpwstr/>
  </property>
  <property fmtid="{D5CDD505-2E9C-101B-9397-08002B2CF9AE}" pid="15" name="subtitle">
    <vt:lpwstr>Deciding the estimand before outcomes</vt:lpwstr>
  </property>
  <property fmtid="{D5CDD505-2E9C-101B-9397-08002B2CF9AE}" pid="16" name="toc-title">
    <vt:lpwstr>Table of contents</vt:lpwstr>
  </property>
</Properties>
</file>