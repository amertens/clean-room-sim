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6" Type="http://schemas.openxmlformats.org/officeDocument/2006/relationships/viewProps" Target="viewProps.xml" /><Relationship Id="rId105" Type="http://schemas.openxmlformats.org/officeDocument/2006/relationships/presProps" Target="presProps.xml" /><Relationship Id="rId1" Type="http://schemas.openxmlformats.org/officeDocument/2006/relationships/slideMaster" Target="slideMasters/slideMaster1.xml" /><Relationship Id="rId108" Type="http://schemas.openxmlformats.org/officeDocument/2006/relationships/tableStyles" Target="tableStyles.xml" /><Relationship Id="rId10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21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050">
                <a:solidFill>
                  <a:schemeClr val="tx1">
                    <a:tint val="75000"/>
                  </a:schemeClr>
                </a:solidFill>
              </a:defRPr>
            </a:lvl1pPr>
            <a:lvl2pPr marL="342900" indent="0">
              <a:buNone/>
              <a:defRPr sz="944">
                <a:solidFill>
                  <a:schemeClr val="tx1">
                    <a:tint val="75000"/>
                  </a:schemeClr>
                </a:solidFill>
              </a:defRPr>
            </a:lvl2pPr>
            <a:lvl3pPr marL="685800" indent="0">
              <a:buNone/>
              <a:defRPr sz="840">
                <a:solidFill>
                  <a:schemeClr val="tx1">
                    <a:tint val="75000"/>
                  </a:schemeClr>
                </a:solidFill>
              </a:defRPr>
            </a:lvl3pPr>
            <a:lvl4pPr marL="1028700" indent="0">
              <a:buNone/>
              <a:defRPr sz="800">
                <a:solidFill>
                  <a:schemeClr val="tx1">
                    <a:tint val="75000"/>
                  </a:schemeClr>
                </a:solidFill>
              </a:defRPr>
            </a:lvl4pPr>
            <a:lvl5pPr marL="1371600" indent="0">
              <a:buNone/>
              <a:defRPr sz="800">
                <a:solidFill>
                  <a:schemeClr val="tx1">
                    <a:tint val="75000"/>
                  </a:schemeClr>
                </a:solidFill>
              </a:defRPr>
            </a:lvl5pPr>
            <a:lvl6pPr marL="1714500" indent="0">
              <a:buNone/>
              <a:defRPr sz="800">
                <a:solidFill>
                  <a:schemeClr val="tx1">
                    <a:tint val="75000"/>
                  </a:schemeClr>
                </a:solidFill>
              </a:defRPr>
            </a:lvl6pPr>
            <a:lvl7pPr marL="2057400" indent="0">
              <a:buNone/>
              <a:defRPr sz="800">
                <a:solidFill>
                  <a:schemeClr val="tx1">
                    <a:tint val="75000"/>
                  </a:schemeClr>
                </a:solidFill>
              </a:defRPr>
            </a:lvl7pPr>
            <a:lvl8pPr marL="2400300" indent="0">
              <a:buNone/>
              <a:defRPr sz="800">
                <a:solidFill>
                  <a:schemeClr val="tx1">
                    <a:tint val="75000"/>
                  </a:schemeClr>
                </a:solidFill>
              </a:defRPr>
            </a:lvl8pPr>
            <a:lvl9pPr marL="2743200" indent="0">
              <a:buNone/>
              <a:defRPr sz="8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1470"/>
            </a:lvl1pPr>
            <a:lvl2pPr>
              <a:defRPr sz="1260"/>
            </a:lvl2pPr>
            <a:lvl3pPr>
              <a:defRPr sz="1050"/>
            </a:lvl3pPr>
            <a:lvl4pPr>
              <a:defRPr sz="944"/>
            </a:lvl4pPr>
            <a:lvl5pPr>
              <a:defRPr sz="944"/>
            </a:lvl5pPr>
            <a:lvl6pPr>
              <a:defRPr sz="944"/>
            </a:lvl6pPr>
            <a:lvl7pPr>
              <a:defRPr sz="944"/>
            </a:lvl7pPr>
            <a:lvl8pPr>
              <a:defRPr sz="944"/>
            </a:lvl8pPr>
            <a:lvl9pPr>
              <a:defRPr sz="94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1470"/>
            </a:lvl1pPr>
            <a:lvl2pPr>
              <a:defRPr sz="1260"/>
            </a:lvl2pPr>
            <a:lvl3pPr>
              <a:defRPr sz="1050"/>
            </a:lvl3pPr>
            <a:lvl4pPr>
              <a:defRPr sz="944"/>
            </a:lvl4pPr>
            <a:lvl5pPr>
              <a:defRPr sz="944"/>
            </a:lvl5pPr>
            <a:lvl6pPr>
              <a:defRPr sz="944"/>
            </a:lvl6pPr>
            <a:lvl7pPr>
              <a:defRPr sz="944"/>
            </a:lvl7pPr>
            <a:lvl8pPr>
              <a:defRPr sz="944"/>
            </a:lvl8pPr>
            <a:lvl9pPr>
              <a:defRPr sz="94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260" b="1"/>
            </a:lvl1pPr>
            <a:lvl2pPr marL="342900" indent="0">
              <a:buNone/>
              <a:defRPr sz="1050" b="1"/>
            </a:lvl2pPr>
            <a:lvl3pPr marL="685800" indent="0">
              <a:buNone/>
              <a:defRPr sz="944" b="1"/>
            </a:lvl3pPr>
            <a:lvl4pPr marL="1028700" indent="0">
              <a:buNone/>
              <a:defRPr sz="840" b="1"/>
            </a:lvl4pPr>
            <a:lvl5pPr marL="1371600" indent="0">
              <a:buNone/>
              <a:defRPr sz="840" b="1"/>
            </a:lvl5pPr>
            <a:lvl6pPr marL="1714500" indent="0">
              <a:buNone/>
              <a:defRPr sz="840" b="1"/>
            </a:lvl6pPr>
            <a:lvl7pPr marL="2057400" indent="0">
              <a:buNone/>
              <a:defRPr sz="840" b="1"/>
            </a:lvl7pPr>
            <a:lvl8pPr marL="2400300" indent="0">
              <a:buNone/>
              <a:defRPr sz="840" b="1"/>
            </a:lvl8pPr>
            <a:lvl9pPr marL="2743200" indent="0">
              <a:buNone/>
              <a:defRPr sz="84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260"/>
            </a:lvl1pPr>
            <a:lvl2pPr>
              <a:defRPr sz="1050"/>
            </a:lvl2pPr>
            <a:lvl3pPr>
              <a:defRPr sz="944"/>
            </a:lvl3pPr>
            <a:lvl4pPr>
              <a:defRPr sz="840"/>
            </a:lvl4pPr>
            <a:lvl5pPr>
              <a:defRPr sz="840"/>
            </a:lvl5pPr>
            <a:lvl6pPr>
              <a:defRPr sz="840"/>
            </a:lvl6pPr>
            <a:lvl7pPr>
              <a:defRPr sz="840"/>
            </a:lvl7pPr>
            <a:lvl8pPr>
              <a:defRPr sz="840"/>
            </a:lvl8pPr>
            <a:lvl9pPr>
              <a:defRPr sz="84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260" b="1"/>
            </a:lvl1pPr>
            <a:lvl2pPr marL="342900" indent="0">
              <a:buNone/>
              <a:defRPr sz="1050" b="1"/>
            </a:lvl2pPr>
            <a:lvl3pPr marL="685800" indent="0">
              <a:buNone/>
              <a:defRPr sz="944" b="1"/>
            </a:lvl3pPr>
            <a:lvl4pPr marL="1028700" indent="0">
              <a:buNone/>
              <a:defRPr sz="840" b="1"/>
            </a:lvl4pPr>
            <a:lvl5pPr marL="1371600" indent="0">
              <a:buNone/>
              <a:defRPr sz="840" b="1"/>
            </a:lvl5pPr>
            <a:lvl6pPr marL="1714500" indent="0">
              <a:buNone/>
              <a:defRPr sz="840" b="1"/>
            </a:lvl6pPr>
            <a:lvl7pPr marL="2057400" indent="0">
              <a:buNone/>
              <a:defRPr sz="840" b="1"/>
            </a:lvl7pPr>
            <a:lvl8pPr marL="2400300" indent="0">
              <a:buNone/>
              <a:defRPr sz="840" b="1"/>
            </a:lvl8pPr>
            <a:lvl9pPr marL="2743200" indent="0">
              <a:buNone/>
              <a:defRPr sz="84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260"/>
            </a:lvl1pPr>
            <a:lvl2pPr>
              <a:defRPr sz="1050"/>
            </a:lvl2pPr>
            <a:lvl3pPr>
              <a:defRPr sz="944"/>
            </a:lvl3pPr>
            <a:lvl4pPr>
              <a:defRPr sz="840"/>
            </a:lvl4pPr>
            <a:lvl5pPr>
              <a:defRPr sz="840"/>
            </a:lvl5pPr>
            <a:lvl6pPr>
              <a:defRPr sz="840"/>
            </a:lvl6pPr>
            <a:lvl7pPr>
              <a:defRPr sz="840"/>
            </a:lvl7pPr>
            <a:lvl8pPr>
              <a:defRPr sz="840"/>
            </a:lvl8pPr>
            <a:lvl9pPr>
              <a:defRPr sz="84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05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1680"/>
            </a:lvl1pPr>
            <a:lvl2pPr>
              <a:defRPr sz="1470"/>
            </a:lvl2pPr>
            <a:lvl3pPr>
              <a:defRPr sz="1260"/>
            </a:lvl3pPr>
            <a:lvl4pPr>
              <a:defRPr sz="1050"/>
            </a:lvl4pPr>
            <a:lvl5pPr>
              <a:defRPr sz="1050"/>
            </a:lvl5pPr>
            <a:lvl6pPr>
              <a:defRPr sz="1050"/>
            </a:lvl6pPr>
            <a:lvl7pPr>
              <a:defRPr sz="1050"/>
            </a:lvl7pPr>
            <a:lvl8pPr>
              <a:defRPr sz="1050"/>
            </a:lvl8pPr>
            <a:lvl9pPr>
              <a:defRPr sz="10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800"/>
            </a:lvl1pPr>
            <a:lvl2pPr marL="342900" indent="0">
              <a:buNone/>
              <a:defRPr sz="800"/>
            </a:lvl2pPr>
            <a:lvl3pPr marL="685800" indent="0">
              <a:buNone/>
              <a:defRPr sz="800"/>
            </a:lvl3pPr>
            <a:lvl4pPr marL="1028700" indent="0">
              <a:buNone/>
              <a:defRPr sz="800"/>
            </a:lvl4pPr>
            <a:lvl5pPr marL="1371600" indent="0">
              <a:buNone/>
              <a:defRPr sz="800"/>
            </a:lvl5pPr>
            <a:lvl6pPr marL="1714500" indent="0">
              <a:buNone/>
              <a:defRPr sz="800"/>
            </a:lvl6pPr>
            <a:lvl7pPr marL="2057400" indent="0">
              <a:buNone/>
              <a:defRPr sz="800"/>
            </a:lvl7pPr>
            <a:lvl8pPr marL="2400300" indent="0">
              <a:buNone/>
              <a:defRPr sz="800"/>
            </a:lvl8pPr>
            <a:lvl9pPr marL="2743200" indent="0">
              <a:buNone/>
              <a:defRPr sz="80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05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1680"/>
            </a:lvl1pPr>
            <a:lvl2pPr marL="342900" indent="0">
              <a:buNone/>
              <a:defRPr sz="1470"/>
            </a:lvl2pPr>
            <a:lvl3pPr marL="685800" indent="0">
              <a:buNone/>
              <a:defRPr sz="1260"/>
            </a:lvl3pPr>
            <a:lvl4pPr marL="1028700" indent="0">
              <a:buNone/>
              <a:defRPr sz="1050"/>
            </a:lvl4pPr>
            <a:lvl5pPr marL="1371600" indent="0">
              <a:buNone/>
              <a:defRPr sz="1050"/>
            </a:lvl5pPr>
            <a:lvl6pPr marL="1714500" indent="0">
              <a:buNone/>
              <a:defRPr sz="1050"/>
            </a:lvl6pPr>
            <a:lvl7pPr marL="2057400" indent="0">
              <a:buNone/>
              <a:defRPr sz="1050"/>
            </a:lvl7pPr>
            <a:lvl8pPr marL="2400300" indent="0">
              <a:buNone/>
              <a:defRPr sz="1050"/>
            </a:lvl8pPr>
            <a:lvl9pPr marL="2743200" indent="0">
              <a:buNone/>
              <a:defRPr sz="105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800"/>
            </a:lvl1pPr>
            <a:lvl2pPr marL="342900" indent="0">
              <a:buNone/>
              <a:defRPr sz="800"/>
            </a:lvl2pPr>
            <a:lvl3pPr marL="685800" indent="0">
              <a:buNone/>
              <a:defRPr sz="800"/>
            </a:lvl3pPr>
            <a:lvl4pPr marL="1028700" indent="0">
              <a:buNone/>
              <a:defRPr sz="800"/>
            </a:lvl4pPr>
            <a:lvl5pPr marL="1371600" indent="0">
              <a:buNone/>
              <a:defRPr sz="800"/>
            </a:lvl5pPr>
            <a:lvl6pPr marL="1714500" indent="0">
              <a:buNone/>
              <a:defRPr sz="800"/>
            </a:lvl6pPr>
            <a:lvl7pPr marL="2057400" indent="0">
              <a:buNone/>
              <a:defRPr sz="800"/>
            </a:lvl7pPr>
            <a:lvl8pPr marL="2400300" indent="0">
              <a:buNone/>
              <a:defRPr sz="800"/>
            </a:lvl8pPr>
            <a:lvl9pPr marL="2743200" indent="0">
              <a:buNone/>
              <a:defRPr sz="80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8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8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8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31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168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147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26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05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05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05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05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05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050">
          <a:solidFill>
            <a:schemeClr val="tx1"/>
          </a:solidFill>
          <a:latin typeface="+mn-lt"/>
          <a:ea typeface="+mn-ea"/>
          <a:cs typeface="+mn-cs"/>
        </a:defRPr>
      </a:lvl9pPr>
    </p:bodyStyle>
    <p:otherStyle>
      <a:defPPr>
        <a:defRPr lang="en-US"/>
      </a:defPPr>
      <a:lvl1pPr algn="l" defTabSz="342900" eaLnBrk="1" hangingPunct="1" latinLnBrk="0" marL="0" rtl="0">
        <a:defRPr kern="1200" sz="944">
          <a:solidFill>
            <a:schemeClr val="tx1"/>
          </a:solidFill>
          <a:latin typeface="+mn-lt"/>
          <a:ea typeface="+mn-ea"/>
          <a:cs typeface="+mn-cs"/>
        </a:defRPr>
      </a:lvl1pPr>
      <a:lvl2pPr algn="l" defTabSz="342900" eaLnBrk="1" hangingPunct="1" latinLnBrk="0" marL="342900" rtl="0">
        <a:defRPr kern="1200" sz="944">
          <a:solidFill>
            <a:schemeClr val="tx1"/>
          </a:solidFill>
          <a:latin typeface="+mn-lt"/>
          <a:ea typeface="+mn-ea"/>
          <a:cs typeface="+mn-cs"/>
        </a:defRPr>
      </a:lvl2pPr>
      <a:lvl3pPr algn="l" defTabSz="342900" eaLnBrk="1" hangingPunct="1" latinLnBrk="0" marL="685800" rtl="0">
        <a:defRPr kern="1200" sz="944">
          <a:solidFill>
            <a:schemeClr val="tx1"/>
          </a:solidFill>
          <a:latin typeface="+mn-lt"/>
          <a:ea typeface="+mn-ea"/>
          <a:cs typeface="+mn-cs"/>
        </a:defRPr>
      </a:lvl3pPr>
      <a:lvl4pPr algn="l" defTabSz="342900" eaLnBrk="1" hangingPunct="1" latinLnBrk="0" marL="1028700" rtl="0">
        <a:defRPr kern="1200" sz="944">
          <a:solidFill>
            <a:schemeClr val="tx1"/>
          </a:solidFill>
          <a:latin typeface="+mn-lt"/>
          <a:ea typeface="+mn-ea"/>
          <a:cs typeface="+mn-cs"/>
        </a:defRPr>
      </a:lvl4pPr>
      <a:lvl5pPr algn="l" defTabSz="342900" eaLnBrk="1" hangingPunct="1" latinLnBrk="0" marL="1371600" rtl="0">
        <a:defRPr kern="1200" sz="944">
          <a:solidFill>
            <a:schemeClr val="tx1"/>
          </a:solidFill>
          <a:latin typeface="+mn-lt"/>
          <a:ea typeface="+mn-ea"/>
          <a:cs typeface="+mn-cs"/>
        </a:defRPr>
      </a:lvl5pPr>
      <a:lvl6pPr algn="l" defTabSz="342900" eaLnBrk="1" hangingPunct="1" latinLnBrk="0" marL="1714500" rtl="0">
        <a:defRPr kern="1200" sz="944">
          <a:solidFill>
            <a:schemeClr val="tx1"/>
          </a:solidFill>
          <a:latin typeface="+mn-lt"/>
          <a:ea typeface="+mn-ea"/>
          <a:cs typeface="+mn-cs"/>
        </a:defRPr>
      </a:lvl6pPr>
      <a:lvl7pPr algn="l" defTabSz="342900" eaLnBrk="1" hangingPunct="1" latinLnBrk="0" marL="2057400" rtl="0">
        <a:defRPr kern="1200" sz="944">
          <a:solidFill>
            <a:schemeClr val="tx1"/>
          </a:solidFill>
          <a:latin typeface="+mn-lt"/>
          <a:ea typeface="+mn-ea"/>
          <a:cs typeface="+mn-cs"/>
        </a:defRPr>
      </a:lvl7pPr>
      <a:lvl8pPr algn="l" defTabSz="342900" eaLnBrk="1" hangingPunct="1" latinLnBrk="0" marL="2400300" rtl="0">
        <a:defRPr kern="1200" sz="944">
          <a:solidFill>
            <a:schemeClr val="tx1"/>
          </a:solidFill>
          <a:latin typeface="+mn-lt"/>
          <a:ea typeface="+mn-ea"/>
          <a:cs typeface="+mn-cs"/>
        </a:defRPr>
      </a:lvl8pPr>
      <a:lvl9pPr algn="l" defTabSz="342900" eaLnBrk="1" hangingPunct="1" latinLnBrk="0" marL="2743200" rtl="0">
        <a:defRPr kern="1200" sz="944">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amertens/cleanTMLE"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cleanTMLE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Software layer for an outcome-blind staged workflow with plasmode DQ stress testing</a:t>
            </a:r>
            <a:br/>
            <a:br/>
            <a:r>
              <a:rPr/>
              <a:t>Andrew Mertens</a:t>
            </a:r>
          </a:p>
        </p:txBody>
      </p:sp>
      <p:sp>
        <p:nvSpPr>
          <p:cNvPr id="4" name="Date Placeholder 3"/>
          <p:cNvSpPr>
            <a:spLocks noGrp="1"/>
          </p:cNvSpPr>
          <p:nvPr>
            <p:ph idx="10" sz="half" type="dt"/>
          </p:nvPr>
        </p:nvSpPr>
        <p:spPr/>
        <p:txBody>
          <a:bodyPr/>
          <a:lstStyle/>
          <a:p>
            <a:pPr lvl="0" indent="0" marL="0">
              <a:buNone/>
            </a:pPr>
            <a:r>
              <a:rPr/>
              <a:t>2026-05-11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headline</a:t>
            </a:r>
          </a:p>
        </p:txBody>
      </p:sp>
      <p:sp>
        <p:nvSpPr>
          <p:cNvPr id="3" name="Content Placeholder 2"/>
          <p:cNvSpPr>
            <a:spLocks noGrp="1"/>
          </p:cNvSpPr>
          <p:nvPr>
            <p:ph idx="1"/>
          </p:nvPr>
        </p:nvSpPr>
        <p:spPr/>
        <p:txBody>
          <a:bodyPr/>
          <a:lstStyle/>
          <a:p>
            <a:pPr lvl="0" indent="0" marL="0">
              <a:buNone/>
            </a:pPr>
            <a:r>
              <a:rPr/>
              <a:t>cleanTMLE is an R package that helps researchers analyse observational health data more carefully. It records every analytic decision before the comparative results are seen, runs realistic simulations to choose between candidate methods, and quietly stress-tests those methods against the kinds of data-quality problems real datasets carry. The point is to make the analysis easier for a reviewer to trust.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this talk covers</a:t>
            </a:r>
          </a:p>
        </p:txBody>
      </p:sp>
      <p:sp>
        <p:nvSpPr>
          <p:cNvPr id="3" name="Content Placeholder 2"/>
          <p:cNvSpPr>
            <a:spLocks noGrp="1"/>
          </p:cNvSpPr>
          <p:nvPr>
            <p:ph idx="1"/>
          </p:nvPr>
        </p:nvSpPr>
        <p:spPr/>
        <p:txBody>
          <a:bodyPr/>
          <a:lstStyle/>
          <a:p>
            <a:pPr lvl="0" indent="-342900" marL="342900">
              <a:buAutoNum type="arabicPeriod"/>
            </a:pPr>
            <a:r>
              <a:rPr b="1"/>
              <a:t>Why this matters.</a:t>
            </a:r>
            <a:r>
              <a:rPr/>
              <a:t> Observational studies have a credibility problem; this is one piece of the fix.</a:t>
            </a:r>
          </a:p>
          <a:p>
            <a:pPr lvl="0" indent="-342900" marL="342900">
              <a:buAutoNum type="arabicPeriod"/>
            </a:pPr>
            <a:r>
              <a:rPr b="1"/>
              <a:t>How the package works.</a:t>
            </a:r>
            <a:r>
              <a:rPr/>
              <a:t> A short tour of the workflow, in plain language.</a:t>
            </a:r>
          </a:p>
          <a:p>
            <a:pPr lvl="0" indent="-342900" marL="342900">
              <a:buAutoNum type="arabicPeriod"/>
            </a:pPr>
            <a:r>
              <a:rPr b="1"/>
              <a:t>What the simulations told us.</a:t>
            </a:r>
            <a:r>
              <a:rPr/>
              <a:t> Where the methods are reliable, where they need help, and where they should stop.</a:t>
            </a:r>
          </a:p>
          <a:p>
            <a:pPr lvl="0" indent="-342900" marL="342900">
              <a:buAutoNum type="arabicPeriod"/>
            </a:pPr>
            <a:r>
              <a:rPr b="1"/>
              <a:t>A real case study.</a:t>
            </a:r>
            <a:r>
              <a:rPr/>
              <a:t> Walking through an analysis of ambulance-transport outcomes in Nairobi.</a:t>
            </a:r>
          </a:p>
          <a:p>
            <a:pPr lvl="0" indent="-342900" marL="342900">
              <a:buAutoNum type="arabicPeriod"/>
            </a:pPr>
            <a:r>
              <a:rPr b="1"/>
              <a:t>How this improves on what’s already out there</a:t>
            </a:r>
            <a:r>
              <a:rPr/>
              <a:t>, including comparison with similar packages.</a:t>
            </a:r>
          </a:p>
          <a:p>
            <a:pPr lvl="0" indent="0" marL="0">
              <a:buNone/>
            </a:pPr>
            <a:r>
              <a:rPr/>
              <a:t>A function-by-function walkthrough is in the appendix.</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1. Why this matters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credibility problem in observational research</a:t>
            </a:r>
          </a:p>
        </p:txBody>
      </p:sp>
      <p:sp>
        <p:nvSpPr>
          <p:cNvPr id="3" name="Content Placeholder 2"/>
          <p:cNvSpPr>
            <a:spLocks noGrp="1"/>
          </p:cNvSpPr>
          <p:nvPr>
            <p:ph idx="1"/>
          </p:nvPr>
        </p:nvSpPr>
        <p:spPr/>
        <p:txBody>
          <a:bodyPr/>
          <a:lstStyle/>
          <a:p>
            <a:pPr lvl="0" indent="0" marL="0">
              <a:buNone/>
            </a:pPr>
            <a:r>
              <a:rPr/>
              <a:t>When researchers analyse routine health data to estimate the effect of a treatment, they have to make many decisions: who is in the cohort, how to define exposure, which covariates to adjust for, how to handle missing outcomes, and which statistical method to use.</a:t>
            </a:r>
          </a:p>
          <a:p>
            <a:pPr lvl="0" indent="0" marL="0">
              <a:buNone/>
            </a:pPr>
            <a:r>
              <a:rPr/>
              <a:t>In a typical study, these decisions are written down in three separate documents. A reviewer cannot easily tell whether the chosen method still makes sense once the analyst has seen the data, or what would happen if any of those decisions had been made differently.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Two specific weaknesses</a:t>
            </a:r>
          </a:p>
        </p:txBody>
      </p:sp>
      <p:sp>
        <p:nvSpPr>
          <p:cNvPr id="3" name="Content Placeholder 2"/>
          <p:cNvSpPr>
            <a:spLocks noGrp="1"/>
          </p:cNvSpPr>
          <p:nvPr>
            <p:ph idx="1"/>
          </p:nvPr>
        </p:nvSpPr>
        <p:spPr/>
        <p:txBody>
          <a:bodyPr/>
          <a:lstStyle/>
          <a:p>
            <a:pPr lvl="0" indent="0" marL="0">
              <a:buNone/>
            </a:pPr>
            <a:r>
              <a:rPr b="1"/>
              <a:t>Decisions made after seeing the results.</a:t>
            </a:r>
            <a:r>
              <a:rPr/>
              <a:t> Even with a written analysis plan, problems show up during execution (sparse events, model convergence issues, missingness) that force choices. If those choices are made </a:t>
            </a:r>
            <a:r>
              <a:rPr i="1"/>
              <a:t>after</a:t>
            </a:r>
            <a:r>
              <a:rPr/>
              <a:t> the analyst has glimpsed the treatment-outcome association, the analysis is no longer fully prespecified.</a:t>
            </a:r>
          </a:p>
          <a:p>
            <a:pPr lvl="0" indent="0" marL="0">
              <a:buNone/>
            </a:pPr>
            <a:r>
              <a:rPr b="1"/>
              <a:t>Standard diagnostics tell you about design, not about your estimator.</a:t>
            </a:r>
            <a:r>
              <a:rPr/>
              <a:t> Propensity-score overlap, balance, and effective sample size tell you whether the </a:t>
            </a:r>
            <a:r>
              <a:rPr i="1"/>
              <a:t>comparison</a:t>
            </a:r>
            <a:r>
              <a:rPr/>
              <a:t> is feasible. They do not tell you whether the </a:t>
            </a:r>
            <a:r>
              <a:rPr i="1"/>
              <a:t>specific method you plan to use</a:t>
            </a:r>
            <a:r>
              <a:rPr/>
              <a:t> will produce a reliable answer on your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we want, before we look at the comparative answer</a:t>
            </a:r>
          </a:p>
        </p:txBody>
      </p:sp>
      <p:sp>
        <p:nvSpPr>
          <p:cNvPr id="3" name="Content Placeholder 2"/>
          <p:cNvSpPr>
            <a:spLocks noGrp="1"/>
          </p:cNvSpPr>
          <p:nvPr>
            <p:ph idx="1"/>
          </p:nvPr>
        </p:nvSpPr>
        <p:spPr/>
        <p:txBody>
          <a:bodyPr/>
          <a:lstStyle/>
          <a:p>
            <a:pPr lvl="0" indent="0" marL="0">
              <a:buNone/>
            </a:pPr>
            <a:r>
              <a:rPr/>
              <a:t>We want to be able to tell a reviewer four things:</a:t>
            </a:r>
          </a:p>
          <a:p>
            <a:pPr lvl="0" indent="-342900" marL="342900">
              <a:buAutoNum type="arabicPeriod"/>
            </a:pPr>
            <a:r>
              <a:rPr/>
              <a:t>The cohort, treatment, outcome, and time horizon were all defined before any comparative analysis.</a:t>
            </a:r>
          </a:p>
          <a:p>
            <a:pPr lvl="0" indent="-342900" marL="342900">
              <a:buAutoNum type="arabicPeriod"/>
            </a:pPr>
            <a:r>
              <a:rPr/>
              <a:t>The method choice was prespecified.</a:t>
            </a:r>
          </a:p>
          <a:p>
            <a:pPr lvl="0" indent="-342900" marL="342900">
              <a:buAutoNum type="arabicPeriod"/>
            </a:pPr>
            <a:r>
              <a:rPr/>
              <a:t>The method was checked against plausible data-quality problems specific to this study.</a:t>
            </a:r>
          </a:p>
          <a:p>
            <a:pPr lvl="0" indent="-342900" marL="342900">
              <a:buAutoNum type="arabicPeriod"/>
            </a:pPr>
            <a:r>
              <a:rPr/>
              <a:t>Every decision and every check was recorded.</a:t>
            </a:r>
          </a:p>
          <a:p>
            <a:pPr lvl="0" indent="0" marL="0">
              <a:buNone/>
            </a:pPr>
            <a:r>
              <a:rPr/>
              <a:t>cleanTMLE produces a single artefact, a </a:t>
            </a:r>
            <a:r>
              <a:rPr b="1"/>
              <a:t>pre-outcome study dossier</a:t>
            </a:r>
            <a:r>
              <a:rPr/>
              <a:t>, that contains all four.</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the package fits</a:t>
            </a:r>
          </a:p>
        </p:txBody>
      </p:sp>
      <p:sp>
        <p:nvSpPr>
          <p:cNvPr id="3" name="Content Placeholder 2"/>
          <p:cNvSpPr>
            <a:spLocks noGrp="1"/>
          </p:cNvSpPr>
          <p:nvPr>
            <p:ph idx="1"/>
          </p:nvPr>
        </p:nvSpPr>
        <p:spPr/>
        <p:txBody>
          <a:bodyPr/>
          <a:lstStyle/>
          <a:p>
            <a:pPr lvl="0" indent="0" marL="0">
              <a:buNone/>
            </a:pPr>
            <a:r>
              <a:rPr/>
              <a:t>cleanTMLE is the </a:t>
            </a:r>
            <a:r>
              <a:rPr b="1"/>
              <a:t>software layer</a:t>
            </a:r>
            <a:r>
              <a:rPr/>
              <a:t> of a broader idea, sometimes called a “clean room”, in which the analytic team, the data managers, and the reviewers are kept separate and decisions are documented as the analysis unfolds.</a:t>
            </a:r>
          </a:p>
          <a:p>
            <a:pPr lvl="0" indent="0" marL="0">
              <a:buNone/>
            </a:pPr>
            <a:r>
              <a:rPr/>
              <a:t>The software cannot enforce the institutional side of that arrangement (it cannot stop someone with raw data access from peeking at the outcome). But it can record everything the software side does and make that record auditable.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2. How the package works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short tour of the workflow</a:t>
            </a:r>
          </a:p>
        </p:txBody>
      </p:sp>
      <p:sp>
        <p:nvSpPr>
          <p:cNvPr id="3" name="Content Placeholder 2"/>
          <p:cNvSpPr>
            <a:spLocks noGrp="1"/>
          </p:cNvSpPr>
          <p:nvPr>
            <p:ph idx="1"/>
          </p:nvPr>
        </p:nvSpPr>
        <p:spPr/>
        <p:txBody>
          <a:bodyPr/>
          <a:lstStyle/>
          <a:p>
            <a:pPr lvl="0" indent="0" marL="0">
              <a:buNone/>
            </a:pPr>
            <a:r>
              <a:rPr/>
              <a:t>cleanTMLE runs the analysis in stages. Each stage produces a record. The comparative analysis only runs after all the records show that the prespecified checks have been passed.</a:t>
            </a:r>
          </a:p>
          <a:p>
            <a:pPr lvl="0" indent="-342900" marL="342900">
              <a:buAutoNum type="arabicPeriod"/>
            </a:pPr>
            <a:r>
              <a:rPr b="1"/>
              <a:t>Set up.</a:t>
            </a:r>
            <a:r>
              <a:rPr/>
              <a:t> Write down the question, the cohort, the outcome, and the time horizon.</a:t>
            </a:r>
          </a:p>
          <a:p>
            <a:pPr lvl="0" indent="-342900" marL="342900">
              <a:buAutoNum type="arabicPeriod"/>
            </a:pPr>
            <a:r>
              <a:rPr b="1"/>
              <a:t>Lock the plan.</a:t>
            </a:r>
            <a:r>
              <a:rPr/>
              <a:t> Choose the candidate methods. The plan is fingerprinted so any later change is detectable.</a:t>
            </a:r>
          </a:p>
          <a:p>
            <a:pPr lvl="0" indent="-342900" marL="342900">
              <a:buAutoNum type="arabicPeriod"/>
            </a:pPr>
            <a:r>
              <a:rPr b="1"/>
              <a:t>Check the cohort.</a:t>
            </a:r>
            <a:r>
              <a:rPr/>
              <a:t> Are there enough people? Enough events?</a:t>
            </a:r>
          </a:p>
          <a:p>
            <a:pPr lvl="0" indent="-342900" marL="342900">
              <a:buAutoNum type="arabicPeriod"/>
            </a:pPr>
            <a:r>
              <a:rPr b="1"/>
              <a:t>Design diagnostics.</a:t>
            </a:r>
            <a:r>
              <a:rPr/>
              <a:t> Does the treatment group look comparable to the comparison group on measured baseline variables?</a:t>
            </a:r>
          </a:p>
          <a:p>
            <a:pPr lvl="0" indent="-342900" marL="342900">
              <a:buAutoNum type="arabicPeriod"/>
            </a:pPr>
            <a:r>
              <a:rPr b="1"/>
              <a:t>Compare candidate methods.</a:t>
            </a:r>
            <a:r>
              <a:rPr/>
              <a:t> Run realistic simulations using the real covariate structure but a synthetic outcome to see how each candidate method behaves.</a:t>
            </a:r>
          </a:p>
          <a:p>
            <a:pPr lvl="0" indent="-342900" marL="342900">
              <a:buAutoNum type="arabicPeriod"/>
            </a:pPr>
            <a:r>
              <a:rPr b="1"/>
              <a:t>Stress test.</a:t>
            </a:r>
            <a:r>
              <a:rPr/>
              <a:t> Repeat the simulations under realistic data-quality problems (measurement error, missingness, hidden confounders).</a:t>
            </a:r>
          </a:p>
          <a:p>
            <a:pPr lvl="0" indent="-342900" marL="342900">
              <a:buAutoNum type="arabicPeriod"/>
            </a:pPr>
            <a:r>
              <a:rPr b="1"/>
              <a:t>Decide.</a:t>
            </a:r>
            <a:r>
              <a:rPr/>
              <a:t> Apply a prespecified rule: GO, FLAG, or STOP.</a:t>
            </a:r>
          </a:p>
          <a:p>
            <a:pPr lvl="0" indent="-342900" marL="342900">
              <a:buAutoNum type="arabicPeriod"/>
            </a:pPr>
            <a:r>
              <a:rPr b="1"/>
              <a:t>Run the locked analysis.</a:t>
            </a:r>
            <a:r>
              <a:rPr/>
              <a:t> Only after the previous step authorises it.</a:t>
            </a:r>
          </a:p>
          <a:p>
            <a:pPr lvl="0" indent="-342900" marL="342900">
              <a:buAutoNum type="arabicPeriod"/>
            </a:pPr>
            <a:r>
              <a:rPr b="1"/>
              <a:t>Sensitivity analyses and reporting.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targeted-learning method, in one slide</a:t>
            </a:r>
          </a:p>
        </p:txBody>
      </p:sp>
      <p:sp>
        <p:nvSpPr>
          <p:cNvPr id="3" name="Content Placeholder 2"/>
          <p:cNvSpPr>
            <a:spLocks noGrp="1"/>
          </p:cNvSpPr>
          <p:nvPr>
            <p:ph idx="1"/>
          </p:nvPr>
        </p:nvSpPr>
        <p:spPr/>
        <p:txBody>
          <a:bodyPr/>
          <a:lstStyle/>
          <a:p>
            <a:pPr lvl="0" indent="0" marL="0">
              <a:buNone/>
            </a:pPr>
            <a:r>
              <a:rPr/>
              <a:t>The package uses a method called </a:t>
            </a:r>
            <a:r>
              <a:rPr b="1"/>
              <a:t>TMLE</a:t>
            </a:r>
            <a:r>
              <a:rPr/>
              <a:t> (targeted maximum likelihood estimation). The plain-English idea:</a:t>
            </a:r>
          </a:p>
          <a:p>
            <a:pPr lvl="0"/>
            <a:r>
              <a:rPr/>
              <a:t>TMLE separates the </a:t>
            </a:r>
            <a:r>
              <a:rPr i="1"/>
              <a:t>question</a:t>
            </a:r>
            <a:r>
              <a:rPr/>
              <a:t> (what is the treatment effect?) from the </a:t>
            </a:r>
            <a:r>
              <a:rPr i="1"/>
              <a:t>prediction tasks</a:t>
            </a:r>
            <a:r>
              <a:rPr/>
              <a:t> (predicting who got treatment, predicting the outcome).</a:t>
            </a:r>
          </a:p>
          <a:p>
            <a:pPr lvl="0"/>
            <a:r>
              <a:rPr/>
              <a:t>The prediction tasks can use flexible machine learning. The treatment-effect estimate is then nudged (“targeted”) so that it is properly calibrated for the </a:t>
            </a:r>
            <a:r>
              <a:rPr i="1"/>
              <a:t>question</a:t>
            </a:r>
            <a:r>
              <a:rPr/>
              <a:t>, not just for prediction.</a:t>
            </a:r>
          </a:p>
          <a:p>
            <a:pPr lvl="0"/>
            <a:r>
              <a:rPr/>
              <a:t>The result is a treatment-effect estimate with a standard error and confidence interval you can interpret in the usual way.</a:t>
            </a:r>
          </a:p>
          <a:p>
            <a:pPr lvl="0" indent="0" marL="0">
              <a:buNone/>
            </a:pPr>
            <a:r>
              <a:rPr/>
              <a:t>For our purposes, the important thing is that every part of the TMLE recipe (which machine-learning models, how the predictions are stabilised, how the targeting step is run) can be </a:t>
            </a:r>
            <a:r>
              <a:rPr b="1"/>
              <a:t>written down before the analysis is run</a:t>
            </a:r>
            <a:r>
              <a:rPr/>
              <a: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pre-outcome study dossier</a:t>
            </a:r>
          </a:p>
        </p:txBody>
      </p:sp>
      <p:sp>
        <p:nvSpPr>
          <p:cNvPr id="4" name="Text Placeholder 3"/>
          <p:cNvSpPr>
            <a:spLocks noGrp="1"/>
          </p:cNvSpPr>
          <p:nvPr>
            <p:ph idx="2" sz="half" type="body"/>
          </p:nvPr>
        </p:nvSpPr>
        <p:spPr/>
        <p:txBody>
          <a:bodyPr/>
          <a:lstStyle/>
          <a:p>
            <a:pPr lvl="0" indent="0" marL="0">
              <a:buNone/>
            </a:pPr>
            <a:r>
              <a:rPr/>
              <a:t>The dossier is the document the reviewer reads before authorising the comparative analysis.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Component</a:t>
                      </a:r>
                    </a:p>
                  </a:txBody>
                  <a:tcPr/>
                </a:tc>
                <a:tc>
                  <a:txBody>
                    <a:bodyPr/>
                    <a:lstStyle/>
                    <a:p>
                      <a:pPr lvl="0" indent="0" marL="0">
                        <a:buNone/>
                      </a:pPr>
                      <a:r>
                        <a:rPr/>
                        <a:t>What it shows</a:t>
                      </a:r>
                    </a:p>
                  </a:txBody>
                  <a:tcPr/>
                </a:tc>
              </a:tr>
              <a:tr h="0">
                <a:tc>
                  <a:txBody>
                    <a:bodyPr/>
                    <a:lstStyle/>
                    <a:p>
                      <a:pPr lvl="0" indent="0" marL="0">
                        <a:buNone/>
                      </a:pPr>
                      <a:r>
                        <a:rPr/>
                        <a:t>Protocol and target-trial timing</a:t>
                      </a:r>
                    </a:p>
                  </a:txBody>
                </a:tc>
                <a:tc>
                  <a:txBody>
                    <a:bodyPr/>
                    <a:lstStyle/>
                    <a:p>
                      <a:pPr lvl="0" indent="0" marL="0">
                        <a:buNone/>
                      </a:pPr>
                      <a:r>
                        <a:rPr/>
                        <a:t>The cohort, treatment, outcome, time zero, follow-up</a:t>
                      </a:r>
                    </a:p>
                  </a:txBody>
                </a:tc>
              </a:tr>
              <a:tr h="0">
                <a:tc>
                  <a:txBody>
                    <a:bodyPr/>
                    <a:lstStyle/>
                    <a:p>
                      <a:pPr lvl="0" indent="0" marL="0">
                        <a:buNone/>
                      </a:pPr>
                      <a:r>
                        <a:rPr/>
                        <a:t>Cohort flow</a:t>
                      </a:r>
                    </a:p>
                  </a:txBody>
                </a:tc>
                <a:tc>
                  <a:txBody>
                    <a:bodyPr/>
                    <a:lstStyle/>
                    <a:p>
                      <a:pPr lvl="0" indent="0" marL="0">
                        <a:buNone/>
                      </a:pPr>
                      <a:r>
                        <a:rPr/>
                        <a:t>Who was eligible, who was excluded, why</a:t>
                      </a:r>
                    </a:p>
                  </a:txBody>
                </a:tc>
              </a:tr>
              <a:tr h="0">
                <a:tc>
                  <a:txBody>
                    <a:bodyPr/>
                    <a:lstStyle/>
                    <a:p>
                      <a:pPr lvl="0" indent="0" marL="0">
                        <a:buNone/>
                      </a:pPr>
                      <a:r>
                        <a:rPr/>
                        <a:t>Event-process classification</a:t>
                      </a:r>
                    </a:p>
                  </a:txBody>
                </a:tc>
                <a:tc>
                  <a:txBody>
                    <a:bodyPr/>
                    <a:lstStyle/>
                    <a:p>
                      <a:pPr lvl="0" indent="0" marL="0">
                        <a:buNone/>
                      </a:pPr>
                      <a:r>
                        <a:rPr/>
                        <a:t>What is an outcome, what is a competing event, what is missingness</a:t>
                      </a:r>
                    </a:p>
                  </a:txBody>
                </a:tc>
              </a:tr>
              <a:tr h="0">
                <a:tc>
                  <a:txBody>
                    <a:bodyPr/>
                    <a:lstStyle/>
                    <a:p>
                      <a:pPr lvl="0" indent="0" marL="0">
                        <a:buNone/>
                      </a:pPr>
                      <a:r>
                        <a:rPr/>
                        <a:t>Covariate and missingness summary</a:t>
                      </a:r>
                    </a:p>
                  </a:txBody>
                </a:tc>
                <a:tc>
                  <a:txBody>
                    <a:bodyPr/>
                    <a:lstStyle/>
                    <a:p>
                      <a:pPr lvl="0" indent="0" marL="0">
                        <a:buNone/>
                      </a:pPr>
                      <a:r>
                        <a:rPr/>
                        <a:t>Baseline characteristics and where data are missing</a:t>
                      </a:r>
                    </a:p>
                  </a:txBody>
                </a:tc>
              </a:tr>
              <a:tr h="0">
                <a:tc>
                  <a:txBody>
                    <a:bodyPr/>
                    <a:lstStyle/>
                    <a:p>
                      <a:pPr lvl="0" indent="0" marL="0">
                        <a:buNone/>
                      </a:pPr>
                      <a:r>
                        <a:rPr/>
                        <a:t>Overlap and balance</a:t>
                      </a:r>
                    </a:p>
                  </a:txBody>
                </a:tc>
                <a:tc>
                  <a:txBody>
                    <a:bodyPr/>
                    <a:lstStyle/>
                    <a:p>
                      <a:pPr lvl="0" indent="0" marL="0">
                        <a:buNone/>
                      </a:pPr>
                      <a:r>
                        <a:rPr/>
                        <a:t>Do the two groups look comparable?</a:t>
                      </a:r>
                    </a:p>
                  </a:txBody>
                </a:tc>
              </a:tr>
              <a:tr h="0">
                <a:tc>
                  <a:txBody>
                    <a:bodyPr/>
                    <a:lstStyle/>
                    <a:p>
                      <a:pPr lvl="0" indent="0" marL="0">
                        <a:buNone/>
                      </a:pPr>
                      <a:r>
                        <a:rPr/>
                        <a:t>Weight diagnostics</a:t>
                      </a:r>
                    </a:p>
                  </a:txBody>
                </a:tc>
                <a:tc>
                  <a:txBody>
                    <a:bodyPr/>
                    <a:lstStyle/>
                    <a:p>
                      <a:pPr lvl="0" indent="0" marL="0">
                        <a:buNone/>
                      </a:pPr>
                      <a:r>
                        <a:rPr/>
                        <a:t>Are the propensity-score weights well-behaved?</a:t>
                      </a:r>
                    </a:p>
                  </a:txBody>
                </a:tc>
              </a:tr>
              <a:tr h="0">
                <a:tc>
                  <a:txBody>
                    <a:bodyPr/>
                    <a:lstStyle/>
                    <a:p>
                      <a:pPr lvl="0" indent="0" marL="0">
                        <a:buNone/>
                      </a:pPr>
                      <a:r>
                        <a:rPr/>
                        <a:t>Baseline plasmode results</a:t>
                      </a:r>
                    </a:p>
                  </a:txBody>
                </a:tc>
                <a:tc>
                  <a:txBody>
                    <a:bodyPr/>
                    <a:lstStyle/>
                    <a:p>
                      <a:pPr lvl="0" indent="0" marL="0">
                        <a:buNone/>
                      </a:pPr>
                      <a:r>
                        <a:rPr/>
                        <a:t>How do the candidate methods perform under a realistic synthetic outcome?</a:t>
                      </a:r>
                    </a:p>
                  </a:txBody>
                </a:tc>
              </a:tr>
              <a:tr h="0">
                <a:tc>
                  <a:txBody>
                    <a:bodyPr/>
                    <a:lstStyle/>
                    <a:p>
                      <a:pPr lvl="0" indent="0" marL="0">
                        <a:buNone/>
                      </a:pPr>
                      <a:r>
                        <a:rPr/>
                        <a:t>Data-quality stress test</a:t>
                      </a:r>
                    </a:p>
                  </a:txBody>
                </a:tc>
                <a:tc>
                  <a:txBody>
                    <a:bodyPr/>
                    <a:lstStyle/>
                    <a:p>
                      <a:pPr lvl="0" indent="0" marL="0">
                        <a:buNone/>
                      </a:pPr>
                      <a:r>
                        <a:rPr/>
                        <a:t>How do they hold up under realistic threats?</a:t>
                      </a:r>
                    </a:p>
                  </a:txBody>
                </a:tc>
              </a:tr>
              <a:tr h="0">
                <a:tc>
                  <a:txBody>
                    <a:bodyPr/>
                    <a:lstStyle/>
                    <a:p>
                      <a:pPr lvl="0" indent="0" marL="0">
                        <a:buNone/>
                      </a:pPr>
                      <a:r>
                        <a:rPr/>
                        <a:t>Negative controls</a:t>
                      </a:r>
                    </a:p>
                  </a:txBody>
                </a:tc>
                <a:tc>
                  <a:txBody>
                    <a:bodyPr/>
                    <a:lstStyle/>
                    <a:p>
                      <a:pPr lvl="0" indent="0" marL="0">
                        <a:buNone/>
                      </a:pPr>
                      <a:r>
                        <a:rPr/>
                        <a:t>Probes for residual confounding</a:t>
                      </a:r>
                    </a:p>
                  </a:txBody>
                </a:tc>
              </a:tr>
              <a:tr h="0">
                <a:tc>
                  <a:txBody>
                    <a:bodyPr/>
                    <a:lstStyle/>
                    <a:p>
                      <a:pPr lvl="0" indent="0" marL="0">
                        <a:buNone/>
                      </a:pPr>
                      <a:r>
                        <a:rPr/>
                        <a:t>Pre-outcome decision (GO / FLAG / STOP)</a:t>
                      </a:r>
                    </a:p>
                  </a:txBody>
                </a:tc>
                <a:tc>
                  <a:txBody>
                    <a:bodyPr/>
                    <a:lstStyle/>
                    <a:p>
                      <a:pPr lvl="0" indent="0" marL="0">
                        <a:buNone/>
                      </a:pPr>
                      <a:r>
                        <a:rPr/>
                        <a:t>The reviewer’s verdict</a:t>
                      </a:r>
                    </a:p>
                  </a:txBody>
                </a:tc>
              </a:tr>
              <a:tr h="0">
                <a:tc>
                  <a:txBody>
                    <a:bodyPr/>
                    <a:lstStyle/>
                    <a:p>
                      <a:pPr lvl="0" indent="0" marL="0">
                        <a:buNone/>
                      </a:pPr>
                      <a:r>
                        <a:rPr/>
                        <a:t>Decision and audit logs</a:t>
                      </a:r>
                    </a:p>
                  </a:txBody>
                </a:tc>
                <a:tc>
                  <a:txBody>
                    <a:bodyPr/>
                    <a:lstStyle/>
                    <a:p>
                      <a:pPr lvl="0" indent="0" marL="0">
                        <a:buNone/>
                      </a:pPr>
                      <a:r>
                        <a:rPr/>
                        <a:t>Everything that happened</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three decision labels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Label</a:t>
                      </a:r>
                    </a:p>
                  </a:txBody>
                  <a:tcPr/>
                </a:tc>
                <a:tc>
                  <a:txBody>
                    <a:bodyPr/>
                    <a:lstStyle/>
                    <a:p>
                      <a:pPr lvl="0" indent="0" marL="0">
                        <a:buNone/>
                      </a:pPr>
                      <a:r>
                        <a:rPr/>
                        <a:t>Meaning</a:t>
                      </a:r>
                    </a:p>
                  </a:txBody>
                  <a:tcPr/>
                </a:tc>
              </a:tr>
              <a:tr h="0">
                <a:tc>
                  <a:txBody>
                    <a:bodyPr/>
                    <a:lstStyle/>
                    <a:p>
                      <a:pPr lvl="0" indent="0" marL="0">
                        <a:buNone/>
                      </a:pPr>
                      <a:r>
                        <a:rPr b="1"/>
                        <a:t>GO</a:t>
                      </a:r>
                    </a:p>
                  </a:txBody>
                </a:tc>
                <a:tc>
                  <a:txBody>
                    <a:bodyPr/>
                    <a:lstStyle/>
                    <a:p>
                      <a:pPr lvl="0" indent="0" marL="0">
                        <a:buNone/>
                      </a:pPr>
                      <a:r>
                        <a:rPr/>
                        <a:t>Proceed to the locked comparative analysis.</a:t>
                      </a:r>
                    </a:p>
                  </a:txBody>
                </a:tc>
              </a:tr>
              <a:tr h="0">
                <a:tc>
                  <a:txBody>
                    <a:bodyPr/>
                    <a:lstStyle/>
                    <a:p>
                      <a:pPr lvl="0" indent="0" marL="0">
                        <a:buNone/>
                      </a:pPr>
                      <a:r>
                        <a:rPr b="1"/>
                        <a:t>FLAG</a:t>
                      </a:r>
                    </a:p>
                  </a:txBody>
                </a:tc>
                <a:tc>
                  <a:txBody>
                    <a:bodyPr/>
                    <a:lstStyle/>
                    <a:p>
                      <a:pPr lvl="0" indent="0" marL="0">
                        <a:buNone/>
                      </a:pPr>
                      <a:r>
                        <a:rPr/>
                        <a:t>Proceed, but document a concern that the report should address.</a:t>
                      </a:r>
                    </a:p>
                  </a:txBody>
                </a:tc>
              </a:tr>
              <a:tr h="0">
                <a:tc>
                  <a:txBody>
                    <a:bodyPr/>
                    <a:lstStyle/>
                    <a:p>
                      <a:pPr lvl="0" indent="0" marL="0">
                        <a:buNone/>
                      </a:pPr>
                      <a:r>
                        <a:rPr b="1"/>
                        <a:t>STOP</a:t>
                      </a:r>
                    </a:p>
                  </a:txBody>
                </a:tc>
                <a:tc>
                  <a:txBody>
                    <a:bodyPr/>
                    <a:lstStyle/>
                    <a:p>
                      <a:pPr lvl="0" indent="0" marL="0">
                        <a:buNone/>
                      </a:pPr>
                      <a:r>
                        <a:rPr/>
                        <a:t>Do not run the comparative analysis as planned. Redesign, narrow the question, or document an override.</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 GO decision is </a:t>
            </a:r>
            <a:r>
              <a:rPr b="1"/>
              <a:t>not</a:t>
            </a:r>
            <a:r>
              <a:rPr/>
              <a:t> a guarantee that the answer is correct. It says: under the assumptions we wrote down, the checks did not fail.</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software does, and does not, control</a:t>
            </a:r>
          </a:p>
        </p:txBody>
      </p:sp>
      <p:sp>
        <p:nvSpPr>
          <p:cNvPr id="3" name="Content Placeholder 2"/>
          <p:cNvSpPr>
            <a:spLocks noGrp="1"/>
          </p:cNvSpPr>
          <p:nvPr>
            <p:ph idx="1"/>
          </p:nvPr>
        </p:nvSpPr>
        <p:spPr/>
        <p:txBody>
          <a:bodyPr/>
          <a:lstStyle/>
          <a:p>
            <a:pPr lvl="0" indent="0" marL="0">
              <a:buNone/>
            </a:pPr>
            <a:r>
              <a:rPr/>
              <a:t>The package can:</a:t>
            </a:r>
          </a:p>
          <a:p>
            <a:pPr lvl="0"/>
            <a:r>
              <a:rPr/>
              <a:t>Record every decision and check.</a:t>
            </a:r>
          </a:p>
          <a:p>
            <a:pPr lvl="0"/>
            <a:r>
              <a:rPr/>
              <a:t>Refuse to run a comparative analysis until the dossier is complete.</a:t>
            </a:r>
          </a:p>
          <a:p>
            <a:pPr lvl="0"/>
            <a:r>
              <a:rPr/>
              <a:t>Apply a prespecified GO / FLAG / STOP rule on a common quantitative scale.</a:t>
            </a:r>
          </a:p>
          <a:p>
            <a:pPr lvl="0" indent="0" marL="0">
              <a:buNone/>
            </a:pPr>
            <a:r>
              <a:rPr/>
              <a:t>The package cannot:</a:t>
            </a:r>
          </a:p>
          <a:p>
            <a:pPr lvl="0"/>
            <a:r>
              <a:rPr/>
              <a:t>Stop someone with raw-data access from looking at the outcome outside the package.</a:t>
            </a:r>
          </a:p>
          <a:p>
            <a:pPr lvl="0"/>
            <a:r>
              <a:rPr/>
              <a:t>Validate that an exposure or outcome was </a:t>
            </a:r>
            <a:r>
              <a:rPr i="1"/>
              <a:t>measured</a:t>
            </a:r>
            <a:r>
              <a:rPr/>
              <a:t> correctly.</a:t>
            </a:r>
          </a:p>
          <a:p>
            <a:pPr lvl="0"/>
            <a:r>
              <a:rPr/>
              <a:t>Replace independent review.</a:t>
            </a:r>
          </a:p>
          <a:p>
            <a:pPr lvl="0" indent="0" marL="0">
              <a:buNone/>
            </a:pPr>
            <a:r>
              <a:rPr/>
              <a:t>These remaining safeguards have to come from the institution running the study.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3. Simulation results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simulations are for</a:t>
            </a:r>
          </a:p>
        </p:txBody>
      </p:sp>
      <p:sp>
        <p:nvSpPr>
          <p:cNvPr id="3" name="Content Placeholder 2"/>
          <p:cNvSpPr>
            <a:spLocks noGrp="1"/>
          </p:cNvSpPr>
          <p:nvPr>
            <p:ph idx="1"/>
          </p:nvPr>
        </p:nvSpPr>
        <p:spPr/>
        <p:txBody>
          <a:bodyPr/>
          <a:lstStyle/>
          <a:p>
            <a:pPr lvl="0" indent="0" marL="0">
              <a:buNone/>
            </a:pPr>
            <a:r>
              <a:rPr/>
              <a:t>We simulated three contrasting scenarios on a small dataset (2,000 people, 200 repetitions each), then ran the same six estimators in each:</a:t>
            </a:r>
          </a:p>
          <a:p>
            <a:pPr lvl="0"/>
            <a:r>
              <a:rPr b="1"/>
              <a:t>Scenario A.</a:t>
            </a:r>
            <a:r>
              <a:rPr/>
              <a:t> Easy: treatment groups overlap well, no hidden confounders.</a:t>
            </a:r>
          </a:p>
          <a:p>
            <a:pPr lvl="0"/>
            <a:r>
              <a:rPr b="1"/>
              <a:t>Scenario B.</a:t>
            </a:r>
            <a:r>
              <a:rPr/>
              <a:t> Harder: groups overlap only partially.</a:t>
            </a:r>
          </a:p>
          <a:p>
            <a:pPr lvl="0"/>
            <a:r>
              <a:rPr b="1"/>
              <a:t>Scenario C.</a:t>
            </a:r>
            <a:r>
              <a:rPr/>
              <a:t> Hardest: there is a hidden confounder the analyst cannot measure.</a:t>
            </a:r>
          </a:p>
          <a:p>
            <a:pPr lvl="0" indent="0" marL="0">
              <a:buNone/>
            </a:pPr>
            <a:r>
              <a:rPr/>
              <a:t>We also re-ran each scenario under four kinds of data-quality stress: covariate missingness, exposure measurement error, outcome measurement error, and unmeasured confounding.</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six methods, in plain language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Method</a:t>
                      </a:r>
                    </a:p>
                  </a:txBody>
                  <a:tcPr/>
                </a:tc>
                <a:tc>
                  <a:txBody>
                    <a:bodyPr/>
                    <a:lstStyle/>
                    <a:p>
                      <a:pPr lvl="0" indent="0" marL="0">
                        <a:buNone/>
                      </a:pPr>
                      <a:r>
                        <a:rPr/>
                        <a:t>What it does</a:t>
                      </a:r>
                    </a:p>
                  </a:txBody>
                  <a:tcPr/>
                </a:tc>
              </a:tr>
              <a:tr h="0">
                <a:tc>
                  <a:txBody>
                    <a:bodyPr/>
                    <a:lstStyle/>
                    <a:p>
                      <a:pPr lvl="0" indent="0" marL="0">
                        <a:buNone/>
                      </a:pPr>
                      <a:r>
                        <a:rPr b="1"/>
                        <a:t>Crude</a:t>
                      </a:r>
                    </a:p>
                  </a:txBody>
                </a:tc>
                <a:tc>
                  <a:txBody>
                    <a:bodyPr/>
                    <a:lstStyle/>
                    <a:p>
                      <a:pPr lvl="0" indent="0" marL="0">
                        <a:buNone/>
                      </a:pPr>
                      <a:r>
                        <a:rPr/>
                        <a:t>Compare outcome rates in the two groups; ignore baseline differences.</a:t>
                      </a:r>
                    </a:p>
                  </a:txBody>
                </a:tc>
              </a:tr>
              <a:tr h="0">
                <a:tc>
                  <a:txBody>
                    <a:bodyPr/>
                    <a:lstStyle/>
                    <a:p>
                      <a:pPr lvl="0" indent="0" marL="0">
                        <a:buNone/>
                      </a:pPr>
                      <a:r>
                        <a:rPr b="1"/>
                        <a:t>Propensity-score matching</a:t>
                      </a:r>
                    </a:p>
                  </a:txBody>
                </a:tc>
                <a:tc>
                  <a:txBody>
                    <a:bodyPr/>
                    <a:lstStyle/>
                    <a:p>
                      <a:pPr lvl="0" indent="0" marL="0">
                        <a:buNone/>
                      </a:pPr>
                      <a:r>
                        <a:rPr/>
                        <a:t>Pair each treated person with an untreated person who looks similar at baseline.</a:t>
                      </a:r>
                    </a:p>
                  </a:txBody>
                </a:tc>
              </a:tr>
              <a:tr h="0">
                <a:tc>
                  <a:txBody>
                    <a:bodyPr/>
                    <a:lstStyle/>
                    <a:p>
                      <a:pPr lvl="0" indent="0" marL="0">
                        <a:buNone/>
                      </a:pPr>
                      <a:r>
                        <a:rPr b="1"/>
                        <a:t>IPTW</a:t>
                      </a:r>
                      <a:r>
                        <a:rPr/>
                        <a:t> (inverse-probability weighting)</a:t>
                      </a:r>
                    </a:p>
                  </a:txBody>
                </a:tc>
                <a:tc>
                  <a:txBody>
                    <a:bodyPr/>
                    <a:lstStyle/>
                    <a:p>
                      <a:pPr lvl="0" indent="0" marL="0">
                        <a:buNone/>
                      </a:pPr>
                      <a:r>
                        <a:rPr/>
                        <a:t>Re-weight people so the two groups look balanced on baseline variables, then compare.</a:t>
                      </a:r>
                    </a:p>
                  </a:txBody>
                </a:tc>
              </a:tr>
              <a:tr h="0">
                <a:tc>
                  <a:txBody>
                    <a:bodyPr/>
                    <a:lstStyle/>
                    <a:p>
                      <a:pPr lvl="0" indent="0" marL="0">
                        <a:buNone/>
                      </a:pPr>
                      <a:r>
                        <a:rPr b="1"/>
                        <a:t>TMLE</a:t>
                      </a:r>
                    </a:p>
                  </a:txBody>
                </a:tc>
                <a:tc>
                  <a:txBody>
                    <a:bodyPr/>
                    <a:lstStyle/>
                    <a:p>
                      <a:pPr lvl="0" indent="0" marL="0">
                        <a:buNone/>
                      </a:pPr>
                      <a:r>
                        <a:rPr/>
                        <a:t>Use flexible models for who got treatment and who has the outcome, then nudge the estimate so it is properly calibrated for the </a:t>
                      </a:r>
                      <a:r>
                        <a:rPr i="1"/>
                        <a:t>treatment effect</a:t>
                      </a:r>
                      <a:r>
                        <a:rPr/>
                        <a:t>.</a:t>
                      </a:r>
                    </a:p>
                  </a:txBody>
                </a:tc>
              </a:tr>
              <a:tr h="0">
                <a:tc>
                  <a:txBody>
                    <a:bodyPr/>
                    <a:lstStyle/>
                    <a:p>
                      <a:pPr lvl="0" indent="0" marL="0">
                        <a:buNone/>
                      </a:pPr>
                      <a:r>
                        <a:rPr b="1"/>
                        <a:t>CV-TMLE</a:t>
                      </a:r>
                    </a:p>
                  </a:txBody>
                </a:tc>
                <a:tc>
                  <a:txBody>
                    <a:bodyPr/>
                    <a:lstStyle/>
                    <a:p>
                      <a:pPr lvl="0" indent="0" marL="0">
                        <a:buNone/>
                      </a:pPr>
                      <a:r>
                        <a:rPr/>
                        <a:t>TMLE with cross-fitting; gives more honest standard errors when the models are flexible.</a:t>
                      </a:r>
                    </a:p>
                  </a:txBody>
                </a:tc>
              </a:tr>
              <a:tr h="0">
                <a:tc>
                  <a:txBody>
                    <a:bodyPr/>
                    <a:lstStyle/>
                    <a:p>
                      <a:pPr lvl="0" indent="0" marL="0">
                        <a:buNone/>
                      </a:pPr>
                      <a:r>
                        <a:rPr b="1"/>
                        <a:t>Matched TMLE</a:t>
                      </a:r>
                    </a:p>
                  </a:txBody>
                </a:tc>
                <a:tc>
                  <a:txBody>
                    <a:bodyPr/>
                    <a:lstStyle/>
                    <a:p>
                      <a:pPr lvl="0" indent="0" marL="0">
                        <a:buNone/>
                      </a:pPr>
                      <a:r>
                        <a:rPr/>
                        <a:t>Match first, then run TMLE on the matched subset.</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first three are “traditional” methods. The last three are targeted-learning methods.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Result 1 — under good overlap, everything works</a:t>
            </a:r>
          </a:p>
        </p:txBody>
      </p:sp>
      <p:sp>
        <p:nvSpPr>
          <p:cNvPr id="3" name="Content Placeholder 2"/>
          <p:cNvSpPr>
            <a:spLocks noGrp="1"/>
          </p:cNvSpPr>
          <p:nvPr>
            <p:ph idx="1"/>
          </p:nvPr>
        </p:nvSpPr>
        <p:spPr/>
        <p:txBody>
          <a:bodyPr/>
          <a:lstStyle/>
          <a:p>
            <a:pPr lvl="0" indent="0" marL="0">
              <a:buNone/>
            </a:pPr>
            <a:r>
              <a:rPr/>
              <a:t>In Scenario A, all the adjusted estimators recover the true effect. Bias is well under the 0.02 threshold we set, and the 95 % confidence intervals cover the truth about 95 % of the time. The unadjusted comparison has substantial leftover confounding.</a:t>
            </a:r>
          </a:p>
          <a:p>
            <a:pPr lvl="0" indent="0" marL="0">
              <a:buNone/>
            </a:pPr>
            <a:r>
              <a:rPr b="1"/>
              <a:t>Reviewer summary:</a:t>
            </a:r>
            <a:r>
              <a:rPr/>
              <a:t> the workflow says </a:t>
            </a:r>
            <a:r>
              <a:rPr b="1"/>
              <a:t>GO</a:t>
            </a:r>
            <a:r>
              <a:rPr/>
              <a:t>. This is the benchmark check that the machinery is correctly wired.</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Result 2 — under marginal overlap, TMLE holds up; some standard errors don’t</a:t>
            </a:r>
          </a:p>
        </p:txBody>
      </p:sp>
      <p:sp>
        <p:nvSpPr>
          <p:cNvPr id="3" name="Content Placeholder 2"/>
          <p:cNvSpPr>
            <a:spLocks noGrp="1"/>
          </p:cNvSpPr>
          <p:nvPr>
            <p:ph idx="1"/>
          </p:nvPr>
        </p:nvSpPr>
        <p:spPr/>
        <p:txBody>
          <a:bodyPr/>
          <a:lstStyle/>
          <a:p>
            <a:pPr lvl="0" indent="0" marL="0">
              <a:buNone/>
            </a:pPr>
            <a:r>
              <a:rPr/>
              <a:t>In Scenario B, the harder of the two structural scenarios:</a:t>
            </a:r>
          </a:p>
          <a:p>
            <a:pPr lvl="0"/>
            <a:r>
              <a:rPr b="1"/>
              <a:t>TMLE and cross-validated TMLE</a:t>
            </a:r>
            <a:r>
              <a:rPr/>
              <a:t> keep bias small relative to the spread of the estimates.</a:t>
            </a:r>
          </a:p>
          <a:p>
            <a:pPr lvl="0"/>
            <a:r>
              <a:rPr b="1"/>
              <a:t>Inverse-probability weighting</a:t>
            </a:r>
            <a:r>
              <a:rPr/>
              <a:t> (IPTW) shows confidence intervals that are too wide. The reason is technical (the variance formula assumes the propensity score is known when in fact it was estimated). A bootstrap variance is the standard fix.</a:t>
            </a:r>
          </a:p>
          <a:p>
            <a:pPr lvl="0"/>
            <a:r>
              <a:rPr b="1"/>
              <a:t>Matched TMLE</a:t>
            </a:r>
            <a:r>
              <a:rPr/>
              <a:t> has the same issue, for the same reason. The standard error roughly doubles the actual spread of the estimates.</a:t>
            </a:r>
          </a:p>
          <a:p>
            <a:pPr lvl="0" indent="0" marL="0">
              <a:buNone/>
            </a:pPr>
            <a:r>
              <a:rPr b="1"/>
              <a:t>Reviewer summary:</a:t>
            </a:r>
            <a:r>
              <a:rPr/>
              <a:t> the workflow says </a:t>
            </a:r>
            <a:r>
              <a:rPr b="1"/>
              <a:t>GO with a FLAG</a:t>
            </a:r>
            <a:r>
              <a:rPr/>
              <a:t> noting that IPTW and matched-TMLE confidence intervals need a bootstrap variance before they are reported as primary.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Result 3 — under unmeasured confounding, the workflow correctly stops</a:t>
            </a:r>
          </a:p>
        </p:txBody>
      </p:sp>
      <p:sp>
        <p:nvSpPr>
          <p:cNvPr id="3" name="Content Placeholder 2"/>
          <p:cNvSpPr>
            <a:spLocks noGrp="1"/>
          </p:cNvSpPr>
          <p:nvPr>
            <p:ph idx="1"/>
          </p:nvPr>
        </p:nvSpPr>
        <p:spPr/>
        <p:txBody>
          <a:bodyPr/>
          <a:lstStyle/>
          <a:p>
            <a:pPr lvl="0" indent="0" marL="0">
              <a:buNone/>
            </a:pPr>
            <a:r>
              <a:rPr/>
              <a:t>In Scenario C, where there is a confounder the analyst cannot measure:</a:t>
            </a:r>
          </a:p>
          <a:p>
            <a:pPr lvl="0"/>
            <a:r>
              <a:rPr/>
              <a:t>Every estimator is biased in the same direction. TMLE is the </a:t>
            </a:r>
            <a:r>
              <a:rPr i="1"/>
              <a:t>least</a:t>
            </a:r>
            <a:r>
              <a:rPr/>
              <a:t> biased, but it is still biased.</a:t>
            </a:r>
          </a:p>
          <a:p>
            <a:pPr lvl="0"/>
            <a:r>
              <a:rPr/>
              <a:t>The baseline plasmode coverage sits at the lower edge of the acceptable range; what makes the failure unambiguous is the unmeasured-confounder stress-test row, where bias exceeds the prespecified threshold.</a:t>
            </a:r>
          </a:p>
          <a:p>
            <a:pPr lvl="0" indent="0" marL="0">
              <a:buNone/>
            </a:pPr>
            <a:r>
              <a:rPr b="1"/>
              <a:t>Reviewer summary:</a:t>
            </a:r>
            <a:r>
              <a:rPr/>
              <a:t> the workflow says </a:t>
            </a:r>
            <a:r>
              <a:rPr b="1"/>
              <a:t>STOP</a:t>
            </a:r>
            <a:r>
              <a:rPr/>
              <a:t>. The locked analysis should not be run as planned; the study needs redesign, a narrower question, additional validation, or a documented override.</a:t>
            </a:r>
          </a:p>
          <a:p>
            <a:pPr lvl="0" indent="0" marL="0">
              <a:buNone/>
            </a:pPr>
            <a:r>
              <a:rPr/>
              <a:t>The takeaway is not that the software “detects” hidden confounding (it cannot). The takeaway is that the prespecified rule was willing to return STOP when a built-in identification failure was present — which is what we want.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Result 4 — the stress test is most useful for identification and measurement, not for variance</a:t>
            </a:r>
          </a:p>
        </p:txBody>
      </p:sp>
      <p:sp>
        <p:nvSpPr>
          <p:cNvPr id="3" name="Content Placeholder 2"/>
          <p:cNvSpPr>
            <a:spLocks noGrp="1"/>
          </p:cNvSpPr>
          <p:nvPr>
            <p:ph idx="1"/>
          </p:nvPr>
        </p:nvSpPr>
        <p:spPr/>
        <p:txBody>
          <a:bodyPr/>
          <a:lstStyle/>
          <a:p>
            <a:pPr lvl="0" indent="0" marL="0">
              <a:buNone/>
            </a:pPr>
            <a:r>
              <a:rPr/>
              <a:t>The four kinds of stress behaved differently:</a:t>
            </a:r>
          </a:p>
          <a:p>
            <a:pPr lvl="0"/>
            <a:r>
              <a:rPr b="1"/>
              <a:t>Covariate missingness</a:t>
            </a:r>
            <a:r>
              <a:rPr/>
              <a:t> produced a flat gradient — the workflow handles MCAR + median imputation correctly, but this is a weak test (MAR / MNAR variants are on the 0.2 roadmap).</a:t>
            </a:r>
          </a:p>
          <a:p>
            <a:pPr lvl="0"/>
            <a:r>
              <a:rPr b="1"/>
              <a:t>Exposure measurement error</a:t>
            </a:r>
            <a:r>
              <a:rPr/>
              <a:t> attenuated the estimate toward “no effect”, as expected.</a:t>
            </a:r>
          </a:p>
          <a:p>
            <a:pPr lvl="0"/>
            <a:r>
              <a:rPr b="1"/>
              <a:t>Outcome measurement error</a:t>
            </a:r>
            <a:r>
              <a:rPr/>
              <a:t> produced the largest bias of the three measurement threats, especially when error rates differed between treatment groups.</a:t>
            </a:r>
          </a:p>
          <a:p>
            <a:pPr lvl="0"/>
            <a:r>
              <a:rPr b="1"/>
              <a:t>Unmeasured confounding</a:t>
            </a:r>
            <a:r>
              <a:rPr/>
              <a:t> produced the largest degradation overall, and was the only threat that pushed RMSE more than 50 % above the baseline plasmode.</a:t>
            </a:r>
          </a:p>
          <a:p>
            <a:pPr lvl="0" indent="0" marL="0">
              <a:buNone/>
            </a:pPr>
            <a:r>
              <a:rPr b="1"/>
              <a:t>Reviewer summary:</a:t>
            </a:r>
            <a:r>
              <a:rPr/>
              <a:t> the data-quality stress test is most informative when the threat targets either how well variables were measured or whether identification holds. It is less informative for ordinary sampling variability, which is already covered by the baseline simulation.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Two operational lessons for any applied user</a:t>
            </a:r>
          </a:p>
        </p:txBody>
      </p:sp>
      <p:sp>
        <p:nvSpPr>
          <p:cNvPr id="3" name="Content Placeholder 2"/>
          <p:cNvSpPr>
            <a:spLocks noGrp="1"/>
          </p:cNvSpPr>
          <p:nvPr>
            <p:ph idx="1"/>
          </p:nvPr>
        </p:nvSpPr>
        <p:spPr/>
        <p:txBody>
          <a:bodyPr/>
          <a:lstStyle/>
          <a:p>
            <a:pPr lvl="0" indent="-342900" marL="342900">
              <a:buAutoNum type="arabicPeriod"/>
            </a:pPr>
            <a:r>
              <a:rPr b="1"/>
              <a:t>IPTW standard errors are conservative when the propensity score was estimated.</a:t>
            </a:r>
            <a:r>
              <a:rPr/>
              <a:t> This is a well-known property of the influence-function-based variance. If IPTW is primary, bootstrap the standard error.</a:t>
            </a:r>
          </a:p>
          <a:p>
            <a:pPr lvl="0" indent="-342900" marL="342900">
              <a:buAutoNum type="arabicPeriod"/>
            </a:pPr>
            <a:r>
              <a:rPr b="1"/>
              <a:t>Matched-TMLE standard errors are also conservative.</a:t>
            </a:r>
            <a:r>
              <a:rPr/>
              <a:t> The post-match TMLE step ignores the matching draw. A block bootstrap fixes this.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Traditional approach vs the outcome-blind workflow</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Scenario</a:t>
                      </a:r>
                    </a:p>
                  </a:txBody>
                  <a:tcPr/>
                </a:tc>
                <a:tc>
                  <a:txBody>
                    <a:bodyPr/>
                    <a:lstStyle/>
                    <a:p>
                      <a:pPr lvl="0" indent="0" marL="0">
                        <a:buNone/>
                      </a:pPr>
                      <a:r>
                        <a:rPr/>
                        <a:t>What a traditional analyst would see</a:t>
                      </a:r>
                    </a:p>
                  </a:txBody>
                  <a:tcPr/>
                </a:tc>
                <a:tc>
                  <a:txBody>
                    <a:bodyPr/>
                    <a:lstStyle/>
                    <a:p>
                      <a:pPr lvl="0" indent="0" marL="0">
                        <a:buNone/>
                      </a:pPr>
                      <a:r>
                        <a:rPr/>
                        <a:t>What the outcome-blind workflow does</a:t>
                      </a:r>
                    </a:p>
                  </a:txBody>
                  <a:tcPr/>
                </a:tc>
              </a:tr>
              <a:tr h="0">
                <a:tc>
                  <a:txBody>
                    <a:bodyPr/>
                    <a:lstStyle/>
                    <a:p>
                      <a:pPr lvl="0" indent="0" marL="0">
                        <a:buNone/>
                      </a:pPr>
                      <a:r>
                        <a:rPr b="1"/>
                        <a:t>A. Good overlap</a:t>
                      </a:r>
                    </a:p>
                  </a:txBody>
                </a:tc>
                <a:tc>
                  <a:txBody>
                    <a:bodyPr/>
                    <a:lstStyle/>
                    <a:p>
                      <a:pPr lvl="0" indent="0" marL="0">
                        <a:buNone/>
                      </a:pPr>
                      <a:r>
                        <a:rPr/>
                        <a:t>PS diagnostics look good; pick a method; report.</a:t>
                      </a:r>
                    </a:p>
                  </a:txBody>
                </a:tc>
                <a:tc>
                  <a:txBody>
                    <a:bodyPr/>
                    <a:lstStyle/>
                    <a:p>
                      <a:pPr lvl="0" indent="0" marL="0">
                        <a:buNone/>
                      </a:pPr>
                      <a:r>
                        <a:rPr/>
                        <a:t>Same diagnostics, plus plasmode confirms all candidates behave well. </a:t>
                      </a:r>
                      <a:r>
                        <a:rPr b="1"/>
                        <a:t>GO.</a:t>
                      </a:r>
                    </a:p>
                  </a:txBody>
                </a:tc>
              </a:tr>
              <a:tr h="0">
                <a:tc>
                  <a:txBody>
                    <a:bodyPr/>
                    <a:lstStyle/>
                    <a:p>
                      <a:pPr lvl="0" indent="0" marL="0">
                        <a:buNone/>
                      </a:pPr>
                      <a:r>
                        <a:rPr b="1"/>
                        <a:t>B. Marginal overlap</a:t>
                      </a:r>
                    </a:p>
                  </a:txBody>
                </a:tc>
                <a:tc>
                  <a:txBody>
                    <a:bodyPr/>
                    <a:lstStyle/>
                    <a:p>
                      <a:pPr lvl="0" indent="0" marL="0">
                        <a:buNone/>
                      </a:pPr>
                      <a:r>
                        <a:rPr/>
                        <a:t>PS overlap shows the strain; weights are heavy. An attentive analyst will widen the truncation or switch methods. Many do not.</a:t>
                      </a:r>
                    </a:p>
                  </a:txBody>
                </a:tc>
                <a:tc>
                  <a:txBody>
                    <a:bodyPr/>
                    <a:lstStyle/>
                    <a:p>
                      <a:pPr lvl="0" indent="0" marL="0">
                        <a:buNone/>
                      </a:pPr>
                      <a:r>
                        <a:rPr/>
                        <a:t>Plasmode quantifies that IPTW SE/SD ratio runs &gt; 1 and matched-TMLE doubles it. </a:t>
                      </a:r>
                      <a:r>
                        <a:rPr b="1"/>
                        <a:t>GO with a FLAG</a:t>
                      </a:r>
                      <a:r>
                        <a:rPr/>
                        <a:t> explicitly recommending bootstrap variance.</a:t>
                      </a:r>
                    </a:p>
                  </a:txBody>
                </a:tc>
              </a:tr>
              <a:tr h="0">
                <a:tc>
                  <a:txBody>
                    <a:bodyPr/>
                    <a:lstStyle/>
                    <a:p>
                      <a:pPr lvl="0" indent="0" marL="0">
                        <a:buNone/>
                      </a:pPr>
                      <a:r>
                        <a:rPr b="1"/>
                        <a:t>C. Unmeasured confounding</a:t>
                      </a:r>
                    </a:p>
                  </a:txBody>
                </a:tc>
                <a:tc>
                  <a:txBody>
                    <a:bodyPr/>
                    <a:lstStyle/>
                    <a:p>
                      <a:pPr lvl="0" indent="0" marL="0">
                        <a:buNone/>
                      </a:pPr>
                      <a:r>
                        <a:rPr/>
                        <a:t>All adjusted estimates agree on a non-null effect. Without an external probe, the analyst would likely proceed and report.</a:t>
                      </a:r>
                    </a:p>
                  </a:txBody>
                </a:tc>
                <a:tc>
                  <a:txBody>
                    <a:bodyPr/>
                    <a:lstStyle/>
                    <a:p>
                      <a:pPr lvl="0" indent="0" marL="0">
                        <a:buNone/>
                      </a:pPr>
                      <a:r>
                        <a:rPr/>
                        <a:t>The prespecified unmeasured-confounding row of the DQ stress test pushes bias above the locked threshold. </a:t>
                      </a:r>
                      <a:r>
                        <a:rPr b="1"/>
                        <a:t>STOP.</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contrast is sharpest in Scenario C: a traditional careful analyst can pass the standard PS diagnostics and still proceed with a biased estimator. The outcome-blind workflow flags the candidate as fragile under a prespecified threat </a:t>
            </a:r>
            <a:r>
              <a:rPr i="1"/>
              <a:t>before</a:t>
            </a:r>
            <a:r>
              <a:rPr/>
              <a:t> unblinding.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Method recommendations for colleagues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Situation</a:t>
                      </a:r>
                    </a:p>
                  </a:txBody>
                  <a:tcPr/>
                </a:tc>
                <a:tc>
                  <a:txBody>
                    <a:bodyPr/>
                    <a:lstStyle/>
                    <a:p>
                      <a:pPr lvl="0" indent="0" marL="0">
                        <a:buNone/>
                      </a:pPr>
                      <a:r>
                        <a:rPr/>
                        <a:t>Primary recommendation</a:t>
                      </a:r>
                    </a:p>
                  </a:txBody>
                  <a:tcPr/>
                </a:tc>
                <a:tc>
                  <a:txBody>
                    <a:bodyPr/>
                    <a:lstStyle/>
                    <a:p>
                      <a:pPr lvl="0" indent="0" marL="0">
                        <a:buNone/>
                      </a:pPr>
                      <a:r>
                        <a:rPr/>
                        <a:t>Why</a:t>
                      </a:r>
                    </a:p>
                  </a:txBody>
                  <a:tcPr/>
                </a:tc>
              </a:tr>
              <a:tr h="0">
                <a:tc>
                  <a:txBody>
                    <a:bodyPr/>
                    <a:lstStyle/>
                    <a:p>
                      <a:pPr lvl="0" indent="0" marL="0">
                        <a:buNone/>
                      </a:pPr>
                      <a:r>
                        <a:rPr/>
                        <a:t>Good overlap, well-measured covariates</a:t>
                      </a:r>
                    </a:p>
                  </a:txBody>
                </a:tc>
                <a:tc>
                  <a:txBody>
                    <a:bodyPr/>
                    <a:lstStyle/>
                    <a:p>
                      <a:pPr lvl="0" indent="0" marL="0">
                        <a:buNone/>
                      </a:pPr>
                      <a:r>
                        <a:rPr b="1"/>
                        <a:t>CV-TMLE</a:t>
                      </a:r>
                      <a:r>
                        <a:rPr/>
                        <a:t> as primary; report IPTW + PS matching as concordance checks</a:t>
                      </a:r>
                    </a:p>
                  </a:txBody>
                </a:tc>
                <a:tc>
                  <a:txBody>
                    <a:bodyPr/>
                    <a:lstStyle/>
                    <a:p>
                      <a:pPr lvl="0" indent="0" marL="0">
                        <a:buNone/>
                      </a:pPr>
                      <a:r>
                        <a:rPr/>
                        <a:t>Robust across all three scenarios; interpretable CIs; doubly robust</a:t>
                      </a:r>
                    </a:p>
                  </a:txBody>
                </a:tc>
              </a:tr>
              <a:tr h="0">
                <a:tc>
                  <a:txBody>
                    <a:bodyPr/>
                    <a:lstStyle/>
                    <a:p>
                      <a:pPr lvl="0" indent="0" marL="0">
                        <a:buNone/>
                      </a:pPr>
                      <a:r>
                        <a:rPr/>
                        <a:t>Marginal overlap</a:t>
                      </a:r>
                    </a:p>
                  </a:txBody>
                </a:tc>
                <a:tc>
                  <a:txBody>
                    <a:bodyPr/>
                    <a:lstStyle/>
                    <a:p>
                      <a:pPr lvl="0" indent="0" marL="0">
                        <a:buNone/>
                      </a:pPr>
                      <a:r>
                        <a:rPr b="1"/>
                        <a:t>CV-TMLE</a:t>
                      </a:r>
                      <a:r>
                        <a:rPr/>
                        <a:t> as primary; </a:t>
                      </a:r>
                      <a:r>
                        <a:rPr b="1"/>
                        <a:t>bootstrap</a:t>
                      </a:r>
                      <a:r>
                        <a:rPr/>
                        <a:t> the SE if you ever report IPTW or matched TMLE as primary</a:t>
                      </a:r>
                    </a:p>
                  </a:txBody>
                </a:tc>
                <a:tc>
                  <a:txBody>
                    <a:bodyPr/>
                    <a:lstStyle/>
                    <a:p>
                      <a:pPr lvl="0" indent="0" marL="0">
                        <a:buNone/>
                      </a:pPr>
                      <a:r>
                        <a:rPr/>
                        <a:t>TMLE bias is well controlled; IPTW/matched SE formulas are too conservative</a:t>
                      </a:r>
                    </a:p>
                  </a:txBody>
                </a:tc>
              </a:tr>
              <a:tr h="0">
                <a:tc>
                  <a:txBody>
                    <a:bodyPr/>
                    <a:lstStyle/>
                    <a:p>
                      <a:pPr lvl="0" indent="0" marL="0">
                        <a:buNone/>
                      </a:pPr>
                      <a:r>
                        <a:rPr/>
                        <a:t>Heavy truncation needed for positivity</a:t>
                      </a:r>
                    </a:p>
                  </a:txBody>
                </a:tc>
                <a:tc>
                  <a:txBody>
                    <a:bodyPr/>
                    <a:lstStyle/>
                    <a:p>
                      <a:pPr lvl="0" indent="0" marL="0">
                        <a:buNone/>
                      </a:pPr>
                      <a:r>
                        <a:rPr b="1"/>
                        <a:t>Reconsider the estimand</a:t>
                      </a:r>
                      <a:r>
                        <a:rPr/>
                        <a:t>, not just the estimator</a:t>
                      </a:r>
                    </a:p>
                  </a:txBody>
                </a:tc>
                <a:tc>
                  <a:txBody>
                    <a:bodyPr/>
                    <a:lstStyle/>
                    <a:p>
                      <a:pPr lvl="0" indent="0" marL="0">
                        <a:buNone/>
                      </a:pPr>
                      <a:r>
                        <a:rPr/>
                        <a:t>Heavy truncation changes the target population from “everyone eligible” to “everyone plausibly treatable”</a:t>
                      </a:r>
                    </a:p>
                  </a:txBody>
                </a:tc>
              </a:tr>
              <a:tr h="0">
                <a:tc>
                  <a:txBody>
                    <a:bodyPr/>
                    <a:lstStyle/>
                    <a:p>
                      <a:pPr lvl="0" indent="0" marL="0">
                        <a:buNone/>
                      </a:pPr>
                      <a:r>
                        <a:rPr/>
                        <a:t>Suspected unmeasured confounder</a:t>
                      </a:r>
                    </a:p>
                  </a:txBody>
                </a:tc>
                <a:tc>
                  <a:txBody>
                    <a:bodyPr/>
                    <a:lstStyle/>
                    <a:p>
                      <a:pPr lvl="0" indent="0" marL="0">
                        <a:buNone/>
                      </a:pPr>
                      <a:r>
                        <a:rPr b="1"/>
                        <a:t>Collect it, narrow the question, or accept bounded sensitivity analysis</a:t>
                      </a:r>
                    </a:p>
                  </a:txBody>
                </a:tc>
                <a:tc>
                  <a:txBody>
                    <a:bodyPr/>
                    <a:lstStyle/>
                    <a:p>
                      <a:pPr lvl="0" indent="0" marL="0">
                        <a:buNone/>
                      </a:pPr>
                      <a:r>
                        <a:rPr/>
                        <a:t>No statistical method on measured covariates can rescue you</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 baseline plasmode before unblinding is cheap and high-information. A DQ stress test is informative when you have </a:t>
            </a:r>
            <a:r>
              <a:rPr i="1"/>
              <a:t>specific</a:t>
            </a:r>
            <a:r>
              <a:rPr/>
              <a:t> concerns about measurement, missingness, or unmeasured confounding.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simulation does and does not show</a:t>
            </a:r>
          </a:p>
        </p:txBody>
      </p:sp>
      <p:sp>
        <p:nvSpPr>
          <p:cNvPr id="3" name="Content Placeholder 2"/>
          <p:cNvSpPr>
            <a:spLocks noGrp="1"/>
          </p:cNvSpPr>
          <p:nvPr>
            <p:ph idx="1"/>
          </p:nvPr>
        </p:nvSpPr>
        <p:spPr/>
        <p:txBody>
          <a:bodyPr/>
          <a:lstStyle/>
          <a:p>
            <a:pPr lvl="0" indent="0" marL="0">
              <a:buNone/>
            </a:pPr>
            <a:r>
              <a:rPr b="1"/>
              <a:t>Does show:</a:t>
            </a:r>
            <a:r>
              <a:rPr/>
              <a:t> - The candidate-selection machinery recovers the truth on synthetic outcomes when assumptions hold. - TMLE / CV-TMLE bias is well controlled under marginal overlap; IPTW and matched-TMLE SE calibration is not. - When a hidden confounder is built into the data-generating process, the prespecified stress-test row catches the resulting bias and the locked rule returns STOP. - The prespecified rule arrives at the right verdict in all three scenarios </a:t>
            </a:r>
            <a:r>
              <a:rPr i="1"/>
              <a:t>without ever inspecting the realised treatment-outcome association</a:t>
            </a:r>
            <a:r>
              <a:rPr/>
              <a:t>.</a:t>
            </a:r>
          </a:p>
          <a:p>
            <a:pPr lvl="0" indent="0" marL="0">
              <a:buNone/>
            </a:pPr>
            <a:r>
              <a:rPr b="1"/>
              <a:t>Does not show:</a:t>
            </a:r>
            <a:r>
              <a:rPr/>
              <a:t> - That the outcome-blind workflow detects an unmeasured confounder a traditional analyst would have missed. The workflow does not “detect” confounders; it scores prespecified threats. - That cleanTMLE delivers a numerical advantage over a careful traditional analysis on the </a:t>
            </a:r>
            <a:r>
              <a:rPr i="1"/>
              <a:t>same</a:t>
            </a:r>
            <a:r>
              <a:rPr/>
              <a:t> dataset. The workflow’s value is operational (prespecification, auditability, gating), not a different point estimate. - That the small DGP used here generalises to all RWE settings. The case study exercises real-data behaviour separately.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4. Case study: Rescue.Co, Nairobi</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question</a:t>
            </a:r>
          </a:p>
        </p:txBody>
      </p:sp>
      <p:sp>
        <p:nvSpPr>
          <p:cNvPr id="3" name="Content Placeholder 2"/>
          <p:cNvSpPr>
            <a:spLocks noGrp="1"/>
          </p:cNvSpPr>
          <p:nvPr>
            <p:ph idx="1"/>
          </p:nvPr>
        </p:nvSpPr>
        <p:spPr/>
        <p:txBody>
          <a:bodyPr/>
          <a:lstStyle/>
          <a:p>
            <a:pPr lvl="0" indent="0" marL="0">
              <a:buNone/>
            </a:pPr>
            <a:r>
              <a:rPr/>
              <a:t>Rescue.Co operates a network of motorcycle-based emergency ambulances in Nairobi. Patients arriving by Rescue.Co versus by other ambulance services were compared on whether they had a “good functional outcome” six months after their injury.</a:t>
            </a:r>
          </a:p>
          <a:p>
            <a:pPr lvl="0"/>
            <a:r>
              <a:rPr b="1"/>
              <a:t>Cohort:</a:t>
            </a:r>
            <a:r>
              <a:rPr/>
              <a:t> 1,693 ambulance arrivals at participating hospitals, 2018–2024.</a:t>
            </a:r>
          </a:p>
          <a:p>
            <a:pPr lvl="0"/>
            <a:r>
              <a:rPr b="1"/>
              <a:t>Treatment:</a:t>
            </a:r>
            <a:r>
              <a:rPr/>
              <a:t> Rescue.Co versus other ambulance services (point exposure at arrival).</a:t>
            </a:r>
          </a:p>
          <a:p>
            <a:pPr lvl="0"/>
            <a:r>
              <a:rPr b="1"/>
              <a:t>Outcome:</a:t>
            </a:r>
            <a:r>
              <a:rPr/>
              <a:t> GOSE &gt; 4 at 6 months (a standard scale of functional recovery).</a:t>
            </a:r>
          </a:p>
          <a:p>
            <a:pPr lvl="0"/>
            <a:r>
              <a:rPr b="1"/>
              <a:t>Missing outcomes:</a:t>
            </a:r>
            <a:r>
              <a:rPr/>
              <a:t> 24.6 % of the cohort.</a:t>
            </a:r>
          </a:p>
          <a:p>
            <a:pPr lvl="0" indent="0" marL="0">
              <a:buNone/>
            </a:pPr>
            <a:r>
              <a:rPr b="1"/>
              <a:t>This is a workflow demonstration on real data; it is not intended as evidence about whether Rescue.Co transport works.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Walking through the dossier</a:t>
            </a:r>
          </a:p>
        </p:txBody>
      </p:sp>
      <p:sp>
        <p:nvSpPr>
          <p:cNvPr id="3" name="Content Placeholder 2"/>
          <p:cNvSpPr>
            <a:spLocks noGrp="1"/>
          </p:cNvSpPr>
          <p:nvPr>
            <p:ph idx="1"/>
          </p:nvPr>
        </p:nvSpPr>
        <p:spPr/>
        <p:txBody>
          <a:bodyPr/>
          <a:lstStyle/>
          <a:p>
            <a:pPr lvl="0" indent="0" marL="0">
              <a:buNone/>
            </a:pPr>
            <a:r>
              <a:rPr/>
              <a:t>Before any comparative analysis was run:</a:t>
            </a:r>
          </a:p>
          <a:p>
            <a:pPr lvl="0"/>
            <a:r>
              <a:rPr b="1"/>
              <a:t>Cohort flow.</a:t>
            </a:r>
            <a:r>
              <a:rPr/>
              <a:t> From 1,693 eligible patients to 1,277 with a complete 6-month outcome; 615 in the matched subset.</a:t>
            </a:r>
          </a:p>
          <a:p>
            <a:pPr lvl="0"/>
            <a:r>
              <a:rPr b="1"/>
              <a:t>Design diagnostics.</a:t>
            </a:r>
            <a:r>
              <a:rPr/>
              <a:t> Propensity scores were well within the acceptable range. Standardised mean differences were balanced after weighting. Effective sample size retained 78 % of observations.</a:t>
            </a:r>
          </a:p>
          <a:p>
            <a:pPr lvl="0"/>
            <a:r>
              <a:rPr b="1"/>
              <a:t>Baseline plasmode candidate selection.</a:t>
            </a:r>
            <a:r>
              <a:rPr/>
              <a:t> Two candidates (different propensity-score truncation levels) both passed.</a:t>
            </a:r>
          </a:p>
          <a:p>
            <a:pPr lvl="0"/>
            <a:r>
              <a:rPr b="1"/>
              <a:t>Data-quality stress test.</a:t>
            </a:r>
            <a:r>
              <a:rPr/>
              <a:t> A minimax rule selected the candidate that performed best across worst-case threats.</a:t>
            </a:r>
          </a:p>
          <a:p>
            <a:pPr lvl="0"/>
            <a:r>
              <a:rPr b="1"/>
              <a:t>Negative controls.</a:t>
            </a:r>
            <a:r>
              <a:rPr/>
              <a:t> Five negative-control outcomes were planned in the protocol. Three failed an automatic data-cleaning filter and were dropped; the two that remained both passed. The audit log records the drops as a documented limitation.</a:t>
            </a:r>
          </a:p>
          <a:p>
            <a:pPr lvl="0" indent="0" marL="0">
              <a:buNone/>
            </a:pPr>
            <a:r>
              <a:rPr/>
              <a:t>The prespecified rule returned </a:t>
            </a:r>
            <a:r>
              <a:rPr b="1"/>
              <a:t>GO with a documented FLAG</a:t>
            </a:r>
            <a:r>
              <a:rPr/>
              <a:t> about the narrower negative-control panel. The comparative analysis was then run.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comparative analysis showed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447800"/>
                <a:gridCol w="1447800"/>
                <a:gridCol w="1930400"/>
                <a:gridCol w="1930400"/>
                <a:gridCol w="1447800"/>
              </a:tblGrid>
              <a:tr h="0">
                <a:tc>
                  <a:txBody>
                    <a:bodyPr/>
                    <a:lstStyle/>
                    <a:p>
                      <a:pPr lvl="0" indent="0" marL="0">
                        <a:buNone/>
                      </a:pPr>
                      <a:r>
                        <a:rPr/>
                        <a:t>Method</a:t>
                      </a:r>
                    </a:p>
                  </a:txBody>
                  <a:tcPr/>
                </a:tc>
                <a:tc>
                  <a:txBody>
                    <a:bodyPr/>
                    <a:lstStyle/>
                    <a:p>
                      <a:pPr lvl="0" indent="0" marL="0">
                        <a:buNone/>
                      </a:pPr>
                      <a:r>
                        <a:rPr/>
                        <a:t>Target population</a:t>
                      </a:r>
                    </a:p>
                  </a:txBody>
                  <a:tcPr/>
                </a:tc>
                <a:tc>
                  <a:txBody>
                    <a:bodyPr/>
                    <a:lstStyle/>
                    <a:p>
                      <a:pPr lvl="0" indent="0" marL="0" algn="r">
                        <a:buNone/>
                      </a:pPr>
                      <a:r>
                        <a:rPr/>
                        <a:t>N</a:t>
                      </a:r>
                    </a:p>
                  </a:txBody>
                  <a:tcPr/>
                </a:tc>
                <a:tc>
                  <a:txBody>
                    <a:bodyPr/>
                    <a:lstStyle/>
                    <a:p>
                      <a:pPr lvl="0" indent="0" marL="0" algn="r">
                        <a:buNone/>
                      </a:pPr>
                      <a:r>
                        <a:rPr/>
                        <a:t>Risk difference</a:t>
                      </a:r>
                    </a:p>
                  </a:txBody>
                  <a:tcPr/>
                </a:tc>
                <a:tc>
                  <a:txBody>
                    <a:bodyPr/>
                    <a:lstStyle/>
                    <a:p>
                      <a:pPr lvl="0" indent="0" marL="0">
                        <a:buNone/>
                      </a:pPr>
                      <a:r>
                        <a:rPr/>
                        <a:t>95 % CI</a:t>
                      </a:r>
                    </a:p>
                  </a:txBody>
                  <a:tcPr/>
                </a:tc>
              </a:tr>
              <a:tr h="0">
                <a:tc>
                  <a:txBody>
                    <a:bodyPr/>
                    <a:lstStyle/>
                    <a:p>
                      <a:pPr lvl="0" indent="0" marL="0">
                        <a:buNone/>
                      </a:pPr>
                      <a:r>
                        <a:rPr/>
                        <a:t>Unadjusted comparison</a:t>
                      </a:r>
                    </a:p>
                  </a:txBody>
                </a:tc>
                <a:tc>
                  <a:txBody>
                    <a:bodyPr/>
                    <a:lstStyle/>
                    <a:p>
                      <a:pPr lvl="0" indent="0" marL="0">
                        <a:buNone/>
                      </a:pPr>
                      <a:r>
                        <a:rPr/>
                        <a:t>Complete-outcome</a:t>
                      </a:r>
                    </a:p>
                  </a:txBody>
                </a:tc>
                <a:tc>
                  <a:txBody>
                    <a:bodyPr/>
                    <a:lstStyle/>
                    <a:p>
                      <a:pPr lvl="0" indent="0" marL="0" algn="r">
                        <a:buNone/>
                      </a:pPr>
                      <a:r>
                        <a:rPr/>
                        <a:t>1,277</a:t>
                      </a:r>
                    </a:p>
                  </a:txBody>
                </a:tc>
                <a:tc>
                  <a:txBody>
                    <a:bodyPr/>
                    <a:lstStyle/>
                    <a:p>
                      <a:pPr lvl="0" indent="0" marL="0" algn="r">
                        <a:buNone/>
                      </a:pPr>
                      <a:r>
                        <a:rPr/>
                        <a:t>0.037</a:t>
                      </a:r>
                    </a:p>
                  </a:txBody>
                </a:tc>
                <a:tc>
                  <a:txBody>
                    <a:bodyPr/>
                    <a:lstStyle/>
                    <a:p>
                      <a:pPr lvl="0" indent="0" marL="0">
                        <a:buNone/>
                      </a:pPr>
                      <a:r>
                        <a:rPr/>
                        <a:t>(0.003, 0.071)</a:t>
                      </a:r>
                    </a:p>
                  </a:txBody>
                </a:tc>
              </a:tr>
              <a:tr h="0">
                <a:tc>
                  <a:txBody>
                    <a:bodyPr/>
                    <a:lstStyle/>
                    <a:p>
                      <a:pPr lvl="0" indent="0" marL="0">
                        <a:buNone/>
                      </a:pPr>
                      <a:r>
                        <a:rPr/>
                        <a:t>Propensity-score matching</a:t>
                      </a:r>
                    </a:p>
                  </a:txBody>
                </a:tc>
                <a:tc>
                  <a:txBody>
                    <a:bodyPr/>
                    <a:lstStyle/>
                    <a:p>
                      <a:pPr lvl="0" indent="0" marL="0">
                        <a:buNone/>
                      </a:pPr>
                      <a:r>
                        <a:rPr/>
                        <a:t>Matched subset</a:t>
                      </a:r>
                    </a:p>
                  </a:txBody>
                </a:tc>
                <a:tc>
                  <a:txBody>
                    <a:bodyPr/>
                    <a:lstStyle/>
                    <a:p>
                      <a:pPr lvl="0" indent="0" marL="0" algn="r">
                        <a:buNone/>
                      </a:pPr>
                      <a:r>
                        <a:rPr/>
                        <a:t>615</a:t>
                      </a:r>
                    </a:p>
                  </a:txBody>
                </a:tc>
                <a:tc>
                  <a:txBody>
                    <a:bodyPr/>
                    <a:lstStyle/>
                    <a:p>
                      <a:pPr lvl="0" indent="0" marL="0" algn="r">
                        <a:buNone/>
                      </a:pPr>
                      <a:r>
                        <a:rPr/>
                        <a:t>0.027</a:t>
                      </a:r>
                    </a:p>
                  </a:txBody>
                </a:tc>
                <a:tc>
                  <a:txBody>
                    <a:bodyPr/>
                    <a:lstStyle/>
                    <a:p>
                      <a:pPr lvl="0" indent="0" marL="0">
                        <a:buNone/>
                      </a:pPr>
                      <a:r>
                        <a:rPr/>
                        <a:t>(−0.020, 0.074)</a:t>
                      </a:r>
                    </a:p>
                  </a:txBody>
                </a:tc>
              </a:tr>
              <a:tr h="0">
                <a:tc>
                  <a:txBody>
                    <a:bodyPr/>
                    <a:lstStyle/>
                    <a:p>
                      <a:pPr lvl="0" indent="0" marL="0">
                        <a:buNone/>
                      </a:pPr>
                      <a:r>
                        <a:rPr/>
                        <a:t>IPTW</a:t>
                      </a:r>
                    </a:p>
                  </a:txBody>
                </a:tc>
                <a:tc>
                  <a:txBody>
                    <a:bodyPr/>
                    <a:lstStyle/>
                    <a:p>
                      <a:pPr lvl="0" indent="0" marL="0">
                        <a:buNone/>
                      </a:pPr>
                      <a:r>
                        <a:rPr/>
                        <a:t>Full cohort</a:t>
                      </a:r>
                    </a:p>
                  </a:txBody>
                </a:tc>
                <a:tc>
                  <a:txBody>
                    <a:bodyPr/>
                    <a:lstStyle/>
                    <a:p>
                      <a:pPr lvl="0" indent="0" marL="0" algn="r">
                        <a:buNone/>
                      </a:pPr>
                      <a:r>
                        <a:rPr/>
                        <a:t>1,693</a:t>
                      </a:r>
                    </a:p>
                  </a:txBody>
                </a:tc>
                <a:tc>
                  <a:txBody>
                    <a:bodyPr/>
                    <a:lstStyle/>
                    <a:p>
                      <a:pPr lvl="0" indent="0" marL="0" algn="r">
                        <a:buNone/>
                      </a:pPr>
                      <a:r>
                        <a:rPr/>
                        <a:t>0.037</a:t>
                      </a:r>
                    </a:p>
                  </a:txBody>
                </a:tc>
                <a:tc>
                  <a:txBody>
                    <a:bodyPr/>
                    <a:lstStyle/>
                    <a:p>
                      <a:pPr lvl="0" indent="0" marL="0">
                        <a:buNone/>
                      </a:pPr>
                      <a:r>
                        <a:rPr/>
                        <a:t>(0.002, 0.071)</a:t>
                      </a:r>
                    </a:p>
                  </a:txBody>
                </a:tc>
              </a:tr>
              <a:tr h="0">
                <a:tc>
                  <a:txBody>
                    <a:bodyPr/>
                    <a:lstStyle/>
                    <a:p>
                      <a:pPr lvl="0" indent="0" marL="0">
                        <a:buNone/>
                      </a:pPr>
                      <a:r>
                        <a:rPr/>
                        <a:t>Full-cohort TMLE </a:t>
                      </a:r>
                      <a:r>
                        <a:rPr i="1"/>
                        <a:t>(primary)</a:t>
                      </a:r>
                    </a:p>
                  </a:txBody>
                </a:tc>
                <a:tc>
                  <a:txBody>
                    <a:bodyPr/>
                    <a:lstStyle/>
                    <a:p>
                      <a:pPr lvl="0" indent="0" marL="0">
                        <a:buNone/>
                      </a:pPr>
                      <a:r>
                        <a:rPr/>
                        <a:t>Full cohort</a:t>
                      </a:r>
                    </a:p>
                  </a:txBody>
                </a:tc>
                <a:tc>
                  <a:txBody>
                    <a:bodyPr/>
                    <a:lstStyle/>
                    <a:p>
                      <a:pPr lvl="0" indent="0" marL="0" algn="r">
                        <a:buNone/>
                      </a:pPr>
                      <a:r>
                        <a:rPr/>
                        <a:t>1,693</a:t>
                      </a:r>
                    </a:p>
                  </a:txBody>
                </a:tc>
                <a:tc>
                  <a:txBody>
                    <a:bodyPr/>
                    <a:lstStyle/>
                    <a:p>
                      <a:pPr lvl="0" indent="0" marL="0" algn="r">
                        <a:buNone/>
                      </a:pPr>
                      <a:r>
                        <a:rPr b="1"/>
                        <a:t>0.031</a:t>
                      </a:r>
                    </a:p>
                  </a:txBody>
                </a:tc>
                <a:tc>
                  <a:txBody>
                    <a:bodyPr/>
                    <a:lstStyle/>
                    <a:p>
                      <a:pPr lvl="0" indent="0" marL="0">
                        <a:buNone/>
                      </a:pPr>
                      <a:r>
                        <a:rPr b="1"/>
                        <a:t>(−0.001, 0.062)</a:t>
                      </a:r>
                    </a:p>
                  </a:txBody>
                </a:tc>
              </a:tr>
              <a:tr h="0">
                <a:tc>
                  <a:txBody>
                    <a:bodyPr/>
                    <a:lstStyle/>
                    <a:p>
                      <a:pPr lvl="0" indent="0" marL="0">
                        <a:buNone/>
                      </a:pPr>
                      <a:r>
                        <a:rPr/>
                        <a:t>Matched-cohort TMLE</a:t>
                      </a:r>
                    </a:p>
                  </a:txBody>
                </a:tc>
                <a:tc>
                  <a:txBody>
                    <a:bodyPr/>
                    <a:lstStyle/>
                    <a:p>
                      <a:pPr lvl="0" indent="0" marL="0">
                        <a:buNone/>
                      </a:pPr>
                      <a:r>
                        <a:rPr/>
                        <a:t>Matched subset</a:t>
                      </a:r>
                    </a:p>
                  </a:txBody>
                </a:tc>
                <a:tc>
                  <a:txBody>
                    <a:bodyPr/>
                    <a:lstStyle/>
                    <a:p>
                      <a:pPr lvl="0" indent="0" marL="0" algn="r">
                        <a:buNone/>
                      </a:pPr>
                      <a:r>
                        <a:rPr/>
                        <a:t>1,230</a:t>
                      </a:r>
                    </a:p>
                  </a:txBody>
                </a:tc>
                <a:tc>
                  <a:txBody>
                    <a:bodyPr/>
                    <a:lstStyle/>
                    <a:p>
                      <a:pPr lvl="0" indent="0" marL="0" algn="r">
                        <a:buNone/>
                      </a:pPr>
                      <a:r>
                        <a:rPr/>
                        <a:t>0.026</a:t>
                      </a:r>
                    </a:p>
                  </a:txBody>
                </a:tc>
                <a:tc>
                  <a:txBody>
                    <a:bodyPr/>
                    <a:lstStyle/>
                    <a:p>
                      <a:pPr lvl="0" indent="0" marL="0">
                        <a:buNone/>
                      </a:pPr>
                      <a:r>
                        <a:rPr/>
                        <a:t>(−0.015, 0.067)</a:t>
                      </a:r>
                    </a:p>
                  </a:txBody>
                </a:tc>
              </a:tr>
              <a:tr h="0">
                <a:tc>
                  <a:txBody>
                    <a:bodyPr/>
                    <a:lstStyle/>
                    <a:p>
                      <a:pPr lvl="0" indent="0" marL="0">
                        <a:buNone/>
                      </a:pPr>
                      <a:r>
                        <a:rPr/>
                        <a:t>Complete-outcome TMLE with IPCW weights</a:t>
                      </a:r>
                    </a:p>
                  </a:txBody>
                </a:tc>
                <a:tc>
                  <a:txBody>
                    <a:bodyPr/>
                    <a:lstStyle/>
                    <a:p>
                      <a:pPr lvl="0" indent="0" marL="0">
                        <a:buNone/>
                      </a:pPr>
                      <a:r>
                        <a:rPr/>
                        <a:t>Full-cohort target</a:t>
                      </a:r>
                    </a:p>
                  </a:txBody>
                </a:tc>
                <a:tc>
                  <a:txBody>
                    <a:bodyPr/>
                    <a:lstStyle/>
                    <a:p>
                      <a:pPr lvl="0" indent="0" marL="0" algn="r">
                        <a:buNone/>
                      </a:pPr>
                      <a:r>
                        <a:rPr/>
                        <a:t>1,277</a:t>
                      </a:r>
                    </a:p>
                  </a:txBody>
                </a:tc>
                <a:tc>
                  <a:txBody>
                    <a:bodyPr/>
                    <a:lstStyle/>
                    <a:p>
                      <a:pPr lvl="0" indent="0" marL="0" algn="r">
                        <a:buNone/>
                      </a:pPr>
                      <a:r>
                        <a:rPr/>
                        <a:t>0.033</a:t>
                      </a:r>
                    </a:p>
                  </a:txBody>
                </a:tc>
                <a:tc>
                  <a:txBody>
                    <a:bodyPr/>
                    <a:lstStyle/>
                    <a:p>
                      <a:pPr lvl="0" indent="0" marL="0">
                        <a:buNone/>
                      </a:pPr>
                      <a:r>
                        <a:rPr/>
                        <a:t>(−0.000, 0.066)</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All six methods agree on direction. The prespecified primary estimate (full-cohort TMLE) just crosses zero. The data are consistent with a small, possibly real, possibly null, effect.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Matched vs full cohort: what the gap means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Comparison</a:t>
                      </a:r>
                    </a:p>
                  </a:txBody>
                  <a:tcPr/>
                </a:tc>
                <a:tc>
                  <a:txBody>
                    <a:bodyPr/>
                    <a:lstStyle/>
                    <a:p>
                      <a:pPr lvl="0" indent="0" marL="0" algn="r">
                        <a:buNone/>
                      </a:pPr>
                      <a:r>
                        <a:rPr/>
                        <a:t>Risk difference</a:t>
                      </a:r>
                    </a:p>
                  </a:txBody>
                  <a:tcPr/>
                </a:tc>
              </a:tr>
              <a:tr h="0">
                <a:tc>
                  <a:txBody>
                    <a:bodyPr/>
                    <a:lstStyle/>
                    <a:p>
                      <a:pPr lvl="0" indent="0" marL="0">
                        <a:buNone/>
                      </a:pPr>
                      <a:r>
                        <a:rPr/>
                        <a:t>PS matching (n = 615)</a:t>
                      </a:r>
                    </a:p>
                  </a:txBody>
                </a:tc>
                <a:tc>
                  <a:txBody>
                    <a:bodyPr/>
                    <a:lstStyle/>
                    <a:p>
                      <a:pPr lvl="0" indent="0" marL="0" algn="r">
                        <a:buNone/>
                      </a:pPr>
                      <a:r>
                        <a:rPr/>
                        <a:t>0.027</a:t>
                      </a:r>
                    </a:p>
                  </a:txBody>
                </a:tc>
              </a:tr>
              <a:tr h="0">
                <a:tc>
                  <a:txBody>
                    <a:bodyPr/>
                    <a:lstStyle/>
                    <a:p>
                      <a:pPr lvl="0" indent="0" marL="0">
                        <a:buNone/>
                      </a:pPr>
                      <a:r>
                        <a:rPr/>
                        <a:t>Matched-cohort TMLE (n = 1,230)</a:t>
                      </a:r>
                    </a:p>
                  </a:txBody>
                </a:tc>
                <a:tc>
                  <a:txBody>
                    <a:bodyPr/>
                    <a:lstStyle/>
                    <a:p>
                      <a:pPr lvl="0" indent="0" marL="0" algn="r">
                        <a:buNone/>
                      </a:pPr>
                      <a:r>
                        <a:rPr/>
                        <a:t>0.026</a:t>
                      </a:r>
                    </a:p>
                  </a:txBody>
                </a:tc>
              </a:tr>
              <a:tr h="0">
                <a:tc>
                  <a:txBody>
                    <a:bodyPr/>
                    <a:lstStyle/>
                    <a:p>
                      <a:pPr lvl="0" indent="0" marL="0">
                        <a:buNone/>
                      </a:pPr>
                      <a:r>
                        <a:rPr/>
                        <a:t>IPTW, full cohort (n = 1,693)</a:t>
                      </a:r>
                    </a:p>
                  </a:txBody>
                </a:tc>
                <a:tc>
                  <a:txBody>
                    <a:bodyPr/>
                    <a:lstStyle/>
                    <a:p>
                      <a:pPr lvl="0" indent="0" marL="0" algn="r">
                        <a:buNone/>
                      </a:pPr>
                      <a:r>
                        <a:rPr/>
                        <a:t>0.037</a:t>
                      </a:r>
                    </a:p>
                  </a:txBody>
                </a:tc>
              </a:tr>
              <a:tr h="0">
                <a:tc>
                  <a:txBody>
                    <a:bodyPr/>
                    <a:lstStyle/>
                    <a:p>
                      <a:pPr lvl="0" indent="0" marL="0">
                        <a:buNone/>
                      </a:pPr>
                      <a:r>
                        <a:rPr/>
                        <a:t>Full-cohort TMLE, primary (n = 1,693)</a:t>
                      </a:r>
                    </a:p>
                  </a:txBody>
                </a:tc>
                <a:tc>
                  <a:txBody>
                    <a:bodyPr/>
                    <a:lstStyle/>
                    <a:p>
                      <a:pPr lvl="0" indent="0" marL="0" algn="r">
                        <a:buNone/>
                      </a:pPr>
                      <a:r>
                        <a:rPr/>
                        <a:t>0.031</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Three things to read from this gap:</a:t>
            </a:r>
          </a:p>
          <a:p>
            <a:pPr lvl="0"/>
            <a:r>
              <a:rPr b="1"/>
              <a:t>The matched estimates are about 0.5 to 1 percentage point smaller</a:t>
            </a:r>
            <a:r>
              <a:rPr/>
              <a:t> than the full-cohort estimates.</a:t>
            </a:r>
          </a:p>
          <a:p>
            <a:pPr lvl="0"/>
            <a:r>
              <a:rPr b="1"/>
              <a:t>The matched confidence intervals are roughly 50 % wider</a:t>
            </a:r>
            <a:r>
              <a:rPr/>
              <a:t>, because matching throws away patients outside the overlap region.</a:t>
            </a:r>
          </a:p>
          <a:p>
            <a:pPr lvl="0"/>
            <a:r>
              <a:rPr b="1"/>
              <a:t>The matched and full-cohort estimators are not estimates of the same quantity.</a:t>
            </a:r>
            <a:r>
              <a:rPr/>
              <a:t> Matched estimators target the average effect </a:t>
            </a:r>
            <a:r>
              <a:rPr i="1"/>
              <a:t>in the matched overlap subset</a:t>
            </a:r>
            <a:r>
              <a:rPr/>
              <a:t>; full-cohort estimators target the average effect </a:t>
            </a:r>
            <a:r>
              <a:rPr i="1"/>
              <a:t>in the full eligible cohort</a:t>
            </a:r>
            <a:r>
              <a:rPr/>
              <a:t>. When overlap is partial, these two target populations differ and the estimates </a:t>
            </a:r>
            <a:r>
              <a:rPr i="1"/>
              <a:t>should</a:t>
            </a:r>
            <a:r>
              <a:rPr/>
              <a:t> differ. Whether matched or full-cohort is the right primary depends on which population the study question is about.</a:t>
            </a:r>
          </a:p>
          <a:p>
            <a:pPr lvl="0" indent="0" marL="0">
              <a:buNone/>
            </a:pPr>
            <a:r>
              <a:rPr/>
              <a:t>In this case study the prespecified primary is the full-cohort TMLE, because the protocol question is about all eligible ambulance patients, not only those whose baseline profile makes them comparable. The matched-cohort row is reported as a sensitivity analysis on a narrower target population.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a reviewer would read this</a:t>
            </a:r>
          </a:p>
        </p:txBody>
      </p:sp>
      <p:sp>
        <p:nvSpPr>
          <p:cNvPr id="3" name="Content Placeholder 2"/>
          <p:cNvSpPr>
            <a:spLocks noGrp="1"/>
          </p:cNvSpPr>
          <p:nvPr>
            <p:ph idx="1"/>
          </p:nvPr>
        </p:nvSpPr>
        <p:spPr/>
        <p:txBody>
          <a:bodyPr/>
          <a:lstStyle/>
          <a:p>
            <a:pPr lvl="0"/>
            <a:r>
              <a:rPr/>
              <a:t>Every analytic decision was recorded before the comparative numbers above were produced.</a:t>
            </a:r>
          </a:p>
          <a:p>
            <a:pPr lvl="0"/>
            <a:r>
              <a:rPr/>
              <a:t>Six methods that make different assumptions all point the same way.</a:t>
            </a:r>
          </a:p>
          <a:p>
            <a:pPr lvl="0"/>
            <a:r>
              <a:rPr/>
              <a:t>The primary confidence interval crosses zero by a small amount; the workflow does not “confirm” the signal under prespecified diagnostics.</a:t>
            </a:r>
          </a:p>
          <a:p>
            <a:pPr lvl="0"/>
            <a:r>
              <a:rPr/>
              <a:t>The audit log shows the three negative controls that were dropped and the reason.</a:t>
            </a:r>
          </a:p>
          <a:p>
            <a:pPr lvl="0" indent="0" marL="0">
              <a:buNone/>
            </a:pPr>
            <a:r>
              <a:rPr/>
              <a:t>The reviewer can reconstruct the entire analysis from the dossier and the lock fingerprint.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5. How cleanTMLE improves on existing tools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was already available</a:t>
            </a:r>
          </a:p>
        </p:txBody>
      </p:sp>
      <p:sp>
        <p:nvSpPr>
          <p:cNvPr id="3" name="Content Placeholder 2"/>
          <p:cNvSpPr>
            <a:spLocks noGrp="1"/>
          </p:cNvSpPr>
          <p:nvPr>
            <p:ph idx="1"/>
          </p:nvPr>
        </p:nvSpPr>
        <p:spPr/>
        <p:txBody>
          <a:bodyPr/>
          <a:lstStyle/>
          <a:p>
            <a:pPr lvl="0" indent="0" marL="0">
              <a:buNone/>
            </a:pPr>
            <a:r>
              <a:rPr/>
              <a:t>Many parts of this workflow already exist as separate tools:</a:t>
            </a:r>
          </a:p>
          <a:p>
            <a:pPr lvl="0"/>
            <a:r>
              <a:rPr/>
              <a:t>The </a:t>
            </a:r>
            <a:r>
              <a:rPr b="1"/>
              <a:t>TMLE method</a:t>
            </a:r>
            <a:r>
              <a:rPr/>
              <a:t> has had implementations in R for over a decade (</a:t>
            </a:r>
            <a:r>
              <a:rPr>
                <a:latin typeface="Courier"/>
              </a:rPr>
              <a:t>tmle</a:t>
            </a:r>
            <a:r>
              <a:rPr/>
              <a:t>, </a:t>
            </a:r>
            <a:r>
              <a:rPr>
                <a:latin typeface="Courier"/>
              </a:rPr>
              <a:t>tmle3</a:t>
            </a:r>
            <a:r>
              <a:rPr/>
              <a:t>, </a:t>
            </a:r>
            <a:r>
              <a:rPr>
                <a:latin typeface="Courier"/>
              </a:rPr>
              <a:t>lmtp</a:t>
            </a:r>
            <a:r>
              <a:rPr/>
              <a:t>, </a:t>
            </a:r>
            <a:r>
              <a:rPr>
                <a:latin typeface="Courier"/>
              </a:rPr>
              <a:t>survtmle</a:t>
            </a:r>
            <a:r>
              <a:rPr/>
              <a:t>, </a:t>
            </a:r>
            <a:r>
              <a:rPr>
                <a:latin typeface="Courier"/>
              </a:rPr>
              <a:t>targeted</a:t>
            </a:r>
            <a:r>
              <a:rPr/>
              <a:t>).</a:t>
            </a:r>
          </a:p>
          <a:p>
            <a:pPr lvl="0"/>
            <a:r>
              <a:rPr/>
              <a:t>The </a:t>
            </a:r>
            <a:r>
              <a:rPr b="1"/>
              <a:t>clean-room / staged-analysis idea</a:t>
            </a:r>
            <a:r>
              <a:rPr/>
              <a:t> is described in published guidance papers (Muntner et al. 2024; McGrath et al. 2021), but as a workflow, not as software.</a:t>
            </a:r>
          </a:p>
          <a:p>
            <a:pPr lvl="0"/>
            <a:r>
              <a:rPr/>
              <a:t>The </a:t>
            </a:r>
            <a:r>
              <a:rPr b="1"/>
              <a:t>causalRisk package</a:t>
            </a:r>
            <a:r>
              <a:rPr/>
              <a:t> (Brookhart, Breskin, Eledath) provides a cohort-specification grammar, cumulative-risk reporting, and weight diagnostics for time-to-event observational studies. It is the closest related R package and is the right point of comparison for the cumulative-risk reporting components.</a:t>
            </a:r>
          </a:p>
          <a:p>
            <a:pPr lvl="0"/>
            <a:r>
              <a:rPr b="1"/>
              <a:t>Propensity-score diagnostics</a:t>
            </a:r>
            <a:r>
              <a:rPr/>
              <a:t> (overlap plots, balance tables, Love plots) are standard in most epidemiological pipelines.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cleanTMLE adds something new</a:t>
            </a:r>
          </a:p>
        </p:txBody>
      </p:sp>
      <p:sp>
        <p:nvSpPr>
          <p:cNvPr id="3" name="Content Placeholder 2"/>
          <p:cNvSpPr>
            <a:spLocks noGrp="1"/>
          </p:cNvSpPr>
          <p:nvPr>
            <p:ph idx="1"/>
          </p:nvPr>
        </p:nvSpPr>
        <p:spPr/>
        <p:txBody>
          <a:bodyPr/>
          <a:lstStyle/>
          <a:p>
            <a:pPr lvl="0" indent="0" marL="0">
              <a:buNone/>
            </a:pPr>
            <a:r>
              <a:rPr/>
              <a:t>The contribution is integrative rather than methodological. cleanTMLE provides:</a:t>
            </a:r>
          </a:p>
          <a:p>
            <a:pPr lvl="0"/>
            <a:r>
              <a:rPr/>
              <a:t>A </a:t>
            </a:r>
            <a:r>
              <a:rPr b="1"/>
              <a:t>fingerprinted analysis lock</a:t>
            </a:r>
            <a:r>
              <a:rPr/>
              <a:t>, </a:t>
            </a:r>
            <a:r>
              <a:rPr b="1"/>
              <a:t>audit log</a:t>
            </a:r>
            <a:r>
              <a:rPr/>
              <a:t>, and </a:t>
            </a:r>
            <a:r>
              <a:rPr b="1"/>
              <a:t>decision log</a:t>
            </a:r>
            <a:r>
              <a:rPr/>
              <a:t>, so the prespecification is a code artefact, not a separate document.</a:t>
            </a:r>
          </a:p>
          <a:p>
            <a:pPr lvl="0"/>
            <a:r>
              <a:rPr/>
              <a:t>A </a:t>
            </a:r>
            <a:r>
              <a:rPr b="1"/>
              <a:t>pre-outcome plasmode candidate selector</a:t>
            </a:r>
            <a:r>
              <a:rPr/>
              <a:t> that uses the real covariate and treatment structure but a synthetic outcome to compare candidate methods before unblinding.</a:t>
            </a:r>
          </a:p>
          <a:p>
            <a:pPr lvl="0"/>
            <a:r>
              <a:rPr/>
              <a:t>A </a:t>
            </a:r>
            <a:r>
              <a:rPr b="1"/>
              <a:t>data-quality stress test</a:t>
            </a:r>
            <a:r>
              <a:rPr/>
              <a:t> that turns qualitative concerns about measurement error, missingness, and unmeasured confounding into quantitative reruns of the same simulation, on the same metrics.</a:t>
            </a:r>
          </a:p>
          <a:p>
            <a:pPr lvl="0"/>
            <a:r>
              <a:rPr/>
              <a:t>A </a:t>
            </a:r>
            <a:r>
              <a:rPr b="1"/>
              <a:t>prespecified GO / FLAG / STOP rule</a:t>
            </a:r>
            <a:r>
              <a:rPr/>
              <a:t> that the workflow checks before allowing the comparative analysis.</a:t>
            </a:r>
          </a:p>
          <a:p>
            <a:pPr lvl="0"/>
            <a:r>
              <a:rPr/>
              <a:t>An </a:t>
            </a:r>
            <a:r>
              <a:rPr b="1"/>
              <a:t>outcome-access gate</a:t>
            </a:r>
            <a:r>
              <a:rPr/>
              <a:t> inside the package: comparative-analysis functions refuse to run on an unauthorised lock.</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Side-by-side comparison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079500"/>
                <a:gridCol w="1790700"/>
                <a:gridCol w="1790700"/>
                <a:gridCol w="1790700"/>
                <a:gridCol w="1790700"/>
              </a:tblGrid>
              <a:tr h="0">
                <a:tc>
                  <a:txBody>
                    <a:bodyPr/>
                    <a:lstStyle/>
                    <a:p>
                      <a:pPr lvl="0" indent="0" marL="0">
                        <a:buNone/>
                      </a:pPr>
                      <a:r>
                        <a:rPr/>
                        <a:t>Feature</a:t>
                      </a:r>
                    </a:p>
                  </a:txBody>
                  <a:tcPr/>
                </a:tc>
                <a:tc>
                  <a:txBody>
                    <a:bodyPr/>
                    <a:lstStyle/>
                    <a:p>
                      <a:pPr lvl="0" indent="0" marL="0" algn="ctr">
                        <a:buNone/>
                      </a:pPr>
                      <a:r>
                        <a:rPr/>
                        <a:t>TMLE-only packages</a:t>
                      </a:r>
                    </a:p>
                  </a:txBody>
                  <a:tcPr/>
                </a:tc>
                <a:tc>
                  <a:txBody>
                    <a:bodyPr/>
                    <a:lstStyle/>
                    <a:p>
                      <a:pPr lvl="0" indent="0" marL="0" algn="ctr">
                        <a:buNone/>
                      </a:pPr>
                      <a:r>
                        <a:rPr/>
                        <a:t>causalRisk</a:t>
                      </a:r>
                    </a:p>
                  </a:txBody>
                  <a:tcPr/>
                </a:tc>
                <a:tc>
                  <a:txBody>
                    <a:bodyPr/>
                    <a:lstStyle/>
                    <a:p>
                      <a:pPr lvl="0" indent="0" marL="0" algn="ctr">
                        <a:buNone/>
                      </a:pPr>
                      <a:r>
                        <a:rPr/>
                        <a:t>clean-room papers</a:t>
                      </a:r>
                    </a:p>
                  </a:txBody>
                  <a:tcPr/>
                </a:tc>
                <a:tc>
                  <a:txBody>
                    <a:bodyPr/>
                    <a:lstStyle/>
                    <a:p>
                      <a:pPr lvl="0" indent="0" marL="0" algn="ctr">
                        <a:buNone/>
                      </a:pPr>
                      <a:r>
                        <a:rPr b="1"/>
                        <a:t>cleanTMLE</a:t>
                      </a:r>
                    </a:p>
                  </a:txBody>
                  <a:tcPr/>
                </a:tc>
              </a:tr>
              <a:tr h="0">
                <a:tc>
                  <a:txBody>
                    <a:bodyPr/>
                    <a:lstStyle/>
                    <a:p>
                      <a:pPr lvl="0" indent="0" marL="0">
                        <a:buNone/>
                      </a:pPr>
                      <a:r>
                        <a:rPr/>
                        <a:t>Targeted-learning estimation</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r>
              <a:tr h="0">
                <a:tc>
                  <a:txBody>
                    <a:bodyPr/>
                    <a:lstStyle/>
                    <a:p>
                      <a:pPr lvl="0" indent="0" marL="0">
                        <a:buNone/>
                      </a:pPr>
                      <a:r>
                        <a:rPr/>
                        <a:t>Cohort-specification grammar</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r>
              <a:tr h="0">
                <a:tc>
                  <a:txBody>
                    <a:bodyPr/>
                    <a:lstStyle/>
                    <a:p>
                      <a:pPr lvl="0" indent="0" marL="0">
                        <a:buNone/>
                      </a:pPr>
                      <a:r>
                        <a:rPr/>
                        <a:t>Cumulative-risk reporting</a:t>
                      </a:r>
                    </a:p>
                  </a:txBody>
                </a:tc>
                <a:tc>
                  <a:txBody>
                    <a:bodyPr/>
                    <a:lstStyle/>
                    <a:p>
                      <a:pPr lvl="0" indent="0" marL="0" algn="ctr">
                        <a:buNone/>
                      </a:pPr>
                      <a:r>
                        <a:rPr/>
                        <a:t>partial</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r>
              <a:tr h="0">
                <a:tc>
                  <a:txBody>
                    <a:bodyPr/>
                    <a:lstStyle/>
                    <a:p>
                      <a:pPr lvl="0" indent="0" marL="0">
                        <a:buNone/>
                      </a:pPr>
                      <a:r>
                        <a:rPr/>
                        <a:t>Weight diagnostics</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r>
              <a:tr h="0">
                <a:tc>
                  <a:txBody>
                    <a:bodyPr/>
                    <a:lstStyle/>
                    <a:p>
                      <a:pPr lvl="0" indent="0" marL="0">
                        <a:buNone/>
                      </a:pPr>
                      <a:r>
                        <a:rPr/>
                        <a:t>Fingerprinted analysis lock</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guidance</a:t>
                      </a:r>
                    </a:p>
                  </a:txBody>
                </a:tc>
                <a:tc>
                  <a:txBody>
                    <a:bodyPr/>
                    <a:lstStyle/>
                    <a:p>
                      <a:pPr lvl="0" indent="0" marL="0" algn="ctr">
                        <a:buNone/>
                      </a:pPr>
                      <a:r>
                        <a:rPr/>
                        <a:t>✓</a:t>
                      </a:r>
                    </a:p>
                  </a:txBody>
                </a:tc>
              </a:tr>
              <a:tr h="0">
                <a:tc>
                  <a:txBody>
                    <a:bodyPr/>
                    <a:lstStyle/>
                    <a:p>
                      <a:pPr lvl="0" indent="0" marL="0">
                        <a:buNone/>
                      </a:pPr>
                      <a:r>
                        <a:rPr/>
                        <a:t>Audit + decision logs</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guidance</a:t>
                      </a:r>
                    </a:p>
                  </a:txBody>
                </a:tc>
                <a:tc>
                  <a:txBody>
                    <a:bodyPr/>
                    <a:lstStyle/>
                    <a:p>
                      <a:pPr lvl="0" indent="0" marL="0" algn="ctr">
                        <a:buNone/>
                      </a:pPr>
                      <a:r>
                        <a:rPr/>
                        <a:t>✓</a:t>
                      </a:r>
                    </a:p>
                  </a:txBody>
                </a:tc>
              </a:tr>
              <a:tr h="0">
                <a:tc>
                  <a:txBody>
                    <a:bodyPr/>
                    <a:lstStyle/>
                    <a:p>
                      <a:pPr lvl="0" indent="0" marL="0">
                        <a:buNone/>
                      </a:pPr>
                      <a:r>
                        <a:rPr/>
                        <a:t>Outcome-blind plasmode candidate selection</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r>
              <a:tr h="0">
                <a:tc>
                  <a:txBody>
                    <a:bodyPr/>
                    <a:lstStyle/>
                    <a:p>
                      <a:pPr lvl="0" indent="0" marL="0">
                        <a:buNone/>
                      </a:pPr>
                      <a:r>
                        <a:rPr b="1"/>
                        <a:t>Data-quality stress test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b="1"/>
                        <a:t>✓</a:t>
                      </a:r>
                    </a:p>
                  </a:txBody>
                </a:tc>
              </a:tr>
              <a:tr h="0">
                <a:tc>
                  <a:txBody>
                    <a:bodyPr/>
                    <a:lstStyle/>
                    <a:p>
                      <a:pPr lvl="0" indent="0" marL="0">
                        <a:buNone/>
                      </a:pPr>
                      <a:r>
                        <a:rPr/>
                        <a:t>Prespecified GO / FLAG / STOP rule</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guidance</a:t>
                      </a:r>
                    </a:p>
                  </a:txBody>
                </a:tc>
                <a:tc>
                  <a:txBody>
                    <a:bodyPr/>
                    <a:lstStyle/>
                    <a:p>
                      <a:pPr lvl="0" indent="0" marL="0" algn="ctr">
                        <a:buNone/>
                      </a:pPr>
                      <a:r>
                        <a:rPr/>
                        <a:t>✓</a:t>
                      </a:r>
                    </a:p>
                  </a:txBody>
                </a:tc>
              </a:tr>
              <a:tr h="0">
                <a:tc>
                  <a:txBody>
                    <a:bodyPr/>
                    <a:lstStyle/>
                    <a:p>
                      <a:pPr lvl="0" indent="0" marL="0">
                        <a:buNone/>
                      </a:pPr>
                      <a:r>
                        <a:rPr/>
                        <a:t>Software outcome-access gate</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r>
            </a:tbl>
          </a:graphicData>
        </a:graphic>
      </p:graphicFrame>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cleanTMLE shares the cohort-specification and cumulative-risk reporting concepts with causalRisk, then adds the prespecification, simulation, stress-test, and gate machinery on top.</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 to use cleanTMLE</a:t>
            </a:r>
          </a:p>
        </p:txBody>
      </p:sp>
      <p:sp>
        <p:nvSpPr>
          <p:cNvPr id="3" name="Content Placeholder 2"/>
          <p:cNvSpPr>
            <a:spLocks noGrp="1"/>
          </p:cNvSpPr>
          <p:nvPr>
            <p:ph idx="1"/>
          </p:nvPr>
        </p:nvSpPr>
        <p:spPr/>
        <p:txBody>
          <a:bodyPr/>
          <a:lstStyle/>
          <a:p>
            <a:pPr lvl="0"/>
            <a:r>
              <a:rPr/>
              <a:t>Methods development around outcome-blind workflows.</a:t>
            </a:r>
          </a:p>
          <a:p>
            <a:pPr lvl="0"/>
            <a:r>
              <a:rPr/>
              <a:t>Outcome-blind estimator selection for observational studies.</a:t>
            </a:r>
          </a:p>
          <a:p>
            <a:pPr lvl="0"/>
            <a:r>
              <a:rPr/>
              <a:t>Protocol and statistical-analysis-plan development for real-world evidence projects.</a:t>
            </a:r>
          </a:p>
          <a:p>
            <a:pPr lvl="0"/>
            <a:r>
              <a:rPr/>
              <a:t>Exploratory or lower-stakes RWE analyses where structured pre-outcome review is useful.</a:t>
            </a:r>
          </a:p>
          <a:p>
            <a:pPr lvl="0" indent="0" marL="0">
              <a:buNone/>
            </a:pPr>
            <a:r>
              <a:rPr/>
              <a:t>For high-stakes confirmatory studies, cleanTMLE should be embedded inside external governance — role separation, credentialed data access, an independent review team — that the software cannot provide.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it does </a:t>
            </a:r>
            <a:r>
              <a:rPr i="1"/>
              <a:t>not</a:t>
            </a:r>
            <a:r>
              <a:rPr/>
              <a:t> do</a:t>
            </a:r>
          </a:p>
        </p:txBody>
      </p:sp>
      <p:sp>
        <p:nvSpPr>
          <p:cNvPr id="3" name="Content Placeholder 2"/>
          <p:cNvSpPr>
            <a:spLocks noGrp="1"/>
          </p:cNvSpPr>
          <p:nvPr>
            <p:ph idx="1"/>
          </p:nvPr>
        </p:nvSpPr>
        <p:spPr/>
        <p:txBody>
          <a:bodyPr/>
          <a:lstStyle/>
          <a:p>
            <a:pPr lvl="0"/>
            <a:r>
              <a:rPr/>
              <a:t>It does not automate study design.</a:t>
            </a:r>
          </a:p>
          <a:p>
            <a:pPr lvl="0"/>
            <a:r>
              <a:rPr/>
              <a:t>It does not validate the source data or the phenotypes.</a:t>
            </a:r>
          </a:p>
          <a:p>
            <a:pPr lvl="0"/>
            <a:r>
              <a:rPr/>
              <a:t>It does not guarantee that the assumptions hold.</a:t>
            </a:r>
          </a:p>
          <a:p>
            <a:pPr lvl="0"/>
            <a:r>
              <a:rPr/>
              <a:t>It does not replace negative controls or post-outcome sensitivity analyses.</a:t>
            </a:r>
          </a:p>
          <a:p>
            <a:pPr lvl="0"/>
            <a:r>
              <a:rPr/>
              <a:t>It does not control raw-data access outside the package.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Open questions for collaborators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I want input</a:t>
            </a:r>
          </a:p>
        </p:txBody>
      </p:sp>
      <p:sp>
        <p:nvSpPr>
          <p:cNvPr id="3" name="Content Placeholder 2"/>
          <p:cNvSpPr>
            <a:spLocks noGrp="1"/>
          </p:cNvSpPr>
          <p:nvPr>
            <p:ph idx="1"/>
          </p:nvPr>
        </p:nvSpPr>
        <p:spPr/>
        <p:txBody>
          <a:bodyPr/>
          <a:lstStyle/>
          <a:p>
            <a:pPr lvl="0" indent="-342900" marL="342900">
              <a:buAutoNum type="arabicPeriod"/>
            </a:pPr>
            <a:r>
              <a:rPr b="1"/>
              <a:t>Severity ranges.</a:t>
            </a:r>
            <a:r>
              <a:rPr/>
              <a:t> How should we elicit and document the (sensitivity, specificity), missingness, and unmeasured-confounding ranges for a new study so that a reviewer accepts them?</a:t>
            </a:r>
          </a:p>
          <a:p>
            <a:pPr lvl="0" indent="-342900" marL="342900">
              <a:buAutoNum type="arabicPeriod"/>
            </a:pPr>
            <a:r>
              <a:rPr b="1"/>
              <a:t>Decision thresholds.</a:t>
            </a:r>
            <a:r>
              <a:rPr/>
              <a:t> Are the current defaults reasonable, or should they scale with the size of the effect being estimated and the Type-I error budget?</a:t>
            </a:r>
          </a:p>
          <a:p>
            <a:pPr lvl="0" indent="-342900" marL="342900">
              <a:buAutoNum type="arabicPeriod"/>
            </a:pPr>
            <a:r>
              <a:rPr b="1"/>
              <a:t>Role separation.</a:t>
            </a:r>
            <a:r>
              <a:rPr/>
              <a:t> What minimum personnel structure should sit on top of the software workflow for submission-grade studies?</a:t>
            </a:r>
          </a:p>
          <a:p>
            <a:pPr lvl="0" indent="-342900" marL="342900">
              <a:buAutoNum type="arabicPeriod"/>
            </a:pPr>
            <a:r>
              <a:rPr b="1"/>
              <a:t>Plasmode faithfulness.</a:t>
            </a:r>
            <a:r>
              <a:rPr/>
              <a:t> Is the synthetic outcome model rich enough, or do we need richer data-generating processes (effect modification, time-varying treatment)?</a:t>
            </a:r>
          </a:p>
          <a:p>
            <a:pPr lvl="0" indent="-342900" marL="342900">
              <a:buAutoNum type="arabicPeriod"/>
            </a:pPr>
            <a:r>
              <a:rPr b="1"/>
              <a:t>Negative-control policy.</a:t>
            </a:r>
            <a:r>
              <a:rPr/>
              <a:t> When the automatic data-cleaning filter drops some of the prespecified negative controls, should we re-elicit before unblinding or accept a narrower panel and document it?</a:t>
            </a:r>
          </a:p>
          <a:p>
            <a:pPr lvl="0" indent="-342900" marL="342900">
              <a:buAutoNum type="arabicPeriod"/>
            </a:pPr>
            <a:r>
              <a:rPr b="1"/>
              <a:t>Publication venue.</a:t>
            </a:r>
            <a:r>
              <a:rPr/>
              <a:t> Methods journal, applied RWE journal, or both?</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Resources</a:t>
            </a:r>
          </a:p>
        </p:txBody>
      </p:sp>
      <p:sp>
        <p:nvSpPr>
          <p:cNvPr id="3" name="Content Placeholder 2"/>
          <p:cNvSpPr>
            <a:spLocks noGrp="1"/>
          </p:cNvSpPr>
          <p:nvPr>
            <p:ph idx="1"/>
          </p:nvPr>
        </p:nvSpPr>
        <p:spPr/>
        <p:txBody>
          <a:bodyPr/>
          <a:lstStyle/>
          <a:p>
            <a:pPr lvl="0"/>
            <a:r>
              <a:rPr/>
              <a:t>Package: </a:t>
            </a:r>
            <a:r>
              <a:rPr>
                <a:hlinkClick r:id="rId2"/>
              </a:rPr>
              <a:t>https://github.com/amertens/cleanTMLE</a:t>
            </a:r>
          </a:p>
          <a:p>
            <a:pPr lvl="0"/>
            <a:r>
              <a:rPr/>
              <a:t>Manuscript draft: </a:t>
            </a:r>
            <a:r>
              <a:rPr>
                <a:latin typeface="Courier"/>
              </a:rPr>
              <a:t>reports/manuscript_outcome_blind_dq.qmd</a:t>
            </a:r>
          </a:p>
          <a:p>
            <a:pPr lvl="0"/>
            <a:r>
              <a:rPr/>
              <a:t>Case study: </a:t>
            </a:r>
            <a:r>
              <a:rPr>
                <a:latin typeface="Courier"/>
              </a:rPr>
              <a:t>rescueCo/reports/rescueco_clean_room_case_study.qmd</a:t>
            </a:r>
          </a:p>
          <a:p>
            <a:pPr lvl="0"/>
            <a:r>
              <a:rPr/>
              <a:t>Vignette: </a:t>
            </a:r>
            <a:r>
              <a:rPr>
                <a:latin typeface="Courier"/>
              </a:rPr>
              <a:t>cleanTMLE/vignettes/cleanTMLE-staged-analysis.qmd</a:t>
            </a:r>
          </a:p>
          <a:p>
            <a:pPr lvl="0" indent="0" marL="0">
              <a:buNone/>
            </a:pPr>
            <a:r>
              <a:rPr/>
              <a:t>Thank you. Questions and pushback welcome.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Appendix A: Conceptual tables and roadmap</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Conceptual layers in the staged workflow</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Layer</a:t>
                      </a:r>
                    </a:p>
                  </a:txBody>
                  <a:tcPr/>
                </a:tc>
                <a:tc>
                  <a:txBody>
                    <a:bodyPr/>
                    <a:lstStyle/>
                    <a:p>
                      <a:pPr lvl="0" indent="0" marL="0">
                        <a:buNone/>
                      </a:pPr>
                      <a:r>
                        <a:rPr/>
                        <a:t>Description</a:t>
                      </a:r>
                    </a:p>
                  </a:txBody>
                  <a:tcPr/>
                </a:tc>
              </a:tr>
              <a:tr h="0">
                <a:tc>
                  <a:txBody>
                    <a:bodyPr/>
                    <a:lstStyle/>
                    <a:p>
                      <a:pPr lvl="0" indent="0" marL="0">
                        <a:buNone/>
                      </a:pPr>
                      <a:r>
                        <a:rPr/>
                        <a:t>Causal question</a:t>
                      </a:r>
                    </a:p>
                  </a:txBody>
                </a:tc>
                <a:tc>
                  <a:txBody>
                    <a:bodyPr/>
                    <a:lstStyle/>
                    <a:p>
                      <a:pPr lvl="0" indent="0" marL="0">
                        <a:buNone/>
                      </a:pPr>
                      <a:r>
                        <a:rPr/>
                        <a:t>Clinical or policy question framed as a target trial or causal contrast.</a:t>
                      </a:r>
                    </a:p>
                  </a:txBody>
                </a:tc>
              </a:tr>
              <a:tr h="0">
                <a:tc>
                  <a:txBody>
                    <a:bodyPr/>
                    <a:lstStyle/>
                    <a:p>
                      <a:pPr lvl="0" indent="0" marL="0">
                        <a:buNone/>
                      </a:pPr>
                      <a:r>
                        <a:rPr/>
                        <a:t>Causal estimand</a:t>
                      </a:r>
                    </a:p>
                  </a:txBody>
                </a:tc>
                <a:tc>
                  <a:txBody>
                    <a:bodyPr/>
                    <a:lstStyle/>
                    <a:p>
                      <a:pPr lvl="0" indent="0" marL="0">
                        <a:buNone/>
                      </a:pPr>
                      <a:r>
                        <a:rPr/>
                        <a:t>Counterfactual treatment effect of interest (e.g. marginal risk difference).</a:t>
                      </a:r>
                    </a:p>
                  </a:txBody>
                </a:tc>
              </a:tr>
              <a:tr h="0">
                <a:tc>
                  <a:txBody>
                    <a:bodyPr/>
                    <a:lstStyle/>
                    <a:p>
                      <a:pPr lvl="0" indent="0" marL="0">
                        <a:buNone/>
                      </a:pPr>
                      <a:r>
                        <a:rPr/>
                        <a:t>Identification assumptions</a:t>
                      </a:r>
                    </a:p>
                  </a:txBody>
                </a:tc>
                <a:tc>
                  <a:txBody>
                    <a:bodyPr/>
                    <a:lstStyle/>
                    <a:p>
                      <a:pPr lvl="0" indent="0" marL="0">
                        <a:buNone/>
                      </a:pPr>
                      <a:r>
                        <a:rPr/>
                        <a:t>Conditions under which the causal estimand can be expressed as an observed-data parameter.</a:t>
                      </a:r>
                    </a:p>
                  </a:txBody>
                </a:tc>
              </a:tr>
              <a:tr h="0">
                <a:tc>
                  <a:txBody>
                    <a:bodyPr/>
                    <a:lstStyle/>
                    <a:p>
                      <a:pPr lvl="0" indent="0" marL="0">
                        <a:buNone/>
                      </a:pPr>
                      <a:r>
                        <a:rPr/>
                        <a:t>Statistical estimand</a:t>
                      </a:r>
                    </a:p>
                  </a:txBody>
                </a:tc>
                <a:tc>
                  <a:txBody>
                    <a:bodyPr/>
                    <a:lstStyle/>
                    <a:p>
                      <a:pPr lvl="0" indent="0" marL="0">
                        <a:buNone/>
                      </a:pPr>
                      <a:r>
                        <a:rPr/>
                        <a:t>Observed-data parameter identified under the assumptions above.</a:t>
                      </a:r>
                    </a:p>
                  </a:txBody>
                </a:tc>
              </a:tr>
              <a:tr h="0">
                <a:tc>
                  <a:txBody>
                    <a:bodyPr/>
                    <a:lstStyle/>
                    <a:p>
                      <a:pPr lvl="0" indent="0" marL="0">
                        <a:buNone/>
                      </a:pPr>
                      <a:r>
                        <a:rPr/>
                        <a:t>Estimator</a:t>
                      </a:r>
                    </a:p>
                  </a:txBody>
                </a:tc>
                <a:tc>
                  <a:txBody>
                    <a:bodyPr/>
                    <a:lstStyle/>
                    <a:p>
                      <a:pPr lvl="0" indent="0" marL="0">
                        <a:buNone/>
                      </a:pPr>
                      <a:r>
                        <a:rPr/>
                        <a:t>Algorithm used to estimate the statistical estimand (e.g. TMLE, IPTW, matching).</a:t>
                      </a:r>
                    </a:p>
                  </a:txBody>
                </a:tc>
              </a:tr>
              <a:tr h="0">
                <a:tc>
                  <a:txBody>
                    <a:bodyPr/>
                    <a:lstStyle/>
                    <a:p>
                      <a:pPr lvl="0" indent="0" marL="0">
                        <a:buNone/>
                      </a:pPr>
                      <a:r>
                        <a:rPr/>
                        <a:t>Pre-outcome diagnostic</a:t>
                      </a:r>
                    </a:p>
                  </a:txBody>
                </a:tc>
                <a:tc>
                  <a:txBody>
                    <a:bodyPr/>
                    <a:lstStyle/>
                    <a:p>
                      <a:pPr lvl="0" indent="0" marL="0">
                        <a:buNone/>
                      </a:pPr>
                      <a:r>
                        <a:rPr/>
                        <a:t>Quantity used for design checks: simulated bias, RMSE, coverage, ESS, balance, NC performance.</a:t>
                      </a:r>
                    </a:p>
                  </a:txBody>
                </a:tc>
              </a:tr>
              <a:tr h="0">
                <a:tc>
                  <a:txBody>
                    <a:bodyPr/>
                    <a:lstStyle/>
                    <a:p>
                      <a:pPr lvl="0" indent="0" marL="0">
                        <a:buNone/>
                      </a:pPr>
                      <a:r>
                        <a:rPr/>
                        <a:t>Governance decision</a:t>
                      </a:r>
                    </a:p>
                  </a:txBody>
                </a:tc>
                <a:tc>
                  <a:txBody>
                    <a:bodyPr/>
                    <a:lstStyle/>
                    <a:p>
                      <a:pPr lvl="0" indent="0" marL="0">
                        <a:buNone/>
                      </a:pPr>
                      <a:r>
                        <a:rPr/>
                        <a:t>Whether prespecified criteria support proceeding, require review, or require stopping.</a:t>
                      </a:r>
                    </a:p>
                  </a:txBody>
                </a:tc>
              </a:tr>
            </a:tbl>
          </a:graphicData>
        </a:graphic>
      </p:graphicFrame>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Causal roadmap and where cleanTMLE sits</a:t>
            </a:r>
          </a:p>
        </p:txBody>
      </p:sp>
      <p:sp>
        <p:nvSpPr>
          <p:cNvPr id="4" name="Text Placeholder 3"/>
          <p:cNvSpPr>
            <a:spLocks noGrp="1"/>
          </p:cNvSpPr>
          <p:nvPr>
            <p:ph idx="2" sz="half" type="body"/>
          </p:nvPr>
        </p:nvSpPr>
        <p:spPr/>
        <p:txBody>
          <a:bodyPr/>
          <a:lstStyle/>
          <a:p>
            <a:pPr lvl="0" indent="0" marL="0">
              <a:buNone/>
            </a:pPr>
          </a:p>
        </p:txBody>
      </p:sp>
      <p:pic>
        <p:nvPicPr>
          <p:cNvPr descr="cleanTMLE_presentation_files\figure-pptx\mermaid-figure-1.png" id="0" name="Picture 1"/>
          <p:cNvPicPr>
            <a:picLocks noGrp="1" noChangeAspect="1"/>
          </p:cNvPicPr>
          <p:nvPr/>
        </p:nvPicPr>
        <p:blipFill>
          <a:blip r:embed="rId2"/>
          <a:stretch>
            <a:fillRect/>
          </a:stretch>
        </p:blipFill>
        <p:spPr bwMode="auto">
          <a:xfrm>
            <a:off x="5702300" y="203200"/>
            <a:ext cx="850900" cy="43815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Governance stack</a:t>
            </a:r>
          </a:p>
        </p:txBody>
      </p:sp>
      <p:sp>
        <p:nvSpPr>
          <p:cNvPr id="4" name="Text Placeholder 3"/>
          <p:cNvSpPr>
            <a:spLocks noGrp="1"/>
          </p:cNvSpPr>
          <p:nvPr>
            <p:ph idx="2" sz="half" type="body"/>
          </p:nvPr>
        </p:nvSpPr>
        <p:spPr/>
        <p:txBody>
          <a:bodyPr/>
          <a:lstStyle/>
          <a:p>
            <a:pPr lvl="0" indent="0" marL="0">
              <a:buNone/>
            </a:pPr>
          </a:p>
        </p:txBody>
      </p:sp>
      <p:pic>
        <p:nvPicPr>
          <p:cNvPr descr="cleanTMLE_presentation_files\figure-pptx\mermaid-figure-4.png" id="0" name="Picture 1"/>
          <p:cNvPicPr>
            <a:picLocks noGrp="1" noChangeAspect="1"/>
          </p:cNvPicPr>
          <p:nvPr/>
        </p:nvPicPr>
        <p:blipFill>
          <a:blip r:embed="rId2"/>
          <a:stretch>
            <a:fillRect/>
          </a:stretch>
        </p:blipFill>
        <p:spPr bwMode="auto">
          <a:xfrm>
            <a:off x="3568700" y="1676400"/>
            <a:ext cx="5105400" cy="14478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Regulatory alignment (excerpt)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Roadmap component</a:t>
                      </a:r>
                    </a:p>
                  </a:txBody>
                  <a:tcPr/>
                </a:tc>
                <a:tc>
                  <a:txBody>
                    <a:bodyPr/>
                    <a:lstStyle/>
                    <a:p>
                      <a:pPr lvl="0" indent="0" marL="0">
                        <a:buNone/>
                      </a:pPr>
                      <a:r>
                        <a:rPr/>
                        <a:t>FDA / EMA / ICH anchor</a:t>
                      </a:r>
                    </a:p>
                  </a:txBody>
                  <a:tcPr/>
                </a:tc>
                <a:tc>
                  <a:txBody>
                    <a:bodyPr/>
                    <a:lstStyle/>
                    <a:p>
                      <a:pPr lvl="0" indent="0" marL="0">
                        <a:buNone/>
                      </a:pPr>
                      <a:r>
                        <a:rPr/>
                        <a:t>What cleanTMLE operationalises</a:t>
                      </a:r>
                    </a:p>
                  </a:txBody>
                  <a:tcPr/>
                </a:tc>
              </a:tr>
              <a:tr h="0">
                <a:tc>
                  <a:txBody>
                    <a:bodyPr/>
                    <a:lstStyle/>
                    <a:p>
                      <a:pPr lvl="0" indent="0" marL="0">
                        <a:buNone/>
                      </a:pPr>
                      <a:r>
                        <a:rPr/>
                        <a:t>Causal question</a:t>
                      </a:r>
                    </a:p>
                  </a:txBody>
                </a:tc>
                <a:tc>
                  <a:txBody>
                    <a:bodyPr/>
                    <a:lstStyle/>
                    <a:p>
                      <a:pPr lvl="0" indent="0" marL="0">
                        <a:buNone/>
                      </a:pPr>
                      <a:r>
                        <a:rPr/>
                        <a:t>Hernán target-trial framework; FDA RWE Framework; ICH M14</a:t>
                      </a:r>
                    </a:p>
                  </a:txBody>
                </a:tc>
                <a:tc>
                  <a:txBody>
                    <a:bodyPr/>
                    <a:lstStyle/>
                    <a:p>
                      <a:pPr lvl="0" indent="0" marL="0">
                        <a:buNone/>
                      </a:pPr>
                      <a:r>
                        <a:rPr/>
                        <a:t>Locked estimand, target trial timing</a:t>
                      </a:r>
                    </a:p>
                  </a:txBody>
                </a:tc>
              </a:tr>
              <a:tr h="0">
                <a:tc>
                  <a:txBody>
                    <a:bodyPr/>
                    <a:lstStyle/>
                    <a:p>
                      <a:pPr lvl="0" indent="0" marL="0">
                        <a:buNone/>
                      </a:pPr>
                      <a:r>
                        <a:rPr/>
                        <a:t>Statistical estimand</a:t>
                      </a:r>
                    </a:p>
                  </a:txBody>
                </a:tc>
                <a:tc>
                  <a:txBody>
                    <a:bodyPr/>
                    <a:lstStyle/>
                    <a:p>
                      <a:pPr lvl="0" indent="0" marL="0">
                        <a:buNone/>
                      </a:pPr>
                      <a:r>
                        <a:rPr/>
                        <a:t>ICH E9(R1); FDA RWE Considerations</a:t>
                      </a:r>
                    </a:p>
                  </a:txBody>
                </a:tc>
                <a:tc>
                  <a:txBody>
                    <a:bodyPr/>
                    <a:lstStyle/>
                    <a:p>
                      <a:pPr lvl="0" indent="0" marL="0">
                        <a:buNone/>
                      </a:pPr>
                      <a:r>
                        <a:rPr>
                          <a:latin typeface="Courier"/>
                        </a:rPr>
                        <a:t>attach_estimand()</a:t>
                      </a:r>
                      <a:r>
                        <a:rPr/>
                        <a:t>, lock fingerprint</a:t>
                      </a:r>
                    </a:p>
                  </a:txBody>
                </a:tc>
              </a:tr>
              <a:tr h="0">
                <a:tc>
                  <a:txBody>
                    <a:bodyPr/>
                    <a:lstStyle/>
                    <a:p>
                      <a:pPr lvl="0" indent="0" marL="0">
                        <a:buNone/>
                      </a:pPr>
                      <a:r>
                        <a:rPr/>
                        <a:t>Estimator selection</a:t>
                      </a:r>
                    </a:p>
                  </a:txBody>
                </a:tc>
                <a:tc>
                  <a:txBody>
                    <a:bodyPr/>
                    <a:lstStyle/>
                    <a:p>
                      <a:pPr lvl="0" indent="0" marL="0">
                        <a:buNone/>
                      </a:pPr>
                      <a:r>
                        <a:rPr/>
                        <a:t>FDA non-interventional studies; ICH M14</a:t>
                      </a:r>
                    </a:p>
                  </a:txBody>
                </a:tc>
                <a:tc>
                  <a:txBody>
                    <a:bodyPr/>
                    <a:lstStyle/>
                    <a:p>
                      <a:pPr lvl="0" indent="0" marL="0">
                        <a:buNone/>
                      </a:pPr>
                      <a:r>
                        <a:rPr>
                          <a:latin typeface="Courier"/>
                        </a:rPr>
                        <a:t>tmle_candidate()</a:t>
                      </a:r>
                      <a:r>
                        <a:rPr/>
                        <a:t>, </a:t>
                      </a:r>
                      <a:r>
                        <a:rPr>
                          <a:latin typeface="Courier"/>
                        </a:rPr>
                        <a:t>lock_primary_tmle_spec()</a:t>
                      </a:r>
                    </a:p>
                  </a:txBody>
                </a:tc>
              </a:tr>
              <a:tr h="0">
                <a:tc>
                  <a:txBody>
                    <a:bodyPr/>
                    <a:lstStyle/>
                    <a:p>
                      <a:pPr lvl="0" indent="0" marL="0">
                        <a:buNone/>
                      </a:pPr>
                      <a:r>
                        <a:rPr/>
                        <a:t>Pre-outcome DQ stress</a:t>
                      </a:r>
                    </a:p>
                  </a:txBody>
                </a:tc>
                <a:tc>
                  <a:txBody>
                    <a:bodyPr/>
                    <a:lstStyle/>
                    <a:p>
                      <a:pPr lvl="0" indent="0" marL="0">
                        <a:buNone/>
                      </a:pPr>
                      <a:r>
                        <a:rPr/>
                        <a:t>Source reliability (FDA/EMA); validation evidence</a:t>
                      </a:r>
                    </a:p>
                  </a:txBody>
                </a:tc>
                <a:tc>
                  <a:txBody>
                    <a:bodyPr/>
                    <a:lstStyle/>
                    <a:p>
                      <a:pPr lvl="0" indent="0" marL="0">
                        <a:buNone/>
                      </a:pPr>
                      <a:r>
                        <a:rPr>
                          <a:latin typeface="Courier"/>
                        </a:rPr>
                        <a:t>run_plasmode_dq_stress()</a:t>
                      </a:r>
                    </a:p>
                  </a:txBody>
                </a:tc>
              </a:tr>
              <a:tr h="0">
                <a:tc>
                  <a:txBody>
                    <a:bodyPr/>
                    <a:lstStyle/>
                    <a:p>
                      <a:pPr lvl="0" indent="0" marL="0">
                        <a:buNone/>
                      </a:pPr>
                      <a:r>
                        <a:rPr/>
                        <a:t>Stage gate (GO/FLAG/STOP)</a:t>
                      </a:r>
                    </a:p>
                  </a:txBody>
                </a:tc>
                <a:tc>
                  <a:txBody>
                    <a:bodyPr/>
                    <a:lstStyle/>
                    <a:p>
                      <a:pPr lvl="0" indent="0" marL="0">
                        <a:buNone/>
                      </a:pPr>
                      <a:r>
                        <a:rPr/>
                        <a:t>Internal protocol governance</a:t>
                      </a:r>
                    </a:p>
                  </a:txBody>
                </a:tc>
                <a:tc>
                  <a:txBody>
                    <a:bodyPr/>
                    <a:lstStyle/>
                    <a:p>
                      <a:pPr lvl="0" indent="0" marL="0">
                        <a:buNone/>
                      </a:pPr>
                      <a:r>
                        <a:rPr>
                          <a:latin typeface="Courier"/>
                        </a:rPr>
                        <a:t>gate_all()</a:t>
                      </a:r>
                      <a:r>
                        <a:rPr/>
                        <a:t>, </a:t>
                      </a:r>
                      <a:r>
                        <a:rPr>
                          <a:latin typeface="Courier"/>
                        </a:rPr>
                        <a:t>authorize_outcome_analysis()</a:t>
                      </a:r>
                    </a:p>
                  </a:txBody>
                </a:tc>
              </a:tr>
              <a:tr h="0">
                <a:tc>
                  <a:txBody>
                    <a:bodyPr/>
                    <a:lstStyle/>
                    <a:p>
                      <a:pPr lvl="0" indent="0" marL="0">
                        <a:buNone/>
                      </a:pPr>
                      <a:r>
                        <a:rPr/>
                        <a:t>Post-outcome sensitivity</a:t>
                      </a:r>
                    </a:p>
                  </a:txBody>
                </a:tc>
                <a:tc>
                  <a:txBody>
                    <a:bodyPr/>
                    <a:lstStyle/>
                    <a:p>
                      <a:pPr lvl="0" indent="0" marL="0">
                        <a:buNone/>
                      </a:pPr>
                      <a:r>
                        <a:rPr/>
                        <a:t>FDA non-interventional; ICH E9(R1)</a:t>
                      </a:r>
                    </a:p>
                  </a:txBody>
                </a:tc>
                <a:tc>
                  <a:txBody>
                    <a:bodyPr/>
                    <a:lstStyle/>
                    <a:p>
                      <a:pPr lvl="0" indent="0" marL="0">
                        <a:buNone/>
                      </a:pPr>
                      <a:r>
                        <a:rPr>
                          <a:latin typeface="Courier"/>
                        </a:rPr>
                        <a:t>compute_evalue()</a:t>
                      </a:r>
                      <a:r>
                        <a:rPr/>
                        <a:t>, </a:t>
                      </a:r>
                      <a:r>
                        <a:rPr>
                          <a:latin typeface="Courier"/>
                        </a:rPr>
                        <a:t>tipping_point_sensitivity()</a:t>
                      </a:r>
                    </a:p>
                  </a:txBody>
                </a:tc>
              </a:tr>
            </a:tbl>
          </a:graphicData>
        </a:graphic>
      </p:graphicFrame>
    </p:spTree>
  </p:cSld>
</p:sld>
</file>

<file path=ppt/slides/slide53.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DQ threats and parameter inputs</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2743200" /><a:gridCol w="2743200" /><a:gridCol w="2743200" /></a:tblGrid><a:tr h="0"><a:tc><a:txBody><a:bodyPr /><a:lstStyle /><a:p><a:pPr lvl="0" indent="0" marL="0"><a:buNone /></a:pPr><a:r><a:rPr /><a:t>Threat</a:t></a:r></a:p></a:txBody><a:tcPr /></a:tc><a:tc><a:txBody><a:bodyPr /><a:lstStyle /><a:p><a:pPr lvl="0" indent="0" marL="0"><a:buNone /></a:pPr><a:r><a:rPr /><a:t>Mechanism</a:t></a:r></a:p></a:txBody><a:tcPr /></a:tc><a:tc><a:txBody><a:bodyPr /><a:lstStyle /><a:p><a:pPr lvl="0" indent="0" marL="0"><a:buNone /></a:pPr><a:r><a:rPr /><a:t>Severity parameters</a:t></a:r></a:p></a:txBody><a:tcPr /></a:tc></a:tr><a:tr h="0"><a:tc><a:txBody><a:bodyPr /><a:lstStyle /><a:p><a:pPr lvl="0" indent="0" marL="0"><a:buNone /></a:pPr><a:r><a:rPr /><a:t>Covariate missingness</a:t></a:r></a:p></a:txBody></a:tc><a:tc><a:txBody><a:bodyPr /><a:lstStyle /><a:p><a:pPr lvl="0" indent="0" marL="0"><a:buNone /></a:pPr><a:r><a:rPr /><a:t>MCAR on a covariate subset, median impute</a:t></a:r></a:p></a:txBody></a:tc><a:tc><a:txBody><a:bodyPr /><a:lstStyle /><a:p><a:pPr lvl="0" indent="0" marL="0"><a:buNone /></a:pPr><a:r><a:rPr /><a:t>proportion missing</a:t></a:r></a:p></a:txBody></a:tc></a:tr><a:tr h="0"><a:tc><a:txBody><a:bodyPr /><a:lstStyle /><a:p><a:pPr lvl="0" indent="0" marL="0"><a:buNone /></a:pPr><a:r><a:rPr /><a:t>Exposure misclassification</a:t></a:r></a:p></a:txBody></a:tc><a:tc><a:txBody><a:bodyPr /><a:lstStyle /><a:p><a:pPr lvl="0" indent="0" marL="0"><a:buNone /></a:pPr><a:r><a:rPr /><a:t>Flip A with given (sens, spec)</a:t></a:r></a:p></a:txBody></a:tc><a:tc><a:txBody><a:bodyPr /><a:lstStyle /><a:p><a:pPr lvl="0" indent="0" marL="0"><a:buNone /></a:pPr><a:r><a:rPr /><a:t>(sens, spec) pairs</a:t></a:r></a:p></a:txBody></a:tc></a:tr><a:tr h="0"><a:tc><a:txBody><a:bodyPr /><a:lstStyle /><a:p><a:pPr lvl="0" indent="0" marL="0"><a:buNone /></a:pPr><a:r><a:rPr /><a:t>Outcome misclassification</a:t></a:r></a:p></a:txBody></a:tc><a:tc><a:txBody><a:bodyPr /><a:lstStyle /><a:p><a:pPr lvl="0" indent="0" marL="0"><a:buNone /></a:pPr><a:r><a:rPr /><a:t>Flip Y with given (sens, spec), optional differential</a:t></a:r></a:p></a:txBody></a:tc><a:tc><a:txBody><a:bodyPr /><a:lstStyle /><a:p><a:pPr lvl="0" indent="0" marL="0"><a:buNone /></a:pPr><a:r><a:rPr /><a:t>(sens, spec) pairs</a:t></a:r></a:p></a:txBody></a:tc></a:tr><a:tr h="0"><a:tc><a:txBody><a:bodyPr /><a:lstStyle /><a:p><a:pPr lvl="0" indent="0" marL="0"><a:buNone /></a:pPr><a:r><a:rPr /><a:t>Unmeasured confounding</a:t></a:r></a:p></a:txBody></a:tc><a:tc><a:txBody><a:bodyPr /><a:lstStyle /><a:p><a:pPr lvl="0" indent="0" marL="0"><a:buNone /></a:pPr><a:r><a:rPr /><a:t>Latent U shifts both A and Y</a:t></a:r></a:p></a:txBody></a:tc><a:tc><a:txBody><a:bodyPr /><a:lstStyle /><a:p><a:pPr lvl="0" indent="0" marL="0"><a:buNone /></a:pPr><a14:m><m:oMath xmlns:m="http://schemas.openxmlformats.org/officeDocument/2006/math"><m:sSub><m:e><m:r><m:t>β</m:t></m:r></m:e><m:sub><m:r><m:t>U</m:t></m:r><m:r><m:t>A</m:t></m:r></m:sub></m:sSub></m:oMath></a14:m><a:r><a:rPr /><a:t>, </a:t></a:r><a14:m><m:oMath xmlns:m="http://schemas.openxmlformats.org/officeDocument/2006/math"><m:sSub><m:e><m:r><m:t>β</m:t></m:r></m:e><m:sub><m:r><m:t>U</m:t></m:r><m:r><m:t>Y</m:t></m:r></m:sub></m:sSub></m:oMath></a14:m></a:p></a:txBody></a:tc></a:tr></a:tbl></a:graphicData></a:graphic></p:graphicFrame></p:spTree></p:cSld></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Threat-to-assumption matrix</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Scenario</a:t>
                      </a:r>
                    </a:p>
                  </a:txBody>
                  <a:tcPr/>
                </a:tc>
                <a:tc>
                  <a:txBody>
                    <a:bodyPr/>
                    <a:lstStyle/>
                    <a:p>
                      <a:pPr lvl="0" indent="0" marL="0">
                        <a:buNone/>
                      </a:pPr>
                      <a:r>
                        <a:rPr/>
                        <a:t>Assumption nominally probed</a:t>
                      </a:r>
                    </a:p>
                  </a:txBody>
                  <a:tcPr/>
                </a:tc>
                <a:tc>
                  <a:txBody>
                    <a:bodyPr/>
                    <a:lstStyle/>
                    <a:p>
                      <a:pPr lvl="0" indent="0" marL="0">
                        <a:buNone/>
                      </a:pPr>
                      <a:r>
                        <a:rPr/>
                        <a:t>What it does NOT probe</a:t>
                      </a:r>
                    </a:p>
                  </a:txBody>
                  <a:tcPr/>
                </a:tc>
              </a:tr>
              <a:tr h="0">
                <a:tc>
                  <a:txBody>
                    <a:bodyPr/>
                    <a:lstStyle/>
                    <a:p>
                      <a:pPr lvl="0" indent="0" marL="0">
                        <a:buNone/>
                      </a:pPr>
                      <a:r>
                        <a:rPr/>
                        <a:t>Covariate MCAR</a:t>
                      </a:r>
                    </a:p>
                  </a:txBody>
                </a:tc>
                <a:tc>
                  <a:txBody>
                    <a:bodyPr/>
                    <a:lstStyle/>
                    <a:p>
                      <a:pPr lvl="0" indent="0" marL="0">
                        <a:buNone/>
                      </a:pPr>
                      <a:r>
                        <a:rPr/>
                        <a:t>Some forms of missing-data robustness</a:t>
                      </a:r>
                    </a:p>
                  </a:txBody>
                </a:tc>
                <a:tc>
                  <a:txBody>
                    <a:bodyPr/>
                    <a:lstStyle/>
                    <a:p>
                      <a:pPr lvl="0" indent="0" marL="0">
                        <a:buNone/>
                      </a:pPr>
                      <a:r>
                        <a:rPr/>
                        <a:t>MAR / MNAR; phenotype validity</a:t>
                      </a:r>
                    </a:p>
                  </a:txBody>
                </a:tc>
              </a:tr>
              <a:tr h="0">
                <a:tc>
                  <a:txBody>
                    <a:bodyPr/>
                    <a:lstStyle/>
                    <a:p>
                      <a:pPr lvl="0" indent="0" marL="0">
                        <a:buNone/>
                      </a:pPr>
                      <a:r>
                        <a:rPr/>
                        <a:t>Exposure misclassification</a:t>
                      </a:r>
                    </a:p>
                  </a:txBody>
                </a:tc>
                <a:tc>
                  <a:txBody>
                    <a:bodyPr/>
                    <a:lstStyle/>
                    <a:p>
                      <a:pPr lvl="0" indent="0" marL="0">
                        <a:buNone/>
                      </a:pPr>
                      <a:r>
                        <a:rPr/>
                        <a:t>Treatment-measurement validity</a:t>
                      </a:r>
                    </a:p>
                  </a:txBody>
                </a:tc>
                <a:tc>
                  <a:txBody>
                    <a:bodyPr/>
                    <a:lstStyle/>
                    <a:p>
                      <a:pPr lvl="0" indent="0" marL="0">
                        <a:buNone/>
                      </a:pPr>
                      <a:r>
                        <a:rPr/>
                        <a:t>Differential misclassification by outcome</a:t>
                      </a:r>
                    </a:p>
                  </a:txBody>
                </a:tc>
              </a:tr>
              <a:tr h="0">
                <a:tc>
                  <a:txBody>
                    <a:bodyPr/>
                    <a:lstStyle/>
                    <a:p>
                      <a:pPr lvl="0" indent="0" marL="0">
                        <a:buNone/>
                      </a:pPr>
                      <a:r>
                        <a:rPr/>
                        <a:t>Outcome misclassification</a:t>
                      </a:r>
                    </a:p>
                  </a:txBody>
                </a:tc>
                <a:tc>
                  <a:txBody>
                    <a:bodyPr/>
                    <a:lstStyle/>
                    <a:p>
                      <a:pPr lvl="0" indent="0" marL="0">
                        <a:buNone/>
                      </a:pPr>
                      <a:r>
                        <a:rPr/>
                        <a:t>Outcome-measurement validity</a:t>
                      </a:r>
                    </a:p>
                  </a:txBody>
                </a:tc>
                <a:tc>
                  <a:txBody>
                    <a:bodyPr/>
                    <a:lstStyle/>
                    <a:p>
                      <a:pPr lvl="0" indent="0" marL="0">
                        <a:buNone/>
                      </a:pPr>
                      <a:r>
                        <a:rPr/>
                        <a:t>Time-varying outcome ascertainment</a:t>
                      </a:r>
                    </a:p>
                  </a:txBody>
                </a:tc>
              </a:tr>
              <a:tr h="0">
                <a:tc>
                  <a:txBody>
                    <a:bodyPr/>
                    <a:lstStyle/>
                    <a:p>
                      <a:pPr lvl="0" indent="0" marL="0">
                        <a:buNone/>
                      </a:pPr>
                      <a:r>
                        <a:rPr/>
                        <a:t>Unmeasured confounding</a:t>
                      </a:r>
                    </a:p>
                  </a:txBody>
                </a:tc>
                <a:tc>
                  <a:txBody>
                    <a:bodyPr/>
                    <a:lstStyle/>
                    <a:p>
                      <a:pPr lvl="0" indent="0" marL="0">
                        <a:buNone/>
                      </a:pPr>
                      <a:r>
                        <a:rPr/>
                        <a:t>Exchangeability</a:t>
                      </a:r>
                    </a:p>
                  </a:txBody>
                </a:tc>
                <a:tc>
                  <a:txBody>
                    <a:bodyPr/>
                    <a:lstStyle/>
                    <a:p>
                      <a:pPr lvl="0" indent="0" marL="0">
                        <a:buNone/>
                      </a:pPr>
                      <a:r>
                        <a:rPr/>
                        <a:t>Multiple unmeasured Us; effect modification by U</a:t>
                      </a:r>
                    </a:p>
                  </a:txBody>
                </a:tc>
              </a:tr>
            </a:tbl>
          </a:graphicData>
        </a:graphic>
      </p:graphicFrame>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Appendix B: Case-study setup (Rescue.Co)</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Cohort flow</a:t>
            </a:r>
          </a:p>
        </p:txBody>
      </p:sp>
      <p:sp>
        <p:nvSpPr>
          <p:cNvPr id="4" name="Text Placeholder 3"/>
          <p:cNvSpPr>
            <a:spLocks noGrp="1"/>
          </p:cNvSpPr>
          <p:nvPr>
            <p:ph idx="2" sz="half" type="body"/>
          </p:nvPr>
        </p:nvSpPr>
        <p:spPr/>
        <p:txBody>
          <a:bodyPr/>
          <a:lstStyle/>
          <a:p>
            <a:pPr lvl="0" indent="0" marL="0">
              <a:buNone/>
            </a:pPr>
          </a:p>
        </p:txBody>
      </p:sp>
      <p:pic>
        <p:nvPicPr>
          <p:cNvPr descr="cleanTMLE_presentation_files\figure-pptx\mermaid-figure-3.png" id="0" name="Picture 1"/>
          <p:cNvPicPr>
            <a:picLocks noGrp="1" noChangeAspect="1"/>
          </p:cNvPicPr>
          <p:nvPr/>
        </p:nvPicPr>
        <p:blipFill>
          <a:blip r:embed="rId2"/>
          <a:stretch>
            <a:fillRect/>
          </a:stretch>
        </p:blipFill>
        <p:spPr bwMode="auto">
          <a:xfrm>
            <a:off x="3721100" y="203200"/>
            <a:ext cx="4787900" cy="43815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Estimand grid (case-study estimators)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a:t>
                      </a:r>
                    </a:p>
                  </a:txBody>
                  <a:tcPr/>
                </a:tc>
                <a:tc>
                  <a:txBody>
                    <a:bodyPr/>
                    <a:lstStyle/>
                    <a:p>
                      <a:pPr lvl="0" indent="0" marL="0">
                        <a:buNone/>
                      </a:pPr>
                      <a:r>
                        <a:rPr/>
                        <a:t>Estimator</a:t>
                      </a:r>
                    </a:p>
                  </a:txBody>
                  <a:tcPr/>
                </a:tc>
                <a:tc>
                  <a:txBody>
                    <a:bodyPr/>
                    <a:lstStyle/>
                    <a:p>
                      <a:pPr lvl="0" indent="0" marL="0">
                        <a:buNone/>
                      </a:pPr>
                      <a:r>
                        <a:rPr/>
                        <a:t>Outcome</a:t>
                      </a:r>
                    </a:p>
                  </a:txBody>
                  <a:tcPr/>
                </a:tc>
                <a:tc>
                  <a:txBody>
                    <a:bodyPr/>
                    <a:lstStyle/>
                    <a:p>
                      <a:pPr lvl="0" indent="0" marL="0">
                        <a:buNone/>
                      </a:pPr>
                      <a:r>
                        <a:rPr/>
                        <a:t>Cohort</a:t>
                      </a:r>
                    </a:p>
                  </a:txBody>
                  <a:tcPr/>
                </a:tc>
              </a:tr>
              <a:tr h="0">
                <a:tc>
                  <a:txBody>
                    <a:bodyPr/>
                    <a:lstStyle/>
                    <a:p>
                      <a:pPr lvl="0" indent="0" marL="0">
                        <a:buNone/>
                      </a:pPr>
                      <a:r>
                        <a:rPr/>
                        <a:t>A</a:t>
                      </a:r>
                    </a:p>
                  </a:txBody>
                </a:tc>
                <a:tc>
                  <a:txBody>
                    <a:bodyPr/>
                    <a:lstStyle/>
                    <a:p>
                      <a:pPr lvl="0" indent="0" marL="0">
                        <a:buNone/>
                      </a:pPr>
                      <a:r>
                        <a:rPr/>
                        <a:t>PS-matched logistic regression</a:t>
                      </a:r>
                    </a:p>
                  </a:txBody>
                </a:tc>
                <a:tc>
                  <a:txBody>
                    <a:bodyPr/>
                    <a:lstStyle/>
                    <a:p>
                      <a:pPr lvl="0" indent="0" marL="0">
                        <a:buNone/>
                      </a:pPr>
                      <a:r>
                        <a:rPr/>
                        <a:t>Binary</a:t>
                      </a:r>
                    </a:p>
                  </a:txBody>
                </a:tc>
                <a:tc>
                  <a:txBody>
                    <a:bodyPr/>
                    <a:lstStyle/>
                    <a:p>
                      <a:pPr lvl="0" indent="0" marL="0">
                        <a:buNone/>
                      </a:pPr>
                      <a:r>
                        <a:rPr/>
                        <a:t>Matched</a:t>
                      </a:r>
                    </a:p>
                  </a:txBody>
                </a:tc>
              </a:tr>
              <a:tr h="0">
                <a:tc>
                  <a:txBody>
                    <a:bodyPr/>
                    <a:lstStyle/>
                    <a:p>
                      <a:pPr lvl="0" indent="0" marL="0">
                        <a:buNone/>
                      </a:pPr>
                      <a:r>
                        <a:rPr/>
                        <a:t>B</a:t>
                      </a:r>
                    </a:p>
                  </a:txBody>
                </a:tc>
                <a:tc>
                  <a:txBody>
                    <a:bodyPr/>
                    <a:lstStyle/>
                    <a:p>
                      <a:pPr lvl="0" indent="0" marL="0">
                        <a:buNone/>
                      </a:pPr>
                      <a:r>
                        <a:rPr/>
                        <a:t>PS-matched TMLE</a:t>
                      </a:r>
                    </a:p>
                  </a:txBody>
                </a:tc>
                <a:tc>
                  <a:txBody>
                    <a:bodyPr/>
                    <a:lstStyle/>
                    <a:p>
                      <a:pPr lvl="0" indent="0" marL="0">
                        <a:buNone/>
                      </a:pPr>
                      <a:r>
                        <a:rPr/>
                        <a:t>Binary</a:t>
                      </a:r>
                    </a:p>
                  </a:txBody>
                </a:tc>
                <a:tc>
                  <a:txBody>
                    <a:bodyPr/>
                    <a:lstStyle/>
                    <a:p>
                      <a:pPr lvl="0" indent="0" marL="0">
                        <a:buNone/>
                      </a:pPr>
                      <a:r>
                        <a:rPr/>
                        <a:t>Matched</a:t>
                      </a:r>
                    </a:p>
                  </a:txBody>
                </a:tc>
              </a:tr>
              <a:tr h="0">
                <a:tc>
                  <a:txBody>
                    <a:bodyPr/>
                    <a:lstStyle/>
                    <a:p>
                      <a:pPr lvl="0" indent="0" marL="0">
                        <a:buNone/>
                      </a:pPr>
                      <a:r>
                        <a:rPr/>
                        <a:t>C</a:t>
                      </a:r>
                    </a:p>
                  </a:txBody>
                </a:tc>
                <a:tc>
                  <a:txBody>
                    <a:bodyPr/>
                    <a:lstStyle/>
                    <a:p>
                      <a:pPr lvl="0" indent="0" marL="0">
                        <a:buNone/>
                      </a:pPr>
                      <a:r>
                        <a:rPr/>
                        <a:t>Outcome-blind plasmode candidate selection</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D</a:t>
                      </a:r>
                    </a:p>
                  </a:txBody>
                </a:tc>
                <a:tc>
                  <a:txBody>
                    <a:bodyPr/>
                    <a:lstStyle/>
                    <a:p>
                      <a:pPr lvl="0" indent="0" marL="0">
                        <a:buNone/>
                      </a:pPr>
                      <a:r>
                        <a:rPr/>
                        <a:t>Full-cohort TMLE</a:t>
                      </a:r>
                    </a:p>
                  </a:txBody>
                </a:tc>
                <a:tc>
                  <a:txBody>
                    <a:bodyPr/>
                    <a:lstStyle/>
                    <a:p>
                      <a:pPr lvl="0" indent="0" marL="0">
                        <a:buNone/>
                      </a:pPr>
                      <a:r>
                        <a:rPr/>
                        <a:t>Binary</a:t>
                      </a:r>
                    </a:p>
                  </a:txBody>
                </a:tc>
                <a:tc>
                  <a:txBody>
                    <a:bodyPr/>
                    <a:lstStyle/>
                    <a:p>
                      <a:pPr lvl="0" indent="0" marL="0">
                        <a:buNone/>
                      </a:pPr>
                      <a:r>
                        <a:rPr/>
                        <a:t>Full</a:t>
                      </a:r>
                    </a:p>
                  </a:txBody>
                </a:tc>
              </a:tr>
              <a:tr h="0">
                <a:tc>
                  <a:txBody>
                    <a:bodyPr/>
                    <a:lstStyle/>
                    <a:p>
                      <a:pPr lvl="0" indent="0" marL="0">
                        <a:buNone/>
                      </a:pPr>
                      <a:r>
                        <a:rPr/>
                        <a:t>E</a:t>
                      </a:r>
                    </a:p>
                  </a:txBody>
                </a:tc>
                <a:tc>
                  <a:txBody>
                    <a:bodyPr/>
                    <a:lstStyle/>
                    <a:p>
                      <a:pPr lvl="0" indent="0" marL="0">
                        <a:buNone/>
                      </a:pPr>
                      <a:r>
                        <a:rPr/>
                        <a:t>IPTW (stabilised)</a:t>
                      </a:r>
                    </a:p>
                  </a:txBody>
                </a:tc>
                <a:tc>
                  <a:txBody>
                    <a:bodyPr/>
                    <a:lstStyle/>
                    <a:p>
                      <a:pPr lvl="0" indent="0" marL="0">
                        <a:buNone/>
                      </a:pPr>
                      <a:r>
                        <a:rPr/>
                        <a:t>Binary</a:t>
                      </a:r>
                    </a:p>
                  </a:txBody>
                </a:tc>
                <a:tc>
                  <a:txBody>
                    <a:bodyPr/>
                    <a:lstStyle/>
                    <a:p>
                      <a:pPr lvl="0" indent="0" marL="0">
                        <a:buNone/>
                      </a:pPr>
                      <a:r>
                        <a:rPr/>
                        <a:t>Full</a:t>
                      </a:r>
                    </a:p>
                  </a:txBody>
                </a:tc>
              </a:tr>
              <a:tr h="0">
                <a:tc>
                  <a:txBody>
                    <a:bodyPr/>
                    <a:lstStyle/>
                    <a:p>
                      <a:pPr lvl="0" indent="0" marL="0">
                        <a:buNone/>
                      </a:pPr>
                      <a:r>
                        <a:rPr/>
                        <a:t>F</a:t>
                      </a:r>
                    </a:p>
                  </a:txBody>
                </a:tc>
                <a:tc>
                  <a:txBody>
                    <a:bodyPr/>
                    <a:lstStyle/>
                    <a:p>
                      <a:pPr lvl="0" indent="0" marL="0">
                        <a:buNone/>
                      </a:pPr>
                      <a:r>
                        <a:rPr/>
                        <a:t>Complete-outcome TMLE with IPCW weights</a:t>
                      </a:r>
                    </a:p>
                  </a:txBody>
                </a:tc>
                <a:tc>
                  <a:txBody>
                    <a:bodyPr/>
                    <a:lstStyle/>
                    <a:p>
                      <a:pPr lvl="0" indent="0" marL="0">
                        <a:buNone/>
                      </a:pPr>
                      <a:r>
                        <a:rPr/>
                        <a:t>Binary</a:t>
                      </a:r>
                    </a:p>
                  </a:txBody>
                </a:tc>
                <a:tc>
                  <a:txBody>
                    <a:bodyPr/>
                    <a:lstStyle/>
                    <a:p>
                      <a:pPr lvl="0" indent="0" marL="0">
                        <a:buNone/>
                      </a:pPr>
                      <a:r>
                        <a:rPr/>
                        <a:t>Complete-outcome</a:t>
                      </a:r>
                    </a:p>
                  </a:txBody>
                </a:tc>
              </a:tr>
              <a:tr h="0">
                <a:tc>
                  <a:txBody>
                    <a:bodyPr/>
                    <a:lstStyle/>
                    <a:p>
                      <a:pPr lvl="0" indent="0" marL="0">
                        <a:buNone/>
                      </a:pPr>
                      <a:r>
                        <a:rPr/>
                        <a:t>G</a:t>
                      </a:r>
                    </a:p>
                  </a:txBody>
                </a:tc>
                <a:tc>
                  <a:txBody>
                    <a:bodyPr/>
                    <a:lstStyle/>
                    <a:p>
                      <a:pPr lvl="0" indent="0" marL="0">
                        <a:buNone/>
                      </a:pPr>
                      <a:r>
                        <a:rPr/>
                        <a:t>Survival TMLE (experimental)</a:t>
                      </a:r>
                    </a:p>
                  </a:txBody>
                </a:tc>
                <a:tc>
                  <a:txBody>
                    <a:bodyPr/>
                    <a:lstStyle/>
                    <a:p>
                      <a:pPr lvl="0" indent="0" marL="0">
                        <a:buNone/>
                      </a:pPr>
                      <a:r>
                        <a:rPr/>
                        <a:t>Survival</a:t>
                      </a:r>
                    </a:p>
                  </a:txBody>
                </a:tc>
                <a:tc>
                  <a:txBody>
                    <a:bodyPr/>
                    <a:lstStyle/>
                    <a:p>
                      <a:pPr lvl="0" indent="0" marL="0">
                        <a:buNone/>
                      </a:pPr>
                      <a:r>
                        <a:rPr/>
                        <a:t>Full</a:t>
                      </a:r>
                    </a:p>
                  </a:txBody>
                </a:tc>
              </a:tr>
              <a:tr h="0">
                <a:tc>
                  <a:txBody>
                    <a:bodyPr/>
                    <a:lstStyle/>
                    <a:p>
                      <a:pPr lvl="0" indent="0" marL="0">
                        <a:buNone/>
                      </a:pPr>
                      <a:r>
                        <a:rPr/>
                        <a:t>H</a:t>
                      </a:r>
                    </a:p>
                  </a:txBody>
                </a:tc>
                <a:tc>
                  <a:txBody>
                    <a:bodyPr/>
                    <a:lstStyle/>
                    <a:p>
                      <a:pPr lvl="0" indent="0" marL="0">
                        <a:buNone/>
                      </a:pPr>
                      <a:r>
                        <a:rPr/>
                        <a:t>Cox PH (sensitivity)</a:t>
                      </a:r>
                    </a:p>
                  </a:txBody>
                </a:tc>
                <a:tc>
                  <a:txBody>
                    <a:bodyPr/>
                    <a:lstStyle/>
                    <a:p>
                      <a:pPr lvl="0" indent="0" marL="0">
                        <a:buNone/>
                      </a:pPr>
                      <a:r>
                        <a:rPr/>
                        <a:t>Survival</a:t>
                      </a:r>
                    </a:p>
                  </a:txBody>
                </a:tc>
                <a:tc>
                  <a:txBody>
                    <a:bodyPr/>
                    <a:lstStyle/>
                    <a:p>
                      <a:pPr lvl="0" indent="0" marL="0">
                        <a:buNone/>
                      </a:pPr>
                      <a:r>
                        <a:rPr/>
                        <a:t>Full</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Target-trial timing table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Design element</a:t>
                      </a:r>
                    </a:p>
                  </a:txBody>
                  <a:tcPr/>
                </a:tc>
                <a:tc>
                  <a:txBody>
                    <a:bodyPr/>
                    <a:lstStyle/>
                    <a:p>
                      <a:pPr lvl="0" indent="0" marL="0">
                        <a:buNone/>
                      </a:pPr>
                      <a:r>
                        <a:rPr/>
                        <a:t>Rescue.Co implementation</a:t>
                      </a:r>
                    </a:p>
                  </a:txBody>
                  <a:tcPr/>
                </a:tc>
                <a:tc>
                  <a:txBody>
                    <a:bodyPr/>
                    <a:lstStyle/>
                    <a:p>
                      <a:pPr lvl="0" indent="0" marL="0">
                        <a:buNone/>
                      </a:pPr>
                      <a:r>
                        <a:rPr/>
                        <a:t>Pre-outcome status</a:t>
                      </a:r>
                    </a:p>
                  </a:txBody>
                  <a:tcPr/>
                </a:tc>
              </a:tr>
              <a:tr h="0">
                <a:tc>
                  <a:txBody>
                    <a:bodyPr/>
                    <a:lstStyle/>
                    <a:p>
                      <a:pPr lvl="0" indent="0" marL="0">
                        <a:buNone/>
                      </a:pPr>
                      <a:r>
                        <a:rPr/>
                        <a:t>Index date / time zero</a:t>
                      </a:r>
                    </a:p>
                  </a:txBody>
                </a:tc>
                <a:tc>
                  <a:txBody>
                    <a:bodyPr/>
                    <a:lstStyle/>
                    <a:p>
                      <a:pPr lvl="0" indent="0" marL="0">
                        <a:buNone/>
                      </a:pPr>
                      <a:r>
                        <a:rPr/>
                        <a:t>Trauma-related ambulance arrival at participating hospital</a:t>
                      </a:r>
                    </a:p>
                  </a:txBody>
                </a:tc>
                <a:tc>
                  <a:txBody>
                    <a:bodyPr/>
                    <a:lstStyle/>
                    <a:p>
                      <a:pPr lvl="0" indent="0" marL="0">
                        <a:buNone/>
                      </a:pPr>
                      <a:r>
                        <a:rPr/>
                        <a:t>Locked in </a:t>
                      </a:r>
                      <a:r>
                        <a:rPr>
                          <a:latin typeface="Courier"/>
                        </a:rPr>
                        <a:t>identify_interval()</a:t>
                      </a:r>
                    </a:p>
                  </a:txBody>
                </a:tc>
              </a:tr>
              <a:tr h="0">
                <a:tc>
                  <a:txBody>
                    <a:bodyPr/>
                    <a:lstStyle/>
                    <a:p>
                      <a:pPr lvl="0" indent="0" marL="0">
                        <a:buNone/>
                      </a:pPr>
                      <a:r>
                        <a:rPr/>
                        <a:t>Treatment definition</a:t>
                      </a:r>
                    </a:p>
                  </a:txBody>
                </a:tc>
                <a:tc>
                  <a:txBody>
                    <a:bodyPr/>
                    <a:lstStyle/>
                    <a:p>
                      <a:pPr lvl="0" indent="0" marL="0">
                        <a:buNone/>
                      </a:pPr>
                      <a:r>
                        <a:rPr/>
                        <a:t>Rescue.Co EMS (A=1) vs other ambulance (A=0) at index</a:t>
                      </a:r>
                    </a:p>
                  </a:txBody>
                </a:tc>
                <a:tc>
                  <a:txBody>
                    <a:bodyPr/>
                    <a:lstStyle/>
                    <a:p>
                      <a:pPr lvl="0" indent="0" marL="0">
                        <a:buNone/>
                      </a:pPr>
                      <a:r>
                        <a:rPr/>
                        <a:t>Locked in </a:t>
                      </a:r>
                      <a:r>
                        <a:rPr>
                          <a:latin typeface="Courier"/>
                        </a:rPr>
                        <a:t>identify_treatment()</a:t>
                      </a:r>
                    </a:p>
                  </a:txBody>
                </a:tc>
              </a:tr>
              <a:tr h="0">
                <a:tc>
                  <a:txBody>
                    <a:bodyPr/>
                    <a:lstStyle/>
                    <a:p>
                      <a:pPr lvl="0" indent="0" marL="0">
                        <a:buNone/>
                      </a:pPr>
                      <a:r>
                        <a:rPr/>
                        <a:t>Reference group</a:t>
                      </a:r>
                    </a:p>
                  </a:txBody>
                </a:tc>
                <a:tc>
                  <a:txBody>
                    <a:bodyPr/>
                    <a:lstStyle/>
                    <a:p>
                      <a:pPr lvl="0" indent="0" marL="0">
                        <a:buNone/>
                      </a:pPr>
                      <a:r>
                        <a:rPr/>
                        <a:t>Other ambulance services, same hospitals + period</a:t>
                      </a:r>
                    </a:p>
                  </a:txBody>
                </a:tc>
                <a:tc>
                  <a:txBody>
                    <a:bodyPr/>
                    <a:lstStyle/>
                    <a:p>
                      <a:pPr lvl="0" indent="0" marL="0">
                        <a:buNone/>
                      </a:pPr>
                      <a:r>
                        <a:rPr/>
                        <a:t>Locked</a:t>
                      </a:r>
                    </a:p>
                  </a:txBody>
                </a:tc>
              </a:tr>
              <a:tr h="0">
                <a:tc>
                  <a:txBody>
                    <a:bodyPr/>
                    <a:lstStyle/>
                    <a:p>
                      <a:pPr lvl="0" indent="0" marL="0">
                        <a:buNone/>
                      </a:pPr>
                      <a:r>
                        <a:rPr/>
                        <a:t>Eligibility window</a:t>
                      </a:r>
                    </a:p>
                  </a:txBody>
                </a:tc>
                <a:tc>
                  <a:txBody>
                    <a:bodyPr/>
                    <a:lstStyle/>
                    <a:p>
                      <a:pPr lvl="0" indent="0" marL="0">
                        <a:buNone/>
                      </a:pPr>
                      <a:r>
                        <a:rPr/>
                        <a:t>2018-2024 trauma transports, direct-from-scene only</a:t>
                      </a:r>
                    </a:p>
                  </a:txBody>
                </a:tc>
                <a:tc>
                  <a:txBody>
                    <a:bodyPr/>
                    <a:lstStyle/>
                    <a:p>
                      <a:pPr lvl="0" indent="0" marL="0">
                        <a:buNone/>
                      </a:pPr>
                      <a:r>
                        <a:rPr/>
                        <a:t>Locked</a:t>
                      </a:r>
                    </a:p>
                  </a:txBody>
                </a:tc>
              </a:tr>
              <a:tr h="0">
                <a:tc>
                  <a:txBody>
                    <a:bodyPr/>
                    <a:lstStyle/>
                    <a:p>
                      <a:pPr lvl="0" indent="0" marL="0">
                        <a:buNone/>
                      </a:pPr>
                      <a:r>
                        <a:rPr/>
                        <a:t>Covariate window</a:t>
                      </a:r>
                    </a:p>
                  </a:txBody>
                </a:tc>
                <a:tc>
                  <a:txBody>
                    <a:bodyPr/>
                    <a:lstStyle/>
                    <a:p>
                      <a:pPr lvl="0" indent="0" marL="0">
                        <a:buNone/>
                      </a:pPr>
                      <a:r>
                        <a:rPr/>
                        <a:t>At or before index</a:t>
                      </a:r>
                    </a:p>
                  </a:txBody>
                </a:tc>
                <a:tc>
                  <a:txBody>
                    <a:bodyPr/>
                    <a:lstStyle/>
                    <a:p>
                      <a:pPr lvl="0" indent="0" marL="0">
                        <a:buNone/>
                      </a:pPr>
                      <a:r>
                        <a:rPr/>
                        <a:t>Locked</a:t>
                      </a:r>
                    </a:p>
                  </a:txBody>
                </a:tc>
              </a:tr>
              <a:tr h="0">
                <a:tc>
                  <a:txBody>
                    <a:bodyPr/>
                    <a:lstStyle/>
                    <a:p>
                      <a:pPr lvl="0" indent="0" marL="0">
                        <a:buNone/>
                      </a:pPr>
                      <a:r>
                        <a:rPr/>
                        <a:t>Outcome window</a:t>
                      </a:r>
                    </a:p>
                  </a:txBody>
                </a:tc>
                <a:tc>
                  <a:txBody>
                    <a:bodyPr/>
                    <a:lstStyle/>
                    <a:p>
                      <a:pPr lvl="0" indent="0" marL="0">
                        <a:buNone/>
                      </a:pPr>
                      <a:r>
                        <a:rPr/>
                        <a:t>6 months from index</a:t>
                      </a:r>
                    </a:p>
                  </a:txBody>
                </a:tc>
                <a:tc>
                  <a:txBody>
                    <a:bodyPr/>
                    <a:lstStyle/>
                    <a:p>
                      <a:pPr lvl="0" indent="0" marL="0">
                        <a:buNone/>
                      </a:pPr>
                      <a:r>
                        <a:rPr/>
                        <a:t>Locked</a:t>
                      </a:r>
                    </a:p>
                  </a:txBody>
                </a:tc>
              </a:tr>
              <a:tr h="0">
                <a:tc>
                  <a:txBody>
                    <a:bodyPr/>
                    <a:lstStyle/>
                    <a:p>
                      <a:pPr lvl="0" indent="0" marL="0">
                        <a:buNone/>
                      </a:pPr>
                      <a:r>
                        <a:rPr/>
                        <a:t>Outcome definition</a:t>
                      </a:r>
                    </a:p>
                  </a:txBody>
                </a:tc>
                <a:tc>
                  <a:txBody>
                    <a:bodyPr/>
                    <a:lstStyle/>
                    <a:p>
                      <a:pPr lvl="0" indent="0" marL="0">
                        <a:buNone/>
                      </a:pPr>
                      <a:r>
                        <a:rPr/>
                        <a:t>GOSE &gt; 4 at 6 months</a:t>
                      </a:r>
                    </a:p>
                  </a:txBody>
                </a:tc>
                <a:tc>
                  <a:txBody>
                    <a:bodyPr/>
                    <a:lstStyle/>
                    <a:p>
                      <a:pPr lvl="0" indent="0" marL="0">
                        <a:buNone/>
                      </a:pPr>
                      <a:r>
                        <a:rPr/>
                        <a:t>Locked</a:t>
                      </a:r>
                    </a:p>
                  </a:txBody>
                </a:tc>
              </a:tr>
              <a:tr h="0">
                <a:tc>
                  <a:txBody>
                    <a:bodyPr/>
                    <a:lstStyle/>
                    <a:p>
                      <a:pPr lvl="0" indent="0" marL="0">
                        <a:buNone/>
                      </a:pPr>
                      <a:r>
                        <a:rPr/>
                        <a:t>Missingness / censoring</a:t>
                      </a:r>
                    </a:p>
                  </a:txBody>
                </a:tc>
                <a:tc>
                  <a:txBody>
                    <a:bodyPr/>
                    <a:lstStyle/>
                    <a:p>
                      <a:pPr lvl="0" indent="0" marL="0">
                        <a:buNone/>
                      </a:pPr>
                      <a:r>
                        <a:rPr/>
                        <a:t>Missing 6-month GOSE; primary complete-outcome + IPCW sensitivity</a:t>
                      </a:r>
                    </a:p>
                  </a:txBody>
                </a:tc>
                <a:tc>
                  <a:txBody>
                    <a:bodyPr/>
                    <a:lstStyle/>
                    <a:p>
                      <a:pPr lvl="0" indent="0" marL="0">
                        <a:buNone/>
                      </a:pPr>
                      <a:r>
                        <a:rPr/>
                        <a:t>Locked</a:t>
                      </a:r>
                    </a:p>
                  </a:txBody>
                </a:tc>
              </a:tr>
              <a:tr h="0">
                <a:tc>
                  <a:txBody>
                    <a:bodyPr/>
                    <a:lstStyle/>
                    <a:p>
                      <a:pPr lvl="0" indent="0" marL="0">
                        <a:buNone/>
                      </a:pPr>
                      <a:r>
                        <a:rPr/>
                        <a:t>Switching / discontinuation</a:t>
                      </a:r>
                    </a:p>
                  </a:txBody>
                </a:tc>
                <a:tc>
                  <a:txBody>
                    <a:bodyPr/>
                    <a:lstStyle/>
                    <a:p>
                      <a:pPr lvl="0" indent="0" marL="0">
                        <a:buNone/>
                      </a:pPr>
                      <a:r>
                        <a:rPr/>
                        <a:t>Not applicable (point exposure at scene)</a:t>
                      </a:r>
                    </a:p>
                  </a:txBody>
                </a:tc>
                <a:tc>
                  <a:txBody>
                    <a:bodyPr/>
                    <a:lstStyle/>
                    <a:p>
                      <a:pPr lvl="0" indent="0" marL="0">
                        <a:buNone/>
                      </a:pPr>
                      <a:r>
                        <a:rPr/>
                        <a:t>Locked</a:t>
                      </a:r>
                    </a:p>
                  </a:txBody>
                </a:tc>
              </a:tr>
              <a:tr h="0">
                <a:tc>
                  <a:txBody>
                    <a:bodyPr/>
                    <a:lstStyle/>
                    <a:p>
                      <a:pPr lvl="0" indent="0" marL="0">
                        <a:buNone/>
                      </a:pPr>
                      <a:r>
                        <a:rPr/>
                        <a:t>Administrative end of FU</a:t>
                      </a:r>
                    </a:p>
                  </a:txBody>
                </a:tc>
                <a:tc>
                  <a:txBody>
                    <a:bodyPr/>
                    <a:lstStyle/>
                    <a:p>
                      <a:pPr lvl="0" indent="0" marL="0">
                        <a:buNone/>
                      </a:pPr>
                      <a:r>
                        <a:rPr/>
                        <a:t>Fixed at 6 months</a:t>
                      </a:r>
                    </a:p>
                  </a:txBody>
                </a:tc>
                <a:tc>
                  <a:txBody>
                    <a:bodyPr/>
                    <a:lstStyle/>
                    <a:p>
                      <a:pPr lvl="0" indent="0" marL="0">
                        <a:buNone/>
                      </a:pPr>
                      <a:r>
                        <a:rPr/>
                        <a:t>Locked</a:t>
                      </a:r>
                    </a:p>
                  </a:txBody>
                </a:tc>
              </a:tr>
              <a:tr h="0">
                <a:tc>
                  <a:txBody>
                    <a:bodyPr/>
                    <a:lstStyle/>
                    <a:p>
                      <a:pPr lvl="0" indent="0" marL="0">
                        <a:buNone/>
                      </a:pPr>
                      <a:r>
                        <a:rPr/>
                        <a:t>Excluded intercurrent events</a:t>
                      </a:r>
                    </a:p>
                  </a:txBody>
                </a:tc>
                <a:tc>
                  <a:txBody>
                    <a:bodyPr/>
                    <a:lstStyle/>
                    <a:p>
                      <a:pPr lvl="0" indent="0" marL="0">
                        <a:buNone/>
                      </a:pPr>
                      <a:r>
                        <a:rPr/>
                        <a:t>Inter-facility transfers excluded; recorded as </a:t>
                      </a:r>
                      <a:r>
                        <a:rPr>
                          <a:latin typeface="Courier"/>
                        </a:rPr>
                        <a:t>is_transfer</a:t>
                      </a:r>
                    </a:p>
                  </a:txBody>
                </a:tc>
                <a:tc>
                  <a:txBody>
                    <a:bodyPr/>
                    <a:lstStyle/>
                    <a:p>
                      <a:pPr lvl="0" indent="0" marL="0">
                        <a:buNone/>
                      </a:pPr>
                      <a:r>
                        <a:rPr/>
                        <a:t>Locked</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Event-process table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Event-like quantity</a:t>
                      </a:r>
                    </a:p>
                  </a:txBody>
                  <a:tcPr/>
                </a:tc>
                <a:tc>
                  <a:txBody>
                    <a:bodyPr/>
                    <a:lstStyle/>
                    <a:p>
                      <a:pPr lvl="0" indent="0" marL="0">
                        <a:buNone/>
                      </a:pPr>
                      <a:r>
                        <a:rPr/>
                        <a:t>Class</a:t>
                      </a:r>
                    </a:p>
                  </a:txBody>
                  <a:tcPr/>
                </a:tc>
                <a:tc>
                  <a:txBody>
                    <a:bodyPr/>
                    <a:lstStyle/>
                    <a:p>
                      <a:pPr lvl="0" indent="0" marL="0">
                        <a:buNone/>
                      </a:pPr>
                      <a:r>
                        <a:rPr/>
                        <a:t>Handling</a:t>
                      </a:r>
                    </a:p>
                  </a:txBody>
                  <a:tcPr/>
                </a:tc>
              </a:tr>
              <a:tr h="0">
                <a:tc>
                  <a:txBody>
                    <a:bodyPr/>
                    <a:lstStyle/>
                    <a:p>
                      <a:pPr lvl="0" indent="0" marL="0">
                        <a:buNone/>
                      </a:pPr>
                      <a:r>
                        <a:rPr/>
                        <a:t>GOSE &gt; 4 at 6 months</a:t>
                      </a:r>
                    </a:p>
                  </a:txBody>
                </a:tc>
                <a:tc>
                  <a:txBody>
                    <a:bodyPr/>
                    <a:lstStyle/>
                    <a:p>
                      <a:pPr lvl="0" indent="0" marL="0">
                        <a:buNone/>
                      </a:pPr>
                      <a:r>
                        <a:rPr/>
                        <a:t>Event of interest (outcome)</a:t>
                      </a:r>
                    </a:p>
                  </a:txBody>
                </a:tc>
                <a:tc>
                  <a:txBody>
                    <a:bodyPr/>
                    <a:lstStyle/>
                    <a:p>
                      <a:pPr lvl="0" indent="0" marL="0">
                        <a:buNone/>
                      </a:pPr>
                      <a:r>
                        <a:rPr/>
                        <a:t>Estimand: marginal RD on this binary outcome</a:t>
                      </a:r>
                    </a:p>
                  </a:txBody>
                </a:tc>
              </a:tr>
              <a:tr h="0">
                <a:tc>
                  <a:txBody>
                    <a:bodyPr/>
                    <a:lstStyle/>
                    <a:p>
                      <a:pPr lvl="0" indent="0" marL="0">
                        <a:buNone/>
                      </a:pPr>
                      <a:r>
                        <a:rPr/>
                        <a:t>GOSE missing at 6 months</a:t>
                      </a:r>
                    </a:p>
                  </a:txBody>
                </a:tc>
                <a:tc>
                  <a:txBody>
                    <a:bodyPr/>
                    <a:lstStyle/>
                    <a:p>
                      <a:pPr lvl="0" indent="0" marL="0">
                        <a:buNone/>
                      </a:pPr>
                      <a:r>
                        <a:rPr/>
                        <a:t>Missingness</a:t>
                      </a:r>
                    </a:p>
                  </a:txBody>
                </a:tc>
                <a:tc>
                  <a:txBody>
                    <a:bodyPr/>
                    <a:lstStyle/>
                    <a:p>
                      <a:pPr lvl="0" indent="0" marL="0">
                        <a:buNone/>
                      </a:pPr>
                      <a:r>
                        <a:rPr/>
                        <a:t>Primary: complete-outcome; IPCW sensitivity</a:t>
                      </a:r>
                    </a:p>
                  </a:txBody>
                </a:tc>
              </a:tr>
              <a:tr h="0">
                <a:tc>
                  <a:txBody>
                    <a:bodyPr/>
                    <a:lstStyle/>
                    <a:p>
                      <a:pPr lvl="0" indent="0" marL="0">
                        <a:buNone/>
                      </a:pPr>
                      <a:r>
                        <a:rPr/>
                        <a:t>In-hospital death before 6-month GOSE</a:t>
                      </a:r>
                    </a:p>
                  </a:txBody>
                </a:tc>
                <a:tc>
                  <a:txBody>
                    <a:bodyPr/>
                    <a:lstStyle/>
                    <a:p>
                      <a:pPr lvl="0" indent="0" marL="0">
                        <a:buNone/>
                      </a:pPr>
                      <a:r>
                        <a:rPr/>
                        <a:t>Outcome component / intercurrent event</a:t>
                      </a:r>
                    </a:p>
                  </a:txBody>
                </a:tc>
                <a:tc>
                  <a:txBody>
                    <a:bodyPr/>
                    <a:lstStyle/>
                    <a:p>
                      <a:pPr lvl="0" indent="0" marL="0">
                        <a:buNone/>
                      </a:pPr>
                      <a:r>
                        <a:rPr/>
                        <a:t>Coded as GOSE = 1 (worst-rank)</a:t>
                      </a:r>
                    </a:p>
                  </a:txBody>
                </a:tc>
              </a:tr>
              <a:tr h="0">
                <a:tc>
                  <a:txBody>
                    <a:bodyPr/>
                    <a:lstStyle/>
                    <a:p>
                      <a:pPr lvl="0" indent="0" marL="0">
                        <a:buNone/>
                      </a:pPr>
                      <a:r>
                        <a:rPr/>
                        <a:t>Inter-facility transfer at index</a:t>
                      </a:r>
                    </a:p>
                  </a:txBody>
                </a:tc>
                <a:tc>
                  <a:txBody>
                    <a:bodyPr/>
                    <a:lstStyle/>
                    <a:p>
                      <a:pPr lvl="0" indent="0" marL="0">
                        <a:buNone/>
                      </a:pPr>
                      <a:r>
                        <a:rPr/>
                        <a:t>Exclusion</a:t>
                      </a:r>
                    </a:p>
                  </a:txBody>
                </a:tc>
                <a:tc>
                  <a:txBody>
                    <a:bodyPr/>
                    <a:lstStyle/>
                    <a:p>
                      <a:pPr lvl="0" indent="0" marL="0">
                        <a:buNone/>
                      </a:pPr>
                      <a:r>
                        <a:rPr/>
                        <a:t>Excluded from analytic cohort</a:t>
                      </a:r>
                    </a:p>
                  </a:txBody>
                </a:tc>
              </a:tr>
              <a:tr h="0">
                <a:tc>
                  <a:txBody>
                    <a:bodyPr/>
                    <a:lstStyle/>
                    <a:p>
                      <a:pPr lvl="0" indent="0" marL="0">
                        <a:buNone/>
                      </a:pPr>
                      <a:r>
                        <a:rPr/>
                        <a:t>Treatment switching / crossover</a:t>
                      </a:r>
                    </a:p>
                  </a:txBody>
                </a:tc>
                <a:tc>
                  <a:txBody>
                    <a:bodyPr/>
                    <a:lstStyle/>
                    <a:p>
                      <a:pPr lvl="0" indent="0" marL="0">
                        <a:buNone/>
                      </a:pPr>
                      <a:r>
                        <a:rPr/>
                        <a:t>Not applicable</a:t>
                      </a:r>
                    </a:p>
                  </a:txBody>
                </a:tc>
                <a:tc>
                  <a:txBody>
                    <a:bodyPr/>
                    <a:lstStyle/>
                    <a:p>
                      <a:pPr lvl="0" indent="0" marL="0">
                        <a:buNone/>
                      </a:pPr>
                      <a:r>
                        <a:rPr/>
                        <a:t>Point exposure at scene</a:t>
                      </a:r>
                    </a:p>
                  </a:txBody>
                </a:tc>
              </a:tr>
              <a:tr h="0">
                <a:tc>
                  <a:txBody>
                    <a:bodyPr/>
                    <a:lstStyle/>
                    <a:p>
                      <a:pPr lvl="0" indent="0" marL="0">
                        <a:buNone/>
                      </a:pPr>
                      <a:r>
                        <a:rPr/>
                        <a:t>6-month follow-up window end</a:t>
                      </a:r>
                    </a:p>
                  </a:txBody>
                </a:tc>
                <a:tc>
                  <a:txBody>
                    <a:bodyPr/>
                    <a:lstStyle/>
                    <a:p>
                      <a:pPr lvl="0" indent="0" marL="0">
                        <a:buNone/>
                      </a:pPr>
                      <a:r>
                        <a:rPr/>
                        <a:t>Administrative end of FU</a:t>
                      </a:r>
                    </a:p>
                  </a:txBody>
                </a:tc>
                <a:tc>
                  <a:txBody>
                    <a:bodyPr/>
                    <a:lstStyle/>
                    <a:p>
                      <a:pPr lvl="0" indent="0" marL="0">
                        <a:buNone/>
                      </a:pPr>
                      <a:r>
                        <a:rPr/>
                        <a:t>Fixed at 6 months</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Target-population table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Procedure</a:t>
                      </a:r>
                    </a:p>
                  </a:txBody>
                  <a:tcPr/>
                </a:tc>
                <a:tc>
                  <a:txBody>
                    <a:bodyPr/>
                    <a:lstStyle/>
                    <a:p>
                      <a:pPr lvl="0" indent="0" marL="0">
                        <a:buNone/>
                      </a:pPr>
                      <a:r>
                        <a:rPr/>
                        <a:t>Target population</a:t>
                      </a:r>
                    </a:p>
                  </a:txBody>
                  <a:tcPr/>
                </a:tc>
              </a:tr>
              <a:tr h="0">
                <a:tc>
                  <a:txBody>
                    <a:bodyPr/>
                    <a:lstStyle/>
                    <a:p>
                      <a:pPr lvl="0" indent="0" marL="0">
                        <a:buNone/>
                      </a:pPr>
                      <a:r>
                        <a:rPr/>
                        <a:t>Crude (complete-case)</a:t>
                      </a:r>
                    </a:p>
                  </a:txBody>
                </a:tc>
                <a:tc>
                  <a:txBody>
                    <a:bodyPr/>
                    <a:lstStyle/>
                    <a:p>
                      <a:pPr lvl="0" indent="0" marL="0">
                        <a:buNone/>
                      </a:pPr>
                      <a:r>
                        <a:rPr/>
                        <a:t>Complete-outcome subset (n = 1,277)</a:t>
                      </a:r>
                    </a:p>
                  </a:txBody>
                </a:tc>
              </a:tr>
              <a:tr h="0">
                <a:tc>
                  <a:txBody>
                    <a:bodyPr/>
                    <a:lstStyle/>
                    <a:p>
                      <a:pPr lvl="0" indent="0" marL="0">
                        <a:buNone/>
                      </a:pPr>
                      <a:r>
                        <a:rPr/>
                        <a:t>PS matching</a:t>
                      </a:r>
                    </a:p>
                  </a:txBody>
                </a:tc>
                <a:tc>
                  <a:txBody>
                    <a:bodyPr/>
                    <a:lstStyle/>
                    <a:p>
                      <a:pPr lvl="0" indent="0" marL="0">
                        <a:buNone/>
                      </a:pPr>
                      <a:r>
                        <a:rPr/>
                        <a:t>Matched overlap subset (n = 615)</a:t>
                      </a:r>
                    </a:p>
                  </a:txBody>
                </a:tc>
              </a:tr>
              <a:tr h="0">
                <a:tc>
                  <a:txBody>
                    <a:bodyPr/>
                    <a:lstStyle/>
                    <a:p>
                      <a:pPr lvl="0" indent="0" marL="0">
                        <a:buNone/>
                      </a:pPr>
                      <a:r>
                        <a:rPr/>
                        <a:t>IPTW (stabilised)</a:t>
                      </a:r>
                    </a:p>
                  </a:txBody>
                </a:tc>
                <a:tc>
                  <a:txBody>
                    <a:bodyPr/>
                    <a:lstStyle/>
                    <a:p>
                      <a:pPr lvl="0" indent="0" marL="0">
                        <a:buNone/>
                      </a:pPr>
                      <a:r>
                        <a:rPr/>
                        <a:t>Full eligible cohort (n = 1,693)</a:t>
                      </a:r>
                    </a:p>
                  </a:txBody>
                </a:tc>
              </a:tr>
              <a:tr h="0">
                <a:tc>
                  <a:txBody>
                    <a:bodyPr/>
                    <a:lstStyle/>
                    <a:p>
                      <a:pPr lvl="0" indent="0" marL="0">
                        <a:buNone/>
                      </a:pPr>
                      <a:r>
                        <a:rPr/>
                        <a:t>Full-cohort TMLE</a:t>
                      </a:r>
                    </a:p>
                  </a:txBody>
                </a:tc>
                <a:tc>
                  <a:txBody>
                    <a:bodyPr/>
                    <a:lstStyle/>
                    <a:p>
                      <a:pPr lvl="0" indent="0" marL="0">
                        <a:buNone/>
                      </a:pPr>
                      <a:r>
                        <a:rPr/>
                        <a:t>Full eligible cohort (n = 1,693)</a:t>
                      </a:r>
                    </a:p>
                  </a:txBody>
                </a:tc>
              </a:tr>
              <a:tr h="0">
                <a:tc>
                  <a:txBody>
                    <a:bodyPr/>
                    <a:lstStyle/>
                    <a:p>
                      <a:pPr lvl="0" indent="0" marL="0">
                        <a:buNone/>
                      </a:pPr>
                      <a:r>
                        <a:rPr/>
                        <a:t>Matched-cohort TMLE</a:t>
                      </a:r>
                    </a:p>
                  </a:txBody>
                </a:tc>
                <a:tc>
                  <a:txBody>
                    <a:bodyPr/>
                    <a:lstStyle/>
                    <a:p>
                      <a:pPr lvl="0" indent="0" marL="0">
                        <a:buNone/>
                      </a:pPr>
                      <a:r>
                        <a:rPr/>
                        <a:t>Matched overlap subset (n = 1,230)</a:t>
                      </a:r>
                    </a:p>
                  </a:txBody>
                </a:tc>
              </a:tr>
              <a:tr h="0">
                <a:tc>
                  <a:txBody>
                    <a:bodyPr/>
                    <a:lstStyle/>
                    <a:p>
                      <a:pPr lvl="0" indent="0" marL="0">
                        <a:buNone/>
                      </a:pPr>
                      <a:r>
                        <a:rPr/>
                        <a:t>Complete-outcome TMLE w/ IPCW weights</a:t>
                      </a:r>
                    </a:p>
                  </a:txBody>
                </a:tc>
                <a:tc>
                  <a:txBody>
                    <a:bodyPr/>
                    <a:lstStyle/>
                    <a:p>
                      <a:pPr lvl="0" indent="0" marL="0">
                        <a:buNone/>
                      </a:pPr>
                      <a:r>
                        <a:rPr/>
                        <a:t>Complete-outcome rows, weighted to full-cohort target</a:t>
                      </a:r>
                    </a:p>
                  </a:txBody>
                </a:tc>
              </a:tr>
            </a:tbl>
          </a:graphicData>
        </a:graphic>
      </p:graphicFrame>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Weight-diagnostics table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Weight type</a:t>
                      </a:r>
                    </a:p>
                  </a:txBody>
                  <a:tcPr/>
                </a:tc>
                <a:tc>
                  <a:txBody>
                    <a:bodyPr/>
                    <a:lstStyle/>
                    <a:p>
                      <a:pPr lvl="0" indent="0" marL="0">
                        <a:buNone/>
                      </a:pPr>
                      <a:r>
                        <a:rPr/>
                        <a:t>Source</a:t>
                      </a:r>
                    </a:p>
                  </a:txBody>
                  <a:tcPr/>
                </a:tc>
                <a:tc>
                  <a:txBody>
                    <a:bodyPr/>
                    <a:lstStyle/>
                    <a:p>
                      <a:pPr lvl="0" indent="0" marL="0">
                        <a:buNone/>
                      </a:pPr>
                      <a:r>
                        <a:rPr/>
                        <a:t>Reporting</a:t>
                      </a:r>
                    </a:p>
                  </a:txBody>
                  <a:tcPr/>
                </a:tc>
                <a:tc>
                  <a:txBody>
                    <a:bodyPr/>
                    <a:lstStyle/>
                    <a:p>
                      <a:pPr lvl="0" indent="0" marL="0">
                        <a:buNone/>
                      </a:pPr>
                      <a:r>
                        <a:rPr/>
                        <a:t>Prespecified instability flag</a:t>
                      </a:r>
                    </a:p>
                  </a:txBody>
                  <a:tcPr/>
                </a:tc>
              </a:tr>
              <a:tr h="0">
                <a:tc>
                  <a:txBody>
                    <a:bodyPr/>
                    <a:lstStyle/>
                    <a:p>
                      <a:pPr lvl="0" indent="0" marL="0">
                        <a:buNone/>
                      </a:pPr>
                      <a:r>
                        <a:rPr/>
                        <a:t>Treatment weights (stabilised)</a:t>
                      </a:r>
                    </a:p>
                  </a:txBody>
                </a:tc>
                <a:tc>
                  <a:txBody>
                    <a:bodyPr/>
                    <a:lstStyle/>
                    <a:p>
                      <a:pPr lvl="0" indent="0" marL="0">
                        <a:buNone/>
                      </a:pPr>
                      <a:r>
                        <a:rPr>
                          <a:latin typeface="Courier"/>
                        </a:rPr>
                        <a:t>fit_ps_superlearner()</a:t>
                      </a:r>
                    </a:p>
                  </a:txBody>
                </a:tc>
                <a:tc>
                  <a:txBody>
                    <a:bodyPr/>
                    <a:lstStyle/>
                    <a:p>
                      <a:pPr lvl="0" indent="0" marL="0">
                        <a:buNone/>
                      </a:pPr>
                      <a:r>
                        <a:rPr/>
                        <a:t>Mean, SD, 99th pct, max, Kish ESS</a:t>
                      </a:r>
                    </a:p>
                  </a:txBody>
                </a:tc>
                <a:tc>
                  <a:txBody>
                    <a:bodyPr/>
                    <a:lstStyle/>
                    <a:p>
                      <a:pPr lvl="0" indent="0" marL="0">
                        <a:buNone/>
                      </a:pPr>
                      <a:r>
                        <a:rPr/>
                        <a:t>Max &gt; 10 or &gt; 1 % above 5</a:t>
                      </a:r>
                    </a:p>
                  </a:txBody>
                </a:tc>
              </a:tr>
              <a:tr h="0">
                <a:tc>
                  <a:txBody>
                    <a:bodyPr/>
                    <a:lstStyle/>
                    <a:p>
                      <a:pPr lvl="0" indent="0" marL="0">
                        <a:buNone/>
                      </a:pPr>
                      <a:r>
                        <a:rPr/>
                        <a:t>IPCW weights</a:t>
                      </a:r>
                    </a:p>
                  </a:txBody>
                </a:tc>
                <a:tc>
                  <a:txBody>
                    <a:bodyPr/>
                    <a:lstStyle/>
                    <a:p>
                      <a:pPr lvl="0" indent="0" marL="0">
                        <a:buNone/>
                      </a:pPr>
                      <a:r>
                        <a:rPr>
                          <a:latin typeface="Courier"/>
                        </a:rPr>
                        <a:t>run_ipcw_tmle()</a:t>
                      </a:r>
                    </a:p>
                  </a:txBody>
                </a:tc>
                <a:tc>
                  <a:txBody>
                    <a:bodyPr/>
                    <a:lstStyle/>
                    <a:p>
                      <a:pPr lvl="0" indent="0" marL="0">
                        <a:buNone/>
                      </a:pPr>
                      <a:r>
                        <a:rPr/>
                        <a:t>Mean, SD, 99th pct, max</a:t>
                      </a:r>
                    </a:p>
                  </a:txBody>
                </a:tc>
                <a:tc>
                  <a:txBody>
                    <a:bodyPr/>
                    <a:lstStyle/>
                    <a:p>
                      <a:pPr lvl="0" indent="0" marL="0">
                        <a:buNone/>
                      </a:pPr>
                      <a:r>
                        <a:rPr/>
                        <a:t>Max &gt; 10</a:t>
                      </a:r>
                    </a:p>
                  </a:txBody>
                </a:tc>
              </a:tr>
              <a:tr h="0">
                <a:tc>
                  <a:txBody>
                    <a:bodyPr/>
                    <a:lstStyle/>
                    <a:p>
                      <a:pPr lvl="0" indent="0" marL="0">
                        <a:buNone/>
                      </a:pPr>
                      <a:r>
                        <a:rPr/>
                        <a:t>Combined</a:t>
                      </a:r>
                    </a:p>
                  </a:txBody>
                </a:tc>
                <a:tc>
                  <a:txBody>
                    <a:bodyPr/>
                    <a:lstStyle/>
                    <a:p>
                      <a:pPr lvl="0" indent="0" marL="0">
                        <a:buNone/>
                      </a:pPr>
                      <a:r>
                        <a:rPr/>
                        <a:t>Product of treatment + IPCW</a:t>
                      </a:r>
                    </a:p>
                  </a:txBody>
                </a:tc>
                <a:tc>
                  <a:txBody>
                    <a:bodyPr/>
                    <a:lstStyle/>
                    <a:p>
                      <a:pPr lvl="0" indent="0" marL="0">
                        <a:buNone/>
                      </a:pPr>
                      <a:r>
                        <a:rPr/>
                        <a:t>Mean, SD, max, ESS</a:t>
                      </a:r>
                    </a:p>
                  </a:txBody>
                </a:tc>
                <a:tc>
                  <a:txBody>
                    <a:bodyPr/>
                    <a:lstStyle/>
                    <a:p>
                      <a:pPr lvl="0" indent="0" marL="0">
                        <a:buNone/>
                      </a:pPr>
                      <a:r>
                        <a:rPr/>
                        <a:t>Max &gt; 15 or ESS &lt; 30 % of n</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Estimator-estimand pairs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549400"/>
                <a:gridCol w="1549400"/>
                <a:gridCol w="2057400"/>
                <a:gridCol w="1549400"/>
                <a:gridCol w="1549400"/>
              </a:tblGrid>
              <a:tr h="0">
                <a:tc>
                  <a:txBody>
                    <a:bodyPr/>
                    <a:lstStyle/>
                    <a:p>
                      <a:pPr lvl="0" indent="0" marL="0">
                        <a:buNone/>
                      </a:pPr>
                      <a:r>
                        <a:rPr/>
                        <a:t>Candidate</a:t>
                      </a:r>
                    </a:p>
                  </a:txBody>
                  <a:tcPr/>
                </a:tc>
                <a:tc>
                  <a:txBody>
                    <a:bodyPr/>
                    <a:lstStyle/>
                    <a:p>
                      <a:pPr lvl="0" indent="0" marL="0">
                        <a:buNone/>
                      </a:pPr>
                      <a:r>
                        <a:rPr/>
                        <a:t>Library</a:t>
                      </a:r>
                    </a:p>
                  </a:txBody>
                  <a:tcPr/>
                </a:tc>
                <a:tc>
                  <a:txBody>
                    <a:bodyPr/>
                    <a:lstStyle/>
                    <a:p>
                      <a:pPr lvl="0" indent="0" marL="0" algn="r">
                        <a:buNone/>
                      </a:pPr>
                      <a:r>
                        <a:rPr/>
                        <a:t>Truncation</a:t>
                      </a:r>
                    </a:p>
                  </a:txBody>
                  <a:tcPr/>
                </a:tc>
                <a:tc>
                  <a:txBody>
                    <a:bodyPr/>
                    <a:lstStyle/>
                    <a:p>
                      <a:pPr lvl="0" indent="0" marL="0">
                        <a:buNone/>
                      </a:pPr>
                      <a:r>
                        <a:rPr/>
                        <a:t>Missingness</a:t>
                      </a:r>
                    </a:p>
                  </a:txBody>
                  <a:tcPr/>
                </a:tc>
                <a:tc>
                  <a:txBody>
                    <a:bodyPr/>
                    <a:lstStyle/>
                    <a:p>
                      <a:pPr lvl="0" indent="0" marL="0">
                        <a:buNone/>
                      </a:pPr>
                      <a:r>
                        <a:rPr/>
                        <a:t>Status</a:t>
                      </a:r>
                    </a:p>
                  </a:txBody>
                  <a:tcPr/>
                </a:tc>
              </a:tr>
              <a:tr h="0">
                <a:tc>
                  <a:txBody>
                    <a:bodyPr/>
                    <a:lstStyle/>
                    <a:p>
                      <a:pPr lvl="0" indent="0" marL="0">
                        <a:buNone/>
                      </a:pPr>
                      <a:r>
                        <a:rPr/>
                        <a:t>Crude</a:t>
                      </a:r>
                    </a:p>
                  </a:txBody>
                </a:tc>
                <a:tc>
                  <a:txBody>
                    <a:bodyPr/>
                    <a:lstStyle/>
                    <a:p>
                      <a:pPr lvl="0" indent="0" marL="0">
                        <a:buNone/>
                      </a:pPr>
                      <a:r>
                        <a:rPr/>
                        <a:t>n/a</a:t>
                      </a:r>
                    </a:p>
                  </a:txBody>
                </a:tc>
                <a:tc>
                  <a:txBody>
                    <a:bodyPr/>
                    <a:lstStyle/>
                    <a:p>
                      <a:pPr lvl="0" indent="0" marL="0" algn="r">
                        <a:buNone/>
                      </a:pPr>
                      <a:r>
                        <a:rPr/>
                        <a:t>n/a</a:t>
                      </a:r>
                    </a:p>
                  </a:txBody>
                </a:tc>
                <a:tc>
                  <a:txBody>
                    <a:bodyPr/>
                    <a:lstStyle/>
                    <a:p>
                      <a:pPr lvl="0" indent="0" marL="0">
                        <a:buNone/>
                      </a:pPr>
                      <a:r>
                        <a:rPr/>
                        <a:t>Complete case</a:t>
                      </a:r>
                    </a:p>
                  </a:txBody>
                </a:tc>
                <a:tc>
                  <a:txBody>
                    <a:bodyPr/>
                    <a:lstStyle/>
                    <a:p>
                      <a:pPr lvl="0" indent="0" marL="0">
                        <a:buNone/>
                      </a:pPr>
                      <a:r>
                        <a:rPr/>
                        <a:t>Reference</a:t>
                      </a:r>
                    </a:p>
                  </a:txBody>
                </a:tc>
              </a:tr>
              <a:tr h="0">
                <a:tc>
                  <a:txBody>
                    <a:bodyPr/>
                    <a:lstStyle/>
                    <a:p>
                      <a:pPr lvl="0" indent="0" marL="0">
                        <a:buNone/>
                      </a:pPr>
                      <a:r>
                        <a:rPr/>
                        <a:t>PS matching</a:t>
                      </a:r>
                    </a:p>
                  </a:txBody>
                </a:tc>
                <a:tc>
                  <a:txBody>
                    <a:bodyPr/>
                    <a:lstStyle/>
                    <a:p>
                      <a:pPr lvl="0" indent="0" marL="0">
                        <a:buNone/>
                      </a:pPr>
                      <a:r>
                        <a:rPr/>
                        <a:t>GLM PS</a:t>
                      </a:r>
                    </a:p>
                  </a:txBody>
                </a:tc>
                <a:tc>
                  <a:txBody>
                    <a:bodyPr/>
                    <a:lstStyle/>
                    <a:p>
                      <a:pPr lvl="0" indent="0" marL="0" algn="r">
                        <a:buNone/>
                      </a:pPr>
                      <a:r>
                        <a:rPr/>
                        <a:t>n/a</a:t>
                      </a:r>
                    </a:p>
                  </a:txBody>
                </a:tc>
                <a:tc>
                  <a:txBody>
                    <a:bodyPr/>
                    <a:lstStyle/>
                    <a:p>
                      <a:pPr lvl="0" indent="0" marL="0">
                        <a:buNone/>
                      </a:pPr>
                      <a:r>
                        <a:rPr/>
                        <a:t>Complete case</a:t>
                      </a:r>
                    </a:p>
                  </a:txBody>
                </a:tc>
                <a:tc>
                  <a:txBody>
                    <a:bodyPr/>
                    <a:lstStyle/>
                    <a:p>
                      <a:pPr lvl="0" indent="0" marL="0">
                        <a:buNone/>
                      </a:pPr>
                      <a:r>
                        <a:rPr/>
                        <a:t>Secondary</a:t>
                      </a:r>
                    </a:p>
                  </a:txBody>
                </a:tc>
              </a:tr>
              <a:tr h="0">
                <a:tc>
                  <a:txBody>
                    <a:bodyPr/>
                    <a:lstStyle/>
                    <a:p>
                      <a:pPr lvl="0" indent="0" marL="0">
                        <a:buNone/>
                      </a:pPr>
                      <a:r>
                        <a:rPr/>
                        <a:t>IPTW (stabilised)</a:t>
                      </a:r>
                    </a:p>
                  </a:txBody>
                </a:tc>
                <a:tc>
                  <a:txBody>
                    <a:bodyPr/>
                    <a:lstStyle/>
                    <a:p>
                      <a:pPr lvl="0" indent="0" marL="0">
                        <a:buNone/>
                      </a:pPr>
                      <a:r>
                        <a:rPr/>
                        <a:t>GLM PS</a:t>
                      </a:r>
                    </a:p>
                  </a:txBody>
                </a:tc>
                <a:tc>
                  <a:txBody>
                    <a:bodyPr/>
                    <a:lstStyle/>
                    <a:p>
                      <a:pPr lvl="0" indent="0" marL="0" algn="r">
                        <a:buNone/>
                      </a:pPr>
                      <a:r>
                        <a:rPr/>
                        <a:t>0.01</a:t>
                      </a:r>
                    </a:p>
                  </a:txBody>
                </a:tc>
                <a:tc>
                  <a:txBody>
                    <a:bodyPr/>
                    <a:lstStyle/>
                    <a:p>
                      <a:pPr lvl="0" indent="0" marL="0">
                        <a:buNone/>
                      </a:pPr>
                      <a:r>
                        <a:rPr/>
                        <a:t>Complete case</a:t>
                      </a:r>
                    </a:p>
                  </a:txBody>
                </a:tc>
                <a:tc>
                  <a:txBody>
                    <a:bodyPr/>
                    <a:lstStyle/>
                    <a:p>
                      <a:pPr lvl="0" indent="0" marL="0">
                        <a:buNone/>
                      </a:pPr>
                      <a:r>
                        <a:rPr/>
                        <a:t>Secondary</a:t>
                      </a:r>
                    </a:p>
                  </a:txBody>
                </a:tc>
              </a:tr>
              <a:tr h="0">
                <a:tc>
                  <a:txBody>
                    <a:bodyPr/>
                    <a:lstStyle/>
                    <a:p>
                      <a:pPr lvl="0" indent="0" marL="0">
                        <a:buNone/>
                      </a:pPr>
                      <a:r>
                        <a:rPr/>
                        <a:t>Full-cohort TMLE</a:t>
                      </a:r>
                    </a:p>
                  </a:txBody>
                </a:tc>
                <a:tc>
                  <a:txBody>
                    <a:bodyPr/>
                    <a:lstStyle/>
                    <a:p>
                      <a:pPr lvl="0" indent="0" marL="0">
                        <a:buNone/>
                      </a:pPr>
                      <a:r>
                        <a:rPr/>
                        <a:t>SL ensemble</a:t>
                      </a:r>
                    </a:p>
                  </a:txBody>
                </a:tc>
                <a:tc>
                  <a:txBody>
                    <a:bodyPr/>
                    <a:lstStyle/>
                    <a:p>
                      <a:pPr lvl="0" indent="0" marL="0" algn="r">
                        <a:buNone/>
                      </a:pPr>
                      <a:r>
                        <a:rPr/>
                        <a:t>0.01</a:t>
                      </a:r>
                    </a:p>
                  </a:txBody>
                </a:tc>
                <a:tc>
                  <a:txBody>
                    <a:bodyPr/>
                    <a:lstStyle/>
                    <a:p>
                      <a:pPr lvl="0" indent="0" marL="0">
                        <a:buNone/>
                      </a:pPr>
                      <a:r>
                        <a:rPr/>
                        <a:t>Complete case</a:t>
                      </a:r>
                    </a:p>
                  </a:txBody>
                </a:tc>
                <a:tc>
                  <a:txBody>
                    <a:bodyPr/>
                    <a:lstStyle/>
                    <a:p>
                      <a:pPr lvl="0" indent="0" marL="0">
                        <a:buNone/>
                      </a:pPr>
                      <a:r>
                        <a:rPr b="1"/>
                        <a:t>Primary</a:t>
                      </a:r>
                    </a:p>
                  </a:txBody>
                </a:tc>
              </a:tr>
              <a:tr h="0">
                <a:tc>
                  <a:txBody>
                    <a:bodyPr/>
                    <a:lstStyle/>
                    <a:p>
                      <a:pPr lvl="0" indent="0" marL="0">
                        <a:buNone/>
                      </a:pPr>
                      <a:r>
                        <a:rPr/>
                        <a:t>Matched-cohort TMLE</a:t>
                      </a:r>
                    </a:p>
                  </a:txBody>
                </a:tc>
                <a:tc>
                  <a:txBody>
                    <a:bodyPr/>
                    <a:lstStyle/>
                    <a:p>
                      <a:pPr lvl="0" indent="0" marL="0">
                        <a:buNone/>
                      </a:pPr>
                      <a:r>
                        <a:rPr/>
                        <a:t>SL ensemble (matched)</a:t>
                      </a:r>
                    </a:p>
                  </a:txBody>
                </a:tc>
                <a:tc>
                  <a:txBody>
                    <a:bodyPr/>
                    <a:lstStyle/>
                    <a:p>
                      <a:pPr lvl="0" indent="0" marL="0" algn="r">
                        <a:buNone/>
                      </a:pPr>
                      <a:r>
                        <a:rPr/>
                        <a:t>n/a</a:t>
                      </a:r>
                    </a:p>
                  </a:txBody>
                </a:tc>
                <a:tc>
                  <a:txBody>
                    <a:bodyPr/>
                    <a:lstStyle/>
                    <a:p>
                      <a:pPr lvl="0" indent="0" marL="0">
                        <a:buNone/>
                      </a:pPr>
                      <a:r>
                        <a:rPr/>
                        <a:t>Complete case</a:t>
                      </a:r>
                    </a:p>
                  </a:txBody>
                </a:tc>
                <a:tc>
                  <a:txBody>
                    <a:bodyPr/>
                    <a:lstStyle/>
                    <a:p>
                      <a:pPr lvl="0" indent="0" marL="0">
                        <a:buNone/>
                      </a:pPr>
                      <a:r>
                        <a:rPr/>
                        <a:t>Sensitivity (target pop)</a:t>
                      </a:r>
                    </a:p>
                  </a:txBody>
                </a:tc>
              </a:tr>
              <a:tr h="0">
                <a:tc>
                  <a:txBody>
                    <a:bodyPr/>
                    <a:lstStyle/>
                    <a:p>
                      <a:pPr lvl="0" indent="0" marL="0">
                        <a:buNone/>
                      </a:pPr>
                      <a:r>
                        <a:rPr/>
                        <a:t>Complete-outcome TMLE w/ IPCW</a:t>
                      </a:r>
                    </a:p>
                  </a:txBody>
                </a:tc>
                <a:tc>
                  <a:txBody>
                    <a:bodyPr/>
                    <a:lstStyle/>
                    <a:p>
                      <a:pPr lvl="0" indent="0" marL="0">
                        <a:buNone/>
                      </a:pPr>
                      <a:r>
                        <a:rPr/>
                        <a:t>SL ensemble + SL IPCW</a:t>
                      </a:r>
                    </a:p>
                  </a:txBody>
                </a:tc>
                <a:tc>
                  <a:txBody>
                    <a:bodyPr/>
                    <a:lstStyle/>
                    <a:p>
                      <a:pPr lvl="0" indent="0" marL="0" algn="r">
                        <a:buNone/>
                      </a:pPr>
                      <a:r>
                        <a:rPr/>
                        <a:t>0.01</a:t>
                      </a:r>
                    </a:p>
                  </a:txBody>
                </a:tc>
                <a:tc>
                  <a:txBody>
                    <a:bodyPr/>
                    <a:lstStyle/>
                    <a:p>
                      <a:pPr lvl="0" indent="0" marL="0">
                        <a:buNone/>
                      </a:pPr>
                      <a:r>
                        <a:rPr/>
                        <a:t>IPCW</a:t>
                      </a:r>
                    </a:p>
                  </a:txBody>
                </a:tc>
                <a:tc>
                  <a:txBody>
                    <a:bodyPr/>
                    <a:lstStyle/>
                    <a:p>
                      <a:pPr lvl="0" indent="0" marL="0">
                        <a:buNone/>
                      </a:pPr>
                      <a:r>
                        <a:rPr/>
                        <a:t>Sensitivity (missingness)</a:t>
                      </a:r>
                    </a:p>
                  </a:txBody>
                </a:tc>
              </a:tr>
            </a:tbl>
          </a:graphicData>
        </a:graphic>
      </p:graphicFrame>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Checkpoint dashboard (case study)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765300"/>
                <a:gridCol w="1765300"/>
                <a:gridCol w="1765300"/>
                <a:gridCol w="2933700"/>
              </a:tblGrid>
              <a:tr h="0">
                <a:tc>
                  <a:txBody>
                    <a:bodyPr/>
                    <a:lstStyle/>
                    <a:p>
                      <a:pPr lvl="0" indent="0" marL="0">
                        <a:buNone/>
                      </a:pPr>
                      <a:r>
                        <a:rPr/>
                        <a:t>Stage</a:t>
                      </a:r>
                    </a:p>
                  </a:txBody>
                  <a:tcPr/>
                </a:tc>
                <a:tc>
                  <a:txBody>
                    <a:bodyPr/>
                    <a:lstStyle/>
                    <a:p>
                      <a:pPr lvl="0" indent="0" marL="0">
                        <a:buNone/>
                      </a:pPr>
                      <a:r>
                        <a:rPr/>
                        <a:t>Evidence</a:t>
                      </a:r>
                    </a:p>
                  </a:txBody>
                  <a:tcPr/>
                </a:tc>
                <a:tc>
                  <a:txBody>
                    <a:bodyPr/>
                    <a:lstStyle/>
                    <a:p>
                      <a:pPr lvl="0" indent="0" marL="0">
                        <a:buNone/>
                      </a:pPr>
                      <a:r>
                        <a:rPr/>
                        <a:t>Threshold</a:t>
                      </a:r>
                    </a:p>
                  </a:txBody>
                  <a:tcPr/>
                </a:tc>
                <a:tc>
                  <a:txBody>
                    <a:bodyPr/>
                    <a:lstStyle/>
                    <a:p>
                      <a:pPr lvl="0" indent="0" marL="0" algn="ctr">
                        <a:buNone/>
                      </a:pPr>
                      <a:r>
                        <a:rPr/>
                        <a:t>Decision</a:t>
                      </a:r>
                    </a:p>
                  </a:txBody>
                  <a:tcPr/>
                </a:tc>
              </a:tr>
              <a:tr h="0">
                <a:tc>
                  <a:txBody>
                    <a:bodyPr/>
                    <a:lstStyle/>
                    <a:p>
                      <a:pPr lvl="0" indent="0" marL="0">
                        <a:buNone/>
                      </a:pPr>
                      <a:r>
                        <a:rPr/>
                        <a:t>Stage 0 protocol/setup</a:t>
                      </a:r>
                    </a:p>
                  </a:txBody>
                </a:tc>
                <a:tc>
                  <a:txBody>
                    <a:bodyPr/>
                    <a:lstStyle/>
                    <a:p>
                      <a:pPr lvl="0" indent="0" marL="0">
                        <a:buNone/>
                      </a:pPr>
                      <a:r>
                        <a:rPr/>
                        <a:t>Target-trial timing, SAP, lock fingerprint</a:t>
                      </a:r>
                    </a:p>
                  </a:txBody>
                </a:tc>
                <a:tc>
                  <a:txBody>
                    <a:bodyPr/>
                    <a:lstStyle/>
                    <a:p>
                      <a:pPr lvl="0" indent="0" marL="0">
                        <a:buNone/>
                      </a:pPr>
                      <a:r>
                        <a:rPr/>
                        <a:t>All design elements specified before data access</a:t>
                      </a:r>
                    </a:p>
                  </a:txBody>
                </a:tc>
                <a:tc>
                  <a:txBody>
                    <a:bodyPr/>
                    <a:lstStyle/>
                    <a:p>
                      <a:pPr lvl="0" indent="0" marL="0" algn="ctr">
                        <a:buNone/>
                      </a:pPr>
                      <a:r>
                        <a:rPr/>
                        <a:t>GO</a:t>
                      </a:r>
                    </a:p>
                  </a:txBody>
                </a:tc>
              </a:tr>
              <a:tr h="0">
                <a:tc>
                  <a:txBody>
                    <a:bodyPr/>
                    <a:lstStyle/>
                    <a:p>
                      <a:pPr lvl="0" indent="0" marL="0">
                        <a:buNone/>
                      </a:pPr>
                      <a:r>
                        <a:rPr/>
                        <a:t>Stage 1b cohort adequacy</a:t>
                      </a:r>
                    </a:p>
                  </a:txBody>
                </a:tc>
                <a:tc>
                  <a:txBody>
                    <a:bodyPr/>
                    <a:lstStyle/>
                    <a:p>
                      <a:pPr lvl="0" indent="0" marL="0">
                        <a:buNone/>
                      </a:pPr>
                      <a:r>
                        <a:rPr>
                          <a:latin typeface="Courier"/>
                        </a:rPr>
                        <a:t>checkpoint_cohort_adequacy()</a:t>
                      </a:r>
                      <a:r>
                        <a:rPr/>
                        <a:t>, attrition table</a:t>
                      </a:r>
                    </a:p>
                  </a:txBody>
                </a:tc>
                <a:tc>
                  <a:txBody>
                    <a:bodyPr/>
                    <a:lstStyle/>
                    <a:p>
                      <a:pPr lvl="0" indent="0" marL="0">
                        <a:buNone/>
                      </a:pPr>
                      <a:r>
                        <a:rPr/>
                        <a:t>min_n_per_arm = 200; min_events = 50</a:t>
                      </a:r>
                    </a:p>
                  </a:txBody>
                </a:tc>
                <a:tc>
                  <a:txBody>
                    <a:bodyPr/>
                    <a:lstStyle/>
                    <a:p>
                      <a:pPr lvl="0" indent="0" marL="0" algn="ctr">
                        <a:buNone/>
                      </a:pPr>
                      <a:r>
                        <a:rPr/>
                        <a:t>GO</a:t>
                      </a:r>
                    </a:p>
                  </a:txBody>
                </a:tc>
              </a:tr>
              <a:tr h="0">
                <a:tc>
                  <a:txBody>
                    <a:bodyPr/>
                    <a:lstStyle/>
                    <a:p>
                      <a:pPr lvl="0" indent="0" marL="0">
                        <a:buNone/>
                      </a:pPr>
                      <a:r>
                        <a:rPr/>
                        <a:t>Stage 2a overlap / balance</a:t>
                      </a:r>
                    </a:p>
                  </a:txBody>
                </a:tc>
                <a:tc>
                  <a:txBody>
                    <a:bodyPr/>
                    <a:lstStyle/>
                    <a:p>
                      <a:pPr lvl="0" indent="0" marL="0">
                        <a:buNone/>
                      </a:pPr>
                      <a:r>
                        <a:rPr/>
                        <a:t>PS in [0.21, 0.81]; balanced SMDs; ESS 78 %</a:t>
                      </a:r>
                    </a:p>
                  </a:txBody>
                </a:tc>
                <a:tc>
                  <a:txBody>
                    <a:bodyPr/>
                    <a:lstStyle/>
                    <a:p>
                      <a:pPr lvl="0" indent="0" marL="0">
                        <a:buNone/>
                      </a:pPr>
                      <a:r>
                        <a:rPr/>
                        <a:t>PS in [0.01, 0.99]; SMD &lt;= 0.10; max wt &lt;= 10</a:t>
                      </a:r>
                    </a:p>
                  </a:txBody>
                </a:tc>
                <a:tc>
                  <a:txBody>
                    <a:bodyPr/>
                    <a:lstStyle/>
                    <a:p>
                      <a:pPr lvl="0" indent="0" marL="0" algn="ctr">
                        <a:buNone/>
                      </a:pPr>
                      <a:r>
                        <a:rPr/>
                        <a:t>GO</a:t>
                      </a:r>
                    </a:p>
                  </a:txBody>
                </a:tc>
              </a:tr>
              <a:tr h="0">
                <a:tc>
                  <a:txBody>
                    <a:bodyPr/>
                    <a:lstStyle/>
                    <a:p>
                      <a:pPr lvl="0" indent="0" marL="0">
                        <a:buNone/>
                      </a:pPr>
                      <a:r>
                        <a:rPr/>
                        <a:t>Stage 2b baseline plasmode</a:t>
                      </a:r>
                    </a:p>
                  </a:txBody>
                </a:tc>
                <a:tc>
                  <a:txBody>
                    <a:bodyPr/>
                    <a:lstStyle/>
                    <a:p>
                      <a:pPr lvl="0" indent="0" marL="0">
                        <a:buNone/>
                      </a:pPr>
                      <a:r>
                        <a:rPr/>
                        <a:t>bias &lt; 0.001; coverage 0.94</a:t>
                      </a:r>
                    </a:p>
                  </a:txBody>
                </a:tc>
                <a:tc>
                  <a:txBody>
                    <a:bodyPr/>
                    <a:lstStyle/>
                    <a:p>
                      <a:pPr lvl="0" indent="0" marL="0">
                        <a:buNone/>
                      </a:pPr>
                      <a:r>
                        <a:rPr/>
                        <a:t>bias &lt;= 0.01; coverage &gt;= 0.90; SE/SD in (0.8, 1.2)</a:t>
                      </a:r>
                    </a:p>
                  </a:txBody>
                </a:tc>
                <a:tc>
                  <a:txBody>
                    <a:bodyPr/>
                    <a:lstStyle/>
                    <a:p>
                      <a:pPr lvl="0" indent="0" marL="0" algn="ctr">
                        <a:buNone/>
                      </a:pPr>
                      <a:r>
                        <a:rPr/>
                        <a:t>GO</a:t>
                      </a:r>
                    </a:p>
                  </a:txBody>
                </a:tc>
              </a:tr>
              <a:tr h="0">
                <a:tc>
                  <a:txBody>
                    <a:bodyPr/>
                    <a:lstStyle/>
                    <a:p>
                      <a:pPr lvl="0" indent="0" marL="0">
                        <a:buNone/>
                      </a:pPr>
                      <a:r>
                        <a:rPr/>
                        <a:t>Stage 2c DQ stress</a:t>
                      </a:r>
                    </a:p>
                  </a:txBody>
                </a:tc>
                <a:tc>
                  <a:txBody>
                    <a:bodyPr/>
                    <a:lstStyle/>
                    <a:p>
                      <a:pPr lvl="0" indent="0" marL="0">
                        <a:buNone/>
                      </a:pPr>
                      <a:r>
                        <a:rPr/>
                        <a:t>Minimax rule selects </a:t>
                      </a:r>
                      <a:r>
                        <a:rPr>
                          <a:latin typeface="Courier"/>
                        </a:rPr>
                        <a:t>glm_t01</a:t>
                      </a:r>
                    </a:p>
                  </a:txBody>
                </a:tc>
                <a:tc>
                  <a:txBody>
                    <a:bodyPr/>
                    <a:lstStyle/>
                    <a:p>
                      <a:pPr lvl="0" indent="0" marL="0">
                        <a:buNone/>
                      </a:pPr>
                      <a:r>
                        <a:rPr/>
                        <a:t>Each scenario within thresholds across severities</a:t>
                      </a:r>
                    </a:p>
                  </a:txBody>
                </a:tc>
                <a:tc>
                  <a:txBody>
                    <a:bodyPr/>
                    <a:lstStyle/>
                    <a:p>
                      <a:pPr lvl="0" indent="0" marL="0" algn="ctr">
                        <a:buNone/>
                      </a:pPr>
                      <a:r>
                        <a:rPr/>
                        <a:t>GO</a:t>
                      </a:r>
                    </a:p>
                  </a:txBody>
                </a:tc>
              </a:tr>
              <a:tr h="0">
                <a:tc>
                  <a:txBody>
                    <a:bodyPr/>
                    <a:lstStyle/>
                    <a:p>
                      <a:pPr lvl="0" indent="0" marL="0">
                        <a:buNone/>
                      </a:pPr>
                      <a:r>
                        <a:rPr/>
                        <a:t>Stage 3 negative controls</a:t>
                      </a:r>
                    </a:p>
                  </a:txBody>
                </a:tc>
                <a:tc>
                  <a:txBody>
                    <a:bodyPr/>
                    <a:lstStyle/>
                    <a:p>
                      <a:pPr lvl="0" indent="0" marL="0">
                        <a:buNone/>
                      </a:pPr>
                      <a:r>
                        <a:rPr/>
                        <a:t>2 of 5 NCs survived NZV; both pass</a:t>
                      </a:r>
                    </a:p>
                  </a:txBody>
                </a:tc>
                <a:tc>
                  <a:txBody>
                    <a:bodyPr/>
                    <a:lstStyle/>
                    <a:p>
                      <a:pPr lvl="0" indent="0" marL="0">
                        <a:buNone/>
                      </a:pPr>
                      <a:r>
                        <a:rPr/>
                        <a:t>All analysed NCs pass at α = 0.05</a:t>
                      </a:r>
                    </a:p>
                  </a:txBody>
                </a:tc>
                <a:tc>
                  <a:txBody>
                    <a:bodyPr/>
                    <a:lstStyle/>
                    <a:p>
                      <a:pPr lvl="0" indent="0" marL="0" algn="ctr">
                        <a:buNone/>
                      </a:pPr>
                      <a:r>
                        <a:rPr/>
                        <a:t>GO with FLAG</a:t>
                      </a:r>
                    </a:p>
                  </a:txBody>
                </a:tc>
              </a:tr>
              <a:tr h="0">
                <a:tc>
                  <a:txBody>
                    <a:bodyPr/>
                    <a:lstStyle/>
                    <a:p>
                      <a:pPr lvl="0" indent="0" marL="0">
                        <a:buNone/>
                      </a:pPr>
                      <a:r>
                        <a:rPr/>
                        <a:t>Gate authorisation</a:t>
                      </a:r>
                    </a:p>
                  </a:txBody>
                </a:tc>
                <a:tc>
                  <a:txBody>
                    <a:bodyPr/>
                    <a:lstStyle/>
                    <a:p>
                      <a:pPr lvl="0" indent="0" marL="0">
                        <a:buNone/>
                      </a:pPr>
                      <a:r>
                        <a:rPr>
                          <a:latin typeface="Courier"/>
                        </a:rPr>
                        <a:t>authorize_outcome_analysis()</a:t>
                      </a:r>
                    </a:p>
                  </a:txBody>
                </a:tc>
                <a:tc>
                  <a:txBody>
                    <a:bodyPr/>
                    <a:lstStyle/>
                    <a:p>
                      <a:pPr lvl="0" indent="0" marL="0">
                        <a:buNone/>
                      </a:pPr>
                      <a:r>
                        <a:rPr/>
                        <a:t>All preceding GO or documented FLAG</a:t>
                      </a:r>
                    </a:p>
                  </a:txBody>
                </a:tc>
                <a:tc>
                  <a:txBody>
                    <a:bodyPr/>
                    <a:lstStyle/>
                    <a:p>
                      <a:pPr lvl="0" indent="0" marL="0" algn="ctr">
                        <a:buNone/>
                      </a:pPr>
                      <a:r>
                        <a:rPr/>
                        <a:t>GO</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Decision-log example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295400"/>
                <a:gridCol w="1295400"/>
                <a:gridCol w="1295400"/>
                <a:gridCol w="2171700"/>
                <a:gridCol w="2171700"/>
              </a:tblGrid>
              <a:tr h="0">
                <a:tc>
                  <a:txBody>
                    <a:bodyPr/>
                    <a:lstStyle/>
                    <a:p>
                      <a:pPr lvl="0" indent="0" marL="0">
                        <a:buNone/>
                      </a:pPr>
                      <a:r>
                        <a:rPr/>
                        <a:t>Timestamp</a:t>
                      </a:r>
                    </a:p>
                  </a:txBody>
                  <a:tcPr/>
                </a:tc>
                <a:tc>
                  <a:txBody>
                    <a:bodyPr/>
                    <a:lstStyle/>
                    <a:p>
                      <a:pPr lvl="0" indent="0" marL="0">
                        <a:buNone/>
                      </a:pPr>
                      <a:r>
                        <a:rPr/>
                        <a:t>Stage</a:t>
                      </a:r>
                    </a:p>
                  </a:txBody>
                  <a:tcPr/>
                </a:tc>
                <a:tc>
                  <a:txBody>
                    <a:bodyPr/>
                    <a:lstStyle/>
                    <a:p>
                      <a:pPr lvl="0" indent="0" marL="0">
                        <a:buNone/>
                      </a:pPr>
                      <a:r>
                        <a:rPr/>
                        <a:t>Issue</a:t>
                      </a:r>
                    </a:p>
                  </a:txBody>
                  <a:tcPr/>
                </a:tc>
                <a:tc>
                  <a:txBody>
                    <a:bodyPr/>
                    <a:lstStyle/>
                    <a:p>
                      <a:pPr lvl="0" indent="0" marL="0" algn="ctr">
                        <a:buNone/>
                      </a:pPr>
                      <a:r>
                        <a:rPr/>
                        <a:t>Decision</a:t>
                      </a:r>
                    </a:p>
                  </a:txBody>
                  <a:tcPr/>
                </a:tc>
                <a:tc>
                  <a:txBody>
                    <a:bodyPr/>
                    <a:lstStyle/>
                    <a:p>
                      <a:pPr lvl="0" indent="0" marL="0" algn="ctr">
                        <a:buNone/>
                      </a:pPr>
                      <a:r>
                        <a:rPr/>
                        <a:t>Y visible?</a:t>
                      </a:r>
                    </a:p>
                  </a:txBody>
                  <a:tcPr/>
                </a:tc>
              </a:tr>
              <a:tr h="0">
                <a:tc>
                  <a:txBody>
                    <a:bodyPr/>
                    <a:lstStyle/>
                    <a:p>
                      <a:pPr lvl="0" indent="0" marL="0">
                        <a:buNone/>
                      </a:pPr>
                      <a:r>
                        <a:rPr/>
                        <a:t>2026-01-12 09:14</a:t>
                      </a:r>
                    </a:p>
                  </a:txBody>
                </a:tc>
                <a:tc>
                  <a:txBody>
                    <a:bodyPr/>
                    <a:lstStyle/>
                    <a:p>
                      <a:pPr lvl="0" indent="0" marL="0">
                        <a:buNone/>
                      </a:pPr>
                      <a:r>
                        <a:rPr/>
                        <a:t>2a</a:t>
                      </a:r>
                    </a:p>
                  </a:txBody>
                </a:tc>
                <a:tc>
                  <a:txBody>
                    <a:bodyPr/>
                    <a:lstStyle/>
                    <a:p>
                      <a:pPr lvl="0" indent="0" marL="0">
                        <a:buNone/>
                      </a:pPr>
                      <a:r>
                        <a:rPr/>
                        <a:t>Three NCs failed NZV filter</a:t>
                      </a:r>
                    </a:p>
                  </a:txBody>
                </a:tc>
                <a:tc>
                  <a:txBody>
                    <a:bodyPr/>
                    <a:lstStyle/>
                    <a:p>
                      <a:pPr lvl="0" indent="0" marL="0" algn="ctr">
                        <a:buNone/>
                      </a:pPr>
                      <a:r>
                        <a:rPr/>
                        <a:t>FLAG</a:t>
                      </a:r>
                    </a:p>
                  </a:txBody>
                </a:tc>
                <a:tc>
                  <a:txBody>
                    <a:bodyPr/>
                    <a:lstStyle/>
                    <a:p>
                      <a:pPr lvl="0" indent="0" marL="0" algn="ctr">
                        <a:buNone/>
                      </a:pPr>
                      <a:r>
                        <a:rPr/>
                        <a:t>No</a:t>
                      </a:r>
                    </a:p>
                  </a:txBody>
                </a:tc>
              </a:tr>
              <a:tr h="0">
                <a:tc>
                  <a:txBody>
                    <a:bodyPr/>
                    <a:lstStyle/>
                    <a:p>
                      <a:pPr lvl="0" indent="0" marL="0">
                        <a:buNone/>
                      </a:pPr>
                      <a:r>
                        <a:rPr/>
                        <a:t>2026-01-12 11:02</a:t>
                      </a:r>
                    </a:p>
                  </a:txBody>
                </a:tc>
                <a:tc>
                  <a:txBody>
                    <a:bodyPr/>
                    <a:lstStyle/>
                    <a:p>
                      <a:pPr lvl="0" indent="0" marL="0">
                        <a:buNone/>
                      </a:pPr>
                      <a:r>
                        <a:rPr/>
                        <a:t>2c</a:t>
                      </a:r>
                    </a:p>
                  </a:txBody>
                </a:tc>
                <a:tc>
                  <a:txBody>
                    <a:bodyPr/>
                    <a:lstStyle/>
                    <a:p>
                      <a:pPr lvl="0" indent="0" marL="0">
                        <a:buNone/>
                      </a:pPr>
                      <a:r>
                        <a:rPr/>
                        <a:t>DQ stress at n_sims = 3 (fast demo)</a:t>
                      </a:r>
                    </a:p>
                  </a:txBody>
                </a:tc>
                <a:tc>
                  <a:txBody>
                    <a:bodyPr/>
                    <a:lstStyle/>
                    <a:p>
                      <a:pPr lvl="0" indent="0" marL="0" algn="ctr">
                        <a:buNone/>
                      </a:pPr>
                      <a:r>
                        <a:rPr/>
                        <a:t>FLAG</a:t>
                      </a:r>
                    </a:p>
                  </a:txBody>
                </a:tc>
                <a:tc>
                  <a:txBody>
                    <a:bodyPr/>
                    <a:lstStyle/>
                    <a:p>
                      <a:pPr lvl="0" indent="0" marL="0" algn="ctr">
                        <a:buNone/>
                      </a:pPr>
                      <a:r>
                        <a:rPr/>
                        <a:t>No</a:t>
                      </a:r>
                    </a:p>
                  </a:txBody>
                </a:tc>
              </a:tr>
              <a:tr h="0">
                <a:tc>
                  <a:txBody>
                    <a:bodyPr/>
                    <a:lstStyle/>
                    <a:p>
                      <a:pPr lvl="0" indent="0" marL="0">
                        <a:buNone/>
                      </a:pPr>
                      <a:r>
                        <a:rPr/>
                        <a:t>2026-01-12 14:45</a:t>
                      </a:r>
                    </a:p>
                  </a:txBody>
                </a:tc>
                <a:tc>
                  <a:txBody>
                    <a:bodyPr/>
                    <a:lstStyle/>
                    <a:p>
                      <a:pPr lvl="0" indent="0" marL="0">
                        <a:buNone/>
                      </a:pPr>
                      <a:r>
                        <a:rPr/>
                        <a:t>Gate</a:t>
                      </a:r>
                    </a:p>
                  </a:txBody>
                </a:tc>
                <a:tc>
                  <a:txBody>
                    <a:bodyPr/>
                    <a:lstStyle/>
                    <a:p>
                      <a:pPr lvl="0" indent="0" marL="0">
                        <a:buNone/>
                      </a:pPr>
                      <a:r>
                        <a:rPr/>
                        <a:t>All checkpoints GO or documented FLAG</a:t>
                      </a:r>
                    </a:p>
                  </a:txBody>
                </a:tc>
                <a:tc>
                  <a:txBody>
                    <a:bodyPr/>
                    <a:lstStyle/>
                    <a:p>
                      <a:pPr lvl="0" indent="0" marL="0" algn="ctr">
                        <a:buNone/>
                      </a:pPr>
                      <a:r>
                        <a:rPr/>
                        <a:t>GO</a:t>
                      </a:r>
                    </a:p>
                  </a:txBody>
                </a:tc>
                <a:tc>
                  <a:txBody>
                    <a:bodyPr/>
                    <a:lstStyle/>
                    <a:p>
                      <a:pPr lvl="0" indent="0" marL="0" algn="ctr">
                        <a:buNone/>
                      </a:pPr>
                      <a:r>
                        <a:rPr/>
                        <a:t>No</a:t>
                      </a:r>
                    </a:p>
                  </a:txBody>
                </a:tc>
              </a:tr>
            </a:tbl>
          </a:graphicData>
        </a:graphic>
      </p:graphicFrame>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Sensitivity analyses mapped to assumptions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Assumption</a:t>
                      </a:r>
                    </a:p>
                  </a:txBody>
                  <a:tcPr/>
                </a:tc>
                <a:tc>
                  <a:txBody>
                    <a:bodyPr/>
                    <a:lstStyle/>
                    <a:p>
                      <a:pPr lvl="0" indent="0" marL="0">
                        <a:buNone/>
                      </a:pPr>
                      <a:r>
                        <a:rPr/>
                        <a:t>Sensitivity analysis or diagnostic</a:t>
                      </a:r>
                    </a:p>
                  </a:txBody>
                  <a:tcPr/>
                </a:tc>
              </a:tr>
              <a:tr h="0">
                <a:tc>
                  <a:txBody>
                    <a:bodyPr/>
                    <a:lstStyle/>
                    <a:p>
                      <a:pPr lvl="0" indent="0" marL="0">
                        <a:buNone/>
                      </a:pPr>
                      <a:r>
                        <a:rPr/>
                        <a:t>Exchangeability</a:t>
                      </a:r>
                    </a:p>
                  </a:txBody>
                </a:tc>
                <a:tc>
                  <a:txBody>
                    <a:bodyPr/>
                    <a:lstStyle/>
                    <a:p>
                      <a:pPr lvl="0" indent="0" marL="0">
                        <a:buNone/>
                      </a:pPr>
                      <a:r>
                        <a:rPr/>
                        <a:t>Negative-control outcomes; E-value on primary estimate</a:t>
                      </a:r>
                    </a:p>
                  </a:txBody>
                </a:tc>
              </a:tr>
              <a:tr h="0">
                <a:tc>
                  <a:txBody>
                    <a:bodyPr/>
                    <a:lstStyle/>
                    <a:p>
                      <a:pPr lvl="0" indent="0" marL="0">
                        <a:buNone/>
                      </a:pPr>
                      <a:r>
                        <a:rPr/>
                        <a:t>Positivity</a:t>
                      </a:r>
                    </a:p>
                  </a:txBody>
                </a:tc>
                <a:tc>
                  <a:txBody>
                    <a:bodyPr/>
                    <a:lstStyle/>
                    <a:p>
                      <a:pPr lvl="0" indent="0" marL="0">
                        <a:buNone/>
                      </a:pPr>
                      <a:r>
                        <a:rPr/>
                        <a:t>Truncation-grid sensitivity; weight + ESS reporting</a:t>
                      </a:r>
                    </a:p>
                  </a:txBody>
                </a:tc>
              </a:tr>
              <a:tr h="0">
                <a:tc>
                  <a:txBody>
                    <a:bodyPr/>
                    <a:lstStyle/>
                    <a:p>
                      <a:pPr lvl="0" indent="0" marL="0">
                        <a:buNone/>
                      </a:pPr>
                      <a:r>
                        <a:rPr/>
                        <a:t>Consistency</a:t>
                      </a:r>
                    </a:p>
                  </a:txBody>
                </a:tc>
                <a:tc>
                  <a:txBody>
                    <a:bodyPr/>
                    <a:lstStyle/>
                    <a:p>
                      <a:pPr lvl="0" indent="0" marL="0">
                        <a:buNone/>
                      </a:pPr>
                      <a:r>
                        <a:rPr/>
                        <a:t>Documented exposure phenotype; direct-from-scene restriction</a:t>
                      </a:r>
                    </a:p>
                  </a:txBody>
                </a:tc>
              </a:tr>
              <a:tr h="0">
                <a:tc>
                  <a:txBody>
                    <a:bodyPr/>
                    <a:lstStyle/>
                    <a:p>
                      <a:pPr lvl="0" indent="0" marL="0">
                        <a:buNone/>
                      </a:pPr>
                      <a:r>
                        <a:rPr/>
                        <a:t>Dependent censoring</a:t>
                      </a:r>
                    </a:p>
                  </a:txBody>
                </a:tc>
                <a:tc>
                  <a:txBody>
                    <a:bodyPr/>
                    <a:lstStyle/>
                    <a:p>
                      <a:pPr lvl="0" indent="0" marL="0">
                        <a:buNone/>
                      </a:pPr>
                      <a:r>
                        <a:rPr/>
                        <a:t>IPCW-TMLE on binary outcome</a:t>
                      </a:r>
                    </a:p>
                  </a:txBody>
                </a:tc>
              </a:tr>
              <a:tr h="0">
                <a:tc>
                  <a:txBody>
                    <a:bodyPr/>
                    <a:lstStyle/>
                    <a:p>
                      <a:pPr lvl="0" indent="0" marL="0">
                        <a:buNone/>
                      </a:pPr>
                      <a:r>
                        <a:rPr/>
                        <a:t>Missing outcome</a:t>
                      </a:r>
                    </a:p>
                  </a:txBody>
                </a:tc>
                <a:tc>
                  <a:txBody>
                    <a:bodyPr/>
                    <a:lstStyle/>
                    <a:p>
                      <a:pPr lvl="0" indent="0" marL="0">
                        <a:buNone/>
                      </a:pPr>
                      <a:r>
                        <a:rPr/>
                        <a:t>IPCW-TMLE vs complete-case TMLE comparison</a:t>
                      </a:r>
                    </a:p>
                  </a:txBody>
                </a:tc>
              </a:tr>
              <a:tr h="0">
                <a:tc>
                  <a:txBody>
                    <a:bodyPr/>
                    <a:lstStyle/>
                    <a:p>
                      <a:pPr lvl="0" indent="0" marL="0">
                        <a:buNone/>
                      </a:pPr>
                      <a:r>
                        <a:rPr/>
                        <a:t>Composite / competing</a:t>
                      </a:r>
                    </a:p>
                  </a:txBody>
                </a:tc>
                <a:tc>
                  <a:txBody>
                    <a:bodyPr/>
                    <a:lstStyle/>
                    <a:p>
                      <a:pPr lvl="0" indent="0" marL="0">
                        <a:buNone/>
                      </a:pPr>
                      <a:r>
                        <a:rPr/>
                        <a:t>Coherence check via </a:t>
                      </a:r>
                      <a:r>
                        <a:rPr>
                          <a:latin typeface="Courier"/>
                        </a:rPr>
                        <a:t>clean_check_event_processes()</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Stage 2b feasibility plasmode metrics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Candidate</a:t>
                      </a:r>
                    </a:p>
                  </a:txBody>
                  <a:tcPr/>
                </a:tc>
                <a:tc>
                  <a:txBody>
                    <a:bodyPr/>
                    <a:lstStyle/>
                    <a:p>
                      <a:pPr lvl="0" indent="0" marL="0" algn="r">
                        <a:buNone/>
                      </a:pPr>
                      <a:r>
                        <a:rPr/>
                        <a:t>Bias</a:t>
                      </a:r>
                    </a:p>
                  </a:txBody>
                  <a:tcPr/>
                </a:tc>
                <a:tc>
                  <a:txBody>
                    <a:bodyPr/>
                    <a:lstStyle/>
                    <a:p>
                      <a:pPr lvl="0" indent="0" marL="0" algn="r">
                        <a:buNone/>
                      </a:pPr>
                      <a:r>
                        <a:rPr/>
                        <a:t>RMSE</a:t>
                      </a:r>
                    </a:p>
                  </a:txBody>
                  <a:tcPr/>
                </a:tc>
                <a:tc>
                  <a:txBody>
                    <a:bodyPr/>
                    <a:lstStyle/>
                    <a:p>
                      <a:pPr lvl="0" indent="0" marL="0" algn="r">
                        <a:buNone/>
                      </a:pPr>
                      <a:r>
                        <a:rPr/>
                        <a:t>Coverage</a:t>
                      </a:r>
                    </a:p>
                  </a:txBody>
                  <a:tcPr/>
                </a:tc>
                <a:tc>
                  <a:txBody>
                    <a:bodyPr/>
                    <a:lstStyle/>
                    <a:p>
                      <a:pPr lvl="0" indent="0" marL="0" algn="r">
                        <a:buNone/>
                      </a:pPr>
                      <a:r>
                        <a:rPr/>
                        <a:t>SE/SD</a:t>
                      </a:r>
                    </a:p>
                  </a:txBody>
                  <a:tcPr/>
                </a:tc>
              </a:tr>
              <a:tr h="0">
                <a:tc>
                  <a:txBody>
                    <a:bodyPr/>
                    <a:lstStyle/>
                    <a:p>
                      <a:pPr lvl="0" indent="0" marL="0">
                        <a:buNone/>
                      </a:pPr>
                      <a:r>
                        <a:rPr>
                          <a:latin typeface="Courier"/>
                        </a:rPr>
                        <a:t>glm_t01</a:t>
                      </a:r>
                    </a:p>
                  </a:txBody>
                </a:tc>
                <a:tc>
                  <a:txBody>
                    <a:bodyPr/>
                    <a:lstStyle/>
                    <a:p>
                      <a:pPr lvl="0" indent="0" marL="0" algn="r">
                        <a:buNone/>
                      </a:pPr>
                      <a:r>
                        <a:rPr/>
                        <a:t>&lt; 0.001</a:t>
                      </a:r>
                    </a:p>
                  </a:txBody>
                </a:tc>
                <a:tc>
                  <a:txBody>
                    <a:bodyPr/>
                    <a:lstStyle/>
                    <a:p>
                      <a:pPr lvl="0" indent="0" marL="0" algn="r">
                        <a:buNone/>
                      </a:pPr>
                      <a:r>
                        <a:rPr/>
                        <a:t>0.018</a:t>
                      </a:r>
                    </a:p>
                  </a:txBody>
                </a:tc>
                <a:tc>
                  <a:txBody>
                    <a:bodyPr/>
                    <a:lstStyle/>
                    <a:p>
                      <a:pPr lvl="0" indent="0" marL="0" algn="r">
                        <a:buNone/>
                      </a:pPr>
                      <a:r>
                        <a:rPr/>
                        <a:t>0.94</a:t>
                      </a:r>
                    </a:p>
                  </a:txBody>
                </a:tc>
                <a:tc>
                  <a:txBody>
                    <a:bodyPr/>
                    <a:lstStyle/>
                    <a:p>
                      <a:pPr lvl="0" indent="0" marL="0" algn="r">
                        <a:buNone/>
                      </a:pPr>
                      <a:r>
                        <a:rPr/>
                        <a:t>1.01</a:t>
                      </a:r>
                    </a:p>
                  </a:txBody>
                </a:tc>
              </a:tr>
              <a:tr h="0">
                <a:tc>
                  <a:txBody>
                    <a:bodyPr/>
                    <a:lstStyle/>
                    <a:p>
                      <a:pPr lvl="0" indent="0" marL="0">
                        <a:buNone/>
                      </a:pPr>
                      <a:r>
                        <a:rPr>
                          <a:latin typeface="Courier"/>
                        </a:rPr>
                        <a:t>glm_t05</a:t>
                      </a:r>
                    </a:p>
                  </a:txBody>
                </a:tc>
                <a:tc>
                  <a:txBody>
                    <a:bodyPr/>
                    <a:lstStyle/>
                    <a:p>
                      <a:pPr lvl="0" indent="0" marL="0" algn="r">
                        <a:buNone/>
                      </a:pPr>
                      <a:r>
                        <a:rPr/>
                        <a:t>&lt; 0.001</a:t>
                      </a:r>
                    </a:p>
                  </a:txBody>
                </a:tc>
                <a:tc>
                  <a:txBody>
                    <a:bodyPr/>
                    <a:lstStyle/>
                    <a:p>
                      <a:pPr lvl="0" indent="0" marL="0" algn="r">
                        <a:buNone/>
                      </a:pPr>
                      <a:r>
                        <a:rPr/>
                        <a:t>0.018</a:t>
                      </a:r>
                    </a:p>
                  </a:txBody>
                </a:tc>
                <a:tc>
                  <a:txBody>
                    <a:bodyPr/>
                    <a:lstStyle/>
                    <a:p>
                      <a:pPr lvl="0" indent="0" marL="0" algn="r">
                        <a:buNone/>
                      </a:pPr>
                      <a:r>
                        <a:rPr/>
                        <a:t>0.94</a:t>
                      </a:r>
                    </a:p>
                  </a:txBody>
                </a:tc>
                <a:tc>
                  <a:txBody>
                    <a:bodyPr/>
                    <a:lstStyle/>
                    <a:p>
                      <a:pPr lvl="0" indent="0" marL="0" algn="r">
                        <a:buNone/>
                      </a:pPr>
                      <a:r>
                        <a:rPr/>
                        <a:t>1.01</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Stage 3 negative-control TMLE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Negative control</a:t>
                      </a:r>
                    </a:p>
                  </a:txBody>
                  <a:tcPr/>
                </a:tc>
                <a:tc>
                  <a:txBody>
                    <a:bodyPr/>
                    <a:lstStyle/>
                    <a:p>
                      <a:pPr lvl="0" indent="0" marL="0" algn="r">
                        <a:buNone/>
                      </a:pPr>
                      <a:r>
                        <a:rPr/>
                        <a:t>Estimate</a:t>
                      </a:r>
                    </a:p>
                  </a:txBody>
                  <a:tcPr/>
                </a:tc>
                <a:tc>
                  <a:txBody>
                    <a:bodyPr/>
                    <a:lstStyle/>
                    <a:p>
                      <a:pPr lvl="0" indent="0" marL="0" algn="r">
                        <a:buNone/>
                      </a:pPr>
                      <a:r>
                        <a:rPr/>
                        <a:t>SE</a:t>
                      </a:r>
                    </a:p>
                  </a:txBody>
                  <a:tcPr/>
                </a:tc>
                <a:tc>
                  <a:txBody>
                    <a:bodyPr/>
                    <a:lstStyle/>
                    <a:p>
                      <a:pPr lvl="0" indent="0" marL="0" algn="r">
                        <a:buNone/>
                      </a:pPr>
                      <a:r>
                        <a:rPr/>
                        <a:t>p-value</a:t>
                      </a:r>
                    </a:p>
                  </a:txBody>
                  <a:tcPr/>
                </a:tc>
                <a:tc>
                  <a:txBody>
                    <a:bodyPr/>
                    <a:lstStyle/>
                    <a:p>
                      <a:pPr lvl="0" indent="0" marL="0" algn="ctr">
                        <a:buNone/>
                      </a:pPr>
                      <a:r>
                        <a:rPr/>
                        <a:t>Pass</a:t>
                      </a:r>
                    </a:p>
                  </a:txBody>
                  <a:tcPr/>
                </a:tc>
              </a:tr>
              <a:tr h="0">
                <a:tc>
                  <a:txBody>
                    <a:bodyPr/>
                    <a:lstStyle/>
                    <a:p>
                      <a:pPr lvl="0" indent="0" marL="0">
                        <a:buNone/>
                      </a:pPr>
                      <a:r>
                        <a:rPr/>
                        <a:t>chronic hypertension</a:t>
                      </a:r>
                    </a:p>
                  </a:txBody>
                </a:tc>
                <a:tc>
                  <a:txBody>
                    <a:bodyPr/>
                    <a:lstStyle/>
                    <a:p>
                      <a:pPr lvl="0" indent="0" marL="0" algn="r">
                        <a:buNone/>
                      </a:pPr>
                      <a:r>
                        <a:rPr/>
                        <a:t>0.00248</a:t>
                      </a:r>
                    </a:p>
                  </a:txBody>
                </a:tc>
                <a:tc>
                  <a:txBody>
                    <a:bodyPr/>
                    <a:lstStyle/>
                    <a:p>
                      <a:pPr lvl="0" indent="0" marL="0" algn="r">
                        <a:buNone/>
                      </a:pPr>
                      <a:r>
                        <a:rPr/>
                        <a:t>0.0072</a:t>
                      </a:r>
                    </a:p>
                  </a:txBody>
                </a:tc>
                <a:tc>
                  <a:txBody>
                    <a:bodyPr/>
                    <a:lstStyle/>
                    <a:p>
                      <a:pPr lvl="0" indent="0" marL="0" algn="r">
                        <a:buNone/>
                      </a:pPr>
                      <a:r>
                        <a:rPr/>
                        <a:t>0.73</a:t>
                      </a:r>
                    </a:p>
                  </a:txBody>
                </a:tc>
                <a:tc>
                  <a:txBody>
                    <a:bodyPr/>
                    <a:lstStyle/>
                    <a:p>
                      <a:pPr lvl="0" indent="0" marL="0" algn="ctr">
                        <a:buNone/>
                      </a:pPr>
                      <a:r>
                        <a:rPr/>
                        <a:t>✓</a:t>
                      </a:r>
                    </a:p>
                  </a:txBody>
                </a:tc>
              </a:tr>
              <a:tr h="0">
                <a:tc>
                  <a:txBody>
                    <a:bodyPr/>
                    <a:lstStyle/>
                    <a:p>
                      <a:pPr lvl="0" indent="0" marL="0">
                        <a:buNone/>
                      </a:pPr>
                      <a:r>
                        <a:rPr/>
                        <a:t>household urban</a:t>
                      </a:r>
                    </a:p>
                  </a:txBody>
                </a:tc>
                <a:tc>
                  <a:txBody>
                    <a:bodyPr/>
                    <a:lstStyle/>
                    <a:p>
                      <a:pPr lvl="0" indent="0" marL="0" algn="r">
                        <a:buNone/>
                      </a:pPr>
                      <a:r>
                        <a:rPr/>
                        <a:t>-0.00077</a:t>
                      </a:r>
                    </a:p>
                  </a:txBody>
                </a:tc>
                <a:tc>
                  <a:txBody>
                    <a:bodyPr/>
                    <a:lstStyle/>
                    <a:p>
                      <a:pPr lvl="0" indent="0" marL="0" algn="r">
                        <a:buNone/>
                      </a:pPr>
                      <a:r>
                        <a:rPr/>
                        <a:t>0.0071</a:t>
                      </a:r>
                    </a:p>
                  </a:txBody>
                </a:tc>
                <a:tc>
                  <a:txBody>
                    <a:bodyPr/>
                    <a:lstStyle/>
                    <a:p>
                      <a:pPr lvl="0" indent="0" marL="0" algn="r">
                        <a:buNone/>
                      </a:pPr>
                      <a:r>
                        <a:rPr/>
                        <a:t>0.91</a:t>
                      </a:r>
                    </a:p>
                  </a:txBody>
                </a:tc>
                <a:tc>
                  <a:txBody>
                    <a:bodyPr/>
                    <a:lstStyle/>
                    <a:p>
                      <a:pPr lvl="0" indent="0" marL="0" algn="ctr">
                        <a:buNone/>
                      </a:pPr>
                      <a:r>
                        <a:rPr/>
                        <a:t>✓</a:t>
                      </a:r>
                    </a:p>
                  </a:txBody>
                </a:tc>
              </a:tr>
            </a:tbl>
          </a:graphicData>
        </a:graphic>
      </p:graphicFrame>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Negative-control attrition</a:t>
            </a:r>
          </a:p>
        </p:txBody>
      </p:sp>
      <p:sp>
        <p:nvSpPr>
          <p:cNvPr id="4" name="Text Placeholder 3"/>
          <p:cNvSpPr>
            <a:spLocks noGrp="1"/>
          </p:cNvSpPr>
          <p:nvPr>
            <p:ph idx="2" sz="half" type="body"/>
          </p:nvPr>
        </p:nvSpPr>
        <p:spPr/>
        <p:txBody>
          <a:bodyPr/>
          <a:lstStyle/>
          <a:p>
            <a:pPr lvl="0" indent="0" marL="0">
              <a:buNone/>
            </a:pPr>
          </a:p>
        </p:txBody>
      </p:sp>
      <p:pic>
        <p:nvPicPr>
          <p:cNvPr descr="cleanTMLE_presentation_files\figure-pptx\mermaid-figure-2.png" id="0" name="Picture 1"/>
          <p:cNvPicPr>
            <a:picLocks noGrp="1" noChangeAspect="1"/>
          </p:cNvPicPr>
          <p:nvPr/>
        </p:nvPicPr>
        <p:blipFill>
          <a:blip r:embed="rId2"/>
          <a:stretch>
            <a:fillRect/>
          </a:stretch>
        </p:blipFill>
        <p:spPr bwMode="auto">
          <a:xfrm>
            <a:off x="3568700" y="1701800"/>
            <a:ext cx="5105400" cy="13716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Rescue.Co binary-outcome estimates (six estimators)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447800"/>
                <a:gridCol w="1447800"/>
                <a:gridCol w="1930400"/>
                <a:gridCol w="1930400"/>
                <a:gridCol w="1447800"/>
              </a:tblGrid>
              <a:tr h="0">
                <a:tc>
                  <a:txBody>
                    <a:bodyPr/>
                    <a:lstStyle/>
                    <a:p>
                      <a:pPr lvl="0" indent="0" marL="0">
                        <a:buNone/>
                      </a:pPr>
                      <a:r>
                        <a:rPr/>
                        <a:t>Method</a:t>
                      </a:r>
                    </a:p>
                  </a:txBody>
                  <a:tcPr/>
                </a:tc>
                <a:tc>
                  <a:txBody>
                    <a:bodyPr/>
                    <a:lstStyle/>
                    <a:p>
                      <a:pPr lvl="0" indent="0" marL="0">
                        <a:buNone/>
                      </a:pPr>
                      <a:r>
                        <a:rPr/>
                        <a:t>Target population</a:t>
                      </a:r>
                    </a:p>
                  </a:txBody>
                  <a:tcPr/>
                </a:tc>
                <a:tc>
                  <a:txBody>
                    <a:bodyPr/>
                    <a:lstStyle/>
                    <a:p>
                      <a:pPr lvl="0" indent="0" marL="0" algn="r">
                        <a:buNone/>
                      </a:pPr>
                      <a:r>
                        <a:rPr/>
                        <a:t>N</a:t>
                      </a:r>
                    </a:p>
                  </a:txBody>
                  <a:tcPr/>
                </a:tc>
                <a:tc>
                  <a:txBody>
                    <a:bodyPr/>
                    <a:lstStyle/>
                    <a:p>
                      <a:pPr lvl="0" indent="0" marL="0" algn="r">
                        <a:buNone/>
                      </a:pPr>
                      <a:r>
                        <a:rPr/>
                        <a:t>RD</a:t>
                      </a:r>
                    </a:p>
                  </a:txBody>
                  <a:tcPr/>
                </a:tc>
                <a:tc>
                  <a:txBody>
                    <a:bodyPr/>
                    <a:lstStyle/>
                    <a:p>
                      <a:pPr lvl="0" indent="0" marL="0">
                        <a:buNone/>
                      </a:pPr>
                      <a:r>
                        <a:rPr/>
                        <a:t>95% CI</a:t>
                      </a:r>
                    </a:p>
                  </a:txBody>
                  <a:tcPr/>
                </a:tc>
              </a:tr>
              <a:tr h="0">
                <a:tc>
                  <a:txBody>
                    <a:bodyPr/>
                    <a:lstStyle/>
                    <a:p>
                      <a:pPr lvl="0" indent="0" marL="0">
                        <a:buNone/>
                      </a:pPr>
                      <a:r>
                        <a:rPr/>
                        <a:t>Crude</a:t>
                      </a:r>
                    </a:p>
                  </a:txBody>
                </a:tc>
                <a:tc>
                  <a:txBody>
                    <a:bodyPr/>
                    <a:lstStyle/>
                    <a:p>
                      <a:pPr lvl="0" indent="0" marL="0">
                        <a:buNone/>
                      </a:pPr>
                      <a:r>
                        <a:rPr/>
                        <a:t>Complete-outcome subset</a:t>
                      </a:r>
                    </a:p>
                  </a:txBody>
                </a:tc>
                <a:tc>
                  <a:txBody>
                    <a:bodyPr/>
                    <a:lstStyle/>
                    <a:p>
                      <a:pPr lvl="0" indent="0" marL="0" algn="r">
                        <a:buNone/>
                      </a:pPr>
                      <a:r>
                        <a:rPr/>
                        <a:t>1,277</a:t>
                      </a:r>
                    </a:p>
                  </a:txBody>
                </a:tc>
                <a:tc>
                  <a:txBody>
                    <a:bodyPr/>
                    <a:lstStyle/>
                    <a:p>
                      <a:pPr lvl="0" indent="0" marL="0" algn="r">
                        <a:buNone/>
                      </a:pPr>
                      <a:r>
                        <a:rPr/>
                        <a:t>0.0370</a:t>
                      </a:r>
                    </a:p>
                  </a:txBody>
                </a:tc>
                <a:tc>
                  <a:txBody>
                    <a:bodyPr/>
                    <a:lstStyle/>
                    <a:p>
                      <a:pPr lvl="0" indent="0" marL="0">
                        <a:buNone/>
                      </a:pPr>
                      <a:r>
                        <a:rPr/>
                        <a:t>(0.003, 0.071)</a:t>
                      </a:r>
                    </a:p>
                  </a:txBody>
                </a:tc>
              </a:tr>
              <a:tr h="0">
                <a:tc>
                  <a:txBody>
                    <a:bodyPr/>
                    <a:lstStyle/>
                    <a:p>
                      <a:pPr lvl="0" indent="0" marL="0">
                        <a:buNone/>
                      </a:pPr>
                      <a:r>
                        <a:rPr/>
                        <a:t>PS matching</a:t>
                      </a:r>
                    </a:p>
                  </a:txBody>
                </a:tc>
                <a:tc>
                  <a:txBody>
                    <a:bodyPr/>
                    <a:lstStyle/>
                    <a:p>
                      <a:pPr lvl="0" indent="0" marL="0">
                        <a:buNone/>
                      </a:pPr>
                      <a:r>
                        <a:rPr/>
                        <a:t>Matched subset</a:t>
                      </a:r>
                    </a:p>
                  </a:txBody>
                </a:tc>
                <a:tc>
                  <a:txBody>
                    <a:bodyPr/>
                    <a:lstStyle/>
                    <a:p>
                      <a:pPr lvl="0" indent="0" marL="0" algn="r">
                        <a:buNone/>
                      </a:pPr>
                      <a:r>
                        <a:rPr/>
                        <a:t>615</a:t>
                      </a:r>
                    </a:p>
                  </a:txBody>
                </a:tc>
                <a:tc>
                  <a:txBody>
                    <a:bodyPr/>
                    <a:lstStyle/>
                    <a:p>
                      <a:pPr lvl="0" indent="0" marL="0" algn="r">
                        <a:buNone/>
                      </a:pPr>
                      <a:r>
                        <a:rPr/>
                        <a:t>0.0272</a:t>
                      </a:r>
                    </a:p>
                  </a:txBody>
                </a:tc>
                <a:tc>
                  <a:txBody>
                    <a:bodyPr/>
                    <a:lstStyle/>
                    <a:p>
                      <a:pPr lvl="0" indent="0" marL="0">
                        <a:buNone/>
                      </a:pPr>
                      <a:r>
                        <a:rPr/>
                        <a:t>(-0.020, 0.074)</a:t>
                      </a:r>
                    </a:p>
                  </a:txBody>
                </a:tc>
              </a:tr>
              <a:tr h="0">
                <a:tc>
                  <a:txBody>
                    <a:bodyPr/>
                    <a:lstStyle/>
                    <a:p>
                      <a:pPr lvl="0" indent="0" marL="0">
                        <a:buNone/>
                      </a:pPr>
                      <a:r>
                        <a:rPr/>
                        <a:t>IPTW (stabilised)</a:t>
                      </a:r>
                    </a:p>
                  </a:txBody>
                </a:tc>
                <a:tc>
                  <a:txBody>
                    <a:bodyPr/>
                    <a:lstStyle/>
                    <a:p>
                      <a:pPr lvl="0" indent="0" marL="0">
                        <a:buNone/>
                      </a:pPr>
                      <a:r>
                        <a:rPr/>
                        <a:t>Full eligible cohort</a:t>
                      </a:r>
                    </a:p>
                  </a:txBody>
                </a:tc>
                <a:tc>
                  <a:txBody>
                    <a:bodyPr/>
                    <a:lstStyle/>
                    <a:p>
                      <a:pPr lvl="0" indent="0" marL="0" algn="r">
                        <a:buNone/>
                      </a:pPr>
                      <a:r>
                        <a:rPr/>
                        <a:t>1,693</a:t>
                      </a:r>
                    </a:p>
                  </a:txBody>
                </a:tc>
                <a:tc>
                  <a:txBody>
                    <a:bodyPr/>
                    <a:lstStyle/>
                    <a:p>
                      <a:pPr lvl="0" indent="0" marL="0" algn="r">
                        <a:buNone/>
                      </a:pPr>
                      <a:r>
                        <a:rPr/>
                        <a:t>0.0366</a:t>
                      </a:r>
                    </a:p>
                  </a:txBody>
                </a:tc>
                <a:tc>
                  <a:txBody>
                    <a:bodyPr/>
                    <a:lstStyle/>
                    <a:p>
                      <a:pPr lvl="0" indent="0" marL="0">
                        <a:buNone/>
                      </a:pPr>
                      <a:r>
                        <a:rPr/>
                        <a:t>(0.002, 0.071)</a:t>
                      </a:r>
                    </a:p>
                  </a:txBody>
                </a:tc>
              </a:tr>
              <a:tr h="0">
                <a:tc>
                  <a:txBody>
                    <a:bodyPr/>
                    <a:lstStyle/>
                    <a:p>
                      <a:pPr lvl="0" indent="0" marL="0">
                        <a:buNone/>
                      </a:pPr>
                      <a:r>
                        <a:rPr/>
                        <a:t>Full-cohort TMLE</a:t>
                      </a:r>
                    </a:p>
                  </a:txBody>
                </a:tc>
                <a:tc>
                  <a:txBody>
                    <a:bodyPr/>
                    <a:lstStyle/>
                    <a:p>
                      <a:pPr lvl="0" indent="0" marL="0">
                        <a:buNone/>
                      </a:pPr>
                      <a:r>
                        <a:rPr/>
                        <a:t>Full eligible cohort</a:t>
                      </a:r>
                    </a:p>
                  </a:txBody>
                </a:tc>
                <a:tc>
                  <a:txBody>
                    <a:bodyPr/>
                    <a:lstStyle/>
                    <a:p>
                      <a:pPr lvl="0" indent="0" marL="0" algn="r">
                        <a:buNone/>
                      </a:pPr>
                      <a:r>
                        <a:rPr/>
                        <a:t>1,693</a:t>
                      </a:r>
                    </a:p>
                  </a:txBody>
                </a:tc>
                <a:tc>
                  <a:txBody>
                    <a:bodyPr/>
                    <a:lstStyle/>
                    <a:p>
                      <a:pPr lvl="0" indent="0" marL="0" algn="r">
                        <a:buNone/>
                      </a:pPr>
                      <a:r>
                        <a:rPr/>
                        <a:t>0.0306</a:t>
                      </a:r>
                    </a:p>
                  </a:txBody>
                </a:tc>
                <a:tc>
                  <a:txBody>
                    <a:bodyPr/>
                    <a:lstStyle/>
                    <a:p>
                      <a:pPr lvl="0" indent="0" marL="0">
                        <a:buNone/>
                      </a:pPr>
                      <a:r>
                        <a:rPr/>
                        <a:t>(-0.001, 0.062)</a:t>
                      </a:r>
                    </a:p>
                  </a:txBody>
                </a:tc>
              </a:tr>
              <a:tr h="0">
                <a:tc>
                  <a:txBody>
                    <a:bodyPr/>
                    <a:lstStyle/>
                    <a:p>
                      <a:pPr lvl="0" indent="0" marL="0">
                        <a:buNone/>
                      </a:pPr>
                      <a:r>
                        <a:rPr/>
                        <a:t>Matched-cohort TMLE</a:t>
                      </a:r>
                    </a:p>
                  </a:txBody>
                </a:tc>
                <a:tc>
                  <a:txBody>
                    <a:bodyPr/>
                    <a:lstStyle/>
                    <a:p>
                      <a:pPr lvl="0" indent="0" marL="0">
                        <a:buNone/>
                      </a:pPr>
                      <a:r>
                        <a:rPr/>
                        <a:t>Matched subset</a:t>
                      </a:r>
                    </a:p>
                  </a:txBody>
                </a:tc>
                <a:tc>
                  <a:txBody>
                    <a:bodyPr/>
                    <a:lstStyle/>
                    <a:p>
                      <a:pPr lvl="0" indent="0" marL="0" algn="r">
                        <a:buNone/>
                      </a:pPr>
                      <a:r>
                        <a:rPr/>
                        <a:t>1,230</a:t>
                      </a:r>
                    </a:p>
                  </a:txBody>
                </a:tc>
                <a:tc>
                  <a:txBody>
                    <a:bodyPr/>
                    <a:lstStyle/>
                    <a:p>
                      <a:pPr lvl="0" indent="0" marL="0" algn="r">
                        <a:buNone/>
                      </a:pPr>
                      <a:r>
                        <a:rPr/>
                        <a:t>0.0259</a:t>
                      </a:r>
                    </a:p>
                  </a:txBody>
                </a:tc>
                <a:tc>
                  <a:txBody>
                    <a:bodyPr/>
                    <a:lstStyle/>
                    <a:p>
                      <a:pPr lvl="0" indent="0" marL="0">
                        <a:buNone/>
                      </a:pPr>
                      <a:r>
                        <a:rPr/>
                        <a:t>(-0.015, 0.067)</a:t>
                      </a:r>
                    </a:p>
                  </a:txBody>
                </a:tc>
              </a:tr>
              <a:tr h="0">
                <a:tc>
                  <a:txBody>
                    <a:bodyPr/>
                    <a:lstStyle/>
                    <a:p>
                      <a:pPr lvl="0" indent="0" marL="0">
                        <a:buNone/>
                      </a:pPr>
                      <a:r>
                        <a:rPr/>
                        <a:t>Complete-outcome TMLE w/ IPCW</a:t>
                      </a:r>
                    </a:p>
                  </a:txBody>
                </a:tc>
                <a:tc>
                  <a:txBody>
                    <a:bodyPr/>
                    <a:lstStyle/>
                    <a:p>
                      <a:pPr lvl="0" indent="0" marL="0">
                        <a:buNone/>
                      </a:pPr>
                      <a:r>
                        <a:rPr/>
                        <a:t>Complete-outcome rows, weighted to full-cohort</a:t>
                      </a:r>
                    </a:p>
                  </a:txBody>
                </a:tc>
                <a:tc>
                  <a:txBody>
                    <a:bodyPr/>
                    <a:lstStyle/>
                    <a:p>
                      <a:pPr lvl="0" indent="0" marL="0" algn="r">
                        <a:buNone/>
                      </a:pPr>
                      <a:r>
                        <a:rPr/>
                        <a:t>1,277</a:t>
                      </a:r>
                    </a:p>
                  </a:txBody>
                </a:tc>
                <a:tc>
                  <a:txBody>
                    <a:bodyPr/>
                    <a:lstStyle/>
                    <a:p>
                      <a:pPr lvl="0" indent="0" marL="0" algn="r">
                        <a:buNone/>
                      </a:pPr>
                      <a:r>
                        <a:rPr/>
                        <a:t>0.0326</a:t>
                      </a:r>
                    </a:p>
                  </a:txBody>
                </a:tc>
                <a:tc>
                  <a:txBody>
                    <a:bodyPr/>
                    <a:lstStyle/>
                    <a:p>
                      <a:pPr lvl="0" indent="0" marL="0">
                        <a:buNone/>
                      </a:pPr>
                      <a:r>
                        <a:rPr/>
                        <a:t>(-0.000, 0.066)</a:t>
                      </a:r>
                    </a:p>
                  </a:txBody>
                </a:tc>
              </a:tr>
            </a:tbl>
          </a:graphicData>
        </a:graphic>
      </p:graphicFrame>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Appendix C: Case-study diagnostic figures</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 overlap density</a:t>
            </a:r>
          </a:p>
        </p:txBody>
      </p:sp>
      <p:pic>
        <p:nvPicPr>
          <p:cNvPr descr="../rescueCo/results/ps_overlap_density.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Propensity-score density by treatment group with truncation cutoffs marked.</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Love plot: matched vs unweighted</a:t>
            </a:r>
          </a:p>
        </p:txBody>
      </p:sp>
      <p:pic>
        <p:nvPicPr>
          <p:cNvPr descr="../rescueCo/results/love_plot.png" id="0" name="Picture 1"/>
          <p:cNvPicPr>
            <a:picLocks noGrp="1" noChangeAspect="1"/>
          </p:cNvPicPr>
          <p:nvPr/>
        </p:nvPicPr>
        <p:blipFill>
          <a:blip r:embed="rId2"/>
          <a:stretch>
            <a:fillRect/>
          </a:stretch>
        </p:blipFill>
        <p:spPr bwMode="auto">
          <a:xfrm>
            <a:off x="2768600" y="1193800"/>
            <a:ext cx="3606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Standardised mean differences for retained covariates before and after PS matching.</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Three-way Love plot: unweighted vs matched vs IPTW</a:t>
            </a:r>
          </a:p>
        </p:txBody>
      </p:sp>
      <p:pic>
        <p:nvPicPr>
          <p:cNvPr descr="../rescueCo/results/weighted_love_plot.png" id="0" name="Picture 1"/>
          <p:cNvPicPr>
            <a:picLocks noGrp="1" noChangeAspect="1"/>
          </p:cNvPicPr>
          <p:nvPr/>
        </p:nvPicPr>
        <p:blipFill>
          <a:blip r:embed="rId2"/>
          <a:stretch>
            <a:fillRect/>
          </a:stretch>
        </p:blipFill>
        <p:spPr bwMode="auto">
          <a:xfrm>
            <a:off x="2768600" y="1193800"/>
            <a:ext cx="3606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Three-way balance: unweighted, after matching, and after stabilised IPTW.</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IPTW weight distribution</a:t>
            </a:r>
          </a:p>
        </p:txBody>
      </p:sp>
      <p:pic>
        <p:nvPicPr>
          <p:cNvPr descr="../rescueCo/results/weight_distribution.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Distribution of stabilised IPTW weights by treatment group.</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Plasmode simulation performance</a:t>
            </a:r>
          </a:p>
        </p:txBody>
      </p:sp>
      <p:pic>
        <p:nvPicPr>
          <p:cNvPr descr="../rescueCo/results/plasmode_performance.png" id="0" name="Picture 1"/>
          <p:cNvPicPr>
            <a:picLocks noGrp="1" noChangeAspect="1"/>
          </p:cNvPicPr>
          <p:nvPr/>
        </p:nvPicPr>
        <p:blipFill>
          <a:blip r:embed="rId2"/>
          <a:stretch>
            <a:fillRect/>
          </a:stretch>
        </p:blipFill>
        <p:spPr bwMode="auto">
          <a:xfrm>
            <a:off x="1689100" y="1193800"/>
            <a:ext cx="5765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Plasmode performance across candidate estimators (true ATE = 0).</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Binary-outcome estimator forest plot</a:t>
            </a:r>
          </a:p>
        </p:txBody>
      </p:sp>
      <p:pic>
        <p:nvPicPr>
          <p:cNvPr descr="../rescueCo/results/cleanTMLE_forest_plot.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Forest plot of binary-outcome risk differences across the six prespecified estimators.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Influence-curve distribution (full-cohort TMLE)</a:t>
            </a:r>
          </a:p>
        </p:txBody>
      </p:sp>
      <p:pic>
        <p:nvPicPr>
          <p:cNvPr descr="../rescueCo/results/ic_plot.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Influence-curve distribution for the full-cohort TMLE primary estimator.</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Clever covariate H_n by treatment arm</a:t>
            </a:r>
          </a:p>
        </p:txBody>
      </p:sp>
      <p:pic>
        <p:nvPicPr>
          <p:cNvPr descr="../rescueCo/results/clever_covariate_plot.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Clever covariate H_n by treatment arm (full-cohort TMLE).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Counterfactual cumulative-risk curves (full-cohort TMLE)</a:t>
            </a:r>
          </a:p>
        </p:txBody>
      </p:sp>
      <p:pic>
        <p:nvPicPr>
          <p:cNvPr descr="../rescueCo/results/risk_curves_full_ci.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Counterfactual cumulative-risk curves with CI bands, full-cohort TMLE.</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Kaplan-Meier curves by treatment arm (descriptive)</a:t>
            </a:r>
          </a:p>
        </p:txBody>
      </p:sp>
      <p:pic>
        <p:nvPicPr>
          <p:cNvPr descr="../rescueCo/results/km_curves.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KM survival curves by treatment arm; descriptive only.</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Appendix D: Helpers and outcome-access taxonomy</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Outcome-access taxonomy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Label</a:t>
                      </a:r>
                    </a:p>
                  </a:txBody>
                  <a:tcPr/>
                </a:tc>
                <a:tc>
                  <a:txBody>
                    <a:bodyPr/>
                    <a:lstStyle/>
                    <a:p>
                      <a:pPr lvl="0" indent="0" marL="0">
                        <a:buNone/>
                      </a:pPr>
                      <a:r>
                        <a:rPr/>
                        <a:t>Definition</a:t>
                      </a:r>
                    </a:p>
                  </a:txBody>
                  <a:tcPr/>
                </a:tc>
              </a:tr>
              <a:tr h="0">
                <a:tc>
                  <a:txBody>
                    <a:bodyPr/>
                    <a:lstStyle/>
                    <a:p>
                      <a:pPr lvl="0" indent="0" marL="0">
                        <a:buNone/>
                      </a:pPr>
                      <a:r>
                        <a:rPr/>
                        <a:t>No Y access</a:t>
                      </a:r>
                    </a:p>
                  </a:txBody>
                </a:tc>
                <a:tc>
                  <a:txBody>
                    <a:bodyPr/>
                    <a:lstStyle/>
                    <a:p>
                      <a:pPr lvl="0" indent="0" marL="0">
                        <a:buNone/>
                      </a:pPr>
                      <a:r>
                        <a:rPr/>
                        <a:t>Function uses W, A, metadata, lock objects, synthetic outcomes, or diagnostics not involving Y</a:t>
                      </a:r>
                    </a:p>
                  </a:txBody>
                </a:tc>
              </a:tr>
              <a:tr h="0">
                <a:tc>
                  <a:txBody>
                    <a:bodyPr/>
                    <a:lstStyle/>
                    <a:p>
                      <a:pPr lvl="0" indent="0" marL="0">
                        <a:buNone/>
                      </a:pPr>
                      <a:r>
                        <a:rPr/>
                        <a:t>Marginal Y only</a:t>
                      </a:r>
                    </a:p>
                  </a:txBody>
                </a:tc>
                <a:tc>
                  <a:txBody>
                    <a:bodyPr/>
                    <a:lstStyle/>
                    <a:p>
                      <a:pPr lvl="0" indent="0" marL="0">
                        <a:buNone/>
                      </a:pPr>
                      <a:r>
                        <a:rPr/>
                        <a:t>Function uses event counts or marginal outcome support, not the A-Y association</a:t>
                      </a:r>
                    </a:p>
                  </a:txBody>
                </a:tc>
              </a:tr>
              <a:tr h="0">
                <a:tc>
                  <a:txBody>
                    <a:bodyPr/>
                    <a:lstStyle/>
                    <a:p>
                      <a:pPr lvl="0" indent="0" marL="0">
                        <a:buNone/>
                      </a:pPr>
                      <a:r>
                        <a:rPr/>
                        <a:t>Synthetic Y only</a:t>
                      </a:r>
                    </a:p>
                  </a:txBody>
                </a:tc>
                <a:tc>
                  <a:txBody>
                    <a:bodyPr/>
                    <a:lstStyle/>
                    <a:p>
                      <a:pPr lvl="0" indent="0" marL="0">
                        <a:buNone/>
                      </a:pPr>
                      <a:r>
                        <a:rPr/>
                        <a:t>Function uses plasmode-generated outcomes</a:t>
                      </a:r>
                    </a:p>
                  </a:txBody>
                </a:tc>
              </a:tr>
              <a:tr h="0">
                <a:tc>
                  <a:txBody>
                    <a:bodyPr/>
                    <a:lstStyle/>
                    <a:p>
                      <a:pPr lvl="0" indent="0" marL="0">
                        <a:buNone/>
                      </a:pPr>
                      <a:r>
                        <a:rPr/>
                        <a:t>Negative-control Y only</a:t>
                      </a:r>
                    </a:p>
                  </a:txBody>
                </a:tc>
                <a:tc>
                  <a:txBody>
                    <a:bodyPr/>
                    <a:lstStyle/>
                    <a:p>
                      <a:pPr lvl="0" indent="0" marL="0">
                        <a:buNone/>
                      </a:pPr>
                      <a:r>
                        <a:rPr/>
                        <a:t>Function uses prespecified NC outcomes, not the primary outcome</a:t>
                      </a:r>
                    </a:p>
                  </a:txBody>
                </a:tc>
              </a:tr>
              <a:tr h="0">
                <a:tc>
                  <a:txBody>
                    <a:bodyPr/>
                    <a:lstStyle/>
                    <a:p>
                      <a:pPr lvl="0" indent="0" marL="0">
                        <a:buNone/>
                      </a:pPr>
                      <a:r>
                        <a:rPr/>
                        <a:t>Primary Y</a:t>
                      </a:r>
                    </a:p>
                  </a:txBody>
                </a:tc>
                <a:tc>
                  <a:txBody>
                    <a:bodyPr/>
                    <a:lstStyle/>
                    <a:p>
                      <a:pPr lvl="0" indent="0" marL="0">
                        <a:buNone/>
                      </a:pPr>
                      <a:r>
                        <a:rPr/>
                        <a:t>Function uses the observed primary outcome for treatment-effect estimation</a:t>
                      </a:r>
                    </a:p>
                  </a:txBody>
                </a:tc>
              </a:tr>
            </a:tbl>
          </a:graphicData>
        </a:graphic>
      </p:graphicFrame>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These labels describe what cleanTMLE exported functions use internally. They do not prevent a user with raw data access from inspecting outcomes outside the package.</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Helper functions by dossier component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Dossier component</a:t>
                      </a:r>
                    </a:p>
                  </a:txBody>
                  <a:tcPr/>
                </a:tc>
                <a:tc>
                  <a:txBody>
                    <a:bodyPr/>
                    <a:lstStyle/>
                    <a:p>
                      <a:pPr lvl="0" indent="0" marL="0">
                        <a:buNone/>
                      </a:pPr>
                      <a:r>
                        <a:rPr/>
                        <a:t>cleanTMLE artefact</a:t>
                      </a:r>
                    </a:p>
                  </a:txBody>
                  <a:tcPr/>
                </a:tc>
                <a:tc>
                  <a:txBody>
                    <a:bodyPr/>
                    <a:lstStyle/>
                    <a:p>
                      <a:pPr lvl="0" indent="0" marL="0">
                        <a:buNone/>
                      </a:pPr>
                      <a:r>
                        <a:rPr/>
                        <a:t>Outcome access</a:t>
                      </a:r>
                    </a:p>
                  </a:txBody>
                  <a:tcPr/>
                </a:tc>
              </a:tr>
              <a:tr h="0">
                <a:tc>
                  <a:txBody>
                    <a:bodyPr/>
                    <a:lstStyle/>
                    <a:p>
                      <a:pPr lvl="0" indent="0" marL="0">
                        <a:buNone/>
                      </a:pPr>
                      <a:r>
                        <a:rPr/>
                        <a:t>Protocol and target-trial timing</a:t>
                      </a:r>
                    </a:p>
                  </a:txBody>
                </a:tc>
                <a:tc>
                  <a:txBody>
                    <a:bodyPr/>
                    <a:lstStyle/>
                    <a:p>
                      <a:pPr lvl="0" indent="0" marL="0">
                        <a:buNone/>
                      </a:pPr>
                      <a:r>
                        <a:rPr>
                          <a:latin typeface="Courier"/>
                        </a:rPr>
                        <a:t>attach_estimand()</a:t>
                      </a:r>
                    </a:p>
                  </a:txBody>
                </a:tc>
                <a:tc>
                  <a:txBody>
                    <a:bodyPr/>
                    <a:lstStyle/>
                    <a:p>
                      <a:pPr lvl="0" indent="0" marL="0">
                        <a:buNone/>
                      </a:pPr>
                      <a:r>
                        <a:rPr/>
                        <a:t>No Y</a:t>
                      </a:r>
                    </a:p>
                  </a:txBody>
                </a:tc>
              </a:tr>
              <a:tr h="0">
                <a:tc>
                  <a:txBody>
                    <a:bodyPr/>
                    <a:lstStyle/>
                    <a:p>
                      <a:pPr lvl="0" indent="0" marL="0">
                        <a:buNone/>
                      </a:pPr>
                      <a:r>
                        <a:rPr/>
                        <a:t>Cohort flow / attrition</a:t>
                      </a:r>
                    </a:p>
                  </a:txBody>
                </a:tc>
                <a:tc>
                  <a:txBody>
                    <a:bodyPr/>
                    <a:lstStyle/>
                    <a:p>
                      <a:pPr lvl="0" indent="0" marL="0">
                        <a:buNone/>
                      </a:pPr>
                      <a:r>
                        <a:rPr>
                          <a:latin typeface="Courier"/>
                        </a:rPr>
                        <a:t>attrition_table()</a:t>
                      </a:r>
                    </a:p>
                  </a:txBody>
                </a:tc>
                <a:tc>
                  <a:txBody>
                    <a:bodyPr/>
                    <a:lstStyle/>
                    <a:p>
                      <a:pPr lvl="0" indent="0" marL="0">
                        <a:buNone/>
                      </a:pPr>
                      <a:r>
                        <a:rPr/>
                        <a:t>No Y</a:t>
                      </a:r>
                    </a:p>
                  </a:txBody>
                </a:tc>
              </a:tr>
              <a:tr h="0">
                <a:tc>
                  <a:txBody>
                    <a:bodyPr/>
                    <a:lstStyle/>
                    <a:p>
                      <a:pPr lvl="0" indent="0" marL="0">
                        <a:buNone/>
                      </a:pPr>
                      <a:r>
                        <a:rPr/>
                        <a:t>Event-process classification</a:t>
                      </a:r>
                    </a:p>
                  </a:txBody>
                </a:tc>
                <a:tc>
                  <a:txBody>
                    <a:bodyPr/>
                    <a:lstStyle/>
                    <a:p>
                      <a:pPr lvl="0" indent="0" marL="0">
                        <a:buNone/>
                      </a:pPr>
                      <a:r>
                        <a:rPr>
                          <a:latin typeface="Courier"/>
                        </a:rPr>
                        <a:t>clean_event_process_table()</a:t>
                      </a:r>
                      <a:r>
                        <a:rPr/>
                        <a:t>, </a:t>
                      </a:r>
                      <a:r>
                        <a:rPr>
                          <a:latin typeface="Courier"/>
                        </a:rPr>
                        <a:t>clean_check_event_processes()</a:t>
                      </a:r>
                    </a:p>
                  </a:txBody>
                </a:tc>
                <a:tc>
                  <a:txBody>
                    <a:bodyPr/>
                    <a:lstStyle/>
                    <a:p>
                      <a:pPr lvl="0" indent="0" marL="0">
                        <a:buNone/>
                      </a:pPr>
                      <a:r>
                        <a:rPr/>
                        <a:t>No Y</a:t>
                      </a:r>
                    </a:p>
                  </a:txBody>
                </a:tc>
              </a:tr>
              <a:tr h="0">
                <a:tc>
                  <a:txBody>
                    <a:bodyPr/>
                    <a:lstStyle/>
                    <a:p>
                      <a:pPr lvl="0" indent="0" marL="0">
                        <a:buNone/>
                      </a:pPr>
                      <a:r>
                        <a:rPr/>
                        <a:t>Covariate and missingness summary</a:t>
                      </a:r>
                    </a:p>
                  </a:txBody>
                </a:tc>
                <a:tc>
                  <a:txBody>
                    <a:bodyPr/>
                    <a:lstStyle/>
                    <a:p>
                      <a:pPr lvl="0" indent="0" marL="0">
                        <a:buNone/>
                      </a:pPr>
                      <a:r>
                        <a:rPr>
                          <a:latin typeface="Courier"/>
                        </a:rPr>
                        <a:t>make_table1()</a:t>
                      </a:r>
                      <a:r>
                        <a:rPr/>
                        <a:t>, missingness checks</a:t>
                      </a:r>
                    </a:p>
                  </a:txBody>
                </a:tc>
                <a:tc>
                  <a:txBody>
                    <a:bodyPr/>
                    <a:lstStyle/>
                    <a:p>
                      <a:pPr lvl="0" indent="0" marL="0">
                        <a:buNone/>
                      </a:pPr>
                      <a:r>
                        <a:rPr/>
                        <a:t>No Y</a:t>
                      </a:r>
                    </a:p>
                  </a:txBody>
                </a:tc>
              </a:tr>
              <a:tr h="0">
                <a:tc>
                  <a:txBody>
                    <a:bodyPr/>
                    <a:lstStyle/>
                    <a:p>
                      <a:pPr lvl="0" indent="0" marL="0">
                        <a:buNone/>
                      </a:pPr>
                      <a:r>
                        <a:rPr/>
                        <a:t>PS overlap and balance</a:t>
                      </a:r>
                    </a:p>
                  </a:txBody>
                </a:tc>
                <a:tc>
                  <a:txBody>
                    <a:bodyPr/>
                    <a:lstStyle/>
                    <a:p>
                      <a:pPr lvl="0" indent="0" marL="0">
                        <a:buNone/>
                      </a:pPr>
                      <a:r>
                        <a:rPr>
                          <a:latin typeface="Courier"/>
                        </a:rPr>
                        <a:t>compute_ps_diagnostics()</a:t>
                      </a:r>
                      <a:r>
                        <a:rPr/>
                        <a:t>, </a:t>
                      </a:r>
                      <a:r>
                        <a:rPr>
                          <a:latin typeface="Courier"/>
                        </a:rPr>
                        <a:t>love_plot()</a:t>
                      </a:r>
                      <a:r>
                        <a:rPr/>
                        <a:t>, </a:t>
                      </a:r>
                      <a:r>
                        <a:rPr>
                          <a:latin typeface="Courier"/>
                        </a:rPr>
                        <a:t>love_plot_threeway()</a:t>
                      </a:r>
                    </a:p>
                  </a:txBody>
                </a:tc>
                <a:tc>
                  <a:txBody>
                    <a:bodyPr/>
                    <a:lstStyle/>
                    <a:p>
                      <a:pPr lvl="0" indent="0" marL="0">
                        <a:buNone/>
                      </a:pPr>
                      <a:r>
                        <a:rPr/>
                        <a:t>No Y</a:t>
                      </a:r>
                    </a:p>
                  </a:txBody>
                </a:tc>
              </a:tr>
              <a:tr h="0">
                <a:tc>
                  <a:txBody>
                    <a:bodyPr/>
                    <a:lstStyle/>
                    <a:p>
                      <a:pPr lvl="0" indent="0" marL="0">
                        <a:buNone/>
                      </a:pPr>
                      <a:r>
                        <a:rPr/>
                        <a:t>Weight diagnostics</a:t>
                      </a:r>
                    </a:p>
                  </a:txBody>
                </a:tc>
                <a:tc>
                  <a:txBody>
                    <a:bodyPr/>
                    <a:lstStyle/>
                    <a:p>
                      <a:pPr lvl="0" indent="0" marL="0">
                        <a:buNone/>
                      </a:pPr>
                      <a:r>
                        <a:rPr>
                          <a:latin typeface="Courier"/>
                        </a:rPr>
                        <a:t>clean_weight_diagnostics()</a:t>
                      </a:r>
                      <a:r>
                        <a:rPr/>
                        <a:t>, </a:t>
                      </a:r>
                      <a:r>
                        <a:rPr>
                          <a:latin typeface="Courier"/>
                        </a:rPr>
                        <a:t>extreme_weights()</a:t>
                      </a:r>
                    </a:p>
                  </a:txBody>
                </a:tc>
                <a:tc>
                  <a:txBody>
                    <a:bodyPr/>
                    <a:lstStyle/>
                    <a:p>
                      <a:pPr lvl="0" indent="0" marL="0">
                        <a:buNone/>
                      </a:pPr>
                      <a:r>
                        <a:rPr/>
                        <a:t>No Y</a:t>
                      </a:r>
                    </a:p>
                  </a:txBody>
                </a:tc>
              </a:tr>
              <a:tr h="0">
                <a:tc>
                  <a:txBody>
                    <a:bodyPr/>
                    <a:lstStyle/>
                    <a:p>
                      <a:pPr lvl="0" indent="0" marL="0">
                        <a:buNone/>
                      </a:pPr>
                      <a:r>
                        <a:rPr/>
                        <a:t>Event-count adequacy</a:t>
                      </a:r>
                    </a:p>
                  </a:txBody>
                </a:tc>
                <a:tc>
                  <a:txBody>
                    <a:bodyPr/>
                    <a:lstStyle/>
                    <a:p>
                      <a:pPr lvl="0" indent="0" marL="0">
                        <a:buNone/>
                      </a:pPr>
                      <a:r>
                        <a:rPr>
                          <a:latin typeface="Courier"/>
                        </a:rPr>
                        <a:t>checkpoint_cohort_adequacy()</a:t>
                      </a:r>
                    </a:p>
                  </a:txBody>
                </a:tc>
                <a:tc>
                  <a:txBody>
                    <a:bodyPr/>
                    <a:lstStyle/>
                    <a:p>
                      <a:pPr lvl="0" indent="0" marL="0">
                        <a:buNone/>
                      </a:pPr>
                      <a:r>
                        <a:rPr/>
                        <a:t>Marginal Y only</a:t>
                      </a:r>
                    </a:p>
                  </a:txBody>
                </a:tc>
              </a:tr>
              <a:tr h="0">
                <a:tc>
                  <a:txBody>
                    <a:bodyPr/>
                    <a:lstStyle/>
                    <a:p>
                      <a:pPr lvl="0" indent="0" marL="0">
                        <a:buNone/>
                      </a:pPr>
                      <a:r>
                        <a:rPr/>
                        <a:t>Baseline plasmode</a:t>
                      </a:r>
                    </a:p>
                  </a:txBody>
                </a:tc>
                <a:tc>
                  <a:txBody>
                    <a:bodyPr/>
                    <a:lstStyle/>
                    <a:p>
                      <a:pPr lvl="0" indent="0" marL="0">
                        <a:buNone/>
                      </a:pPr>
                      <a:r>
                        <a:rPr>
                          <a:latin typeface="Courier"/>
                        </a:rPr>
                        <a:t>run_plasmode_feasibility()</a:t>
                      </a:r>
                      <a:r>
                        <a:rPr/>
                        <a:t>, </a:t>
                      </a:r>
                      <a:r>
                        <a:rPr>
                          <a:latin typeface="Courier"/>
                        </a:rPr>
                        <a:t>select_tmle_candidate()</a:t>
                      </a:r>
                    </a:p>
                  </a:txBody>
                </a:tc>
                <a:tc>
                  <a:txBody>
                    <a:bodyPr/>
                    <a:lstStyle/>
                    <a:p>
                      <a:pPr lvl="0" indent="0" marL="0">
                        <a:buNone/>
                      </a:pPr>
                      <a:r>
                        <a:rPr/>
                        <a:t>Synthetic Y only</a:t>
                      </a:r>
                    </a:p>
                  </a:txBody>
                </a:tc>
              </a:tr>
              <a:tr h="0">
                <a:tc>
                  <a:txBody>
                    <a:bodyPr/>
                    <a:lstStyle/>
                    <a:p>
                      <a:pPr lvl="0" indent="0" marL="0">
                        <a:buNone/>
                      </a:pPr>
                      <a:r>
                        <a:rPr/>
                        <a:t>DQ stress test</a:t>
                      </a:r>
                    </a:p>
                  </a:txBody>
                </a:tc>
                <a:tc>
                  <a:txBody>
                    <a:bodyPr/>
                    <a:lstStyle/>
                    <a:p>
                      <a:pPr lvl="0" indent="0" marL="0">
                        <a:buNone/>
                      </a:pPr>
                      <a:r>
                        <a:rPr>
                          <a:latin typeface="Courier"/>
                        </a:rPr>
                        <a:t>run_plasmode_dq_stress()</a:t>
                      </a:r>
                      <a:r>
                        <a:rPr/>
                        <a:t>, </a:t>
                      </a:r>
                      <a:r>
                        <a:rPr>
                          <a:latin typeface="Courier"/>
                        </a:rPr>
                        <a:t>summarize_dq_degradation()</a:t>
                      </a:r>
                    </a:p>
                  </a:txBody>
                </a:tc>
                <a:tc>
                  <a:txBody>
                    <a:bodyPr/>
                    <a:lstStyle/>
                    <a:p>
                      <a:pPr lvl="0" indent="0" marL="0">
                        <a:buNone/>
                      </a:pPr>
                      <a:r>
                        <a:rPr/>
                        <a:t>Synthetic Y only</a:t>
                      </a:r>
                    </a:p>
                  </a:txBody>
                </a:tc>
              </a:tr>
              <a:tr h="0">
                <a:tc>
                  <a:txBody>
                    <a:bodyPr/>
                    <a:lstStyle/>
                    <a:p>
                      <a:pPr lvl="0" indent="0" marL="0">
                        <a:buNone/>
                      </a:pPr>
                      <a:r>
                        <a:rPr/>
                        <a:t>Negative controls</a:t>
                      </a:r>
                    </a:p>
                  </a:txBody>
                </a:tc>
                <a:tc>
                  <a:txBody>
                    <a:bodyPr/>
                    <a:lstStyle/>
                    <a:p>
                      <a:pPr lvl="0" indent="0" marL="0">
                        <a:buNone/>
                      </a:pPr>
                      <a:r>
                        <a:rPr>
                          <a:latin typeface="Courier"/>
                        </a:rPr>
                        <a:t>run_residual_confounding_stage()</a:t>
                      </a:r>
                    </a:p>
                  </a:txBody>
                </a:tc>
                <a:tc>
                  <a:txBody>
                    <a:bodyPr/>
                    <a:lstStyle/>
                    <a:p>
                      <a:pPr lvl="0" indent="0" marL="0">
                        <a:buNone/>
                      </a:pPr>
                      <a:r>
                        <a:rPr/>
                        <a:t>Negative-control Y only</a:t>
                      </a:r>
                    </a:p>
                  </a:txBody>
                </a:tc>
              </a:tr>
              <a:tr h="0">
                <a:tc>
                  <a:txBody>
                    <a:bodyPr/>
                    <a:lstStyle/>
                    <a:p>
                      <a:pPr lvl="0" indent="0" marL="0">
                        <a:buNone/>
                      </a:pPr>
                      <a:r>
                        <a:rPr/>
                        <a:t>Composite gate</a:t>
                      </a:r>
                    </a:p>
                  </a:txBody>
                </a:tc>
                <a:tc>
                  <a:txBody>
                    <a:bodyPr/>
                    <a:lstStyle/>
                    <a:p>
                      <a:pPr lvl="0" indent="0" marL="0">
                        <a:buNone/>
                      </a:pPr>
                      <a:r>
                        <a:rPr>
                          <a:latin typeface="Courier"/>
                        </a:rPr>
                        <a:t>gate_all()</a:t>
                      </a:r>
                      <a:r>
                        <a:rPr/>
                        <a:t> (+ planned </a:t>
                      </a:r>
                      <a:r>
                        <a:rPr>
                          <a:latin typeface="Courier"/>
                        </a:rPr>
                        <a:t>checkpoint_dashboard()</a:t>
                      </a:r>
                      <a:r>
                        <a:rPr/>
                        <a:t>)</a:t>
                      </a:r>
                    </a:p>
                  </a:txBody>
                </a:tc>
                <a:tc>
                  <a:txBody>
                    <a:bodyPr/>
                    <a:lstStyle/>
                    <a:p>
                      <a:pPr lvl="0" indent="0" marL="0">
                        <a:buNone/>
                      </a:pPr>
                      <a:r>
                        <a:rPr/>
                        <a:t>No Y</a:t>
                      </a:r>
                    </a:p>
                  </a:txBody>
                </a:tc>
              </a:tr>
              <a:tr h="0">
                <a:tc>
                  <a:txBody>
                    <a:bodyPr/>
                    <a:lstStyle/>
                    <a:p>
                      <a:pPr lvl="0" indent="0" marL="0">
                        <a:buNone/>
                      </a:pPr>
                      <a:r>
                        <a:rPr/>
                        <a:t>Decision and audit logs</a:t>
                      </a:r>
                    </a:p>
                  </a:txBody>
                </a:tc>
                <a:tc>
                  <a:txBody>
                    <a:bodyPr/>
                    <a:lstStyle/>
                    <a:p>
                      <a:pPr lvl="0" indent="0" marL="0">
                        <a:buNone/>
                      </a:pPr>
                      <a:r>
                        <a:rPr>
                          <a:latin typeface="Courier"/>
                        </a:rPr>
                        <a:t>export_decision_log()</a:t>
                      </a:r>
                      <a:r>
                        <a:rPr/>
                        <a:t>, </a:t>
                      </a:r>
                      <a:r>
                        <a:rPr>
                          <a:latin typeface="Courier"/>
                        </a:rPr>
                        <a:t>save_decision_log()</a:t>
                      </a:r>
                    </a:p>
                  </a:txBody>
                </a:tc>
                <a:tc>
                  <a:txBody>
                    <a:bodyPr/>
                    <a:lstStyle/>
                    <a:p>
                      <a:pPr lvl="0" indent="0" marL="0">
                        <a:buNone/>
                      </a:pPr>
                      <a:r>
                        <a:rPr/>
                        <a:t>No Y</a:t>
                      </a:r>
                    </a:p>
                  </a:txBody>
                </a:tc>
              </a:tr>
              <a:tr h="0">
                <a:tc>
                  <a:txBody>
                    <a:bodyPr/>
                    <a:lstStyle/>
                    <a:p>
                      <a:pPr lvl="0" indent="0" marL="0">
                        <a:buNone/>
                      </a:pPr>
                      <a:r>
                        <a:rPr/>
                        <a:t>Authorisation</a:t>
                      </a:r>
                    </a:p>
                  </a:txBody>
                </a:tc>
                <a:tc>
                  <a:txBody>
                    <a:bodyPr/>
                    <a:lstStyle/>
                    <a:p>
                      <a:pPr lvl="0" indent="0" marL="0">
                        <a:buNone/>
                      </a:pPr>
                      <a:r>
                        <a:rPr>
                          <a:latin typeface="Courier"/>
                        </a:rPr>
                        <a:t>authorize_outcome_analysis()</a:t>
                      </a:r>
                    </a:p>
                  </a:txBody>
                </a:tc>
                <a:tc>
                  <a:txBody>
                    <a:bodyPr/>
                    <a:lstStyle/>
                    <a:p>
                      <a:pPr lvl="0" indent="0" marL="0">
                        <a:buNone/>
                      </a:pPr>
                      <a:r>
                        <a:rPr/>
                        <a:t>No Y</a:t>
                      </a:r>
                    </a:p>
                  </a:txBody>
                </a:tc>
              </a:tr>
              <a:tr h="0">
                <a:tc>
                  <a:txBody>
                    <a:bodyPr/>
                    <a:lstStyle/>
                    <a:p>
                      <a:pPr lvl="0" indent="0" marL="0">
                        <a:buNone/>
                      </a:pPr>
                      <a:r>
                        <a:rPr/>
                        <a:t>Primary analysis</a:t>
                      </a:r>
                    </a:p>
                  </a:txBody>
                </a:tc>
                <a:tc>
                  <a:txBody>
                    <a:bodyPr/>
                    <a:lstStyle/>
                    <a:p>
                      <a:pPr lvl="0" indent="0" marL="0">
                        <a:buNone/>
                      </a:pPr>
                      <a:r>
                        <a:rPr>
                          <a:latin typeface="Courier"/>
                        </a:rPr>
                        <a:t>run_clean_tmle()</a:t>
                      </a:r>
                      <a:r>
                        <a:rPr/>
                        <a:t>, </a:t>
                      </a:r>
                      <a:r>
                        <a:rPr>
                          <a:latin typeface="Courier"/>
                        </a:rPr>
                        <a:t>fit_tmle_*()</a:t>
                      </a:r>
                      <a:r>
                        <a:rPr/>
                        <a:t> family, </a:t>
                      </a:r>
                      <a:r>
                        <a:rPr>
                          <a:latin typeface="Courier"/>
                        </a:rPr>
                        <a:t>run_ipcw_tmle()</a:t>
                      </a:r>
                    </a:p>
                  </a:txBody>
                </a:tc>
                <a:tc>
                  <a:txBody>
                    <a:bodyPr/>
                    <a:lstStyle/>
                    <a:p>
                      <a:pPr lvl="0" indent="0" marL="0">
                        <a:buNone/>
                      </a:pPr>
                      <a:r>
                        <a:rPr/>
                        <a:t>Primary Y</a:t>
                      </a:r>
                    </a:p>
                  </a:txBody>
                </a:tc>
              </a:tr>
            </a:tbl>
          </a:graphicData>
        </a:graphic>
      </p:graphicFrame>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Appendix E: Step-by-step Rescue.Co walkthrough</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read this appendix</a:t>
            </a:r>
          </a:p>
        </p:txBody>
      </p:sp>
      <p:sp>
        <p:nvSpPr>
          <p:cNvPr id="3" name="Content Placeholder 2"/>
          <p:cNvSpPr>
            <a:spLocks noGrp="1"/>
          </p:cNvSpPr>
          <p:nvPr>
            <p:ph idx="1"/>
          </p:nvPr>
        </p:nvSpPr>
        <p:spPr/>
        <p:txBody>
          <a:bodyPr/>
          <a:lstStyle/>
          <a:p>
            <a:pPr lvl="0" indent="0" marL="0">
              <a:buNone/>
            </a:pPr>
            <a:r>
              <a:rPr/>
              <a:t>This appendix walks through the cleanTMLE analysis of the Rescue.Co data, function by function. Each slide shows one step: what we are trying to learn, the cleanTMLE function that does it, what comes back, and what the reviewer would see.</a:t>
            </a:r>
          </a:p>
          <a:p>
            <a:pPr lvl="0" indent="0" marL="0">
              <a:buNone/>
            </a:pPr>
            <a:r>
              <a:rPr/>
              <a:t>You can run these in order on your own data. The full reproducible version is in </a:t>
            </a:r>
            <a:r>
              <a:rPr>
                <a:latin typeface="Courier"/>
              </a:rPr>
              <a:t>rescueCo/reports/rescueco_clean_room_case_study.qmd</a:t>
            </a:r>
            <a:r>
              <a:rPr/>
              <a:t>.</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 — Write down the question</a:t>
            </a:r>
          </a:p>
        </p:txBody>
      </p:sp>
      <p:sp>
        <p:nvSpPr>
          <p:cNvPr id="3" name="Content Placeholder 2"/>
          <p:cNvSpPr>
            <a:spLocks noGrp="1"/>
          </p:cNvSpPr>
          <p:nvPr>
            <p:ph idx="1"/>
          </p:nvPr>
        </p:nvSpPr>
        <p:spPr/>
        <p:txBody>
          <a:bodyPr/>
          <a:lstStyle/>
          <a:p>
            <a:pPr lvl="0" indent="0" marL="0">
              <a:buNone/>
            </a:pPr>
            <a:r>
              <a:rPr/>
              <a:t>Before any code runs, the team writes down the question in target-trial language: the cohort, the treatment, the comparison group, the outcome, and the follow-up window. This becomes the </a:t>
            </a:r>
            <a:r>
              <a:rPr b="1"/>
              <a:t>estimand</a:t>
            </a:r>
            <a:r>
              <a:rPr/>
              <a:t> attached to the analysis lock.</a:t>
            </a:r>
          </a:p>
          <a:p>
            <a:pPr lvl="0" indent="0">
              <a:buNone/>
            </a:pPr>
            <a:r>
              <a:rPr>
                <a:latin typeface="Courier"/>
              </a:rPr>
              <a:t>lock </a:t>
            </a:r>
            <a:r>
              <a:rPr>
                <a:solidFill>
                  <a:srgbClr val="007020"/>
                </a:solidFill>
                <a:latin typeface="Courier"/>
              </a:rPr>
              <a:t>&lt;-</a:t>
            </a:r>
            <a:r>
              <a:rPr>
                <a:latin typeface="Courier"/>
              </a:rPr>
              <a:t> </a:t>
            </a:r>
            <a:r>
              <a:rPr>
                <a:solidFill>
                  <a:srgbClr val="06287E"/>
                </a:solidFill>
                <a:latin typeface="Courier"/>
              </a:rPr>
              <a:t>attach_estimand</a:t>
            </a:r>
            <a:r>
              <a:rPr>
                <a:latin typeface="Courier"/>
              </a:rPr>
              <a:t>(</a:t>
            </a:r>
            <a:br/>
            <a:r>
              <a:rPr>
                <a:latin typeface="Courier"/>
              </a:rPr>
              <a:t>  lock,</a:t>
            </a:r>
            <a:br/>
            <a:r>
              <a:rPr>
                <a:latin typeface="Courier"/>
              </a:rPr>
              <a:t>  </a:t>
            </a:r>
            <a:r>
              <a:rPr>
                <a:solidFill>
                  <a:srgbClr val="7D9029"/>
                </a:solidFill>
                <a:latin typeface="Courier"/>
              </a:rPr>
              <a:t>description           =</a:t>
            </a:r>
            <a:r>
              <a:rPr>
                <a:latin typeface="Courier"/>
              </a:rPr>
              <a:t> </a:t>
            </a:r>
            <a:r>
              <a:rPr>
                <a:solidFill>
                  <a:srgbClr val="4070A0"/>
                </a:solidFill>
                <a:latin typeface="Courier"/>
              </a:rPr>
              <a:t>"Effect of Rescue.Co transport on 6-month GOSE &gt; 4"</a:t>
            </a:r>
            <a:r>
              <a:rPr>
                <a:latin typeface="Courier"/>
              </a:rPr>
              <a:t>,</a:t>
            </a:r>
            <a:br/>
            <a:r>
              <a:rPr>
                <a:latin typeface="Courier"/>
              </a:rPr>
              <a:t>  </a:t>
            </a:r>
            <a:r>
              <a:rPr>
                <a:solidFill>
                  <a:srgbClr val="7D9029"/>
                </a:solidFill>
                <a:latin typeface="Courier"/>
              </a:rPr>
              <a:t>population            =</a:t>
            </a:r>
            <a:r>
              <a:rPr>
                <a:latin typeface="Courier"/>
              </a:rPr>
              <a:t> </a:t>
            </a:r>
            <a:r>
              <a:rPr>
                <a:solidFill>
                  <a:srgbClr val="4070A0"/>
                </a:solidFill>
                <a:latin typeface="Courier"/>
              </a:rPr>
              <a:t>"Adults arriving by ambulance, direct-from-scene"</a:t>
            </a:r>
            <a:r>
              <a:rPr>
                <a:latin typeface="Courier"/>
              </a:rPr>
              <a:t>,</a:t>
            </a:r>
            <a:br/>
            <a:r>
              <a:rPr>
                <a:latin typeface="Courier"/>
              </a:rPr>
              <a:t>  </a:t>
            </a:r>
            <a:r>
              <a:rPr>
                <a:solidFill>
                  <a:srgbClr val="7D9029"/>
                </a:solidFill>
                <a:latin typeface="Courier"/>
              </a:rPr>
              <a:t>treatment_strategies  =</a:t>
            </a:r>
            <a:r>
              <a:rPr>
                <a:latin typeface="Courier"/>
              </a:rPr>
              <a:t> </a:t>
            </a:r>
            <a:r>
              <a:rPr>
                <a:solidFill>
                  <a:srgbClr val="06287E"/>
                </a:solidFill>
                <a:latin typeface="Courier"/>
              </a:rPr>
              <a:t>c</a:t>
            </a:r>
            <a:r>
              <a:rPr>
                <a:latin typeface="Courier"/>
              </a:rPr>
              <a:t>(</a:t>
            </a:r>
            <a:r>
              <a:rPr>
                <a:solidFill>
                  <a:srgbClr val="4070A0"/>
                </a:solidFill>
                <a:latin typeface="Courier"/>
              </a:rPr>
              <a:t>"Rescue.Co"</a:t>
            </a:r>
            <a:r>
              <a:rPr>
                <a:latin typeface="Courier"/>
              </a:rPr>
              <a:t>, </a:t>
            </a:r>
            <a:r>
              <a:rPr>
                <a:solidFill>
                  <a:srgbClr val="4070A0"/>
                </a:solidFill>
                <a:latin typeface="Courier"/>
              </a:rPr>
              <a:t>"Other ambulance"</a:t>
            </a:r>
            <a:r>
              <a:rPr>
                <a:latin typeface="Courier"/>
              </a:rPr>
              <a:t>),</a:t>
            </a:r>
            <a:br/>
            <a:r>
              <a:rPr>
                <a:latin typeface="Courier"/>
              </a:rPr>
              <a:t>  </a:t>
            </a:r>
            <a:r>
              <a:rPr>
                <a:solidFill>
                  <a:srgbClr val="7D9029"/>
                </a:solidFill>
                <a:latin typeface="Courier"/>
              </a:rPr>
              <a:t>outcome_label         =</a:t>
            </a:r>
            <a:r>
              <a:rPr>
                <a:latin typeface="Courier"/>
              </a:rPr>
              <a:t> </a:t>
            </a:r>
            <a:r>
              <a:rPr>
                <a:solidFill>
                  <a:srgbClr val="4070A0"/>
                </a:solidFill>
                <a:latin typeface="Courier"/>
              </a:rPr>
              <a:t>"GOSE &gt; 4 at 6 months"</a:t>
            </a:r>
            <a:r>
              <a:rPr>
                <a:latin typeface="Courier"/>
              </a:rPr>
              <a:t>,</a:t>
            </a:r>
            <a:br/>
            <a:r>
              <a:rPr>
                <a:latin typeface="Courier"/>
              </a:rPr>
              <a:t>  </a:t>
            </a:r>
            <a:r>
              <a:rPr>
                <a:solidFill>
                  <a:srgbClr val="7D9029"/>
                </a:solidFill>
                <a:latin typeface="Courier"/>
              </a:rPr>
              <a:t>followup              =</a:t>
            </a:r>
            <a:r>
              <a:rPr>
                <a:latin typeface="Courier"/>
              </a:rPr>
              <a:t> </a:t>
            </a:r>
            <a:r>
              <a:rPr>
                <a:solidFill>
                  <a:srgbClr val="4070A0"/>
                </a:solidFill>
                <a:latin typeface="Courier"/>
              </a:rPr>
              <a:t>"6 months"</a:t>
            </a:r>
            <a:r>
              <a:rPr>
                <a:latin typeface="Courier"/>
              </a:rPr>
              <a:t>,</a:t>
            </a:r>
            <a:br/>
            <a:r>
              <a:rPr>
                <a:latin typeface="Courier"/>
              </a:rPr>
              <a:t>  </a:t>
            </a:r>
            <a:r>
              <a:rPr>
                <a:solidFill>
                  <a:srgbClr val="7D9029"/>
                </a:solidFill>
                <a:latin typeface="Courier"/>
              </a:rPr>
              <a:t>contrast              =</a:t>
            </a:r>
            <a:r>
              <a:rPr>
                <a:latin typeface="Courier"/>
              </a:rPr>
              <a:t> </a:t>
            </a:r>
            <a:r>
              <a:rPr>
                <a:solidFill>
                  <a:srgbClr val="4070A0"/>
                </a:solidFill>
                <a:latin typeface="Courier"/>
              </a:rPr>
              <a:t>"risk_difference"</a:t>
            </a:r>
            <a:br/>
            <a:r>
              <a:rPr>
                <a:latin typeface="Courier"/>
              </a:rPr>
              <a: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2 — Lock the analytic plan</a:t>
            </a:r>
          </a:p>
        </p:txBody>
      </p:sp>
      <p:sp>
        <p:nvSpPr>
          <p:cNvPr id="3" name="Content Placeholder 2"/>
          <p:cNvSpPr>
            <a:spLocks noGrp="1"/>
          </p:cNvSpPr>
          <p:nvPr>
            <p:ph idx="1"/>
          </p:nvPr>
        </p:nvSpPr>
        <p:spPr/>
        <p:txBody>
          <a:bodyPr/>
          <a:lstStyle/>
          <a:p>
            <a:pPr lvl="0" indent="0" marL="0">
              <a:buNone/>
            </a:pPr>
            <a:r>
              <a:rPr/>
              <a:t>The analytic plan is captured as a single object that gets a sha256 fingerprint. Any later change to the plan changes the fingerprint, which is visible to the reviewer.</a:t>
            </a:r>
          </a:p>
          <a:p>
            <a:pPr lvl="0" indent="0">
              <a:buNone/>
            </a:pPr>
            <a:r>
              <a:rPr>
                <a:latin typeface="Courier"/>
              </a:rPr>
              <a:t>lock </a:t>
            </a:r>
            <a:r>
              <a:rPr>
                <a:solidFill>
                  <a:srgbClr val="007020"/>
                </a:solidFill>
                <a:latin typeface="Courier"/>
              </a:rPr>
              <a:t>&lt;-</a:t>
            </a:r>
            <a:r>
              <a:rPr>
                <a:latin typeface="Courier"/>
              </a:rPr>
              <a:t> </a:t>
            </a:r>
            <a:r>
              <a:rPr>
                <a:solidFill>
                  <a:srgbClr val="06287E"/>
                </a:solidFill>
                <a:latin typeface="Courier"/>
              </a:rPr>
              <a:t>create_analysis_lock</a:t>
            </a:r>
            <a:r>
              <a:rPr>
                <a:latin typeface="Courier"/>
              </a:rPr>
              <a:t>(</a:t>
            </a:r>
            <a:br/>
            <a:r>
              <a:rPr>
                <a:latin typeface="Courier"/>
              </a:rPr>
              <a:t>  </a:t>
            </a:r>
            <a:r>
              <a:rPr>
                <a:solidFill>
                  <a:srgbClr val="7D9029"/>
                </a:solidFill>
                <a:latin typeface="Courier"/>
              </a:rPr>
              <a:t>data        =</a:t>
            </a:r>
            <a:r>
              <a:rPr>
                <a:latin typeface="Courier"/>
              </a:rPr>
              <a:t> rescueco_cohort,</a:t>
            </a:r>
            <a:br/>
            <a:r>
              <a:rPr>
                <a:latin typeface="Courier"/>
              </a:rPr>
              <a:t>  </a:t>
            </a:r>
            <a:r>
              <a:rPr>
                <a:solidFill>
                  <a:srgbClr val="7D9029"/>
                </a:solidFill>
                <a:latin typeface="Courier"/>
              </a:rPr>
              <a:t>treatment   =</a:t>
            </a:r>
            <a:r>
              <a:rPr>
                <a:latin typeface="Courier"/>
              </a:rPr>
              <a:t> </a:t>
            </a:r>
            <a:r>
              <a:rPr>
                <a:solidFill>
                  <a:srgbClr val="4070A0"/>
                </a:solidFill>
                <a:latin typeface="Courier"/>
              </a:rPr>
              <a:t>"is_rescueco"</a:t>
            </a:r>
            <a:r>
              <a:rPr>
                <a:latin typeface="Courier"/>
              </a:rPr>
              <a:t>,</a:t>
            </a:r>
            <a:br/>
            <a:r>
              <a:rPr>
                <a:latin typeface="Courier"/>
              </a:rPr>
              <a:t>  </a:t>
            </a:r>
            <a:r>
              <a:rPr>
                <a:solidFill>
                  <a:srgbClr val="7D9029"/>
                </a:solidFill>
                <a:latin typeface="Courier"/>
              </a:rPr>
              <a:t>outcome     =</a:t>
            </a:r>
            <a:r>
              <a:rPr>
                <a:latin typeface="Courier"/>
              </a:rPr>
              <a:t> </a:t>
            </a:r>
            <a:r>
              <a:rPr>
                <a:solidFill>
                  <a:srgbClr val="4070A0"/>
                </a:solidFill>
                <a:latin typeface="Courier"/>
              </a:rPr>
              <a:t>"gose_good"</a:t>
            </a:r>
            <a:r>
              <a:rPr>
                <a:latin typeface="Courier"/>
              </a:rPr>
              <a:t>,</a:t>
            </a:r>
            <a:br/>
            <a:r>
              <a:rPr>
                <a:latin typeface="Courier"/>
              </a:rPr>
              <a:t>  </a:t>
            </a:r>
            <a:r>
              <a:rPr>
                <a:solidFill>
                  <a:srgbClr val="7D9029"/>
                </a:solidFill>
                <a:latin typeface="Courier"/>
              </a:rPr>
              <a:t>covariates  =</a:t>
            </a:r>
            <a:r>
              <a:rPr>
                <a:latin typeface="Courier"/>
              </a:rPr>
              <a:t> </a:t>
            </a:r>
            <a:r>
              <a:rPr>
                <a:solidFill>
                  <a:srgbClr val="06287E"/>
                </a:solidFill>
                <a:latin typeface="Courier"/>
              </a:rPr>
              <a:t>c</a:t>
            </a:r>
            <a:r>
              <a:rPr>
                <a:latin typeface="Courier"/>
              </a:rPr>
              <a:t>(</a:t>
            </a:r>
            <a:r>
              <a:rPr>
                <a:solidFill>
                  <a:srgbClr val="4070A0"/>
                </a:solidFill>
                <a:latin typeface="Courier"/>
              </a:rPr>
              <a:t>"age"</a:t>
            </a:r>
            <a:r>
              <a:rPr>
                <a:latin typeface="Courier"/>
              </a:rPr>
              <a:t>, </a:t>
            </a:r>
            <a:r>
              <a:rPr>
                <a:solidFill>
                  <a:srgbClr val="4070A0"/>
                </a:solidFill>
                <a:latin typeface="Courier"/>
              </a:rPr>
              <a:t>"sex"</a:t>
            </a:r>
            <a:r>
              <a:rPr>
                <a:latin typeface="Courier"/>
              </a:rPr>
              <a:t>, </a:t>
            </a:r>
            <a:r>
              <a:rPr>
                <a:solidFill>
                  <a:srgbClr val="4070A0"/>
                </a:solidFill>
                <a:latin typeface="Courier"/>
              </a:rPr>
              <a:t>"iss"</a:t>
            </a:r>
            <a:r>
              <a:rPr>
                <a:latin typeface="Courier"/>
              </a:rPr>
              <a:t>, </a:t>
            </a:r>
            <a:r>
              <a:rPr>
                <a:solidFill>
                  <a:srgbClr val="4070A0"/>
                </a:solidFill>
                <a:latin typeface="Courier"/>
              </a:rPr>
              <a:t>"gcs"</a:t>
            </a:r>
            <a:r>
              <a:rPr>
                <a:latin typeface="Courier"/>
              </a:rPr>
              <a:t>, </a:t>
            </a:r>
            <a:r>
              <a:rPr>
                <a:solidFill>
                  <a:srgbClr val="4070A0"/>
                </a:solidFill>
                <a:latin typeface="Courier"/>
              </a:rPr>
              <a:t>"distance"</a:t>
            </a:r>
            <a:r>
              <a:rPr>
                <a:latin typeface="Courier"/>
              </a:rPr>
              <a:t>, </a:t>
            </a:r>
            <a:r>
              <a:rPr>
                <a:solidFill>
                  <a:srgbClr val="4070A0"/>
                </a:solidFill>
                <a:latin typeface="Courier"/>
              </a:rPr>
              <a:t>"..."</a:t>
            </a:r>
            <a:r>
              <a:rPr>
                <a:latin typeface="Courier"/>
              </a:rPr>
              <a:t>),</a:t>
            </a:r>
            <a:br/>
            <a:r>
              <a:rPr>
                <a:latin typeface="Courier"/>
              </a:rPr>
              <a:t>  </a:t>
            </a:r>
            <a:r>
              <a:rPr>
                <a:solidFill>
                  <a:srgbClr val="7D9029"/>
                </a:solidFill>
                <a:latin typeface="Courier"/>
              </a:rPr>
              <a:t>sl_library  =</a:t>
            </a:r>
            <a:r>
              <a:rPr>
                <a:latin typeface="Courier"/>
              </a:rPr>
              <a:t> </a:t>
            </a:r>
            <a:r>
              <a:rPr>
                <a:solidFill>
                  <a:srgbClr val="06287E"/>
                </a:solidFill>
                <a:latin typeface="Courier"/>
              </a:rPr>
              <a:t>c</a:t>
            </a:r>
            <a:r>
              <a:rPr>
                <a:latin typeface="Courier"/>
              </a:rPr>
              <a:t>(</a:t>
            </a:r>
            <a:r>
              <a:rPr>
                <a:solidFill>
                  <a:srgbClr val="4070A0"/>
                </a:solidFill>
                <a:latin typeface="Courier"/>
              </a:rPr>
              <a:t>"SL.glm"</a:t>
            </a:r>
            <a:r>
              <a:rPr>
                <a:latin typeface="Courier"/>
              </a:rPr>
              <a:t>, </a:t>
            </a:r>
            <a:r>
              <a:rPr>
                <a:solidFill>
                  <a:srgbClr val="4070A0"/>
                </a:solidFill>
                <a:latin typeface="Courier"/>
              </a:rPr>
              <a:t>"SL.glmnet"</a:t>
            </a:r>
            <a:r>
              <a:rPr>
                <a:latin typeface="Courier"/>
              </a:rPr>
              <a:t>, </a:t>
            </a:r>
            <a:r>
              <a:rPr>
                <a:solidFill>
                  <a:srgbClr val="4070A0"/>
                </a:solidFill>
                <a:latin typeface="Courier"/>
              </a:rPr>
              <a:t>"SL.ranger"</a:t>
            </a:r>
            <a:r>
              <a:rPr>
                <a:latin typeface="Courier"/>
              </a:rPr>
              <a:t>),</a:t>
            </a:r>
            <a:br/>
            <a:r>
              <a:rPr>
                <a:latin typeface="Courier"/>
              </a:rPr>
              <a:t>  </a:t>
            </a:r>
            <a:r>
              <a:rPr>
                <a:solidFill>
                  <a:srgbClr val="7D9029"/>
                </a:solidFill>
                <a:latin typeface="Courier"/>
              </a:rPr>
              <a:t>seed        =</a:t>
            </a:r>
            <a:r>
              <a:rPr>
                <a:latin typeface="Courier"/>
              </a:rPr>
              <a:t> </a:t>
            </a:r>
            <a:r>
              <a:rPr>
                <a:solidFill>
                  <a:srgbClr val="40A070"/>
                </a:solidFill>
                <a:latin typeface="Courier"/>
              </a:rPr>
              <a:t>2026</a:t>
            </a:r>
            <a:br/>
            <a:r>
              <a:rPr>
                <a:latin typeface="Courier"/>
              </a:rPr>
              <a:t>)</a:t>
            </a:r>
          </a:p>
          <a:p>
            <a:pPr lvl="0" indent="0" marL="0">
              <a:buNone/>
            </a:pPr>
            <a:r>
              <a:rPr/>
              <a:t>The lock records the data shape, the covariate list, the learner library, and the seed.</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3 — Build a cohort-flow ledger</a:t>
            </a:r>
          </a:p>
        </p:txBody>
      </p:sp>
      <p:sp>
        <p:nvSpPr>
          <p:cNvPr id="3" name="Content Placeholder 2"/>
          <p:cNvSpPr>
            <a:spLocks noGrp="1"/>
          </p:cNvSpPr>
          <p:nvPr>
            <p:ph idx="1"/>
          </p:nvPr>
        </p:nvSpPr>
        <p:spPr/>
        <p:txBody>
          <a:bodyPr/>
          <a:lstStyle/>
          <a:p>
            <a:pPr lvl="0" indent="0" marL="0">
              <a:buNone/>
            </a:pPr>
            <a:r>
              <a:rPr>
                <a:latin typeface="Courier"/>
              </a:rPr>
              <a:t>attrition_table()</a:t>
            </a:r>
            <a:r>
              <a:rPr/>
              <a:t> records each inclusion and exclusion as a row, so the cohort flow is a code artefact rather than a separately maintained CONSORT figure.</a:t>
            </a:r>
          </a:p>
          <a:p>
            <a:pPr lvl="0" indent="0">
              <a:buNone/>
            </a:pPr>
            <a:r>
              <a:rPr>
                <a:latin typeface="Courier"/>
              </a:rPr>
              <a:t>attr_tbl </a:t>
            </a:r>
            <a:r>
              <a:rPr>
                <a:solidFill>
                  <a:srgbClr val="007020"/>
                </a:solidFill>
                <a:latin typeface="Courier"/>
              </a:rPr>
              <a:t>&lt;-</a:t>
            </a:r>
            <a:r>
              <a:rPr>
                <a:latin typeface="Courier"/>
              </a:rPr>
              <a:t> </a:t>
            </a:r>
            <a:r>
              <a:rPr>
                <a:solidFill>
                  <a:srgbClr val="06287E"/>
                </a:solidFill>
                <a:latin typeface="Courier"/>
              </a:rPr>
              <a:t>attrition_table</a:t>
            </a:r>
            <a:r>
              <a:rPr>
                <a:latin typeface="Courier"/>
              </a:rPr>
              <a:t>(</a:t>
            </a:r>
            <a:br/>
            <a:r>
              <a:rPr>
                <a:latin typeface="Courier"/>
              </a:rPr>
              <a:t>  raw_data, </a:t>
            </a:r>
            <a:r>
              <a:rPr>
                <a:solidFill>
                  <a:srgbClr val="7D9029"/>
                </a:solidFill>
                <a:latin typeface="Courier"/>
              </a:rPr>
              <a:t>rules =</a:t>
            </a:r>
            <a:r>
              <a:rPr>
                <a:latin typeface="Courier"/>
              </a:rPr>
              <a:t> </a:t>
            </a:r>
            <a:r>
              <a:rPr>
                <a:solidFill>
                  <a:srgbClr val="06287E"/>
                </a:solidFill>
                <a:latin typeface="Courier"/>
              </a:rPr>
              <a:t>list</a:t>
            </a:r>
            <a:r>
              <a:rPr>
                <a:latin typeface="Courier"/>
              </a:rPr>
              <a:t>(</a:t>
            </a:r>
            <a:br/>
            <a:r>
              <a:rPr>
                <a:latin typeface="Courier"/>
              </a:rPr>
              <a:t>    </a:t>
            </a:r>
            <a:r>
              <a:rPr>
                <a:solidFill>
                  <a:srgbClr val="4070A0"/>
                </a:solidFill>
                <a:latin typeface="Courier"/>
              </a:rPr>
              <a:t>"All trauma transports"</a:t>
            </a:r>
            <a:r>
              <a:rPr>
                <a:latin typeface="Courier"/>
              </a:rPr>
              <a:t>     </a:t>
            </a:r>
            <a:r>
              <a:rPr>
                <a:solidFill>
                  <a:srgbClr val="007020"/>
                </a:solidFill>
                <a:latin typeface="Courier"/>
              </a:rPr>
              <a:t>=</a:t>
            </a:r>
            <a:r>
              <a:rPr>
                <a:latin typeface="Courier"/>
              </a:rPr>
              <a:t> </a:t>
            </a:r>
            <a:r>
              <a:rPr b="1">
                <a:solidFill>
                  <a:srgbClr val="FF0000"/>
                </a:solidFill>
                <a:latin typeface="Courier"/>
              </a:rPr>
              <a:t>~</a:t>
            </a:r>
            <a:r>
              <a:rPr>
                <a:latin typeface="Courier"/>
              </a:rPr>
              <a:t> </a:t>
            </a:r>
            <a:r>
              <a:rPr>
                <a:solidFill>
                  <a:srgbClr val="880000"/>
                </a:solidFill>
                <a:latin typeface="Courier"/>
              </a:rPr>
              <a:t>TRUE</a:t>
            </a:r>
            <a:r>
              <a:rPr>
                <a:latin typeface="Courier"/>
              </a:rPr>
              <a:t>,</a:t>
            </a:r>
            <a:br/>
            <a:r>
              <a:rPr>
                <a:latin typeface="Courier"/>
              </a:rPr>
              <a:t>    </a:t>
            </a:r>
            <a:r>
              <a:rPr>
                <a:solidFill>
                  <a:srgbClr val="4070A0"/>
                </a:solidFill>
                <a:latin typeface="Courier"/>
              </a:rPr>
              <a:t>"Ambulance arrivals"</a:t>
            </a:r>
            <a:r>
              <a:rPr>
                <a:latin typeface="Courier"/>
              </a:rPr>
              <a:t>        </a:t>
            </a:r>
            <a:r>
              <a:rPr>
                <a:solidFill>
                  <a:srgbClr val="007020"/>
                </a:solidFill>
                <a:latin typeface="Courier"/>
              </a:rPr>
              <a:t>=</a:t>
            </a:r>
            <a:r>
              <a:rPr>
                <a:latin typeface="Courier"/>
              </a:rPr>
              <a:t> </a:t>
            </a:r>
            <a:r>
              <a:rPr b="1">
                <a:solidFill>
                  <a:srgbClr val="FF0000"/>
                </a:solidFill>
                <a:latin typeface="Courier"/>
              </a:rPr>
              <a:t>~</a:t>
            </a:r>
            <a:r>
              <a:rPr>
                <a:latin typeface="Courier"/>
              </a:rPr>
              <a:t> arrival_mode </a:t>
            </a:r>
            <a:r>
              <a:rPr>
                <a:solidFill>
                  <a:srgbClr val="4070A0"/>
                </a:solidFill>
                <a:latin typeface="Courier"/>
              </a:rPr>
              <a:t>==</a:t>
            </a:r>
            <a:r>
              <a:rPr>
                <a:latin typeface="Courier"/>
              </a:rPr>
              <a:t> </a:t>
            </a:r>
            <a:r>
              <a:rPr>
                <a:solidFill>
                  <a:srgbClr val="4070A0"/>
                </a:solidFill>
                <a:latin typeface="Courier"/>
              </a:rPr>
              <a:t>"ambulance"</a:t>
            </a:r>
            <a:r>
              <a:rPr>
                <a:latin typeface="Courier"/>
              </a:rPr>
              <a:t>,</a:t>
            </a:r>
            <a:br/>
            <a:r>
              <a:rPr>
                <a:latin typeface="Courier"/>
              </a:rPr>
              <a:t>    </a:t>
            </a:r>
            <a:r>
              <a:rPr>
                <a:solidFill>
                  <a:srgbClr val="4070A0"/>
                </a:solidFill>
                <a:latin typeface="Courier"/>
              </a:rPr>
              <a:t>"Direct-from-scene"</a:t>
            </a:r>
            <a:r>
              <a:rPr>
                <a:latin typeface="Courier"/>
              </a:rPr>
              <a:t>         </a:t>
            </a:r>
            <a:r>
              <a:rPr>
                <a:solidFill>
                  <a:srgbClr val="007020"/>
                </a:solidFill>
                <a:latin typeface="Courier"/>
              </a:rPr>
              <a:t>=</a:t>
            </a:r>
            <a:r>
              <a:rPr>
                <a:latin typeface="Courier"/>
              </a:rPr>
              <a:t> </a:t>
            </a:r>
            <a:r>
              <a:rPr b="1">
                <a:solidFill>
                  <a:srgbClr val="FF0000"/>
                </a:solidFill>
                <a:latin typeface="Courier"/>
              </a:rPr>
              <a:t>~</a:t>
            </a:r>
            <a:r>
              <a:rPr>
                <a:latin typeface="Courier"/>
              </a:rPr>
              <a:t> </a:t>
            </a:r>
            <a:r>
              <a:rPr>
                <a:solidFill>
                  <a:srgbClr val="4070A0"/>
                </a:solidFill>
                <a:latin typeface="Courier"/>
              </a:rPr>
              <a:t>!</a:t>
            </a:r>
            <a:r>
              <a:rPr>
                <a:latin typeface="Courier"/>
              </a:rPr>
              <a:t>is_transfer,</a:t>
            </a:r>
            <a:br/>
            <a:r>
              <a:rPr>
                <a:latin typeface="Courier"/>
              </a:rPr>
              <a:t>    </a:t>
            </a:r>
            <a:r>
              <a:rPr>
                <a:solidFill>
                  <a:srgbClr val="4070A0"/>
                </a:solidFill>
                <a:latin typeface="Courier"/>
              </a:rPr>
              <a:t>"Within eligibility window"</a:t>
            </a:r>
            <a:r>
              <a:rPr>
                <a:latin typeface="Courier"/>
              </a:rPr>
              <a:t> </a:t>
            </a:r>
            <a:r>
              <a:rPr>
                <a:solidFill>
                  <a:srgbClr val="007020"/>
                </a:solidFill>
                <a:latin typeface="Courier"/>
              </a:rPr>
              <a:t>=</a:t>
            </a:r>
            <a:r>
              <a:rPr>
                <a:latin typeface="Courier"/>
              </a:rPr>
              <a:t> </a:t>
            </a:r>
            <a:r>
              <a:rPr b="1">
                <a:solidFill>
                  <a:srgbClr val="FF0000"/>
                </a:solidFill>
                <a:latin typeface="Courier"/>
              </a:rPr>
              <a:t>~</a:t>
            </a:r>
            <a:r>
              <a:rPr>
                <a:latin typeface="Courier"/>
              </a:rPr>
              <a:t> </a:t>
            </a:r>
            <a:r>
              <a:rPr>
                <a:solidFill>
                  <a:srgbClr val="06287E"/>
                </a:solidFill>
                <a:latin typeface="Courier"/>
              </a:rPr>
              <a:t>between</a:t>
            </a:r>
            <a:r>
              <a:rPr>
                <a:latin typeface="Courier"/>
              </a:rPr>
              <a:t>(date, </a:t>
            </a:r>
            <a:r>
              <a:rPr>
                <a:solidFill>
                  <a:srgbClr val="4070A0"/>
                </a:solidFill>
                <a:latin typeface="Courier"/>
              </a:rPr>
              <a:t>"2018-01-01"</a:t>
            </a:r>
            <a:r>
              <a:rPr>
                <a:latin typeface="Courier"/>
              </a:rPr>
              <a:t>, </a:t>
            </a:r>
            <a:r>
              <a:rPr>
                <a:solidFill>
                  <a:srgbClr val="4070A0"/>
                </a:solidFill>
                <a:latin typeface="Courier"/>
              </a:rPr>
              <a:t>"2024-12-31"</a:t>
            </a:r>
            <a:r>
              <a:rPr>
                <a:latin typeface="Courier"/>
              </a:rPr>
              <a:t>),</a:t>
            </a:r>
            <a:br/>
            <a:r>
              <a:rPr>
                <a:latin typeface="Courier"/>
              </a:rPr>
              <a:t>    </a:t>
            </a:r>
            <a:r>
              <a:rPr>
                <a:solidFill>
                  <a:srgbClr val="4070A0"/>
                </a:solidFill>
                <a:latin typeface="Courier"/>
              </a:rPr>
              <a:t>"Analytic cohort"</a:t>
            </a:r>
            <a:r>
              <a:rPr>
                <a:latin typeface="Courier"/>
              </a:rPr>
              <a:t>           </a:t>
            </a:r>
            <a:r>
              <a:rPr>
                <a:solidFill>
                  <a:srgbClr val="007020"/>
                </a:solidFill>
                <a:latin typeface="Courier"/>
              </a:rPr>
              <a:t>=</a:t>
            </a:r>
            <a:r>
              <a:rPr>
                <a:latin typeface="Courier"/>
              </a:rPr>
              <a:t> </a:t>
            </a:r>
            <a:r>
              <a:rPr b="1">
                <a:solidFill>
                  <a:srgbClr val="FF0000"/>
                </a:solidFill>
                <a:latin typeface="Courier"/>
              </a:rPr>
              <a:t>~</a:t>
            </a:r>
            <a:r>
              <a:rPr>
                <a:latin typeface="Courier"/>
              </a:rPr>
              <a:t> </a:t>
            </a:r>
            <a:r>
              <a:rPr>
                <a:solidFill>
                  <a:srgbClr val="4070A0"/>
                </a:solidFill>
                <a:latin typeface="Courier"/>
              </a:rPr>
              <a:t>!</a:t>
            </a:r>
            <a:r>
              <a:rPr>
                <a:latin typeface="Courier"/>
              </a:rPr>
              <a:t>missing_baseline</a:t>
            </a:r>
            <a:br/>
            <a:r>
              <a:rPr>
                <a:latin typeface="Courier"/>
              </a:rPr>
              <a:t>  )</a:t>
            </a:r>
            <a:br/>
            <a:r>
              <a:rPr>
                <a:latin typeface="Courier"/>
              </a:rPr>
              <a:t>)</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4 — Classify the event process</a:t>
            </a:r>
          </a:p>
        </p:txBody>
      </p:sp>
      <p:sp>
        <p:nvSpPr>
          <p:cNvPr id="3" name="Content Placeholder 2"/>
          <p:cNvSpPr>
            <a:spLocks noGrp="1"/>
          </p:cNvSpPr>
          <p:nvPr>
            <p:ph idx="1"/>
          </p:nvPr>
        </p:nvSpPr>
        <p:spPr/>
        <p:txBody>
          <a:bodyPr/>
          <a:lstStyle/>
          <a:p>
            <a:pPr lvl="0" indent="0" marL="0">
              <a:buNone/>
            </a:pPr>
            <a:r>
              <a:rPr>
                <a:latin typeface="Courier"/>
              </a:rPr>
              <a:t>clean_event_process_table()</a:t>
            </a:r>
            <a:r>
              <a:rPr/>
              <a:t> writes down what each event-like quantity is: the outcome, a competing event, censoring, an exclusion, an intercurrent event, or the administrative end of follow-up.</a:t>
            </a:r>
          </a:p>
          <a:p>
            <a:pPr lvl="0" indent="0">
              <a:buNone/>
            </a:pPr>
            <a:r>
              <a:rPr>
                <a:latin typeface="Courier"/>
              </a:rPr>
              <a:t>events </a:t>
            </a:r>
            <a:r>
              <a:rPr>
                <a:solidFill>
                  <a:srgbClr val="007020"/>
                </a:solidFill>
                <a:latin typeface="Courier"/>
              </a:rPr>
              <a:t>&lt;-</a:t>
            </a:r>
            <a:r>
              <a:rPr>
                <a:latin typeface="Courier"/>
              </a:rPr>
              <a:t> </a:t>
            </a:r>
            <a:r>
              <a:rPr>
                <a:solidFill>
                  <a:srgbClr val="06287E"/>
                </a:solidFill>
                <a:latin typeface="Courier"/>
              </a:rPr>
              <a:t>clean_event_process_table</a:t>
            </a:r>
            <a:r>
              <a:rPr>
                <a:latin typeface="Courier"/>
              </a:rPr>
              <a:t>(</a:t>
            </a:r>
            <a:br/>
            <a:r>
              <a:rPr>
                <a:latin typeface="Courier"/>
              </a:rPr>
              <a:t>  </a:t>
            </a:r>
            <a:r>
              <a:rPr>
                <a:solidFill>
                  <a:srgbClr val="7D9029"/>
                </a:solidFill>
                <a:latin typeface="Courier"/>
              </a:rPr>
              <a:t>outcome      =</a:t>
            </a:r>
            <a:r>
              <a:rPr>
                <a:latin typeface="Courier"/>
              </a:rPr>
              <a:t> </a:t>
            </a:r>
            <a:r>
              <a:rPr>
                <a:solidFill>
                  <a:srgbClr val="4070A0"/>
                </a:solidFill>
                <a:latin typeface="Courier"/>
              </a:rPr>
              <a:t>"gose_good"</a:t>
            </a:r>
            <a:r>
              <a:rPr>
                <a:latin typeface="Courier"/>
              </a:rPr>
              <a:t>,</a:t>
            </a:r>
            <a:br/>
            <a:r>
              <a:rPr>
                <a:latin typeface="Courier"/>
              </a:rPr>
              <a:t>  </a:t>
            </a:r>
            <a:r>
              <a:rPr>
                <a:solidFill>
                  <a:srgbClr val="7D9029"/>
                </a:solidFill>
                <a:latin typeface="Courier"/>
              </a:rPr>
              <a:t>missingness  =</a:t>
            </a:r>
            <a:r>
              <a:rPr>
                <a:latin typeface="Courier"/>
              </a:rPr>
              <a:t> </a:t>
            </a:r>
            <a:r>
              <a:rPr>
                <a:solidFill>
                  <a:srgbClr val="4070A0"/>
                </a:solidFill>
                <a:latin typeface="Courier"/>
              </a:rPr>
              <a:t>"gose_missing"</a:t>
            </a:r>
            <a:r>
              <a:rPr>
                <a:latin typeface="Courier"/>
              </a:rPr>
              <a:t>,</a:t>
            </a:r>
            <a:br/>
            <a:r>
              <a:rPr>
                <a:latin typeface="Courier"/>
              </a:rPr>
              <a:t>  </a:t>
            </a:r>
            <a:r>
              <a:rPr>
                <a:solidFill>
                  <a:srgbClr val="7D9029"/>
                </a:solidFill>
                <a:latin typeface="Courier"/>
              </a:rPr>
              <a:t>intercurrent =</a:t>
            </a:r>
            <a:r>
              <a:rPr>
                <a:latin typeface="Courier"/>
              </a:rPr>
              <a:t> </a:t>
            </a:r>
            <a:r>
              <a:rPr>
                <a:solidFill>
                  <a:srgbClr val="06287E"/>
                </a:solidFill>
                <a:latin typeface="Courier"/>
              </a:rPr>
              <a:t>list</a:t>
            </a:r>
            <a:r>
              <a:rPr>
                <a:latin typeface="Courier"/>
              </a:rPr>
              <a:t>(</a:t>
            </a:r>
            <a:r>
              <a:rPr>
                <a:solidFill>
                  <a:srgbClr val="4070A0"/>
                </a:solidFill>
                <a:latin typeface="Courier"/>
              </a:rPr>
              <a:t>"in-hospital death"</a:t>
            </a:r>
            <a:r>
              <a:rPr>
                <a:latin typeface="Courier"/>
              </a:rPr>
              <a:t> </a:t>
            </a:r>
            <a:r>
              <a:rPr>
                <a:solidFill>
                  <a:srgbClr val="007020"/>
                </a:solidFill>
                <a:latin typeface="Courier"/>
              </a:rPr>
              <a:t>=</a:t>
            </a:r>
            <a:r>
              <a:rPr>
                <a:latin typeface="Courier"/>
              </a:rPr>
              <a:t> </a:t>
            </a:r>
            <a:r>
              <a:rPr>
                <a:solidFill>
                  <a:srgbClr val="4070A0"/>
                </a:solidFill>
                <a:latin typeface="Courier"/>
              </a:rPr>
              <a:t>"worst-rank coded as GOSE = 1"</a:t>
            </a:r>
            <a:r>
              <a:rPr>
                <a:latin typeface="Courier"/>
              </a:rPr>
              <a:t>),</a:t>
            </a:r>
            <a:br/>
            <a:r>
              <a:rPr>
                <a:latin typeface="Courier"/>
              </a:rPr>
              <a:t>  </a:t>
            </a:r>
            <a:r>
              <a:rPr>
                <a:solidFill>
                  <a:srgbClr val="7D9029"/>
                </a:solidFill>
                <a:latin typeface="Courier"/>
              </a:rPr>
              <a:t>exclusions   =</a:t>
            </a:r>
            <a:r>
              <a:rPr>
                <a:latin typeface="Courier"/>
              </a:rPr>
              <a:t> </a:t>
            </a:r>
            <a:r>
              <a:rPr>
                <a:solidFill>
                  <a:srgbClr val="06287E"/>
                </a:solidFill>
                <a:latin typeface="Courier"/>
              </a:rPr>
              <a:t>list</a:t>
            </a:r>
            <a:r>
              <a:rPr>
                <a:latin typeface="Courier"/>
              </a:rPr>
              <a:t>(</a:t>
            </a:r>
            <a:r>
              <a:rPr>
                <a:solidFill>
                  <a:srgbClr val="4070A0"/>
                </a:solidFill>
                <a:latin typeface="Courier"/>
              </a:rPr>
              <a:t>"inter-facility transfer"</a:t>
            </a:r>
            <a:r>
              <a:rPr>
                <a:latin typeface="Courier"/>
              </a:rPr>
              <a:t> </a:t>
            </a:r>
            <a:r>
              <a:rPr>
                <a:solidFill>
                  <a:srgbClr val="007020"/>
                </a:solidFill>
                <a:latin typeface="Courier"/>
              </a:rPr>
              <a:t>=</a:t>
            </a:r>
            <a:r>
              <a:rPr>
                <a:latin typeface="Courier"/>
              </a:rPr>
              <a:t> </a:t>
            </a:r>
            <a:r>
              <a:rPr>
                <a:solidFill>
                  <a:srgbClr val="4070A0"/>
                </a:solidFill>
                <a:latin typeface="Courier"/>
              </a:rPr>
              <a:t>"is_transfer"</a:t>
            </a:r>
            <a:r>
              <a:rPr>
                <a:latin typeface="Courier"/>
              </a:rPr>
              <a:t>),</a:t>
            </a:r>
            <a:br/>
            <a:r>
              <a:rPr>
                <a:latin typeface="Courier"/>
              </a:rPr>
              <a:t>  </a:t>
            </a:r>
            <a:r>
              <a:rPr>
                <a:solidFill>
                  <a:srgbClr val="7D9029"/>
                </a:solidFill>
                <a:latin typeface="Courier"/>
              </a:rPr>
              <a:t>admin_end_fu =</a:t>
            </a:r>
            <a:r>
              <a:rPr>
                <a:latin typeface="Courier"/>
              </a:rPr>
              <a:t> </a:t>
            </a:r>
            <a:r>
              <a:rPr>
                <a:solidFill>
                  <a:srgbClr val="4070A0"/>
                </a:solidFill>
                <a:latin typeface="Courier"/>
              </a:rPr>
              <a:t>"180 days from index"</a:t>
            </a:r>
            <a:br/>
            <a:r>
              <a:rPr>
                <a:latin typeface="Courier"/>
              </a:rPr>
              <a:t>)</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5 — Cohort adequacy check</a:t>
            </a:r>
          </a:p>
        </p:txBody>
      </p:sp>
      <p:sp>
        <p:nvSpPr>
          <p:cNvPr id="3" name="Content Placeholder 2"/>
          <p:cNvSpPr>
            <a:spLocks noGrp="1"/>
          </p:cNvSpPr>
          <p:nvPr>
            <p:ph idx="1"/>
          </p:nvPr>
        </p:nvSpPr>
        <p:spPr/>
        <p:txBody>
          <a:bodyPr/>
          <a:lstStyle/>
          <a:p>
            <a:pPr lvl="0" indent="0" marL="0">
              <a:buNone/>
            </a:pPr>
            <a:r>
              <a:rPr/>
              <a:t>Before any modelling, check that the cohort has enough people and enough events to support the estimand. This is the first software-enforced checkpoint.</a:t>
            </a:r>
          </a:p>
          <a:p>
            <a:pPr lvl="0" indent="0">
              <a:buNone/>
            </a:pPr>
            <a:r>
              <a:rPr>
                <a:latin typeface="Courier"/>
              </a:rPr>
              <a:t>audit </a:t>
            </a:r>
            <a:r>
              <a:rPr>
                <a:solidFill>
                  <a:srgbClr val="007020"/>
                </a:solidFill>
                <a:latin typeface="Courier"/>
              </a:rPr>
              <a:t>&lt;-</a:t>
            </a:r>
            <a:r>
              <a:rPr>
                <a:latin typeface="Courier"/>
              </a:rPr>
              <a:t> </a:t>
            </a:r>
            <a:r>
              <a:rPr>
                <a:solidFill>
                  <a:srgbClr val="06287E"/>
                </a:solidFill>
                <a:latin typeface="Courier"/>
              </a:rPr>
              <a:t>create_audit_log</a:t>
            </a:r>
            <a:r>
              <a:rPr>
                <a:latin typeface="Courier"/>
              </a:rPr>
              <a:t>(lock)</a:t>
            </a:r>
            <a:br/>
            <a:r>
              <a:rPr>
                <a:latin typeface="Courier"/>
              </a:rPr>
              <a:t>cp1   </a:t>
            </a:r>
            <a:r>
              <a:rPr>
                <a:solidFill>
                  <a:srgbClr val="007020"/>
                </a:solidFill>
                <a:latin typeface="Courier"/>
              </a:rPr>
              <a:t>&lt;-</a:t>
            </a:r>
            <a:r>
              <a:rPr>
                <a:latin typeface="Courier"/>
              </a:rPr>
              <a:t> </a:t>
            </a:r>
            <a:r>
              <a:rPr>
                <a:solidFill>
                  <a:srgbClr val="06287E"/>
                </a:solidFill>
                <a:latin typeface="Courier"/>
              </a:rPr>
              <a:t>checkpoint_cohort_adequacy</a:t>
            </a:r>
            <a:r>
              <a:rPr>
                <a:latin typeface="Courier"/>
              </a:rPr>
              <a:t>(</a:t>
            </a:r>
            <a:br/>
            <a:r>
              <a:rPr>
                <a:latin typeface="Courier"/>
              </a:rPr>
              <a:t>  lock,</a:t>
            </a:r>
            <a:br/>
            <a:r>
              <a:rPr>
                <a:latin typeface="Courier"/>
              </a:rPr>
              <a:t>  </a:t>
            </a:r>
            <a:r>
              <a:rPr>
                <a:solidFill>
                  <a:srgbClr val="7D9029"/>
                </a:solidFill>
                <a:latin typeface="Courier"/>
              </a:rPr>
              <a:t>min_n_per_arm =</a:t>
            </a:r>
            <a:r>
              <a:rPr>
                <a:latin typeface="Courier"/>
              </a:rPr>
              <a:t> </a:t>
            </a:r>
            <a:r>
              <a:rPr>
                <a:solidFill>
                  <a:srgbClr val="40A070"/>
                </a:solidFill>
                <a:latin typeface="Courier"/>
              </a:rPr>
              <a:t>200</a:t>
            </a:r>
            <a:r>
              <a:rPr>
                <a:latin typeface="Courier"/>
              </a:rPr>
              <a:t>,</a:t>
            </a:r>
            <a:br/>
            <a:r>
              <a:rPr>
                <a:latin typeface="Courier"/>
              </a:rPr>
              <a:t>  </a:t>
            </a:r>
            <a:r>
              <a:rPr>
                <a:solidFill>
                  <a:srgbClr val="7D9029"/>
                </a:solidFill>
                <a:latin typeface="Courier"/>
              </a:rPr>
              <a:t>min_events    =</a:t>
            </a:r>
            <a:r>
              <a:rPr>
                <a:latin typeface="Courier"/>
              </a:rPr>
              <a:t> </a:t>
            </a:r>
            <a:r>
              <a:rPr>
                <a:solidFill>
                  <a:srgbClr val="40A070"/>
                </a:solidFill>
                <a:latin typeface="Courier"/>
              </a:rPr>
              <a:t>50</a:t>
            </a:r>
            <a:br/>
            <a:r>
              <a:rPr>
                <a:latin typeface="Courier"/>
              </a:rPr>
              <a:t>)</a:t>
            </a:r>
            <a:br/>
            <a:r>
              <a:rPr>
                <a:latin typeface="Courier"/>
              </a:rPr>
              <a:t>audit </a:t>
            </a:r>
            <a:r>
              <a:rPr>
                <a:solidFill>
                  <a:srgbClr val="007020"/>
                </a:solidFill>
                <a:latin typeface="Courier"/>
              </a:rPr>
              <a:t>&lt;-</a:t>
            </a:r>
            <a:r>
              <a:rPr>
                <a:latin typeface="Courier"/>
              </a:rPr>
              <a:t> </a:t>
            </a:r>
            <a:r>
              <a:rPr>
                <a:solidFill>
                  <a:srgbClr val="06287E"/>
                </a:solidFill>
                <a:latin typeface="Courier"/>
              </a:rPr>
              <a:t>record_checkpoint</a:t>
            </a:r>
            <a:r>
              <a:rPr>
                <a:latin typeface="Courier"/>
              </a:rPr>
              <a:t>(audit, cp1)</a:t>
            </a:r>
          </a:p>
          <a:p>
            <a:pPr lvl="0" indent="0" marL="0">
              <a:buNone/>
            </a:pPr>
            <a:r>
              <a:rPr/>
              <a:t>If the threshold is missed, the checkpoint returns FLAG or STOP and the reviewer sees it.</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6 — Design diagnostics (propensity score)</a:t>
            </a:r>
          </a:p>
        </p:txBody>
      </p:sp>
      <p:sp>
        <p:nvSpPr>
          <p:cNvPr id="3" name="Content Placeholder 2"/>
          <p:cNvSpPr>
            <a:spLocks noGrp="1"/>
          </p:cNvSpPr>
          <p:nvPr>
            <p:ph idx="1"/>
          </p:nvPr>
        </p:nvSpPr>
        <p:spPr/>
        <p:txBody>
          <a:bodyPr/>
          <a:lstStyle/>
          <a:p>
            <a:pPr lvl="0" indent="0" marL="0">
              <a:buNone/>
            </a:pPr>
            <a:r>
              <a:rPr/>
              <a:t>Fit the propensity score and produce overlap and balance diagnostics. The fit uses the locked SuperLearner library.</a:t>
            </a:r>
          </a:p>
          <a:p>
            <a:pPr lvl="0" indent="0">
              <a:buNone/>
            </a:pPr>
            <a:r>
              <a:rPr>
                <a:latin typeface="Courier"/>
              </a:rPr>
              <a:t>ps      </a:t>
            </a:r>
            <a:r>
              <a:rPr>
                <a:solidFill>
                  <a:srgbClr val="007020"/>
                </a:solidFill>
                <a:latin typeface="Courier"/>
              </a:rPr>
              <a:t>&lt;-</a:t>
            </a:r>
            <a:r>
              <a:rPr>
                <a:latin typeface="Courier"/>
              </a:rPr>
              <a:t> </a:t>
            </a:r>
            <a:r>
              <a:rPr>
                <a:solidFill>
                  <a:srgbClr val="06287E"/>
                </a:solidFill>
                <a:latin typeface="Courier"/>
              </a:rPr>
              <a:t>fit_ps_superlearner</a:t>
            </a:r>
            <a:r>
              <a:rPr>
                <a:latin typeface="Courier"/>
              </a:rPr>
              <a:t>(lock)</a:t>
            </a:r>
            <a:br/>
            <a:r>
              <a:rPr>
                <a:latin typeface="Courier"/>
              </a:rPr>
              <a:t>ps_diag </a:t>
            </a:r>
            <a:r>
              <a:rPr>
                <a:solidFill>
                  <a:srgbClr val="007020"/>
                </a:solidFill>
                <a:latin typeface="Courier"/>
              </a:rPr>
              <a:t>&lt;-</a:t>
            </a:r>
            <a:r>
              <a:rPr>
                <a:latin typeface="Courier"/>
              </a:rPr>
              <a:t> </a:t>
            </a:r>
            <a:r>
              <a:rPr>
                <a:solidFill>
                  <a:srgbClr val="06287E"/>
                </a:solidFill>
                <a:latin typeface="Courier"/>
              </a:rPr>
              <a:t>compute_ps_diagnostics</a:t>
            </a:r>
            <a:r>
              <a:rPr>
                <a:latin typeface="Courier"/>
              </a:rPr>
              <a:t>(ps)</a:t>
            </a:r>
            <a:br/>
            <a:r>
              <a:rPr>
                <a:solidFill>
                  <a:srgbClr val="06287E"/>
                </a:solidFill>
                <a:latin typeface="Courier"/>
              </a:rPr>
              <a:t>plot</a:t>
            </a:r>
            <a:r>
              <a:rPr>
                <a:latin typeface="Courier"/>
              </a:rPr>
              <a:t>(ps_diag)                          </a:t>
            </a:r>
            <a:r>
              <a:rPr i="1">
                <a:solidFill>
                  <a:srgbClr val="60A0B0"/>
                </a:solidFill>
                <a:latin typeface="Courier"/>
              </a:rPr>
              <a:t># overlap density</a:t>
            </a:r>
            <a:br/>
            <a:r>
              <a:rPr>
                <a:solidFill>
                  <a:srgbClr val="06287E"/>
                </a:solidFill>
                <a:latin typeface="Courier"/>
              </a:rPr>
              <a:t>love_plot_threeway</a:t>
            </a:r>
            <a:r>
              <a:rPr>
                <a:latin typeface="Courier"/>
              </a:rPr>
              <a:t>(lock, ps</a:t>
            </a:r>
            <a:r>
              <a:rPr>
                <a:solidFill>
                  <a:srgbClr val="4070A0"/>
                </a:solidFill>
                <a:latin typeface="Courier"/>
              </a:rPr>
              <a:t>$</a:t>
            </a:r>
            <a:r>
              <a:rPr>
                <a:latin typeface="Courier"/>
              </a:rPr>
              <a:t>weights)   </a:t>
            </a:r>
            <a:r>
              <a:rPr i="1">
                <a:solidFill>
                  <a:srgbClr val="60A0B0"/>
                </a:solidFill>
                <a:latin typeface="Courier"/>
              </a:rPr>
              <a:t># SMDs: unweighted vs matched vs IPTW</a:t>
            </a:r>
          </a:p>
          <a:p>
            <a:pPr lvl="0" indent="0" marL="0">
              <a:buNone/>
            </a:pPr>
            <a:r>
              <a:rPr/>
              <a:t>The reviewer sees the overlap density and the three-way Love plot before authorisation.</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7 — Weight diagnostics</a:t>
            </a:r>
          </a:p>
        </p:txBody>
      </p:sp>
      <p:sp>
        <p:nvSpPr>
          <p:cNvPr id="3" name="Content Placeholder 2"/>
          <p:cNvSpPr>
            <a:spLocks noGrp="1"/>
          </p:cNvSpPr>
          <p:nvPr>
            <p:ph idx="1"/>
          </p:nvPr>
        </p:nvSpPr>
        <p:spPr/>
        <p:txBody>
          <a:bodyPr/>
          <a:lstStyle/>
          <a:p>
            <a:pPr lvl="0" indent="0" marL="0">
              <a:buNone/>
            </a:pPr>
            <a:r>
              <a:rPr/>
              <a:t>Standardised treatment weights and IPCW weights are reviewed for stability and effective sample size. This is the weight equivalent of the cohort-adequacy check.</a:t>
            </a:r>
          </a:p>
          <a:p>
            <a:pPr lvl="0" indent="0">
              <a:buNone/>
            </a:pPr>
            <a:r>
              <a:rPr>
                <a:latin typeface="Courier"/>
              </a:rPr>
              <a:t>weight_diag </a:t>
            </a:r>
            <a:r>
              <a:rPr>
                <a:solidFill>
                  <a:srgbClr val="007020"/>
                </a:solidFill>
                <a:latin typeface="Courier"/>
              </a:rPr>
              <a:t>&lt;-</a:t>
            </a:r>
            <a:r>
              <a:rPr>
                <a:latin typeface="Courier"/>
              </a:rPr>
              <a:t> </a:t>
            </a:r>
            <a:r>
              <a:rPr>
                <a:solidFill>
                  <a:srgbClr val="06287E"/>
                </a:solidFill>
                <a:latin typeface="Courier"/>
              </a:rPr>
              <a:t>clean_weight_diagnostics</a:t>
            </a:r>
            <a:r>
              <a:rPr>
                <a:latin typeface="Courier"/>
              </a:rPr>
              <a:t>(</a:t>
            </a:r>
            <a:br/>
            <a:r>
              <a:rPr>
                <a:latin typeface="Courier"/>
              </a:rPr>
              <a:t>  </a:t>
            </a:r>
            <a:r>
              <a:rPr>
                <a:solidFill>
                  <a:srgbClr val="7D9029"/>
                </a:solidFill>
                <a:latin typeface="Courier"/>
              </a:rPr>
              <a:t>weights    =</a:t>
            </a:r>
            <a:r>
              <a:rPr>
                <a:latin typeface="Courier"/>
              </a:rPr>
              <a:t> ps</a:t>
            </a:r>
            <a:r>
              <a:rPr>
                <a:solidFill>
                  <a:srgbClr val="4070A0"/>
                </a:solidFill>
                <a:latin typeface="Courier"/>
              </a:rPr>
              <a:t>$</a:t>
            </a:r>
            <a:r>
              <a:rPr>
                <a:latin typeface="Courier"/>
              </a:rPr>
              <a:t>weights,</a:t>
            </a:r>
            <a:br/>
            <a:r>
              <a:rPr>
                <a:latin typeface="Courier"/>
              </a:rPr>
              <a:t>  </a:t>
            </a:r>
            <a:r>
              <a:rPr>
                <a:solidFill>
                  <a:srgbClr val="7D9029"/>
                </a:solidFill>
                <a:latin typeface="Courier"/>
              </a:rPr>
              <a:t>treatment  =</a:t>
            </a:r>
            <a:r>
              <a:rPr>
                <a:latin typeface="Courier"/>
              </a:rPr>
              <a:t> lock</a:t>
            </a:r>
            <a:r>
              <a:rPr>
                <a:solidFill>
                  <a:srgbClr val="4070A0"/>
                </a:solidFill>
                <a:latin typeface="Courier"/>
              </a:rPr>
              <a:t>$</a:t>
            </a:r>
            <a:r>
              <a:rPr>
                <a:latin typeface="Courier"/>
              </a:rPr>
              <a:t>data[[lock</a:t>
            </a:r>
            <a:r>
              <a:rPr>
                <a:solidFill>
                  <a:srgbClr val="4070A0"/>
                </a:solidFill>
                <a:latin typeface="Courier"/>
              </a:rPr>
              <a:t>$</a:t>
            </a:r>
            <a:r>
              <a:rPr>
                <a:latin typeface="Courier"/>
              </a:rPr>
              <a:t>treatment]],</a:t>
            </a:r>
            <a:br/>
            <a:r>
              <a:rPr>
                <a:latin typeface="Courier"/>
              </a:rPr>
              <a:t>  </a:t>
            </a:r>
            <a:r>
              <a:rPr>
                <a:solidFill>
                  <a:srgbClr val="7D9029"/>
                </a:solidFill>
                <a:latin typeface="Courier"/>
              </a:rPr>
              <a:t>covariates =</a:t>
            </a:r>
            <a:r>
              <a:rPr>
                <a:latin typeface="Courier"/>
              </a:rPr>
              <a:t> lock</a:t>
            </a:r>
            <a:r>
              <a:rPr>
                <a:solidFill>
                  <a:srgbClr val="4070A0"/>
                </a:solidFill>
                <a:latin typeface="Courier"/>
              </a:rPr>
              <a:t>$</a:t>
            </a:r>
            <a:r>
              <a:rPr>
                <a:latin typeface="Courier"/>
              </a:rPr>
              <a:t>data[, lock</a:t>
            </a:r>
            <a:r>
              <a:rPr>
                <a:solidFill>
                  <a:srgbClr val="4070A0"/>
                </a:solidFill>
                <a:latin typeface="Courier"/>
              </a:rPr>
              <a:t>$</a:t>
            </a:r>
            <a:r>
              <a:rPr>
                <a:latin typeface="Courier"/>
              </a:rPr>
              <a:t>covariates]</a:t>
            </a:r>
            <a:br/>
            <a:r>
              <a:rPr>
                <a:latin typeface="Courier"/>
              </a:rPr>
              <a:t>)</a:t>
            </a:r>
            <a:br/>
            <a:r>
              <a:rPr>
                <a:solidFill>
                  <a:srgbClr val="06287E"/>
                </a:solidFill>
                <a:latin typeface="Courier"/>
              </a:rPr>
              <a:t>extreme_weights</a:t>
            </a:r>
            <a:r>
              <a:rPr>
                <a:latin typeface="Courier"/>
              </a:rPr>
              <a:t>(ps</a:t>
            </a:r>
            <a:r>
              <a:rPr>
                <a:solidFill>
                  <a:srgbClr val="4070A0"/>
                </a:solidFill>
                <a:latin typeface="Courier"/>
              </a:rPr>
              <a:t>$</a:t>
            </a:r>
            <a:r>
              <a:rPr>
                <a:latin typeface="Courier"/>
              </a:rPr>
              <a:t>weights, </a:t>
            </a:r>
            <a:r>
              <a:rPr>
                <a:solidFill>
                  <a:srgbClr val="7D9029"/>
                </a:solidFill>
                <a:latin typeface="Courier"/>
              </a:rPr>
              <a:t>top_n =</a:t>
            </a:r>
            <a:r>
              <a:rPr>
                <a:latin typeface="Courier"/>
              </a:rPr>
              <a:t> </a:t>
            </a:r>
            <a:r>
              <a:rPr>
                <a:solidFill>
                  <a:srgbClr val="40A070"/>
                </a:solidFill>
                <a:latin typeface="Courier"/>
              </a:rPr>
              <a:t>10</a:t>
            </a:r>
            <a:r>
              <a:rPr>
                <a:latin typeface="Courier"/>
              </a:rPr>
              <a:t>)</a:t>
            </a:r>
            <a:br/>
            <a:r>
              <a:rPr>
                <a:latin typeface="Courier"/>
              </a:rPr>
              <a:t>cp2 </a:t>
            </a:r>
            <a:r>
              <a:rPr>
                <a:solidFill>
                  <a:srgbClr val="007020"/>
                </a:solidFill>
                <a:latin typeface="Courier"/>
              </a:rPr>
              <a:t>&lt;-</a:t>
            </a:r>
            <a:r>
              <a:rPr>
                <a:latin typeface="Courier"/>
              </a:rPr>
              <a:t> </a:t>
            </a:r>
            <a:r>
              <a:rPr>
                <a:solidFill>
                  <a:srgbClr val="06287E"/>
                </a:solidFill>
                <a:latin typeface="Courier"/>
              </a:rPr>
              <a:t>checkpoint_balance</a:t>
            </a:r>
            <a:r>
              <a:rPr>
                <a:latin typeface="Courier"/>
              </a:rPr>
              <a:t>(ps_diag, </a:t>
            </a:r>
            <a:r>
              <a:rPr>
                <a:solidFill>
                  <a:srgbClr val="7D9029"/>
                </a:solidFill>
                <a:latin typeface="Courier"/>
              </a:rPr>
              <a:t>max_smd =</a:t>
            </a:r>
            <a:r>
              <a:rPr>
                <a:latin typeface="Courier"/>
              </a:rPr>
              <a:t> </a:t>
            </a:r>
            <a:r>
              <a:rPr>
                <a:solidFill>
                  <a:srgbClr val="40A070"/>
                </a:solidFill>
                <a:latin typeface="Courier"/>
              </a:rPr>
              <a:t>0.10</a:t>
            </a:r>
            <a:r>
              <a:rPr>
                <a:latin typeface="Courier"/>
              </a:rPr>
              <a:t>, </a:t>
            </a:r>
            <a:r>
              <a:rPr>
                <a:solidFill>
                  <a:srgbClr val="7D9029"/>
                </a:solidFill>
                <a:latin typeface="Courier"/>
              </a:rPr>
              <a:t>lock_hash =</a:t>
            </a:r>
            <a:r>
              <a:rPr>
                <a:latin typeface="Courier"/>
              </a:rPr>
              <a:t> lock</a:t>
            </a:r>
            <a:r>
              <a:rPr>
                <a:solidFill>
                  <a:srgbClr val="4070A0"/>
                </a:solidFill>
                <a:latin typeface="Courier"/>
              </a:rPr>
              <a:t>$</a:t>
            </a:r>
            <a:r>
              <a:rPr>
                <a:latin typeface="Courier"/>
              </a:rPr>
              <a:t>lock_hash)</a:t>
            </a:r>
            <a:br/>
            <a:r>
              <a:rPr>
                <a:latin typeface="Courier"/>
              </a:rPr>
              <a:t>audit </a:t>
            </a:r>
            <a:r>
              <a:rPr>
                <a:solidFill>
                  <a:srgbClr val="007020"/>
                </a:solidFill>
                <a:latin typeface="Courier"/>
              </a:rPr>
              <a:t>&lt;-</a:t>
            </a:r>
            <a:r>
              <a:rPr>
                <a:latin typeface="Courier"/>
              </a:rPr>
              <a:t> </a:t>
            </a:r>
            <a:r>
              <a:rPr>
                <a:solidFill>
                  <a:srgbClr val="06287E"/>
                </a:solidFill>
                <a:latin typeface="Courier"/>
              </a:rPr>
              <a:t>record_checkpoint</a:t>
            </a:r>
            <a:r>
              <a:rPr>
                <a:latin typeface="Courier"/>
              </a:rPr>
              <a:t>(audit, cp2)</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8 — Baseline plasmode candidate selection</a:t>
            </a:r>
          </a:p>
        </p:txBody>
      </p:sp>
      <p:sp>
        <p:nvSpPr>
          <p:cNvPr id="3" name="Content Placeholder 2"/>
          <p:cNvSpPr>
            <a:spLocks noGrp="1"/>
          </p:cNvSpPr>
          <p:nvPr>
            <p:ph idx="1"/>
          </p:nvPr>
        </p:nvSpPr>
        <p:spPr/>
        <p:txBody>
          <a:bodyPr/>
          <a:lstStyle/>
          <a:p>
            <a:pPr lvl="0" indent="0" marL="0">
              <a:buNone/>
            </a:pPr>
            <a:r>
              <a:rPr/>
              <a:t>Two candidate TMLE specifications are compared on a synthetic outcome generated from the real covariate and treatment structure. The candidate-selection rule is locked in advance.</a:t>
            </a:r>
          </a:p>
          <a:p>
            <a:pPr lvl="0" indent="0">
              <a:buNone/>
            </a:pPr>
            <a:r>
              <a:rPr>
                <a:latin typeface="Courier"/>
              </a:rPr>
              <a:t>candidates </a:t>
            </a:r>
            <a:r>
              <a:rPr>
                <a:solidFill>
                  <a:srgbClr val="007020"/>
                </a:solidFill>
                <a:latin typeface="Courier"/>
              </a:rPr>
              <a:t>&lt;-</a:t>
            </a:r>
            <a:r>
              <a:rPr>
                <a:latin typeface="Courier"/>
              </a:rPr>
              <a:t> </a:t>
            </a:r>
            <a:r>
              <a:rPr>
                <a:solidFill>
                  <a:srgbClr val="06287E"/>
                </a:solidFill>
                <a:latin typeface="Courier"/>
              </a:rPr>
              <a:t>list</a:t>
            </a:r>
            <a:r>
              <a:rPr>
                <a:latin typeface="Courier"/>
              </a:rPr>
              <a:t>(</a:t>
            </a:r>
            <a:br/>
            <a:r>
              <a:rPr>
                <a:latin typeface="Courier"/>
              </a:rPr>
              <a:t>  </a:t>
            </a:r>
            <a:r>
              <a:rPr>
                <a:solidFill>
                  <a:srgbClr val="06287E"/>
                </a:solidFill>
                <a:latin typeface="Courier"/>
              </a:rPr>
              <a:t>tmle_candidate</a:t>
            </a:r>
            <a:r>
              <a:rPr>
                <a:latin typeface="Courier"/>
              </a:rPr>
              <a:t>(</a:t>
            </a:r>
            <a:r>
              <a:rPr>
                <a:solidFill>
                  <a:srgbClr val="4070A0"/>
                </a:solidFill>
                <a:latin typeface="Courier"/>
              </a:rPr>
              <a:t>"glm_t01"</a:t>
            </a:r>
            <a:r>
              <a:rPr>
                <a:latin typeface="Courier"/>
              </a:rPr>
              <a:t>, </a:t>
            </a:r>
            <a:r>
              <a:rPr>
                <a:solidFill>
                  <a:srgbClr val="4070A0"/>
                </a:solidFill>
                <a:latin typeface="Courier"/>
              </a:rPr>
              <a:t>"GLM PS, trunc = 0.01"</a:t>
            </a:r>
            <a:r>
              <a:rPr>
                <a:latin typeface="Courier"/>
              </a:rPr>
              <a:t>, </a:t>
            </a:r>
            <a:r>
              <a:rPr>
                <a:solidFill>
                  <a:srgbClr val="7D9029"/>
                </a:solidFill>
                <a:latin typeface="Courier"/>
              </a:rPr>
              <a:t>truncation =</a:t>
            </a:r>
            <a:r>
              <a:rPr>
                <a:latin typeface="Courier"/>
              </a:rPr>
              <a:t> </a:t>
            </a:r>
            <a:r>
              <a:rPr>
                <a:solidFill>
                  <a:srgbClr val="40A070"/>
                </a:solidFill>
                <a:latin typeface="Courier"/>
              </a:rPr>
              <a:t>0.01</a:t>
            </a:r>
            <a:r>
              <a:rPr>
                <a:latin typeface="Courier"/>
              </a:rPr>
              <a:t>),</a:t>
            </a:r>
            <a:br/>
            <a:r>
              <a:rPr>
                <a:latin typeface="Courier"/>
              </a:rPr>
              <a:t>  </a:t>
            </a:r>
            <a:r>
              <a:rPr>
                <a:solidFill>
                  <a:srgbClr val="06287E"/>
                </a:solidFill>
                <a:latin typeface="Courier"/>
              </a:rPr>
              <a:t>tmle_candidate</a:t>
            </a:r>
            <a:r>
              <a:rPr>
                <a:latin typeface="Courier"/>
              </a:rPr>
              <a:t>(</a:t>
            </a:r>
            <a:r>
              <a:rPr>
                <a:solidFill>
                  <a:srgbClr val="4070A0"/>
                </a:solidFill>
                <a:latin typeface="Courier"/>
              </a:rPr>
              <a:t>"glm_t05"</a:t>
            </a:r>
            <a:r>
              <a:rPr>
                <a:latin typeface="Courier"/>
              </a:rPr>
              <a:t>, </a:t>
            </a:r>
            <a:r>
              <a:rPr>
                <a:solidFill>
                  <a:srgbClr val="4070A0"/>
                </a:solidFill>
                <a:latin typeface="Courier"/>
              </a:rPr>
              <a:t>"GLM PS, trunc = 0.05"</a:t>
            </a:r>
            <a:r>
              <a:rPr>
                <a:latin typeface="Courier"/>
              </a:rPr>
              <a:t>, </a:t>
            </a:r>
            <a:r>
              <a:rPr>
                <a:solidFill>
                  <a:srgbClr val="7D9029"/>
                </a:solidFill>
                <a:latin typeface="Courier"/>
              </a:rPr>
              <a:t>truncation =</a:t>
            </a:r>
            <a:r>
              <a:rPr>
                <a:latin typeface="Courier"/>
              </a:rPr>
              <a:t> </a:t>
            </a:r>
            <a:r>
              <a:rPr>
                <a:solidFill>
                  <a:srgbClr val="40A070"/>
                </a:solidFill>
                <a:latin typeface="Courier"/>
              </a:rPr>
              <a:t>0.05</a:t>
            </a:r>
            <a:r>
              <a:rPr>
                <a:latin typeface="Courier"/>
              </a:rPr>
              <a:t>)</a:t>
            </a:r>
            <a:br/>
            <a:r>
              <a:rPr>
                <a:latin typeface="Courier"/>
              </a:rPr>
              <a:t>)</a:t>
            </a:r>
            <a:br/>
            <a:r>
              <a:rPr>
                <a:latin typeface="Courier"/>
              </a:rPr>
              <a:t>plas </a:t>
            </a:r>
            <a:r>
              <a:rPr>
                <a:solidFill>
                  <a:srgbClr val="007020"/>
                </a:solidFill>
                <a:latin typeface="Courier"/>
              </a:rPr>
              <a:t>&lt;-</a:t>
            </a:r>
            <a:r>
              <a:rPr>
                <a:latin typeface="Courier"/>
              </a:rPr>
              <a:t> </a:t>
            </a:r>
            <a:r>
              <a:rPr>
                <a:solidFill>
                  <a:srgbClr val="06287E"/>
                </a:solidFill>
                <a:latin typeface="Courier"/>
              </a:rPr>
              <a:t>run_plasmode_feasibility</a:t>
            </a:r>
            <a:r>
              <a:rPr>
                <a:latin typeface="Courier"/>
              </a:rPr>
              <a:t>(</a:t>
            </a:r>
            <a:br/>
            <a:r>
              <a:rPr>
                <a:latin typeface="Courier"/>
              </a:rPr>
              <a:t>  lock,</a:t>
            </a:r>
            <a:br/>
            <a:r>
              <a:rPr>
                <a:latin typeface="Courier"/>
              </a:rPr>
              <a:t>  </a:t>
            </a:r>
            <a:r>
              <a:rPr>
                <a:solidFill>
                  <a:srgbClr val="7D9029"/>
                </a:solidFill>
                <a:latin typeface="Courier"/>
              </a:rPr>
              <a:t>tmle_candidates =</a:t>
            </a:r>
            <a:r>
              <a:rPr>
                <a:latin typeface="Courier"/>
              </a:rPr>
              <a:t> candidates,</a:t>
            </a:r>
            <a:br/>
            <a:r>
              <a:rPr>
                <a:latin typeface="Courier"/>
              </a:rPr>
              <a:t>  </a:t>
            </a:r>
            <a:r>
              <a:rPr>
                <a:solidFill>
                  <a:srgbClr val="7D9029"/>
                </a:solidFill>
                <a:latin typeface="Courier"/>
              </a:rPr>
              <a:t>effect_sizes    =</a:t>
            </a:r>
            <a:r>
              <a:rPr>
                <a:latin typeface="Courier"/>
              </a:rPr>
              <a:t> </a:t>
            </a:r>
            <a:r>
              <a:rPr>
                <a:solidFill>
                  <a:srgbClr val="06287E"/>
                </a:solidFill>
                <a:latin typeface="Courier"/>
              </a:rPr>
              <a:t>c</a:t>
            </a:r>
            <a:r>
              <a:rPr>
                <a:latin typeface="Courier"/>
              </a:rPr>
              <a:t>(</a:t>
            </a:r>
            <a:r>
              <a:rPr>
                <a:solidFill>
                  <a:srgbClr val="40A070"/>
                </a:solidFill>
                <a:latin typeface="Courier"/>
              </a:rPr>
              <a:t>0.03</a:t>
            </a:r>
            <a:r>
              <a:rPr>
                <a:latin typeface="Courier"/>
              </a:rPr>
              <a:t>, </a:t>
            </a:r>
            <a:r>
              <a:rPr>
                <a:solidFill>
                  <a:srgbClr val="40A070"/>
                </a:solidFill>
                <a:latin typeface="Courier"/>
              </a:rPr>
              <a:t>0.05</a:t>
            </a:r>
            <a:r>
              <a:rPr>
                <a:latin typeface="Courier"/>
              </a:rPr>
              <a:t>),</a:t>
            </a:r>
            <a:br/>
            <a:r>
              <a:rPr>
                <a:latin typeface="Courier"/>
              </a:rPr>
              <a:t>  </a:t>
            </a:r>
            <a:r>
              <a:rPr>
                <a:solidFill>
                  <a:srgbClr val="7D9029"/>
                </a:solidFill>
                <a:latin typeface="Courier"/>
              </a:rPr>
              <a:t>reps            =</a:t>
            </a:r>
            <a:r>
              <a:rPr>
                <a:latin typeface="Courier"/>
              </a:rPr>
              <a:t> </a:t>
            </a:r>
            <a:r>
              <a:rPr>
                <a:solidFill>
                  <a:srgbClr val="40A070"/>
                </a:solidFill>
                <a:latin typeface="Courier"/>
              </a:rPr>
              <a:t>200</a:t>
            </a:r>
            <a:br/>
            <a:r>
              <a:rPr>
                <a:latin typeface="Courier"/>
              </a:rPr>
              <a:t>)</a:t>
            </a:r>
          </a:p>
          <a:p>
            <a:pPr lvl="0" indent="0" marL="0">
              <a:buNone/>
            </a:pPr>
            <a:r>
              <a:rPr/>
              <a:t>This is the first place where a “results-like” number appears, but the outcome involved is synthetic, not the real outcome.</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9 — Data-quality stress test</a:t>
            </a:r>
          </a:p>
        </p:txBody>
      </p:sp>
      <p:sp>
        <p:nvSpPr>
          <p:cNvPr id="3" name="Content Placeholder 2"/>
          <p:cNvSpPr>
            <a:spLocks noGrp="1"/>
          </p:cNvSpPr>
          <p:nvPr>
            <p:ph idx="1"/>
          </p:nvPr>
        </p:nvSpPr>
        <p:spPr/>
        <p:txBody>
          <a:bodyPr/>
          <a:lstStyle/>
          <a:p>
            <a:pPr lvl="0" indent="0" marL="0">
              <a:buNone/>
            </a:pPr>
            <a:r>
              <a:rPr/>
              <a:t>Repeat the same simulation under prespecified data-quality threats. The minimax rule chooses the candidate that performs best in its worst-case scenario.</a:t>
            </a:r>
          </a:p>
          <a:p>
            <a:pPr lvl="0" indent="0">
              <a:buNone/>
            </a:pPr>
            <a:r>
              <a:rPr>
                <a:latin typeface="Courier"/>
              </a:rPr>
              <a:t>dq_results </a:t>
            </a:r>
            <a:r>
              <a:rPr>
                <a:solidFill>
                  <a:srgbClr val="007020"/>
                </a:solidFill>
                <a:latin typeface="Courier"/>
              </a:rPr>
              <a:t>&lt;-</a:t>
            </a:r>
            <a:r>
              <a:rPr>
                <a:latin typeface="Courier"/>
              </a:rPr>
              <a:t> </a:t>
            </a:r>
            <a:r>
              <a:rPr>
                <a:solidFill>
                  <a:srgbClr val="06287E"/>
                </a:solidFill>
                <a:latin typeface="Courier"/>
              </a:rPr>
              <a:t>run_plasmode_dq_stress</a:t>
            </a:r>
            <a:r>
              <a:rPr>
                <a:latin typeface="Courier"/>
              </a:rPr>
              <a:t>(</a:t>
            </a:r>
            <a:br/>
            <a:r>
              <a:rPr>
                <a:latin typeface="Courier"/>
              </a:rPr>
              <a:t>  lock,</a:t>
            </a:r>
            <a:br/>
            <a:r>
              <a:rPr>
                <a:latin typeface="Courier"/>
              </a:rPr>
              <a:t>  </a:t>
            </a:r>
            <a:r>
              <a:rPr>
                <a:solidFill>
                  <a:srgbClr val="7D9029"/>
                </a:solidFill>
                <a:latin typeface="Courier"/>
              </a:rPr>
              <a:t>tmle_candidates =</a:t>
            </a:r>
            <a:r>
              <a:rPr>
                <a:latin typeface="Courier"/>
              </a:rPr>
              <a:t> candidates,</a:t>
            </a:r>
            <a:br/>
            <a:r>
              <a:rPr>
                <a:latin typeface="Courier"/>
              </a:rPr>
              <a:t>  </a:t>
            </a:r>
            <a:r>
              <a:rPr>
                <a:solidFill>
                  <a:srgbClr val="7D9029"/>
                </a:solidFill>
                <a:latin typeface="Courier"/>
              </a:rPr>
              <a:t>scenarios       =</a:t>
            </a:r>
            <a:r>
              <a:rPr>
                <a:latin typeface="Courier"/>
              </a:rPr>
              <a:t> </a:t>
            </a:r>
            <a:r>
              <a:rPr>
                <a:solidFill>
                  <a:srgbClr val="06287E"/>
                </a:solidFill>
                <a:latin typeface="Courier"/>
              </a:rPr>
              <a:t>default_dq_scenarios</a:t>
            </a:r>
            <a:r>
              <a:rPr>
                <a:latin typeface="Courier"/>
              </a:rPr>
              <a:t>(),  </a:t>
            </a:r>
            <a:r>
              <a:rPr i="1">
                <a:solidFill>
                  <a:srgbClr val="60A0B0"/>
                </a:solidFill>
                <a:latin typeface="Courier"/>
              </a:rPr>
              <a:t># missingness, exposure &amp; outcome misclass, latent U</a:t>
            </a:r>
            <a:br/>
            <a:r>
              <a:rPr>
                <a:latin typeface="Courier"/>
              </a:rPr>
              <a:t>  </a:t>
            </a:r>
            <a:r>
              <a:rPr>
                <a:solidFill>
                  <a:srgbClr val="7D9029"/>
                </a:solidFill>
                <a:latin typeface="Courier"/>
              </a:rPr>
              <a:t>n_reps          =</a:t>
            </a:r>
            <a:r>
              <a:rPr>
                <a:latin typeface="Courier"/>
              </a:rPr>
              <a:t> </a:t>
            </a:r>
            <a:r>
              <a:rPr>
                <a:solidFill>
                  <a:srgbClr val="40A070"/>
                </a:solidFill>
                <a:latin typeface="Courier"/>
              </a:rPr>
              <a:t>200</a:t>
            </a:r>
            <a:br/>
            <a:r>
              <a:rPr>
                <a:latin typeface="Courier"/>
              </a:rPr>
              <a:t>)</a:t>
            </a:r>
            <a:br/>
            <a:r>
              <a:rPr>
                <a:latin typeface="Courier"/>
              </a:rPr>
              <a:t>selected </a:t>
            </a:r>
            <a:r>
              <a:rPr>
                <a:solidFill>
                  <a:srgbClr val="007020"/>
                </a:solidFill>
                <a:latin typeface="Courier"/>
              </a:rPr>
              <a:t>&lt;-</a:t>
            </a:r>
            <a:r>
              <a:rPr>
                <a:latin typeface="Courier"/>
              </a:rPr>
              <a:t> </a:t>
            </a:r>
            <a:r>
              <a:rPr>
                <a:solidFill>
                  <a:srgbClr val="06287E"/>
                </a:solidFill>
                <a:latin typeface="Courier"/>
              </a:rPr>
              <a:t>select_tmle_candidate</a:t>
            </a:r>
            <a:r>
              <a:rPr>
                <a:latin typeface="Courier"/>
              </a:rPr>
              <a:t>(plas, </a:t>
            </a:r>
            <a:r>
              <a:rPr>
                <a:solidFill>
                  <a:srgbClr val="7D9029"/>
                </a:solidFill>
                <a:latin typeface="Courier"/>
              </a:rPr>
              <a:t>rule =</a:t>
            </a:r>
            <a:r>
              <a:rPr>
                <a:latin typeface="Courier"/>
              </a:rPr>
              <a:t> </a:t>
            </a:r>
            <a:r>
              <a:rPr>
                <a:solidFill>
                  <a:srgbClr val="4070A0"/>
                </a:solidFill>
                <a:latin typeface="Courier"/>
              </a:rPr>
              <a:t>"min_max_rmse"</a:t>
            </a:r>
            <a:r>
              <a:rPr>
                <a:latin typeface="Courier"/>
              </a:rPr>
              <a:t>,</a:t>
            </a:r>
            <a:br/>
            <a:r>
              <a:rPr>
                <a:latin typeface="Courier"/>
              </a:rPr>
              <a:t>                                  </a:t>
            </a:r>
            <a:r>
              <a:rPr>
                <a:solidFill>
                  <a:srgbClr val="7D9029"/>
                </a:solidFill>
                <a:latin typeface="Courier"/>
              </a:rPr>
              <a:t>dq_results =</a:t>
            </a:r>
            <a:r>
              <a:rPr>
                <a:latin typeface="Courier"/>
              </a:rPr>
              <a:t> dq_results)</a:t>
            </a:r>
          </a:p>
          <a:p>
            <a:pPr lvl="0" indent="0" marL="0">
              <a:buNone/>
            </a:pPr>
            <a:r>
              <a:rPr>
                <a:latin typeface="Courier"/>
              </a:rPr>
              <a:t>selected</a:t>
            </a:r>
            <a:r>
              <a:rPr/>
              <a:t> is the locked primary specification.</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10 — Negative-control screen</a:t>
            </a:r>
          </a:p>
        </p:txBody>
      </p:sp>
      <p:sp>
        <p:nvSpPr>
          <p:cNvPr id="3" name="Content Placeholder 2"/>
          <p:cNvSpPr>
            <a:spLocks noGrp="1"/>
          </p:cNvSpPr>
          <p:nvPr>
            <p:ph idx="1"/>
          </p:nvPr>
        </p:nvSpPr>
        <p:spPr/>
        <p:txBody>
          <a:bodyPr/>
          <a:lstStyle/>
          <a:p>
            <a:pPr lvl="0" indent="0" marL="0">
              <a:buNone/>
            </a:pPr>
            <a:r>
              <a:rPr/>
              <a:t>A small panel of pre-treatment outcomes that should not be affected by the exposure. This is a different probe of residual confounding from what plasmode or stress testing can give.</a:t>
            </a:r>
          </a:p>
          <a:p>
            <a:pPr lvl="0" indent="0">
              <a:buNone/>
            </a:pPr>
            <a:r>
              <a:rPr>
                <a:latin typeface="Courier"/>
              </a:rPr>
              <a:t>nc_results </a:t>
            </a:r>
            <a:r>
              <a:rPr>
                <a:solidFill>
                  <a:srgbClr val="007020"/>
                </a:solidFill>
                <a:latin typeface="Courier"/>
              </a:rPr>
              <a:t>&lt;-</a:t>
            </a:r>
            <a:r>
              <a:rPr>
                <a:latin typeface="Courier"/>
              </a:rPr>
              <a:t> </a:t>
            </a:r>
            <a:r>
              <a:rPr>
                <a:solidFill>
                  <a:srgbClr val="06287E"/>
                </a:solidFill>
                <a:latin typeface="Courier"/>
              </a:rPr>
              <a:t>run_residual_confounding_stage</a:t>
            </a:r>
            <a:r>
              <a:rPr>
                <a:latin typeface="Courier"/>
              </a:rPr>
              <a:t>(</a:t>
            </a:r>
            <a:br/>
            <a:r>
              <a:rPr>
                <a:latin typeface="Courier"/>
              </a:rPr>
              <a:t>  lock,</a:t>
            </a:r>
            <a:br/>
            <a:r>
              <a:rPr>
                <a:latin typeface="Courier"/>
              </a:rPr>
              <a:t>  </a:t>
            </a:r>
            <a:r>
              <a:rPr>
                <a:solidFill>
                  <a:srgbClr val="7D9029"/>
                </a:solidFill>
                <a:latin typeface="Courier"/>
              </a:rPr>
              <a:t>negative_controls =</a:t>
            </a:r>
            <a:r>
              <a:rPr>
                <a:latin typeface="Courier"/>
              </a:rPr>
              <a:t> </a:t>
            </a:r>
            <a:r>
              <a:rPr>
                <a:solidFill>
                  <a:srgbClr val="06287E"/>
                </a:solidFill>
                <a:latin typeface="Courier"/>
              </a:rPr>
              <a:t>c</a:t>
            </a:r>
            <a:r>
              <a:rPr>
                <a:latin typeface="Courier"/>
              </a:rPr>
              <a:t>(</a:t>
            </a:r>
            <a:r>
              <a:rPr>
                <a:solidFill>
                  <a:srgbClr val="4070A0"/>
                </a:solidFill>
                <a:latin typeface="Courier"/>
              </a:rPr>
              <a:t>"chronic_hypertension"</a:t>
            </a:r>
            <a:r>
              <a:rPr>
                <a:latin typeface="Courier"/>
              </a:rPr>
              <a:t>, </a:t>
            </a:r>
            <a:r>
              <a:rPr>
                <a:solidFill>
                  <a:srgbClr val="4070A0"/>
                </a:solidFill>
                <a:latin typeface="Courier"/>
              </a:rPr>
              <a:t>"household_urban"</a:t>
            </a:r>
            <a:r>
              <a:rPr>
                <a:latin typeface="Courier"/>
              </a:rPr>
              <a:t>,</a:t>
            </a:r>
            <a:br/>
            <a:r>
              <a:rPr>
                <a:latin typeface="Courier"/>
              </a:rPr>
              <a:t>                        </a:t>
            </a:r>
            <a:r>
              <a:rPr>
                <a:solidFill>
                  <a:srgbClr val="4070A0"/>
                </a:solidFill>
                <a:latin typeface="Courier"/>
              </a:rPr>
              <a:t>"chronic_diabetes_insulin"</a:t>
            </a:r>
            <a:r>
              <a:rPr>
                <a:latin typeface="Courier"/>
              </a:rPr>
              <a:t>, </a:t>
            </a:r>
            <a:r>
              <a:rPr>
                <a:solidFill>
                  <a:srgbClr val="4070A0"/>
                </a:solidFill>
                <a:latin typeface="Courier"/>
              </a:rPr>
              <a:t>"chronic_hiv_art"</a:t>
            </a:r>
            <a:r>
              <a:rPr>
                <a:latin typeface="Courier"/>
              </a:rPr>
              <a:t>,</a:t>
            </a:r>
            <a:br/>
            <a:r>
              <a:rPr>
                <a:latin typeface="Courier"/>
              </a:rPr>
              <a:t>                        </a:t>
            </a:r>
            <a:r>
              <a:rPr>
                <a:solidFill>
                  <a:srgbClr val="4070A0"/>
                </a:solidFill>
                <a:latin typeface="Courier"/>
              </a:rPr>
              <a:t>"fuel_wood"</a:t>
            </a:r>
            <a:r>
              <a:rPr>
                <a:latin typeface="Courier"/>
              </a:rPr>
              <a:t>)</a:t>
            </a:r>
            <a:br/>
            <a:r>
              <a:rPr>
                <a:latin typeface="Courier"/>
              </a:rPr>
              <a:t>)</a:t>
            </a:r>
            <a:br/>
            <a:r>
              <a:rPr>
                <a:latin typeface="Courier"/>
              </a:rPr>
              <a:t>cp3   </a:t>
            </a:r>
            <a:r>
              <a:rPr>
                <a:solidFill>
                  <a:srgbClr val="007020"/>
                </a:solidFill>
                <a:latin typeface="Courier"/>
              </a:rPr>
              <a:t>&lt;-</a:t>
            </a:r>
            <a:r>
              <a:rPr>
                <a:latin typeface="Courier"/>
              </a:rPr>
              <a:t> </a:t>
            </a:r>
            <a:r>
              <a:rPr>
                <a:solidFill>
                  <a:srgbClr val="06287E"/>
                </a:solidFill>
                <a:latin typeface="Courier"/>
              </a:rPr>
              <a:t>checkpoint_residual_bias</a:t>
            </a:r>
            <a:r>
              <a:rPr>
                <a:latin typeface="Courier"/>
              </a:rPr>
              <a:t>(nc_results)</a:t>
            </a:r>
            <a:br/>
            <a:r>
              <a:rPr>
                <a:latin typeface="Courier"/>
              </a:rPr>
              <a:t>audit </a:t>
            </a:r>
            <a:r>
              <a:rPr>
                <a:solidFill>
                  <a:srgbClr val="007020"/>
                </a:solidFill>
                <a:latin typeface="Courier"/>
              </a:rPr>
              <a:t>&lt;-</a:t>
            </a:r>
            <a:r>
              <a:rPr>
                <a:latin typeface="Courier"/>
              </a:rPr>
              <a:t> </a:t>
            </a:r>
            <a:r>
              <a:rPr>
                <a:solidFill>
                  <a:srgbClr val="06287E"/>
                </a:solidFill>
                <a:latin typeface="Courier"/>
              </a:rPr>
              <a:t>record_checkpoint</a:t>
            </a:r>
            <a:r>
              <a:rPr>
                <a:latin typeface="Courier"/>
              </a:rPr>
              <a:t>(audit, cp3)</a:t>
            </a:r>
          </a:p>
          <a:p>
            <a:pPr lvl="0" indent="0" marL="0">
              <a:buNone/>
            </a:pPr>
            <a:r>
              <a:rPr/>
              <a:t>Three of the five NCs failed the automatic data-cleaning filter and were dropped. The drops are recorded in the audit log.</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11 — Decision log entry</a:t>
            </a:r>
          </a:p>
        </p:txBody>
      </p:sp>
      <p:sp>
        <p:nvSpPr>
          <p:cNvPr id="3" name="Content Placeholder 2"/>
          <p:cNvSpPr>
            <a:spLocks noGrp="1"/>
          </p:cNvSpPr>
          <p:nvPr>
            <p:ph idx="1"/>
          </p:nvPr>
        </p:nvSpPr>
        <p:spPr/>
        <p:txBody>
          <a:bodyPr/>
          <a:lstStyle/>
          <a:p>
            <a:pPr lvl="0" indent="0" marL="0">
              <a:buNone/>
            </a:pPr>
            <a:r>
              <a:rPr/>
              <a:t>At each stage the analyst writes a short structured decision entry. The reviewer reads these alongside the checkpoint records.</a:t>
            </a:r>
          </a:p>
          <a:p>
            <a:pPr lvl="0" indent="0">
              <a:buNone/>
            </a:pPr>
            <a:r>
              <a:rPr>
                <a:latin typeface="Courier"/>
              </a:rPr>
              <a:t>audit </a:t>
            </a:r>
            <a:r>
              <a:rPr>
                <a:solidFill>
                  <a:srgbClr val="007020"/>
                </a:solidFill>
                <a:latin typeface="Courier"/>
              </a:rPr>
              <a:t>&lt;-</a:t>
            </a:r>
            <a:r>
              <a:rPr>
                <a:latin typeface="Courier"/>
              </a:rPr>
              <a:t> </a:t>
            </a:r>
            <a:r>
              <a:rPr>
                <a:solidFill>
                  <a:srgbClr val="06287E"/>
                </a:solidFill>
                <a:latin typeface="Courier"/>
              </a:rPr>
              <a:t>log_decision_entry</a:t>
            </a:r>
            <a:r>
              <a:rPr>
                <a:latin typeface="Courier"/>
              </a:rPr>
              <a:t>(</a:t>
            </a:r>
            <a:br/>
            <a:r>
              <a:rPr>
                <a:latin typeface="Courier"/>
              </a:rPr>
              <a:t>  audit,</a:t>
            </a:r>
            <a:br/>
            <a:r>
              <a:rPr>
                <a:latin typeface="Courier"/>
              </a:rPr>
              <a:t>  </a:t>
            </a:r>
            <a:r>
              <a:rPr>
                <a:solidFill>
                  <a:srgbClr val="7D9029"/>
                </a:solidFill>
                <a:latin typeface="Courier"/>
              </a:rPr>
              <a:t>stage     =</a:t>
            </a:r>
            <a:r>
              <a:rPr>
                <a:latin typeface="Courier"/>
              </a:rPr>
              <a:t> </a:t>
            </a:r>
            <a:r>
              <a:rPr>
                <a:solidFill>
                  <a:srgbClr val="4070A0"/>
                </a:solidFill>
                <a:latin typeface="Courier"/>
              </a:rPr>
              <a:t>"Stage 3 NC"</a:t>
            </a:r>
            <a:r>
              <a:rPr>
                <a:latin typeface="Courier"/>
              </a:rPr>
              <a:t>,</a:t>
            </a:r>
            <a:br/>
            <a:r>
              <a:rPr>
                <a:latin typeface="Courier"/>
              </a:rPr>
              <a:t>  </a:t>
            </a:r>
            <a:r>
              <a:rPr>
                <a:solidFill>
                  <a:srgbClr val="7D9029"/>
                </a:solidFill>
                <a:latin typeface="Courier"/>
              </a:rPr>
              <a:t>decision  =</a:t>
            </a:r>
            <a:r>
              <a:rPr>
                <a:latin typeface="Courier"/>
              </a:rPr>
              <a:t> </a:t>
            </a:r>
            <a:r>
              <a:rPr>
                <a:solidFill>
                  <a:srgbClr val="4070A0"/>
                </a:solidFill>
                <a:latin typeface="Courier"/>
              </a:rPr>
              <a:t>"FLAG"</a:t>
            </a:r>
            <a:r>
              <a:rPr>
                <a:latin typeface="Courier"/>
              </a:rPr>
              <a:t>,</a:t>
            </a:r>
            <a:br/>
            <a:r>
              <a:rPr>
                <a:latin typeface="Courier"/>
              </a:rPr>
              <a:t>  </a:t>
            </a:r>
            <a:r>
              <a:rPr>
                <a:solidFill>
                  <a:srgbClr val="7D9029"/>
                </a:solidFill>
                <a:latin typeface="Courier"/>
              </a:rPr>
              <a:t>rationale =</a:t>
            </a:r>
            <a:r>
              <a:rPr>
                <a:latin typeface="Courier"/>
              </a:rPr>
              <a:t> </a:t>
            </a:r>
            <a:r>
              <a:rPr>
                <a:solidFill>
                  <a:srgbClr val="4070A0"/>
                </a:solidFill>
                <a:latin typeface="Courier"/>
              </a:rPr>
              <a:t>"Three NCs dropped by NZV filter; residual-confounding probe rests on 2 of 5"</a:t>
            </a:r>
            <a:r>
              <a:rPr>
                <a:latin typeface="Courier"/>
              </a:rPr>
              <a:t>,</a:t>
            </a:r>
            <a:br/>
            <a:r>
              <a:rPr>
                <a:latin typeface="Courier"/>
              </a:rPr>
              <a:t>  </a:t>
            </a:r>
            <a:r>
              <a:rPr>
                <a:solidFill>
                  <a:srgbClr val="7D9029"/>
                </a:solidFill>
                <a:latin typeface="Courier"/>
              </a:rPr>
              <a:t>reviewer  =</a:t>
            </a:r>
            <a:r>
              <a:rPr>
                <a:latin typeface="Courier"/>
              </a:rPr>
              <a:t> </a:t>
            </a:r>
            <a:r>
              <a:rPr>
                <a:solidFill>
                  <a:srgbClr val="4070A0"/>
                </a:solidFill>
                <a:latin typeface="Courier"/>
              </a:rPr>
              <a:t>"lead_analyst"</a:t>
            </a:r>
            <a:r>
              <a:rPr>
                <a:latin typeface="Courier"/>
              </a:rPr>
              <a:t>,</a:t>
            </a:r>
            <a:br/>
            <a:r>
              <a:rPr>
                <a:latin typeface="Courier"/>
              </a:rPr>
              <a:t>  </a:t>
            </a:r>
            <a:r>
              <a:rPr>
                <a:solidFill>
                  <a:srgbClr val="7D9029"/>
                </a:solidFill>
                <a:latin typeface="Courier"/>
              </a:rPr>
              <a:t>y_visible =</a:t>
            </a:r>
            <a:r>
              <a:rPr>
                <a:latin typeface="Courier"/>
              </a:rPr>
              <a:t> </a:t>
            </a:r>
            <a:r>
              <a:rPr>
                <a:solidFill>
                  <a:srgbClr val="880000"/>
                </a:solidFill>
                <a:latin typeface="Courier"/>
              </a:rPr>
              <a:t>FALSE</a:t>
            </a:r>
            <a:br/>
            <a:r>
              <a:rPr>
                <a:latin typeface="Courier"/>
              </a:rPr>
              <a:t>)</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12 — Pre-outcome gate</a:t>
            </a:r>
          </a:p>
        </p:txBody>
      </p:sp>
      <p:sp>
        <p:nvSpPr>
          <p:cNvPr id="3" name="Content Placeholder 2"/>
          <p:cNvSpPr>
            <a:spLocks noGrp="1"/>
          </p:cNvSpPr>
          <p:nvPr>
            <p:ph idx="1"/>
          </p:nvPr>
        </p:nvSpPr>
        <p:spPr/>
        <p:txBody>
          <a:bodyPr/>
          <a:lstStyle/>
          <a:p>
            <a:pPr lvl="0" indent="0" marL="0">
              <a:buNone/>
            </a:pPr>
            <a:r>
              <a:rPr>
                <a:latin typeface="Courier"/>
              </a:rPr>
              <a:t>gate_all()</a:t>
            </a:r>
            <a:r>
              <a:rPr/>
              <a:t> aggregates the recorded checkpoints into a single GO / FLAG / STOP decision against the prespecified thresholds.</a:t>
            </a:r>
          </a:p>
          <a:p>
            <a:pPr lvl="0" indent="0">
              <a:buNone/>
            </a:pPr>
            <a:r>
              <a:rPr>
                <a:latin typeface="Courier"/>
              </a:rPr>
              <a:t>gate </a:t>
            </a:r>
            <a:r>
              <a:rPr>
                <a:solidFill>
                  <a:srgbClr val="007020"/>
                </a:solidFill>
                <a:latin typeface="Courier"/>
              </a:rPr>
              <a:t>&lt;-</a:t>
            </a:r>
            <a:r>
              <a:rPr>
                <a:latin typeface="Courier"/>
              </a:rPr>
              <a:t> </a:t>
            </a:r>
            <a:r>
              <a:rPr>
                <a:solidFill>
                  <a:srgbClr val="06287E"/>
                </a:solidFill>
                <a:latin typeface="Courier"/>
              </a:rPr>
              <a:t>gate_all</a:t>
            </a:r>
            <a:r>
              <a:rPr>
                <a:latin typeface="Courier"/>
              </a:rPr>
              <a:t>(cp1, cp2, cp3, </a:t>
            </a:r>
            <a:r>
              <a:rPr>
                <a:solidFill>
                  <a:srgbClr val="7D9029"/>
                </a:solidFill>
                <a:latin typeface="Courier"/>
              </a:rPr>
              <a:t>allow_flag =</a:t>
            </a:r>
            <a:r>
              <a:rPr>
                <a:latin typeface="Courier"/>
              </a:rPr>
              <a:t> </a:t>
            </a:r>
            <a:r>
              <a:rPr>
                <a:solidFill>
                  <a:srgbClr val="880000"/>
                </a:solidFill>
                <a:latin typeface="Courier"/>
              </a:rPr>
              <a:t>TRUE</a:t>
            </a:r>
            <a:r>
              <a:rPr>
                <a:latin typeface="Courier"/>
              </a:rPr>
              <a:t>)</a:t>
            </a:r>
            <a:br/>
            <a:r>
              <a:rPr i="1">
                <a:solidFill>
                  <a:srgbClr val="60A0B0"/>
                </a:solidFill>
                <a:latin typeface="Courier"/>
              </a:rPr>
              <a:t># gate$decision  -&gt; "GO with FLAG"</a:t>
            </a:r>
          </a:p>
          <a:p>
            <a:pPr lvl="0" indent="0" marL="0">
              <a:buNone/>
            </a:pPr>
            <a:r>
              <a:rPr>
                <a:latin typeface="Courier"/>
              </a:rPr>
              <a:t>authorize_outcome_analysis()</a:t>
            </a:r>
            <a:r>
              <a:rPr/>
              <a:t> then turns that decision into an authorisation record that downstream estimators can verify.</a:t>
            </a:r>
          </a:p>
          <a:p>
            <a:pPr lvl="0" indent="0">
              <a:buNone/>
            </a:pPr>
            <a:r>
              <a:rPr>
                <a:latin typeface="Courier"/>
              </a:rPr>
              <a:t>auth </a:t>
            </a:r>
            <a:r>
              <a:rPr>
                <a:solidFill>
                  <a:srgbClr val="007020"/>
                </a:solidFill>
                <a:latin typeface="Courier"/>
              </a:rPr>
              <a:t>&lt;-</a:t>
            </a:r>
            <a:r>
              <a:rPr>
                <a:latin typeface="Courier"/>
              </a:rPr>
              <a:t> </a:t>
            </a:r>
            <a:r>
              <a:rPr>
                <a:solidFill>
                  <a:srgbClr val="06287E"/>
                </a:solidFill>
                <a:latin typeface="Courier"/>
              </a:rPr>
              <a:t>authorize_outcome_analysis</a:t>
            </a:r>
            <a:r>
              <a:rPr>
                <a:latin typeface="Courier"/>
              </a:rPr>
              <a:t>(lock, gate)</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13 — Locked primary analysis</a:t>
            </a:r>
          </a:p>
        </p:txBody>
      </p:sp>
      <p:sp>
        <p:nvSpPr>
          <p:cNvPr id="3" name="Content Placeholder 2"/>
          <p:cNvSpPr>
            <a:spLocks noGrp="1"/>
          </p:cNvSpPr>
          <p:nvPr>
            <p:ph idx="1"/>
          </p:nvPr>
        </p:nvSpPr>
        <p:spPr/>
        <p:txBody>
          <a:bodyPr/>
          <a:lstStyle/>
          <a:p>
            <a:pPr lvl="0" indent="0" marL="0">
              <a:buNone/>
            </a:pPr>
            <a:r>
              <a:rPr/>
              <a:t>The primary-analysis function refuses to run on an unauthorised lock. With the authorisation in place, the locked specification is now permitted to access the real outcome.</a:t>
            </a:r>
          </a:p>
          <a:p>
            <a:pPr lvl="0" indent="0">
              <a:buNone/>
            </a:pPr>
            <a:r>
              <a:rPr>
                <a:latin typeface="Courier"/>
              </a:rPr>
              <a:t>fit_primary </a:t>
            </a:r>
            <a:r>
              <a:rPr>
                <a:solidFill>
                  <a:srgbClr val="007020"/>
                </a:solidFill>
                <a:latin typeface="Courier"/>
              </a:rPr>
              <a:t>&lt;-</a:t>
            </a:r>
            <a:r>
              <a:rPr>
                <a:latin typeface="Courier"/>
              </a:rPr>
              <a:t> </a:t>
            </a:r>
            <a:r>
              <a:rPr>
                <a:solidFill>
                  <a:srgbClr val="06287E"/>
                </a:solidFill>
                <a:latin typeface="Courier"/>
              </a:rPr>
              <a:t>run_clean_tmle</a:t>
            </a:r>
            <a:r>
              <a:rPr>
                <a:latin typeface="Courier"/>
              </a:rPr>
              <a:t>(lock,</a:t>
            </a:r>
            <a:br/>
            <a:r>
              <a:rPr>
                <a:latin typeface="Courier"/>
              </a:rPr>
              <a:t>                              </a:t>
            </a:r>
            <a:r>
              <a:rPr>
                <a:solidFill>
                  <a:srgbClr val="7D9029"/>
                </a:solidFill>
                <a:latin typeface="Courier"/>
              </a:rPr>
              <a:t>spec          =</a:t>
            </a:r>
            <a:r>
              <a:rPr>
                <a:latin typeface="Courier"/>
              </a:rPr>
              <a:t> selected,</a:t>
            </a:r>
            <a:br/>
            <a:r>
              <a:rPr>
                <a:latin typeface="Courier"/>
              </a:rPr>
              <a:t>                              </a:t>
            </a:r>
            <a:r>
              <a:rPr>
                <a:solidFill>
                  <a:srgbClr val="7D9029"/>
                </a:solidFill>
                <a:latin typeface="Courier"/>
              </a:rPr>
              <a:t>ps_fit        =</a:t>
            </a:r>
            <a:r>
              <a:rPr>
                <a:latin typeface="Courier"/>
              </a:rPr>
              <a:t> ps,</a:t>
            </a:r>
            <a:br/>
            <a:r>
              <a:rPr>
                <a:latin typeface="Courier"/>
              </a:rPr>
              <a:t>                              </a:t>
            </a:r>
            <a:r>
              <a:rPr>
                <a:solidFill>
                  <a:srgbClr val="7D9029"/>
                </a:solidFill>
                <a:latin typeface="Courier"/>
              </a:rPr>
              <a:t>authorization =</a:t>
            </a:r>
            <a:r>
              <a:rPr>
                <a:latin typeface="Courier"/>
              </a:rPr>
              <a:t> auth)</a:t>
            </a:r>
            <a:br/>
            <a:r>
              <a:rPr>
                <a:latin typeface="Courier"/>
              </a:rPr>
              <a:t>fit_ipcw    </a:t>
            </a:r>
            <a:r>
              <a:rPr>
                <a:solidFill>
                  <a:srgbClr val="007020"/>
                </a:solidFill>
                <a:latin typeface="Courier"/>
              </a:rPr>
              <a:t>&lt;-</a:t>
            </a:r>
            <a:r>
              <a:rPr>
                <a:latin typeface="Courier"/>
              </a:rPr>
              <a:t> </a:t>
            </a:r>
            <a:r>
              <a:rPr>
                <a:solidFill>
                  <a:srgbClr val="06287E"/>
                </a:solidFill>
                <a:latin typeface="Courier"/>
              </a:rPr>
              <a:t>run_ipcw_tmle</a:t>
            </a:r>
            <a:r>
              <a:rPr>
                <a:latin typeface="Courier"/>
              </a:rPr>
              <a:t>(lock,</a:t>
            </a:r>
            <a:br/>
            <a:r>
              <a:rPr>
                <a:latin typeface="Courier"/>
              </a:rPr>
              <a:t>                             </a:t>
            </a:r>
            <a:r>
              <a:rPr>
                <a:solidFill>
                  <a:srgbClr val="7D9029"/>
                </a:solidFill>
                <a:latin typeface="Courier"/>
              </a:rPr>
              <a:t>ps_fit        =</a:t>
            </a:r>
            <a:r>
              <a:rPr>
                <a:latin typeface="Courier"/>
              </a:rPr>
              <a:t> ps,</a:t>
            </a:r>
            <a:br/>
            <a:r>
              <a:rPr>
                <a:latin typeface="Courier"/>
              </a:rPr>
              <a:t>                             </a:t>
            </a:r>
            <a:r>
              <a:rPr>
                <a:solidFill>
                  <a:srgbClr val="7D9029"/>
                </a:solidFill>
                <a:latin typeface="Courier"/>
              </a:rPr>
              <a:t>authorization =</a:t>
            </a:r>
            <a:r>
              <a:rPr>
                <a:latin typeface="Courier"/>
              </a:rPr>
              <a:t> auth)</a:t>
            </a:r>
          </a:p>
          <a:p>
            <a:pPr lvl="0" indent="0" marL="0">
              <a:buNone/>
            </a:pPr>
            <a:r>
              <a:rPr/>
              <a:t>The matched-cohort and IPTW comparators are run from the same authorised lock.</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14 — Cumulative-risk report</a:t>
            </a:r>
          </a:p>
        </p:txBody>
      </p:sp>
      <p:sp>
        <p:nvSpPr>
          <p:cNvPr id="3" name="Content Placeholder 2"/>
          <p:cNvSpPr>
            <a:spLocks noGrp="1"/>
          </p:cNvSpPr>
          <p:nvPr>
            <p:ph idx="1"/>
          </p:nvPr>
        </p:nvSpPr>
        <p:spPr/>
        <p:txBody>
          <a:bodyPr/>
          <a:lstStyle/>
          <a:p>
            <a:pPr lvl="0" indent="0" marL="0">
              <a:buNone/>
            </a:pPr>
            <a:r>
              <a:rPr/>
              <a:t>The package emphasises absolute risks at a clinically meaningful time point alongside the contrast.</a:t>
            </a:r>
          </a:p>
          <a:p>
            <a:pPr lvl="0" indent="0">
              <a:buNone/>
            </a:pPr>
            <a:r>
              <a:rPr>
                <a:latin typeface="Courier"/>
              </a:rPr>
              <a:t>risk_table </a:t>
            </a:r>
            <a:r>
              <a:rPr>
                <a:solidFill>
                  <a:srgbClr val="007020"/>
                </a:solidFill>
                <a:latin typeface="Courier"/>
              </a:rPr>
              <a:t>&lt;-</a:t>
            </a:r>
            <a:r>
              <a:rPr>
                <a:latin typeface="Courier"/>
              </a:rPr>
              <a:t> </a:t>
            </a:r>
            <a:r>
              <a:rPr>
                <a:solidFill>
                  <a:srgbClr val="06287E"/>
                </a:solidFill>
                <a:latin typeface="Courier"/>
              </a:rPr>
              <a:t>clean_risk_report_table</a:t>
            </a:r>
            <a:r>
              <a:rPr>
                <a:latin typeface="Courier"/>
              </a:rPr>
              <a:t>(</a:t>
            </a:r>
            <a:br/>
            <a:r>
              <a:rPr>
                <a:latin typeface="Courier"/>
              </a:rPr>
              <a:t>  </a:t>
            </a:r>
            <a:r>
              <a:rPr>
                <a:solidFill>
                  <a:srgbClr val="06287E"/>
                </a:solidFill>
                <a:latin typeface="Courier"/>
              </a:rPr>
              <a:t>list</a:t>
            </a:r>
            <a:r>
              <a:rPr>
                <a:latin typeface="Courier"/>
              </a:rPr>
              <a:t>(</a:t>
            </a:r>
            <a:br/>
            <a:r>
              <a:rPr>
                <a:latin typeface="Courier"/>
              </a:rPr>
              <a:t>    </a:t>
            </a:r>
            <a:r>
              <a:rPr>
                <a:solidFill>
                  <a:srgbClr val="4070A0"/>
                </a:solidFill>
                <a:latin typeface="Courier"/>
              </a:rPr>
              <a:t>"Rescue.Co"</a:t>
            </a:r>
            <a:r>
              <a:rPr>
                <a:latin typeface="Courier"/>
              </a:rPr>
              <a:t>       </a:t>
            </a:r>
            <a:r>
              <a:rPr>
                <a:solidFill>
                  <a:srgbClr val="007020"/>
                </a:solidFill>
                <a:latin typeface="Courier"/>
              </a:rPr>
              <a:t>=</a:t>
            </a:r>
            <a:r>
              <a:rPr>
                <a:latin typeface="Courier"/>
              </a:rPr>
              <a:t> fit_primary</a:t>
            </a:r>
            <a:r>
              <a:rPr>
                <a:solidFill>
                  <a:srgbClr val="4070A0"/>
                </a:solidFill>
                <a:latin typeface="Courier"/>
              </a:rPr>
              <a:t>$</a:t>
            </a:r>
            <a:r>
              <a:rPr>
                <a:latin typeface="Courier"/>
              </a:rPr>
              <a:t>risk_treated,</a:t>
            </a:r>
            <a:br/>
            <a:r>
              <a:rPr>
                <a:latin typeface="Courier"/>
              </a:rPr>
              <a:t>    </a:t>
            </a:r>
            <a:r>
              <a:rPr>
                <a:solidFill>
                  <a:srgbClr val="4070A0"/>
                </a:solidFill>
                <a:latin typeface="Courier"/>
              </a:rPr>
              <a:t>"Other ambulance"</a:t>
            </a:r>
            <a:r>
              <a:rPr>
                <a:latin typeface="Courier"/>
              </a:rPr>
              <a:t> </a:t>
            </a:r>
            <a:r>
              <a:rPr>
                <a:solidFill>
                  <a:srgbClr val="007020"/>
                </a:solidFill>
                <a:latin typeface="Courier"/>
              </a:rPr>
              <a:t>=</a:t>
            </a:r>
            <a:r>
              <a:rPr>
                <a:latin typeface="Courier"/>
              </a:rPr>
              <a:t> fit_primary</a:t>
            </a:r>
            <a:r>
              <a:rPr>
                <a:solidFill>
                  <a:srgbClr val="4070A0"/>
                </a:solidFill>
                <a:latin typeface="Courier"/>
              </a:rPr>
              <a:t>$</a:t>
            </a:r>
            <a:r>
              <a:rPr>
                <a:latin typeface="Courier"/>
              </a:rPr>
              <a:t>risk_control,</a:t>
            </a:r>
            <a:br/>
            <a:r>
              <a:rPr>
                <a:latin typeface="Courier"/>
              </a:rPr>
              <a:t>    </a:t>
            </a:r>
            <a:r>
              <a:rPr>
                <a:solidFill>
                  <a:srgbClr val="4070A0"/>
                </a:solidFill>
                <a:latin typeface="Courier"/>
              </a:rPr>
              <a:t>"Difference (RD)"</a:t>
            </a:r>
            <a:r>
              <a:rPr>
                <a:latin typeface="Courier"/>
              </a:rPr>
              <a:t> </a:t>
            </a:r>
            <a:r>
              <a:rPr>
                <a:solidFill>
                  <a:srgbClr val="007020"/>
                </a:solidFill>
                <a:latin typeface="Courier"/>
              </a:rPr>
              <a:t>=</a:t>
            </a:r>
            <a:r>
              <a:rPr>
                <a:latin typeface="Courier"/>
              </a:rPr>
              <a:t> fit_primary</a:t>
            </a:r>
            <a:r>
              <a:rPr>
                <a:solidFill>
                  <a:srgbClr val="4070A0"/>
                </a:solidFill>
                <a:latin typeface="Courier"/>
              </a:rPr>
              <a:t>$</a:t>
            </a:r>
            <a:r>
              <a:rPr>
                <a:latin typeface="Courier"/>
              </a:rPr>
              <a:t>estimate</a:t>
            </a:r>
            <a:br/>
            <a:r>
              <a:rPr>
                <a:latin typeface="Courier"/>
              </a:rPr>
              <a:t>  ),</a:t>
            </a:r>
            <a:br/>
            <a:r>
              <a:rPr>
                <a:latin typeface="Courier"/>
              </a:rPr>
              <a:t>  </a:t>
            </a:r>
            <a:r>
              <a:rPr>
                <a:solidFill>
                  <a:srgbClr val="7D9029"/>
                </a:solidFill>
                <a:latin typeface="Courier"/>
              </a:rPr>
              <a:t>time_point =</a:t>
            </a:r>
            <a:r>
              <a:rPr>
                <a:latin typeface="Courier"/>
              </a:rPr>
              <a:t> </a:t>
            </a:r>
            <a:r>
              <a:rPr>
                <a:solidFill>
                  <a:srgbClr val="4070A0"/>
                </a:solidFill>
                <a:latin typeface="Courier"/>
              </a:rPr>
              <a:t>"6 months"</a:t>
            </a:r>
            <a:br/>
            <a:r>
              <a:rPr>
                <a:latin typeface="Courier"/>
              </a:rPr>
              <a:t>)</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15 — Sensitivity analyses</a:t>
            </a:r>
          </a:p>
        </p:txBody>
      </p:sp>
      <p:sp>
        <p:nvSpPr>
          <p:cNvPr id="3" name="Content Placeholder 2"/>
          <p:cNvSpPr>
            <a:spLocks noGrp="1"/>
          </p:cNvSpPr>
          <p:nvPr>
            <p:ph idx="1"/>
          </p:nvPr>
        </p:nvSpPr>
        <p:spPr/>
        <p:txBody>
          <a:bodyPr/>
          <a:lstStyle/>
          <a:p>
            <a:pPr lvl="0" indent="0" marL="0">
              <a:buNone/>
            </a:pPr>
            <a:r>
              <a:rPr/>
              <a:t>After the primary analysis runs, prespecified sensitivity analyses are added: a tipping-point sensitivity, an E-value, and a truncation-grid sweep.</a:t>
            </a:r>
          </a:p>
          <a:p>
            <a:pPr lvl="0" indent="0">
              <a:buNone/>
            </a:pPr>
            <a:r>
              <a:rPr>
                <a:latin typeface="Courier"/>
              </a:rPr>
              <a:t>tipping </a:t>
            </a:r>
            <a:r>
              <a:rPr>
                <a:solidFill>
                  <a:srgbClr val="007020"/>
                </a:solidFill>
                <a:latin typeface="Courier"/>
              </a:rPr>
              <a:t>&lt;-</a:t>
            </a:r>
            <a:r>
              <a:rPr>
                <a:latin typeface="Courier"/>
              </a:rPr>
              <a:t> </a:t>
            </a:r>
            <a:r>
              <a:rPr>
                <a:solidFill>
                  <a:srgbClr val="06287E"/>
                </a:solidFill>
                <a:latin typeface="Courier"/>
              </a:rPr>
              <a:t>tipping_point_sensitivity</a:t>
            </a:r>
            <a:r>
              <a:rPr>
                <a:latin typeface="Courier"/>
              </a:rPr>
              <a:t>(fit_primary</a:t>
            </a:r>
            <a:r>
              <a:rPr>
                <a:solidFill>
                  <a:srgbClr val="4070A0"/>
                </a:solidFill>
                <a:latin typeface="Courier"/>
              </a:rPr>
              <a:t>$</a:t>
            </a:r>
            <a:r>
              <a:rPr>
                <a:latin typeface="Courier"/>
              </a:rPr>
              <a:t>estimate,</a:t>
            </a:r>
            <a:br/>
            <a:r>
              <a:rPr>
                <a:latin typeface="Courier"/>
              </a:rPr>
              <a:t>                                     fit_primary</a:t>
            </a:r>
            <a:r>
              <a:rPr>
                <a:solidFill>
                  <a:srgbClr val="4070A0"/>
                </a:solidFill>
                <a:latin typeface="Courier"/>
              </a:rPr>
              <a:t>$</a:t>
            </a:r>
            <a:r>
              <a:rPr>
                <a:latin typeface="Courier"/>
              </a:rPr>
              <a:t>ci_lower,</a:t>
            </a:r>
            <a:br/>
            <a:r>
              <a:rPr>
                <a:latin typeface="Courier"/>
              </a:rPr>
              <a:t>                                     fit_primary</a:t>
            </a:r>
            <a:r>
              <a:rPr>
                <a:solidFill>
                  <a:srgbClr val="4070A0"/>
                </a:solidFill>
                <a:latin typeface="Courier"/>
              </a:rPr>
              <a:t>$</a:t>
            </a:r>
            <a:r>
              <a:rPr>
                <a:latin typeface="Courier"/>
              </a:rPr>
              <a:t>ci_upper)</a:t>
            </a:r>
            <a:br/>
            <a:r>
              <a:rPr>
                <a:latin typeface="Courier"/>
              </a:rPr>
              <a:t>evalue  </a:t>
            </a:r>
            <a:r>
              <a:rPr>
                <a:solidFill>
                  <a:srgbClr val="007020"/>
                </a:solidFill>
                <a:latin typeface="Courier"/>
              </a:rPr>
              <a:t>&lt;-</a:t>
            </a:r>
            <a:r>
              <a:rPr>
                <a:latin typeface="Courier"/>
              </a:rPr>
              <a:t> </a:t>
            </a:r>
            <a:r>
              <a:rPr>
                <a:solidFill>
                  <a:srgbClr val="06287E"/>
                </a:solidFill>
                <a:latin typeface="Courier"/>
              </a:rPr>
              <a:t>compute_evalue</a:t>
            </a:r>
            <a:r>
              <a:rPr>
                <a:latin typeface="Courier"/>
              </a:rPr>
              <a:t>(fit_primary</a:t>
            </a:r>
            <a:r>
              <a:rPr>
                <a:solidFill>
                  <a:srgbClr val="4070A0"/>
                </a:solidFill>
                <a:latin typeface="Courier"/>
              </a:rPr>
              <a:t>$</a:t>
            </a:r>
            <a:r>
              <a:rPr>
                <a:latin typeface="Courier"/>
              </a:rPr>
              <a:t>estimate, fit_primary</a:t>
            </a:r>
            <a:r>
              <a:rPr>
                <a:solidFill>
                  <a:srgbClr val="4070A0"/>
                </a:solidFill>
                <a:latin typeface="Courier"/>
              </a:rPr>
              <a:t>$</a:t>
            </a:r>
            <a:r>
              <a:rPr>
                <a:latin typeface="Courier"/>
              </a:rPr>
              <a:t>ci_lower)</a:t>
            </a:r>
            <a:br/>
            <a:r>
              <a:rPr>
                <a:latin typeface="Courier"/>
              </a:rPr>
              <a:t>trunc_s </a:t>
            </a:r>
            <a:r>
              <a:rPr>
                <a:solidFill>
                  <a:srgbClr val="007020"/>
                </a:solidFill>
                <a:latin typeface="Courier"/>
              </a:rPr>
              <a:t>&lt;-</a:t>
            </a:r>
            <a:r>
              <a:rPr>
                <a:latin typeface="Courier"/>
              </a:rPr>
              <a:t> </a:t>
            </a:r>
            <a:r>
              <a:rPr>
                <a:solidFill>
                  <a:srgbClr val="06287E"/>
                </a:solidFill>
                <a:latin typeface="Courier"/>
              </a:rPr>
              <a:t>sensitivity_truncation</a:t>
            </a:r>
            <a:r>
              <a:rPr>
                <a:latin typeface="Courier"/>
              </a:rPr>
              <a:t>(lock, </a:t>
            </a:r>
            <a:r>
              <a:rPr>
                <a:solidFill>
                  <a:srgbClr val="7D9029"/>
                </a:solidFill>
                <a:latin typeface="Courier"/>
              </a:rPr>
              <a:t>trunc_grid =</a:t>
            </a:r>
            <a:r>
              <a:rPr>
                <a:latin typeface="Courier"/>
              </a:rPr>
              <a:t> </a:t>
            </a:r>
            <a:r>
              <a:rPr>
                <a:solidFill>
                  <a:srgbClr val="06287E"/>
                </a:solidFill>
                <a:latin typeface="Courier"/>
              </a:rPr>
              <a:t>c</a:t>
            </a:r>
            <a:r>
              <a:rPr>
                <a:latin typeface="Courier"/>
              </a:rPr>
              <a:t>(</a:t>
            </a:r>
            <a:r>
              <a:rPr>
                <a:solidFill>
                  <a:srgbClr val="40A070"/>
                </a:solidFill>
                <a:latin typeface="Courier"/>
              </a:rPr>
              <a:t>0.01</a:t>
            </a:r>
            <a:r>
              <a:rPr>
                <a:latin typeface="Courier"/>
              </a:rPr>
              <a:t>, </a:t>
            </a:r>
            <a:r>
              <a:rPr>
                <a:solidFill>
                  <a:srgbClr val="40A070"/>
                </a:solidFill>
                <a:latin typeface="Courier"/>
              </a:rPr>
              <a:t>0.025</a:t>
            </a:r>
            <a:r>
              <a:rPr>
                <a:latin typeface="Courier"/>
              </a:rPr>
              <a:t>, </a:t>
            </a:r>
            <a:r>
              <a:rPr>
                <a:solidFill>
                  <a:srgbClr val="40A070"/>
                </a:solidFill>
                <a:latin typeface="Courier"/>
              </a:rPr>
              <a:t>0.05</a:t>
            </a:r>
            <a:r>
              <a:rPr>
                <a:latin typeface="Courier"/>
              </a:rPr>
              <a:t>, </a:t>
            </a:r>
            <a:r>
              <a:rPr>
                <a:solidFill>
                  <a:srgbClr val="40A070"/>
                </a:solidFill>
                <a:latin typeface="Courier"/>
              </a:rPr>
              <a:t>0.10</a:t>
            </a:r>
            <a:r>
              <a:rPr>
                <a:latin typeface="Courier"/>
              </a:rPr>
              <a:t>))</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16 — Export the dossier</a:t>
            </a:r>
          </a:p>
        </p:txBody>
      </p:sp>
      <p:sp>
        <p:nvSpPr>
          <p:cNvPr id="3" name="Content Placeholder 2"/>
          <p:cNvSpPr>
            <a:spLocks noGrp="1"/>
          </p:cNvSpPr>
          <p:nvPr>
            <p:ph idx="1"/>
          </p:nvPr>
        </p:nvSpPr>
        <p:spPr/>
        <p:txBody>
          <a:bodyPr/>
          <a:lstStyle/>
          <a:p>
            <a:pPr lvl="0" indent="0" marL="0">
              <a:buNone/>
            </a:pPr>
            <a:r>
              <a:rPr/>
              <a:t>Every checkpoint, every decision entry, the lock, the authorisation, and the final estimates can be exported as a single bundle for an external reviewer.</a:t>
            </a:r>
          </a:p>
          <a:p>
            <a:pPr lvl="0" indent="0">
              <a:buNone/>
            </a:pPr>
            <a:r>
              <a:rPr>
                <a:solidFill>
                  <a:srgbClr val="06287E"/>
                </a:solidFill>
                <a:latin typeface="Courier"/>
              </a:rPr>
              <a:t>export_decision_log</a:t>
            </a:r>
            <a:r>
              <a:rPr>
                <a:latin typeface="Courier"/>
              </a:rPr>
              <a:t>(audit, </a:t>
            </a:r>
            <a:r>
              <a:rPr>
                <a:solidFill>
                  <a:srgbClr val="4070A0"/>
                </a:solidFill>
                <a:latin typeface="Courier"/>
              </a:rPr>
              <a:t>"rescueco_decision_log.csv"</a:t>
            </a:r>
            <a:r>
              <a:rPr>
                <a:latin typeface="Courier"/>
              </a:rPr>
              <a:t>)</a:t>
            </a:r>
            <a:br/>
            <a:r>
              <a:rPr>
                <a:solidFill>
                  <a:srgbClr val="06287E"/>
                </a:solidFill>
                <a:latin typeface="Courier"/>
              </a:rPr>
              <a:t>save_audit</a:t>
            </a:r>
            <a:r>
              <a:rPr>
                <a:latin typeface="Courier"/>
              </a:rPr>
              <a:t>(audit,           </a:t>
            </a:r>
            <a:r>
              <a:rPr>
                <a:solidFill>
                  <a:srgbClr val="4070A0"/>
                </a:solidFill>
                <a:latin typeface="Courier"/>
              </a:rPr>
              <a:t>"rescueco_audit.rds"</a:t>
            </a:r>
            <a:r>
              <a:rPr>
                <a:latin typeface="Courier"/>
              </a:rPr>
              <a:t>)</a:t>
            </a:r>
            <a:br/>
            <a:r>
              <a:rPr>
                <a:solidFill>
                  <a:srgbClr val="06287E"/>
                </a:solidFill>
                <a:latin typeface="Courier"/>
              </a:rPr>
              <a:t>save_lock</a:t>
            </a:r>
            <a:r>
              <a:rPr>
                <a:latin typeface="Courier"/>
              </a:rPr>
              <a:t>(lock,             </a:t>
            </a:r>
            <a:r>
              <a:rPr>
                <a:solidFill>
                  <a:srgbClr val="4070A0"/>
                </a:solidFill>
                <a:latin typeface="Courier"/>
              </a:rPr>
              <a:t>"rescueco_lock.rds"</a:t>
            </a:r>
            <a:r>
              <a:rPr>
                <a:latin typeface="Courier"/>
              </a:rPr>
              <a:t>)</a:t>
            </a:r>
          </a:p>
          <a:p>
            <a:pPr lvl="0" indent="0" marL="0">
              <a:buNone/>
            </a:pPr>
            <a:r>
              <a:rPr/>
              <a:t>The reviewer reads these in alongside the manuscript.</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 of the walkthrough</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765300"/>
                <a:gridCol w="1765300"/>
                <a:gridCol w="1765300"/>
                <a:gridCol w="2933700"/>
              </a:tblGrid>
              <a:tr h="0">
                <a:tc>
                  <a:txBody>
                    <a:bodyPr/>
                    <a:lstStyle/>
                    <a:p>
                      <a:pPr lvl="0" indent="0" marL="0">
                        <a:buNone/>
                      </a:pPr>
                      <a:r>
                        <a:rPr/>
                        <a:t>Step</a:t>
                      </a:r>
                    </a:p>
                  </a:txBody>
                  <a:tcPr/>
                </a:tc>
                <a:tc>
                  <a:txBody>
                    <a:bodyPr/>
                    <a:lstStyle/>
                    <a:p>
                      <a:pPr lvl="0" indent="0" marL="0">
                        <a:buNone/>
                      </a:pPr>
                      <a:r>
                        <a:rPr/>
                        <a:t>Function</a:t>
                      </a:r>
                    </a:p>
                  </a:txBody>
                  <a:tcPr/>
                </a:tc>
                <a:tc>
                  <a:txBody>
                    <a:bodyPr/>
                    <a:lstStyle/>
                    <a:p>
                      <a:pPr lvl="0" indent="0" marL="0">
                        <a:buNone/>
                      </a:pPr>
                      <a:r>
                        <a:rPr/>
                        <a:t>What it does</a:t>
                      </a:r>
                    </a:p>
                  </a:txBody>
                  <a:tcPr/>
                </a:tc>
                <a:tc>
                  <a:txBody>
                    <a:bodyPr/>
                    <a:lstStyle/>
                    <a:p>
                      <a:pPr lvl="0" indent="0" marL="0" algn="ctr">
                        <a:buNone/>
                      </a:pPr>
                      <a:r>
                        <a:rPr/>
                        <a:t>Y access</a:t>
                      </a:r>
                    </a:p>
                  </a:txBody>
                  <a:tcPr/>
                </a:tc>
              </a:tr>
              <a:tr h="0">
                <a:tc>
                  <a:txBody>
                    <a:bodyPr/>
                    <a:lstStyle/>
                    <a:p>
                      <a:pPr lvl="0" indent="0" marL="0">
                        <a:buNone/>
                      </a:pPr>
                      <a:r>
                        <a:rPr/>
                        <a:t>1</a:t>
                      </a:r>
                    </a:p>
                  </a:txBody>
                </a:tc>
                <a:tc>
                  <a:txBody>
                    <a:bodyPr/>
                    <a:lstStyle/>
                    <a:p>
                      <a:pPr lvl="0" indent="0" marL="0">
                        <a:buNone/>
                      </a:pPr>
                      <a:r>
                        <a:rPr>
                          <a:latin typeface="Courier"/>
                        </a:rPr>
                        <a:t>attach_estimand()</a:t>
                      </a:r>
                    </a:p>
                  </a:txBody>
                </a:tc>
                <a:tc>
                  <a:txBody>
                    <a:bodyPr/>
                    <a:lstStyle/>
                    <a:p>
                      <a:pPr lvl="0" indent="0" marL="0">
                        <a:buNone/>
                      </a:pPr>
                      <a:r>
                        <a:rPr/>
                        <a:t>Records the target-trial question</a:t>
                      </a:r>
                    </a:p>
                  </a:txBody>
                </a:tc>
                <a:tc>
                  <a:txBody>
                    <a:bodyPr/>
                    <a:lstStyle/>
                    <a:p>
                      <a:pPr lvl="0" indent="0" marL="0" algn="ctr">
                        <a:buNone/>
                      </a:pPr>
                      <a:r>
                        <a:rPr/>
                        <a:t>No</a:t>
                      </a:r>
                    </a:p>
                  </a:txBody>
                </a:tc>
              </a:tr>
              <a:tr h="0">
                <a:tc>
                  <a:txBody>
                    <a:bodyPr/>
                    <a:lstStyle/>
                    <a:p>
                      <a:pPr lvl="0" indent="0" marL="0">
                        <a:buNone/>
                      </a:pPr>
                      <a:r>
                        <a:rPr/>
                        <a:t>2</a:t>
                      </a:r>
                    </a:p>
                  </a:txBody>
                </a:tc>
                <a:tc>
                  <a:txBody>
                    <a:bodyPr/>
                    <a:lstStyle/>
                    <a:p>
                      <a:pPr lvl="0" indent="0" marL="0">
                        <a:buNone/>
                      </a:pPr>
                      <a:r>
                        <a:rPr>
                          <a:latin typeface="Courier"/>
                        </a:rPr>
                        <a:t>create_analysis_lock()</a:t>
                      </a:r>
                    </a:p>
                  </a:txBody>
                </a:tc>
                <a:tc>
                  <a:txBody>
                    <a:bodyPr/>
                    <a:lstStyle/>
                    <a:p>
                      <a:pPr lvl="0" indent="0" marL="0">
                        <a:buNone/>
                      </a:pPr>
                      <a:r>
                        <a:rPr/>
                        <a:t>Fingerprints the plan</a:t>
                      </a:r>
                    </a:p>
                  </a:txBody>
                </a:tc>
                <a:tc>
                  <a:txBody>
                    <a:bodyPr/>
                    <a:lstStyle/>
                    <a:p>
                      <a:pPr lvl="0" indent="0" marL="0" algn="ctr">
                        <a:buNone/>
                      </a:pPr>
                      <a:r>
                        <a:rPr/>
                        <a:t>No</a:t>
                      </a:r>
                    </a:p>
                  </a:txBody>
                </a:tc>
              </a:tr>
              <a:tr h="0">
                <a:tc>
                  <a:txBody>
                    <a:bodyPr/>
                    <a:lstStyle/>
                    <a:p>
                      <a:pPr lvl="0" indent="0" marL="0">
                        <a:buNone/>
                      </a:pPr>
                      <a:r>
                        <a:rPr/>
                        <a:t>3</a:t>
                      </a:r>
                    </a:p>
                  </a:txBody>
                </a:tc>
                <a:tc>
                  <a:txBody>
                    <a:bodyPr/>
                    <a:lstStyle/>
                    <a:p>
                      <a:pPr lvl="0" indent="0" marL="0">
                        <a:buNone/>
                      </a:pPr>
                      <a:r>
                        <a:rPr>
                          <a:latin typeface="Courier"/>
                        </a:rPr>
                        <a:t>attrition_table()</a:t>
                      </a:r>
                    </a:p>
                  </a:txBody>
                </a:tc>
                <a:tc>
                  <a:txBody>
                    <a:bodyPr/>
                    <a:lstStyle/>
                    <a:p>
                      <a:pPr lvl="0" indent="0" marL="0">
                        <a:buNone/>
                      </a:pPr>
                      <a:r>
                        <a:rPr/>
                        <a:t>Records cohort flow</a:t>
                      </a:r>
                    </a:p>
                  </a:txBody>
                </a:tc>
                <a:tc>
                  <a:txBody>
                    <a:bodyPr/>
                    <a:lstStyle/>
                    <a:p>
                      <a:pPr lvl="0" indent="0" marL="0" algn="ctr">
                        <a:buNone/>
                      </a:pPr>
                      <a:r>
                        <a:rPr/>
                        <a:t>No</a:t>
                      </a:r>
                    </a:p>
                  </a:txBody>
                </a:tc>
              </a:tr>
              <a:tr h="0">
                <a:tc>
                  <a:txBody>
                    <a:bodyPr/>
                    <a:lstStyle/>
                    <a:p>
                      <a:pPr lvl="0" indent="0" marL="0">
                        <a:buNone/>
                      </a:pPr>
                      <a:r>
                        <a:rPr/>
                        <a:t>4</a:t>
                      </a:r>
                    </a:p>
                  </a:txBody>
                </a:tc>
                <a:tc>
                  <a:txBody>
                    <a:bodyPr/>
                    <a:lstStyle/>
                    <a:p>
                      <a:pPr lvl="0" indent="0" marL="0">
                        <a:buNone/>
                      </a:pPr>
                      <a:r>
                        <a:rPr>
                          <a:latin typeface="Courier"/>
                        </a:rPr>
                        <a:t>clean_event_process_table()</a:t>
                      </a:r>
                    </a:p>
                  </a:txBody>
                </a:tc>
                <a:tc>
                  <a:txBody>
                    <a:bodyPr/>
                    <a:lstStyle/>
                    <a:p>
                      <a:pPr lvl="0" indent="0" marL="0">
                        <a:buNone/>
                      </a:pPr>
                      <a:r>
                        <a:rPr/>
                        <a:t>Classifies event processes</a:t>
                      </a:r>
                    </a:p>
                  </a:txBody>
                </a:tc>
                <a:tc>
                  <a:txBody>
                    <a:bodyPr/>
                    <a:lstStyle/>
                    <a:p>
                      <a:pPr lvl="0" indent="0" marL="0" algn="ctr">
                        <a:buNone/>
                      </a:pPr>
                      <a:r>
                        <a:rPr/>
                        <a:t>No</a:t>
                      </a:r>
                    </a:p>
                  </a:txBody>
                </a:tc>
              </a:tr>
              <a:tr h="0">
                <a:tc>
                  <a:txBody>
                    <a:bodyPr/>
                    <a:lstStyle/>
                    <a:p>
                      <a:pPr lvl="0" indent="0" marL="0">
                        <a:buNone/>
                      </a:pPr>
                      <a:r>
                        <a:rPr/>
                        <a:t>5</a:t>
                      </a:r>
                    </a:p>
                  </a:txBody>
                </a:tc>
                <a:tc>
                  <a:txBody>
                    <a:bodyPr/>
                    <a:lstStyle/>
                    <a:p>
                      <a:pPr lvl="0" indent="0" marL="0">
                        <a:buNone/>
                      </a:pPr>
                      <a:r>
                        <a:rPr>
                          <a:latin typeface="Courier"/>
                        </a:rPr>
                        <a:t>checkpoint_cohort_adequacy()</a:t>
                      </a:r>
                    </a:p>
                  </a:txBody>
                </a:tc>
                <a:tc>
                  <a:txBody>
                    <a:bodyPr/>
                    <a:lstStyle/>
                    <a:p>
                      <a:pPr lvl="0" indent="0" marL="0">
                        <a:buNone/>
                      </a:pPr>
                      <a:r>
                        <a:rPr/>
                        <a:t>Checks N and events</a:t>
                      </a:r>
                    </a:p>
                  </a:txBody>
                </a:tc>
                <a:tc>
                  <a:txBody>
                    <a:bodyPr/>
                    <a:lstStyle/>
                    <a:p>
                      <a:pPr lvl="0" indent="0" marL="0" algn="ctr">
                        <a:buNone/>
                      </a:pPr>
                      <a:r>
                        <a:rPr/>
                        <a:t>Marginal</a:t>
                      </a:r>
                    </a:p>
                  </a:txBody>
                </a:tc>
              </a:tr>
              <a:tr h="0">
                <a:tc>
                  <a:txBody>
                    <a:bodyPr/>
                    <a:lstStyle/>
                    <a:p>
                      <a:pPr lvl="0" indent="0" marL="0">
                        <a:buNone/>
                      </a:pPr>
                      <a:r>
                        <a:rPr/>
                        <a:t>6</a:t>
                      </a:r>
                    </a:p>
                  </a:txBody>
                </a:tc>
                <a:tc>
                  <a:txBody>
                    <a:bodyPr/>
                    <a:lstStyle/>
                    <a:p>
                      <a:pPr lvl="0" indent="0" marL="0">
                        <a:buNone/>
                      </a:pPr>
                      <a:r>
                        <a:rPr>
                          <a:latin typeface="Courier"/>
                        </a:rPr>
                        <a:t>fit_ps_superlearner()</a:t>
                      </a:r>
                      <a:r>
                        <a:rPr/>
                        <a:t>, </a:t>
                      </a:r>
                      <a:r>
                        <a:rPr>
                          <a:latin typeface="Courier"/>
                        </a:rPr>
                        <a:t>compute_ps_diagnostics()</a:t>
                      </a:r>
                    </a:p>
                  </a:txBody>
                </a:tc>
                <a:tc>
                  <a:txBody>
                    <a:bodyPr/>
                    <a:lstStyle/>
                    <a:p>
                      <a:pPr lvl="0" indent="0" marL="0">
                        <a:buNone/>
                      </a:pPr>
                      <a:r>
                        <a:rPr/>
                        <a:t>PS + overlap + balance</a:t>
                      </a:r>
                    </a:p>
                  </a:txBody>
                </a:tc>
                <a:tc>
                  <a:txBody>
                    <a:bodyPr/>
                    <a:lstStyle/>
                    <a:p>
                      <a:pPr lvl="0" indent="0" marL="0" algn="ctr">
                        <a:buNone/>
                      </a:pPr>
                      <a:r>
                        <a:rPr/>
                        <a:t>No</a:t>
                      </a:r>
                    </a:p>
                  </a:txBody>
                </a:tc>
              </a:tr>
              <a:tr h="0">
                <a:tc>
                  <a:txBody>
                    <a:bodyPr/>
                    <a:lstStyle/>
                    <a:p>
                      <a:pPr lvl="0" indent="0" marL="0">
                        <a:buNone/>
                      </a:pPr>
                      <a:r>
                        <a:rPr/>
                        <a:t>7</a:t>
                      </a:r>
                    </a:p>
                  </a:txBody>
                </a:tc>
                <a:tc>
                  <a:txBody>
                    <a:bodyPr/>
                    <a:lstStyle/>
                    <a:p>
                      <a:pPr lvl="0" indent="0" marL="0">
                        <a:buNone/>
                      </a:pPr>
                      <a:r>
                        <a:rPr>
                          <a:latin typeface="Courier"/>
                        </a:rPr>
                        <a:t>clean_weight_diagnostics()</a:t>
                      </a:r>
                      <a:r>
                        <a:rPr/>
                        <a:t>, </a:t>
                      </a:r>
                      <a:r>
                        <a:rPr>
                          <a:latin typeface="Courier"/>
                        </a:rPr>
                        <a:t>extreme_weights()</a:t>
                      </a:r>
                    </a:p>
                  </a:txBody>
                </a:tc>
                <a:tc>
                  <a:txBody>
                    <a:bodyPr/>
                    <a:lstStyle/>
                    <a:p>
                      <a:pPr lvl="0" indent="0" marL="0">
                        <a:buNone/>
                      </a:pPr>
                      <a:r>
                        <a:rPr/>
                        <a:t>Weight stability</a:t>
                      </a:r>
                    </a:p>
                  </a:txBody>
                </a:tc>
                <a:tc>
                  <a:txBody>
                    <a:bodyPr/>
                    <a:lstStyle/>
                    <a:p>
                      <a:pPr lvl="0" indent="0" marL="0" algn="ctr">
                        <a:buNone/>
                      </a:pPr>
                      <a:r>
                        <a:rPr/>
                        <a:t>No</a:t>
                      </a:r>
                    </a:p>
                  </a:txBody>
                </a:tc>
              </a:tr>
              <a:tr h="0">
                <a:tc>
                  <a:txBody>
                    <a:bodyPr/>
                    <a:lstStyle/>
                    <a:p>
                      <a:pPr lvl="0" indent="0" marL="0">
                        <a:buNone/>
                      </a:pPr>
                      <a:r>
                        <a:rPr/>
                        <a:t>8</a:t>
                      </a:r>
                    </a:p>
                  </a:txBody>
                </a:tc>
                <a:tc>
                  <a:txBody>
                    <a:bodyPr/>
                    <a:lstStyle/>
                    <a:p>
                      <a:pPr lvl="0" indent="0" marL="0">
                        <a:buNone/>
                      </a:pPr>
                      <a:r>
                        <a:rPr>
                          <a:latin typeface="Courier"/>
                        </a:rPr>
                        <a:t>run_plasmode_feasibility()</a:t>
                      </a:r>
                    </a:p>
                  </a:txBody>
                </a:tc>
                <a:tc>
                  <a:txBody>
                    <a:bodyPr/>
                    <a:lstStyle/>
                    <a:p>
                      <a:pPr lvl="0" indent="0" marL="0">
                        <a:buNone/>
                      </a:pPr>
                      <a:r>
                        <a:rPr/>
                        <a:t>Baseline candidate selection</a:t>
                      </a:r>
                    </a:p>
                  </a:txBody>
                </a:tc>
                <a:tc>
                  <a:txBody>
                    <a:bodyPr/>
                    <a:lstStyle/>
                    <a:p>
                      <a:pPr lvl="0" indent="0" marL="0" algn="ctr">
                        <a:buNone/>
                      </a:pPr>
                      <a:r>
                        <a:rPr/>
                        <a:t>Synthetic</a:t>
                      </a:r>
                    </a:p>
                  </a:txBody>
                </a:tc>
              </a:tr>
              <a:tr h="0">
                <a:tc>
                  <a:txBody>
                    <a:bodyPr/>
                    <a:lstStyle/>
                    <a:p>
                      <a:pPr lvl="0" indent="0" marL="0">
                        <a:buNone/>
                      </a:pPr>
                      <a:r>
                        <a:rPr/>
                        <a:t>9</a:t>
                      </a:r>
                    </a:p>
                  </a:txBody>
                </a:tc>
                <a:tc>
                  <a:txBody>
                    <a:bodyPr/>
                    <a:lstStyle/>
                    <a:p>
                      <a:pPr lvl="0" indent="0" marL="0">
                        <a:buNone/>
                      </a:pPr>
                      <a:r>
                        <a:rPr>
                          <a:latin typeface="Courier"/>
                        </a:rPr>
                        <a:t>run_plasmode_dq_stress()</a:t>
                      </a:r>
                    </a:p>
                  </a:txBody>
                </a:tc>
                <a:tc>
                  <a:txBody>
                    <a:bodyPr/>
                    <a:lstStyle/>
                    <a:p>
                      <a:pPr lvl="0" indent="0" marL="0">
                        <a:buNone/>
                      </a:pPr>
                      <a:r>
                        <a:rPr/>
                        <a:t>Stress test under threats</a:t>
                      </a:r>
                    </a:p>
                  </a:txBody>
                </a:tc>
                <a:tc>
                  <a:txBody>
                    <a:bodyPr/>
                    <a:lstStyle/>
                    <a:p>
                      <a:pPr lvl="0" indent="0" marL="0" algn="ctr">
                        <a:buNone/>
                      </a:pPr>
                      <a:r>
                        <a:rPr/>
                        <a:t>Synthetic</a:t>
                      </a:r>
                    </a:p>
                  </a:txBody>
                </a:tc>
              </a:tr>
              <a:tr h="0">
                <a:tc>
                  <a:txBody>
                    <a:bodyPr/>
                    <a:lstStyle/>
                    <a:p>
                      <a:pPr lvl="0" indent="0" marL="0">
                        <a:buNone/>
                      </a:pPr>
                      <a:r>
                        <a:rPr/>
                        <a:t>10</a:t>
                      </a:r>
                    </a:p>
                  </a:txBody>
                </a:tc>
                <a:tc>
                  <a:txBody>
                    <a:bodyPr/>
                    <a:lstStyle/>
                    <a:p>
                      <a:pPr lvl="0" indent="0" marL="0">
                        <a:buNone/>
                      </a:pPr>
                      <a:r>
                        <a:rPr>
                          <a:latin typeface="Courier"/>
                        </a:rPr>
                        <a:t>run_residual_confounding_stage()</a:t>
                      </a:r>
                    </a:p>
                  </a:txBody>
                </a:tc>
                <a:tc>
                  <a:txBody>
                    <a:bodyPr/>
                    <a:lstStyle/>
                    <a:p>
                      <a:pPr lvl="0" indent="0" marL="0">
                        <a:buNone/>
                      </a:pPr>
                      <a:r>
                        <a:rPr/>
                        <a:t>Negative-control probe</a:t>
                      </a:r>
                    </a:p>
                  </a:txBody>
                </a:tc>
                <a:tc>
                  <a:txBody>
                    <a:bodyPr/>
                    <a:lstStyle/>
                    <a:p>
                      <a:pPr lvl="0" indent="0" marL="0" algn="ctr">
                        <a:buNone/>
                      </a:pPr>
                      <a:r>
                        <a:rPr/>
                        <a:t>NC outcomes only</a:t>
                      </a:r>
                    </a:p>
                  </a:txBody>
                </a:tc>
              </a:tr>
              <a:tr h="0">
                <a:tc>
                  <a:txBody>
                    <a:bodyPr/>
                    <a:lstStyle/>
                    <a:p>
                      <a:pPr lvl="0" indent="0" marL="0">
                        <a:buNone/>
                      </a:pPr>
                      <a:r>
                        <a:rPr/>
                        <a:t>11</a:t>
                      </a:r>
                    </a:p>
                  </a:txBody>
                </a:tc>
                <a:tc>
                  <a:txBody>
                    <a:bodyPr/>
                    <a:lstStyle/>
                    <a:p>
                      <a:pPr lvl="0" indent="0" marL="0">
                        <a:buNone/>
                      </a:pPr>
                      <a:r>
                        <a:rPr>
                          <a:latin typeface="Courier"/>
                        </a:rPr>
                        <a:t>log_decision_entry()</a:t>
                      </a:r>
                    </a:p>
                  </a:txBody>
                </a:tc>
                <a:tc>
                  <a:txBody>
                    <a:bodyPr/>
                    <a:lstStyle/>
                    <a:p>
                      <a:pPr lvl="0" indent="0" marL="0">
                        <a:buNone/>
                      </a:pPr>
                      <a:r>
                        <a:rPr/>
                        <a:t>Records each analytic decision</a:t>
                      </a:r>
                    </a:p>
                  </a:txBody>
                </a:tc>
                <a:tc>
                  <a:txBody>
                    <a:bodyPr/>
                    <a:lstStyle/>
                    <a:p>
                      <a:pPr lvl="0" indent="0" marL="0" algn="ctr">
                        <a:buNone/>
                      </a:pPr>
                      <a:r>
                        <a:rPr/>
                        <a:t>No</a:t>
                      </a:r>
                    </a:p>
                  </a:txBody>
                </a:tc>
              </a:tr>
              <a:tr h="0">
                <a:tc>
                  <a:txBody>
                    <a:bodyPr/>
                    <a:lstStyle/>
                    <a:p>
                      <a:pPr lvl="0" indent="0" marL="0">
                        <a:buNone/>
                      </a:pPr>
                      <a:r>
                        <a:rPr/>
                        <a:t>12</a:t>
                      </a:r>
                    </a:p>
                  </a:txBody>
                </a:tc>
                <a:tc>
                  <a:txBody>
                    <a:bodyPr/>
                    <a:lstStyle/>
                    <a:p>
                      <a:pPr lvl="0" indent="0" marL="0">
                        <a:buNone/>
                      </a:pPr>
                      <a:r>
                        <a:rPr>
                          <a:latin typeface="Courier"/>
                        </a:rPr>
                        <a:t>gate_all()</a:t>
                      </a:r>
                      <a:r>
                        <a:rPr/>
                        <a:t>, </a:t>
                      </a:r>
                      <a:r>
                        <a:rPr>
                          <a:latin typeface="Courier"/>
                        </a:rPr>
                        <a:t>authorize_outcome_analysis()</a:t>
                      </a:r>
                    </a:p>
                  </a:txBody>
                </a:tc>
                <a:tc>
                  <a:txBody>
                    <a:bodyPr/>
                    <a:lstStyle/>
                    <a:p>
                      <a:pPr lvl="0" indent="0" marL="0">
                        <a:buNone/>
                      </a:pPr>
                      <a:r>
                        <a:rPr/>
                        <a:t>Pre-outcome decision</a:t>
                      </a:r>
                    </a:p>
                  </a:txBody>
                </a:tc>
                <a:tc>
                  <a:txBody>
                    <a:bodyPr/>
                    <a:lstStyle/>
                    <a:p>
                      <a:pPr lvl="0" indent="0" marL="0" algn="ctr">
                        <a:buNone/>
                      </a:pPr>
                      <a:r>
                        <a:rPr/>
                        <a:t>No</a:t>
                      </a:r>
                    </a:p>
                  </a:txBody>
                </a:tc>
              </a:tr>
              <a:tr h="0">
                <a:tc>
                  <a:txBody>
                    <a:bodyPr/>
                    <a:lstStyle/>
                    <a:p>
                      <a:pPr lvl="0" indent="0" marL="0">
                        <a:buNone/>
                      </a:pPr>
                      <a:r>
                        <a:rPr/>
                        <a:t>13</a:t>
                      </a:r>
                    </a:p>
                  </a:txBody>
                </a:tc>
                <a:tc>
                  <a:txBody>
                    <a:bodyPr/>
                    <a:lstStyle/>
                    <a:p>
                      <a:pPr lvl="0" indent="0" marL="0">
                        <a:buNone/>
                      </a:pPr>
                      <a:r>
                        <a:rPr>
                          <a:latin typeface="Courier"/>
                        </a:rPr>
                        <a:t>run_clean_tmle()</a:t>
                      </a:r>
                      <a:r>
                        <a:rPr/>
                        <a:t>, </a:t>
                      </a:r>
                      <a:r>
                        <a:rPr>
                          <a:latin typeface="Courier"/>
                        </a:rPr>
                        <a:t>run_ipcw_tmle()</a:t>
                      </a:r>
                    </a:p>
                  </a:txBody>
                </a:tc>
                <a:tc>
                  <a:txBody>
                    <a:bodyPr/>
                    <a:lstStyle/>
                    <a:p>
                      <a:pPr lvl="0" indent="0" marL="0">
                        <a:buNone/>
                      </a:pPr>
                      <a:r>
                        <a:rPr/>
                        <a:t>Locked primary analysis</a:t>
                      </a:r>
                    </a:p>
                  </a:txBody>
                </a:tc>
                <a:tc>
                  <a:txBody>
                    <a:bodyPr/>
                    <a:lstStyle/>
                    <a:p>
                      <a:pPr lvl="0" indent="0" marL="0" algn="ctr">
                        <a:buNone/>
                      </a:pPr>
                      <a:r>
                        <a:rPr b="1"/>
                        <a:t>Yes</a:t>
                      </a:r>
                    </a:p>
                  </a:txBody>
                </a:tc>
              </a:tr>
              <a:tr h="0">
                <a:tc>
                  <a:txBody>
                    <a:bodyPr/>
                    <a:lstStyle/>
                    <a:p>
                      <a:pPr lvl="0" indent="0" marL="0">
                        <a:buNone/>
                      </a:pPr>
                      <a:r>
                        <a:rPr/>
                        <a:t>14</a:t>
                      </a:r>
                    </a:p>
                  </a:txBody>
                </a:tc>
                <a:tc>
                  <a:txBody>
                    <a:bodyPr/>
                    <a:lstStyle/>
                    <a:p>
                      <a:pPr lvl="0" indent="0" marL="0">
                        <a:buNone/>
                      </a:pPr>
                      <a:r>
                        <a:rPr>
                          <a:latin typeface="Courier"/>
                        </a:rPr>
                        <a:t>clean_risk_report_table()</a:t>
                      </a:r>
                    </a:p>
                  </a:txBody>
                </a:tc>
                <a:tc>
                  <a:txBody>
                    <a:bodyPr/>
                    <a:lstStyle/>
                    <a:p>
                      <a:pPr lvl="0" indent="0" marL="0">
                        <a:buNone/>
                      </a:pPr>
                      <a:r>
                        <a:rPr/>
                        <a:t>Cumulative-risk report</a:t>
                      </a:r>
                    </a:p>
                  </a:txBody>
                </a:tc>
                <a:tc>
                  <a:txBody>
                    <a:bodyPr/>
                    <a:lstStyle/>
                    <a:p>
                      <a:pPr lvl="0" indent="0" marL="0" algn="ctr">
                        <a:buNone/>
                      </a:pPr>
                      <a:r>
                        <a:rPr/>
                        <a:t>Yes</a:t>
                      </a:r>
                    </a:p>
                  </a:txBody>
                </a:tc>
              </a:tr>
              <a:tr h="0">
                <a:tc>
                  <a:txBody>
                    <a:bodyPr/>
                    <a:lstStyle/>
                    <a:p>
                      <a:pPr lvl="0" indent="0" marL="0">
                        <a:buNone/>
                      </a:pPr>
                      <a:r>
                        <a:rPr/>
                        <a:t>15</a:t>
                      </a:r>
                    </a:p>
                  </a:txBody>
                </a:tc>
                <a:tc>
                  <a:txBody>
                    <a:bodyPr/>
                    <a:lstStyle/>
                    <a:p>
                      <a:pPr lvl="0" indent="0" marL="0">
                        <a:buNone/>
                      </a:pPr>
                      <a:r>
                        <a:rPr>
                          <a:latin typeface="Courier"/>
                        </a:rPr>
                        <a:t>tipping_point_sensitivity()</a:t>
                      </a:r>
                      <a:r>
                        <a:rPr/>
                        <a:t>, </a:t>
                      </a:r>
                      <a:r>
                        <a:rPr>
                          <a:latin typeface="Courier"/>
                        </a:rPr>
                        <a:t>compute_evalue()</a:t>
                      </a:r>
                    </a:p>
                  </a:txBody>
                </a:tc>
                <a:tc>
                  <a:txBody>
                    <a:bodyPr/>
                    <a:lstStyle/>
                    <a:p>
                      <a:pPr lvl="0" indent="0" marL="0">
                        <a:buNone/>
                      </a:pPr>
                      <a:r>
                        <a:rPr/>
                        <a:t>Sensitivity analyses</a:t>
                      </a:r>
                    </a:p>
                  </a:txBody>
                </a:tc>
                <a:tc>
                  <a:txBody>
                    <a:bodyPr/>
                    <a:lstStyle/>
                    <a:p>
                      <a:pPr lvl="0" indent="0" marL="0" algn="ctr">
                        <a:buNone/>
                      </a:pPr>
                      <a:r>
                        <a:rPr/>
                        <a:t>Yes</a:t>
                      </a:r>
                    </a:p>
                  </a:txBody>
                </a:tc>
              </a:tr>
              <a:tr h="0">
                <a:tc>
                  <a:txBody>
                    <a:bodyPr/>
                    <a:lstStyle/>
                    <a:p>
                      <a:pPr lvl="0" indent="0" marL="0">
                        <a:buNone/>
                      </a:pPr>
                      <a:r>
                        <a:rPr/>
                        <a:t>16</a:t>
                      </a:r>
                    </a:p>
                  </a:txBody>
                </a:tc>
                <a:tc>
                  <a:txBody>
                    <a:bodyPr/>
                    <a:lstStyle/>
                    <a:p>
                      <a:pPr lvl="0" indent="0" marL="0">
                        <a:buNone/>
                      </a:pPr>
                      <a:r>
                        <a:rPr>
                          <a:latin typeface="Courier"/>
                        </a:rPr>
                        <a:t>export_decision_log()</a:t>
                      </a:r>
                      <a:r>
                        <a:rPr/>
                        <a:t>, </a:t>
                      </a:r>
                      <a:r>
                        <a:rPr>
                          <a:latin typeface="Courier"/>
                        </a:rPr>
                        <a:t>save_audit()</a:t>
                      </a:r>
                      <a:r>
                        <a:rPr/>
                        <a:t>, </a:t>
                      </a:r>
                      <a:r>
                        <a:rPr>
                          <a:latin typeface="Courier"/>
                        </a:rPr>
                        <a:t>save_lock()</a:t>
                      </a:r>
                    </a:p>
                  </a:txBody>
                </a:tc>
                <a:tc>
                  <a:txBody>
                    <a:bodyPr/>
                    <a:lstStyle/>
                    <a:p>
                      <a:pPr lvl="0" indent="0" marL="0">
                        <a:buNone/>
                      </a:pPr>
                      <a:r>
                        <a:rPr/>
                        <a:t>Export the dossier</a:t>
                      </a:r>
                    </a:p>
                  </a:txBody>
                </a:tc>
                <a:tc>
                  <a:txBody>
                    <a:bodyPr/>
                    <a:lstStyle/>
                    <a:p>
                      <a:pPr lvl="0" indent="0" marL="0" algn="ctr">
                        <a:buNone/>
                      </a:pPr>
                      <a:r>
                        <a:rPr/>
                        <a:t>No</a:t>
                      </a:r>
                    </a:p>
                  </a:txBody>
                </a:tc>
              </a:tr>
            </a:tbl>
          </a:graphicData>
        </a:graphic>
      </p:graphicFrame>
    </p:spTree>
  </p:cSld>
</p:sld>
</file>

<file path=ppt/theme/theme1.xml><?xml version="1.0" encoding="utf-8"?>
<a:theme xmlns:a="http://schemas.openxmlformats.org/drawingml/2006/main" name="BMGF_ki_Theme_v002">
  <a:themeElements>
    <a:clrScheme name="HBGDki_color_v1">
      <a:dk1>
        <a:srgbClr val="343131"/>
      </a:dk1>
      <a:lt1>
        <a:srgbClr val="FFFFFF"/>
      </a:lt1>
      <a:dk2>
        <a:srgbClr val="9B242D"/>
      </a:dk2>
      <a:lt2>
        <a:srgbClr val="FFFFFF"/>
      </a:lt2>
      <a:accent1>
        <a:srgbClr val="3086AB"/>
      </a:accent1>
      <a:accent2>
        <a:srgbClr val="E67021"/>
      </a:accent2>
      <a:accent3>
        <a:srgbClr val="F29B0E"/>
      </a:accent3>
      <a:accent4>
        <a:srgbClr val="B51F29"/>
      </a:accent4>
      <a:accent5>
        <a:srgbClr val="823B69"/>
      </a:accent5>
      <a:accent6>
        <a:srgbClr val="AAA092"/>
      </a:accent6>
      <a:hlink>
        <a:srgbClr val="3086AB"/>
      </a:hlink>
      <a:folHlink>
        <a:srgbClr val="823B69"/>
      </a:folHlink>
    </a:clrScheme>
    <a:fontScheme name="Foundation PPT Fonts - Jan 2014">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lIns="0" tIns="0" rIns="0" bIns="0" rtlCol="0">
        <a:spAutoFit/>
      </a:bodyPr>
      <a:lstStyle>
        <a:defPPr algn="ctr">
          <a:defRPr sz="800" dirty="0" smtClean="0">
            <a:latin typeface="Arial" pitchFamily="34" charset="0"/>
            <a:cs typeface="Arial" pitchFamily="34" charset="0"/>
          </a:defRPr>
        </a:defPPr>
      </a:lstStyle>
    </a:txDef>
  </a:objectDefaults>
  <a:extraClrSchemeLst/>
  <a:extLst>
    <a:ext uri="{05A4C25C-085E-4340-85A3-A5531E510DB2}">
      <thm15:themeFamily xmlns:thm15="http://schemas.microsoft.com/office/thememl/2012/main" name="BMGF_ki_Theme_v002" id="{246C18AA-3F48-4B76-BAE8-BB32034B1366}" vid="{791D82C9-73BB-4286-B133-6928F947903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cleanTMLE</dc:title>
  <dc:creator>Andrew Mertens</dc:creator>
  <cp:keywords/>
  <dcterms:created xsi:type="dcterms:W3CDTF">2026-05-11T16:46:34Z</dcterms:created>
  <dcterms:modified xsi:type="dcterms:W3CDTF">2026-05-11T16:46:34Z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date">
    <vt:lpwstr>2026-05-11</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institute">
    <vt:lpwstr>University of California, Berkeley</vt:lpwstr>
  </property>
  <property fmtid="{D5CDD505-2E9C-101B-9397-08002B2CF9AE}" pid="13" name="institutes">
    <vt:lpwstr/>
  </property>
  <property fmtid="{D5CDD505-2E9C-101B-9397-08002B2CF9AE}" pid="14" name="labels">
    <vt:lpwstr/>
  </property>
  <property fmtid="{D5CDD505-2E9C-101B-9397-08002B2CF9AE}" pid="15" name="subtitle">
    <vt:lpwstr>Software layer for an outcome-blind staged workflow with plasmode DQ stress testing</vt:lpwstr>
  </property>
  <property fmtid="{D5CDD505-2E9C-101B-9397-08002B2CF9AE}" pid="16" name="toc-title">
    <vt:lpwstr>Table of contents</vt:lpwstr>
  </property>
</Properties>
</file>