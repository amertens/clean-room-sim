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6" Type="http://schemas.openxmlformats.org/officeDocument/2006/relationships/viewProps" Target="viewProps.xml" /><Relationship Id="rId105" Type="http://schemas.openxmlformats.org/officeDocument/2006/relationships/presProps" Target="presProps.xml" /><Relationship Id="rId1" Type="http://schemas.openxmlformats.org/officeDocument/2006/relationships/slideMaster" Target="slideMasters/slideMaster1.xml" /><Relationship Id="rId108" Type="http://schemas.openxmlformats.org/officeDocument/2006/relationships/tableStyles" Target="tableStyles.xml" /><Relationship Id="rId10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Software layer for an outcome-blind staged workflow with plasmode DQ stress testing</a:t>
            </a:r>
            <a:br/>
            <a:br/>
            <a:r>
              <a:rPr/>
              <a:t>Andrew Mertens</a:t>
            </a:r>
          </a:p>
        </p:txBody>
      </p:sp>
      <p:sp>
        <p:nvSpPr>
          <p:cNvPr id="4" name="Date Placeholder 3"/>
          <p:cNvSpPr>
            <a:spLocks noGrp="1"/>
          </p:cNvSpPr>
          <p:nvPr>
            <p:ph idx="10" sz="half" type="dt"/>
          </p:nvPr>
        </p:nvSpPr>
        <p:spPr/>
        <p:txBody>
          <a:bodyPr/>
          <a:lstStyle/>
          <a:p>
            <a:pPr lvl="0" indent="0" marL="0">
              <a:buNone/>
            </a:pPr>
            <a:r>
              <a:rPr/>
              <a:t>2026-05-11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a:t>
            </a:r>
          </a:p>
        </p:txBody>
      </p:sp>
      <p:sp>
        <p:nvSpPr>
          <p:cNvPr id="3" name="Content Placeholder 2"/>
          <p:cNvSpPr>
            <a:spLocks noGrp="1"/>
          </p:cNvSpPr>
          <p:nvPr>
            <p:ph idx="1"/>
          </p:nvPr>
        </p:nvSpPr>
        <p:spPr/>
        <p:txBody>
          <a:bodyPr/>
          <a:lstStyle/>
          <a:p>
            <a:pPr lvl="0" indent="0" marL="0">
              <a:buNone/>
            </a:pPr>
            <a:r>
              <a:rPr/>
              <a:t>cleanTMLE is an R package that helps researchers analyse observational health data more carefully. It records every analytic decision before the comparative results are seen, runs realistic simulations to choose between candidate methods, and quietly stress-tests those methods against the kinds of data-quality problems real datasets carry. The point is to make the analysis easier for a reviewer to trust.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talk covers</a:t>
            </a:r>
          </a:p>
        </p:txBody>
      </p:sp>
      <p:sp>
        <p:nvSpPr>
          <p:cNvPr id="3" name="Content Placeholder 2"/>
          <p:cNvSpPr>
            <a:spLocks noGrp="1"/>
          </p:cNvSpPr>
          <p:nvPr>
            <p:ph idx="1"/>
          </p:nvPr>
        </p:nvSpPr>
        <p:spPr/>
        <p:txBody>
          <a:bodyPr/>
          <a:lstStyle/>
          <a:p>
            <a:pPr lvl="0" indent="-342900" marL="342900">
              <a:buAutoNum type="arabicPeriod"/>
            </a:pPr>
            <a:r>
              <a:rPr b="1"/>
              <a:t>Why this matters.</a:t>
            </a:r>
            <a:r>
              <a:rPr/>
              <a:t> Observational studies have a credibility problem; this is one piece of the fix.</a:t>
            </a:r>
          </a:p>
          <a:p>
            <a:pPr lvl="0" indent="-342900" marL="342900">
              <a:buAutoNum type="arabicPeriod"/>
            </a:pPr>
            <a:r>
              <a:rPr b="1"/>
              <a:t>How the package works.</a:t>
            </a:r>
            <a:r>
              <a:rPr/>
              <a:t> A short tour of the workflow, in plain language.</a:t>
            </a:r>
          </a:p>
          <a:p>
            <a:pPr lvl="0" indent="-342900" marL="342900">
              <a:buAutoNum type="arabicPeriod"/>
            </a:pPr>
            <a:r>
              <a:rPr b="1"/>
              <a:t>What the simulations told us.</a:t>
            </a:r>
            <a:r>
              <a:rPr/>
              <a:t> Where the methods are reliable, where they need help, and where they should stop.</a:t>
            </a:r>
          </a:p>
          <a:p>
            <a:pPr lvl="0" indent="-342900" marL="342900">
              <a:buAutoNum type="arabicPeriod"/>
            </a:pPr>
            <a:r>
              <a:rPr b="1"/>
              <a:t>A real case study.</a:t>
            </a:r>
            <a:r>
              <a:rPr/>
              <a:t> Walking through an analysis of ambulance-transport outcomes in Nairobi.</a:t>
            </a:r>
          </a:p>
          <a:p>
            <a:pPr lvl="0" indent="-342900" marL="342900">
              <a:buAutoNum type="arabicPeriod"/>
            </a:pPr>
            <a:r>
              <a:rPr b="1"/>
              <a:t>How this improves on what’s already out there</a:t>
            </a:r>
            <a:r>
              <a:rPr/>
              <a:t>, including comparison with similar packages.</a:t>
            </a:r>
          </a:p>
          <a:p>
            <a:pPr lvl="0" indent="0" marL="0">
              <a:buNone/>
            </a:pPr>
            <a:r>
              <a:rPr/>
              <a:t>A function-by-function walkthrough is in the appendix.</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credibility problem in observational research</a:t>
            </a:r>
          </a:p>
        </p:txBody>
      </p:sp>
      <p:sp>
        <p:nvSpPr>
          <p:cNvPr id="3" name="Content Placeholder 2"/>
          <p:cNvSpPr>
            <a:spLocks noGrp="1"/>
          </p:cNvSpPr>
          <p:nvPr>
            <p:ph idx="1"/>
          </p:nvPr>
        </p:nvSpPr>
        <p:spPr/>
        <p:txBody>
          <a:bodyPr/>
          <a:lstStyle/>
          <a:p>
            <a:pPr lvl="0" indent="0" marL="0">
              <a:buNone/>
            </a:pPr>
            <a:r>
              <a:rPr/>
              <a:t>When researchers analyse routine health data to estimate the effect of a treatment, they have to make many decisions: who is in the cohort, how to define exposure, which covariates to adjust for, how to handle missing outcomes, and which statistical method to use.</a:t>
            </a:r>
          </a:p>
          <a:p>
            <a:pPr lvl="0" indent="0" marL="0">
              <a:buNone/>
            </a:pPr>
            <a:r>
              <a:rPr/>
              <a:t>In a typical study, these decisions are written down in three separate documents. A reviewer cannot easily tell whether the chosen method still makes sense once the analyst has seen the data, or what would happen if any of those decisions had been made differently.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specific weaknesses</a:t>
            </a:r>
          </a:p>
        </p:txBody>
      </p:sp>
      <p:sp>
        <p:nvSpPr>
          <p:cNvPr id="3" name="Content Placeholder 2"/>
          <p:cNvSpPr>
            <a:spLocks noGrp="1"/>
          </p:cNvSpPr>
          <p:nvPr>
            <p:ph idx="1"/>
          </p:nvPr>
        </p:nvSpPr>
        <p:spPr/>
        <p:txBody>
          <a:bodyPr/>
          <a:lstStyle/>
          <a:p>
            <a:pPr lvl="0" indent="0" marL="0">
              <a:buNone/>
            </a:pPr>
            <a:r>
              <a:rPr b="1"/>
              <a:t>Decisions made after seeing the results.</a:t>
            </a:r>
            <a:r>
              <a:rPr/>
              <a:t> Even with a written analysis plan, problems show up during execution (sparse events, model convergence issues, missingness) that force choices. If those choices are made </a:t>
            </a:r>
            <a:r>
              <a:rPr i="1"/>
              <a:t>after</a:t>
            </a:r>
            <a:r>
              <a:rPr/>
              <a:t> the analyst has glimpsed the treatment-outcome association, the analysis is no longer fully prespecified.</a:t>
            </a:r>
          </a:p>
          <a:p>
            <a:pPr lvl="0" indent="0" marL="0">
              <a:buNone/>
            </a:pPr>
            <a:r>
              <a:rPr b="1"/>
              <a:t>Standard diagnostics tell you about design, not about your estimator.</a:t>
            </a:r>
            <a:r>
              <a:rPr/>
              <a:t> Propensity-score overlap, balance, and effective sample size tell you whether the </a:t>
            </a:r>
            <a:r>
              <a:rPr i="1"/>
              <a:t>comparison</a:t>
            </a:r>
            <a:r>
              <a:rPr/>
              <a:t> is feasible. They do not tell you whether the </a:t>
            </a:r>
            <a:r>
              <a:rPr i="1"/>
              <a:t>specific method you plan to use</a:t>
            </a:r>
            <a:r>
              <a:rPr/>
              <a:t> will produce a reliable answer on your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want, before we look at the comparative answer</a:t>
            </a:r>
          </a:p>
        </p:txBody>
      </p:sp>
      <p:sp>
        <p:nvSpPr>
          <p:cNvPr id="3" name="Content Placeholder 2"/>
          <p:cNvSpPr>
            <a:spLocks noGrp="1"/>
          </p:cNvSpPr>
          <p:nvPr>
            <p:ph idx="1"/>
          </p:nvPr>
        </p:nvSpPr>
        <p:spPr/>
        <p:txBody>
          <a:bodyPr/>
          <a:lstStyle/>
          <a:p>
            <a:pPr lvl="0" indent="0" marL="0">
              <a:buNone/>
            </a:pPr>
            <a:r>
              <a:rPr/>
              <a:t>We want to be able to tell a reviewer four things:</a:t>
            </a:r>
          </a:p>
          <a:p>
            <a:pPr lvl="0" indent="-342900" marL="342900">
              <a:buAutoNum type="arabicPeriod"/>
            </a:pPr>
            <a:r>
              <a:rPr/>
              <a:t>The cohort, treatment, outcome, and time horizon were all defined before any comparative analysis.</a:t>
            </a:r>
          </a:p>
          <a:p>
            <a:pPr lvl="0" indent="-342900" marL="342900">
              <a:buAutoNum type="arabicPeriod"/>
            </a:pPr>
            <a:r>
              <a:rPr/>
              <a:t>The method choice was prespecified.</a:t>
            </a:r>
          </a:p>
          <a:p>
            <a:pPr lvl="0" indent="-342900" marL="342900">
              <a:buAutoNum type="arabicPeriod"/>
            </a:pPr>
            <a:r>
              <a:rPr/>
              <a:t>The method was checked against plausible data-quality problems specific to this study.</a:t>
            </a:r>
          </a:p>
          <a:p>
            <a:pPr lvl="0" indent="-342900" marL="342900">
              <a:buAutoNum type="arabicPeriod"/>
            </a:pPr>
            <a:r>
              <a:rPr/>
              <a:t>Every decision and every check was recorded.</a:t>
            </a:r>
          </a:p>
          <a:p>
            <a:pPr lvl="0" indent="0" marL="0">
              <a:buNone/>
            </a:pPr>
            <a:r>
              <a:rPr/>
              <a:t>cleanTMLE produces a single artefact, a </a:t>
            </a:r>
            <a:r>
              <a:rPr b="1"/>
              <a:t>pre-outcome study dossier</a:t>
            </a:r>
            <a:r>
              <a:rPr/>
              <a:t>, that contains all four.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package fits</a:t>
            </a:r>
          </a:p>
        </p:txBody>
      </p:sp>
      <p:sp>
        <p:nvSpPr>
          <p:cNvPr id="3" name="Content Placeholder 2"/>
          <p:cNvSpPr>
            <a:spLocks noGrp="1"/>
          </p:cNvSpPr>
          <p:nvPr>
            <p:ph idx="1"/>
          </p:nvPr>
        </p:nvSpPr>
        <p:spPr/>
        <p:txBody>
          <a:bodyPr/>
          <a:lstStyle/>
          <a:p>
            <a:pPr lvl="0" indent="0" marL="0">
              <a:buNone/>
            </a:pPr>
            <a:r>
              <a:rPr/>
              <a:t>cleanTMLE is the </a:t>
            </a:r>
            <a:r>
              <a:rPr b="1"/>
              <a:t>software layer</a:t>
            </a:r>
            <a:r>
              <a:rPr/>
              <a:t> of a broader idea, sometimes called a “clean room”, in which the analytic team, the data managers, and the reviewers are kept separate and decisions are documented as the analysis unfolds.</a:t>
            </a:r>
          </a:p>
          <a:p>
            <a:pPr lvl="0" indent="0" marL="0">
              <a:buNone/>
            </a:pPr>
            <a:r>
              <a:rPr/>
              <a:t>The software cannot enforce the institutional side of that arrangement (it cannot stop someone with raw data access from peeking at the outcome). But it can record everything the software side does and make that record auditable.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short tour of the workflow</a:t>
            </a:r>
          </a:p>
        </p:txBody>
      </p:sp>
      <p:sp>
        <p:nvSpPr>
          <p:cNvPr id="3" name="Content Placeholder 2"/>
          <p:cNvSpPr>
            <a:spLocks noGrp="1"/>
          </p:cNvSpPr>
          <p:nvPr>
            <p:ph idx="1"/>
          </p:nvPr>
        </p:nvSpPr>
        <p:spPr/>
        <p:txBody>
          <a:bodyPr/>
          <a:lstStyle/>
          <a:p>
            <a:pPr lvl="0" indent="0" marL="0">
              <a:buNone/>
            </a:pPr>
            <a:r>
              <a:rPr/>
              <a:t>cleanTMLE runs the analysis in stages. Each stage produces a record. The comparative analysis only runs after all the records show that the prespecified checks have been passed.</a:t>
            </a:r>
          </a:p>
          <a:p>
            <a:pPr lvl="0" indent="-342900" marL="342900">
              <a:buAutoNum type="arabicPeriod"/>
            </a:pPr>
            <a:r>
              <a:rPr b="1"/>
              <a:t>Set up.</a:t>
            </a:r>
            <a:r>
              <a:rPr/>
              <a:t> Write down the question, the cohort, the outcome, and the time horizon.</a:t>
            </a:r>
          </a:p>
          <a:p>
            <a:pPr lvl="0" indent="-342900" marL="342900">
              <a:buAutoNum type="arabicPeriod"/>
            </a:pPr>
            <a:r>
              <a:rPr b="1"/>
              <a:t>Lock the plan.</a:t>
            </a:r>
            <a:r>
              <a:rPr/>
              <a:t> Choose the candidate methods. The plan is fingerprinted so any later change is detectable.</a:t>
            </a:r>
          </a:p>
          <a:p>
            <a:pPr lvl="0" indent="-342900" marL="342900">
              <a:buAutoNum type="arabicPeriod"/>
            </a:pPr>
            <a:r>
              <a:rPr b="1"/>
              <a:t>Check the cohort.</a:t>
            </a:r>
            <a:r>
              <a:rPr/>
              <a:t> Are there enough people? Enough events?</a:t>
            </a:r>
          </a:p>
          <a:p>
            <a:pPr lvl="0" indent="-342900" marL="342900">
              <a:buAutoNum type="arabicPeriod"/>
            </a:pPr>
            <a:r>
              <a:rPr b="1"/>
              <a:t>Design diagnostics.</a:t>
            </a:r>
            <a:r>
              <a:rPr/>
              <a:t> Does the treatment group look comparable to the comparison group on measured baseline variables?</a:t>
            </a:r>
          </a:p>
          <a:p>
            <a:pPr lvl="0" indent="-342900" marL="342900">
              <a:buAutoNum type="arabicPeriod"/>
            </a:pPr>
            <a:r>
              <a:rPr b="1"/>
              <a:t>Compare candidate methods.</a:t>
            </a:r>
            <a:r>
              <a:rPr/>
              <a:t> Run realistic simulations using the real covariate structure but a synthetic outcome to see how each candidate method behaves.</a:t>
            </a:r>
          </a:p>
          <a:p>
            <a:pPr lvl="0" indent="-342900" marL="342900">
              <a:buAutoNum type="arabicPeriod"/>
            </a:pPr>
            <a:r>
              <a:rPr b="1"/>
              <a:t>Stress test.</a:t>
            </a:r>
            <a:r>
              <a:rPr/>
              <a:t> Repeat the simulations under realistic data-quality problems (measurement error, missingness, hidden confounders).</a:t>
            </a:r>
          </a:p>
          <a:p>
            <a:pPr lvl="0" indent="-342900" marL="342900">
              <a:buAutoNum type="arabicPeriod"/>
            </a:pPr>
            <a:r>
              <a:rPr b="1"/>
              <a:t>Decide.</a:t>
            </a:r>
            <a:r>
              <a:rPr/>
              <a:t> Apply a prespecified rule: GO, FLAG, or STOP.</a:t>
            </a:r>
          </a:p>
          <a:p>
            <a:pPr lvl="0" indent="-342900" marL="342900">
              <a:buAutoNum type="arabicPeriod"/>
            </a:pPr>
            <a:r>
              <a:rPr b="1"/>
              <a:t>Run the locked analysis.</a:t>
            </a:r>
            <a:r>
              <a:rPr/>
              <a:t> Only after the previous step authorises it.</a:t>
            </a:r>
          </a:p>
          <a:p>
            <a:pPr lvl="0" indent="-342900" marL="342900">
              <a:buAutoNum type="arabicPeriod"/>
            </a:pPr>
            <a:r>
              <a:rPr b="1"/>
              <a:t>Sensitivity analyses and reporting.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targeted-learning method, in one slide</a:t>
            </a:r>
          </a:p>
        </p:txBody>
      </p:sp>
      <p:sp>
        <p:nvSpPr>
          <p:cNvPr id="3" name="Content Placeholder 2"/>
          <p:cNvSpPr>
            <a:spLocks noGrp="1"/>
          </p:cNvSpPr>
          <p:nvPr>
            <p:ph idx="1"/>
          </p:nvPr>
        </p:nvSpPr>
        <p:spPr/>
        <p:txBody>
          <a:bodyPr/>
          <a:lstStyle/>
          <a:p>
            <a:pPr lvl="0" indent="0" marL="0">
              <a:buNone/>
            </a:pPr>
            <a:r>
              <a:rPr/>
              <a:t>The package uses a method called </a:t>
            </a:r>
            <a:r>
              <a:rPr b="1"/>
              <a:t>TMLE</a:t>
            </a:r>
            <a:r>
              <a:rPr/>
              <a:t> (targeted maximum likelihood estimation). The plain-English idea:</a:t>
            </a:r>
          </a:p>
          <a:p>
            <a:pPr lvl="0"/>
            <a:r>
              <a:rPr/>
              <a:t>TMLE separates the </a:t>
            </a:r>
            <a:r>
              <a:rPr i="1"/>
              <a:t>question</a:t>
            </a:r>
            <a:r>
              <a:rPr/>
              <a:t> (what is the treatment effect?) from the </a:t>
            </a:r>
            <a:r>
              <a:rPr i="1"/>
              <a:t>prediction tasks</a:t>
            </a:r>
            <a:r>
              <a:rPr/>
              <a:t> (predicting who got treatment, predicting the outcome).</a:t>
            </a:r>
          </a:p>
          <a:p>
            <a:pPr lvl="0"/>
            <a:r>
              <a:rPr/>
              <a:t>The prediction tasks can use flexible machine learning. The treatment-effect estimate is then nudged (“targeted”) so that it is properly calibrated for the </a:t>
            </a:r>
            <a:r>
              <a:rPr i="1"/>
              <a:t>question</a:t>
            </a:r>
            <a:r>
              <a:rPr/>
              <a:t>, not just for prediction.</a:t>
            </a:r>
          </a:p>
          <a:p>
            <a:pPr lvl="0"/>
            <a:r>
              <a:rPr/>
              <a:t>The result is a treatment-effect estimate with a standard error and confidence interval you can interpret in the usual way.</a:t>
            </a:r>
          </a:p>
          <a:p>
            <a:pPr lvl="0" indent="0" marL="0">
              <a:buNone/>
            </a:pPr>
            <a:r>
              <a:rPr/>
              <a:t>For our purposes, the important thing is that every part of the TMLE recipe (which machine-learning models, how the predictions are stabilised, how the targeting step is run) can be </a:t>
            </a:r>
            <a:r>
              <a:rPr b="1"/>
              <a:t>written down before the analysis is run</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study dossier</a:t>
            </a:r>
          </a:p>
        </p:txBody>
      </p:sp>
      <p:sp>
        <p:nvSpPr>
          <p:cNvPr id="4" name="Text Placeholder 3"/>
          <p:cNvSpPr>
            <a:spLocks noGrp="1"/>
          </p:cNvSpPr>
          <p:nvPr>
            <p:ph idx="2" sz="half" type="body"/>
          </p:nvPr>
        </p:nvSpPr>
        <p:spPr/>
        <p:txBody>
          <a:bodyPr/>
          <a:lstStyle/>
          <a:p>
            <a:pPr lvl="0" indent="0" marL="0">
              <a:buNone/>
            </a:pPr>
            <a:r>
              <a:rPr/>
              <a:t>The dossier is the document the reviewer reads before authorising the comparative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Component</a:t>
                      </a:r>
                    </a:p>
                  </a:txBody>
                  <a:tcPr/>
                </a:tc>
                <a:tc>
                  <a:txBody>
                    <a:bodyPr/>
                    <a:lstStyle/>
                    <a:p>
                      <a:pPr lvl="0" indent="0" marL="0">
                        <a:buNone/>
                      </a:pPr>
                      <a:r>
                        <a:rPr/>
                        <a:t>What it shows</a:t>
                      </a:r>
                    </a:p>
                  </a:txBody>
                  <a:tcPr/>
                </a:tc>
              </a:tr>
              <a:tr h="0">
                <a:tc>
                  <a:txBody>
                    <a:bodyPr/>
                    <a:lstStyle/>
                    <a:p>
                      <a:pPr lvl="0" indent="0" marL="0">
                        <a:buNone/>
                      </a:pPr>
                      <a:r>
                        <a:rPr/>
                        <a:t>Protocol and target-trial timing</a:t>
                      </a:r>
                    </a:p>
                  </a:txBody>
                </a:tc>
                <a:tc>
                  <a:txBody>
                    <a:bodyPr/>
                    <a:lstStyle/>
                    <a:p>
                      <a:pPr lvl="0" indent="0" marL="0">
                        <a:buNone/>
                      </a:pPr>
                      <a:r>
                        <a:rPr/>
                        <a:t>The cohort, treatment, outcome, time zero, follow-up</a:t>
                      </a:r>
                    </a:p>
                  </a:txBody>
                </a:tc>
              </a:tr>
              <a:tr h="0">
                <a:tc>
                  <a:txBody>
                    <a:bodyPr/>
                    <a:lstStyle/>
                    <a:p>
                      <a:pPr lvl="0" indent="0" marL="0">
                        <a:buNone/>
                      </a:pPr>
                      <a:r>
                        <a:rPr/>
                        <a:t>Cohort flow</a:t>
                      </a:r>
                    </a:p>
                  </a:txBody>
                </a:tc>
                <a:tc>
                  <a:txBody>
                    <a:bodyPr/>
                    <a:lstStyle/>
                    <a:p>
                      <a:pPr lvl="0" indent="0" marL="0">
                        <a:buNone/>
                      </a:pPr>
                      <a:r>
                        <a:rPr/>
                        <a:t>Who was eligible, who was excluded, why</a:t>
                      </a:r>
                    </a:p>
                  </a:txBody>
                </a:tc>
              </a:tr>
              <a:tr h="0">
                <a:tc>
                  <a:txBody>
                    <a:bodyPr/>
                    <a:lstStyle/>
                    <a:p>
                      <a:pPr lvl="0" indent="0" marL="0">
                        <a:buNone/>
                      </a:pPr>
                      <a:r>
                        <a:rPr/>
                        <a:t>Event-process classification</a:t>
                      </a:r>
                    </a:p>
                  </a:txBody>
                </a:tc>
                <a:tc>
                  <a:txBody>
                    <a:bodyPr/>
                    <a:lstStyle/>
                    <a:p>
                      <a:pPr lvl="0" indent="0" marL="0">
                        <a:buNone/>
                      </a:pPr>
                      <a:r>
                        <a:rPr/>
                        <a:t>What is an outcome, what is a competing event, what is missingness</a:t>
                      </a:r>
                    </a:p>
                  </a:txBody>
                </a:tc>
              </a:tr>
              <a:tr h="0">
                <a:tc>
                  <a:txBody>
                    <a:bodyPr/>
                    <a:lstStyle/>
                    <a:p>
                      <a:pPr lvl="0" indent="0" marL="0">
                        <a:buNone/>
                      </a:pPr>
                      <a:r>
                        <a:rPr/>
                        <a:t>Covariate and missingness summary</a:t>
                      </a:r>
                    </a:p>
                  </a:txBody>
                </a:tc>
                <a:tc>
                  <a:txBody>
                    <a:bodyPr/>
                    <a:lstStyle/>
                    <a:p>
                      <a:pPr lvl="0" indent="0" marL="0">
                        <a:buNone/>
                      </a:pPr>
                      <a:r>
                        <a:rPr/>
                        <a:t>Baseline characteristics and where data are missing</a:t>
                      </a:r>
                    </a:p>
                  </a:txBody>
                </a:tc>
              </a:tr>
              <a:tr h="0">
                <a:tc>
                  <a:txBody>
                    <a:bodyPr/>
                    <a:lstStyle/>
                    <a:p>
                      <a:pPr lvl="0" indent="0" marL="0">
                        <a:buNone/>
                      </a:pPr>
                      <a:r>
                        <a:rPr/>
                        <a:t>Overlap and balance</a:t>
                      </a:r>
                    </a:p>
                  </a:txBody>
                </a:tc>
                <a:tc>
                  <a:txBody>
                    <a:bodyPr/>
                    <a:lstStyle/>
                    <a:p>
                      <a:pPr lvl="0" indent="0" marL="0">
                        <a:buNone/>
                      </a:pPr>
                      <a:r>
                        <a:rPr/>
                        <a:t>Do the two groups look comparable?</a:t>
                      </a:r>
                    </a:p>
                  </a:txBody>
                </a:tc>
              </a:tr>
              <a:tr h="0">
                <a:tc>
                  <a:txBody>
                    <a:bodyPr/>
                    <a:lstStyle/>
                    <a:p>
                      <a:pPr lvl="0" indent="0" marL="0">
                        <a:buNone/>
                      </a:pPr>
                      <a:r>
                        <a:rPr/>
                        <a:t>Weight diagnostics</a:t>
                      </a:r>
                    </a:p>
                  </a:txBody>
                </a:tc>
                <a:tc>
                  <a:txBody>
                    <a:bodyPr/>
                    <a:lstStyle/>
                    <a:p>
                      <a:pPr lvl="0" indent="0" marL="0">
                        <a:buNone/>
                      </a:pPr>
                      <a:r>
                        <a:rPr/>
                        <a:t>Are the propensity-score weights well-behaved?</a:t>
                      </a:r>
                    </a:p>
                  </a:txBody>
                </a:tc>
              </a:tr>
              <a:tr h="0">
                <a:tc>
                  <a:txBody>
                    <a:bodyPr/>
                    <a:lstStyle/>
                    <a:p>
                      <a:pPr lvl="0" indent="0" marL="0">
                        <a:buNone/>
                      </a:pPr>
                      <a:r>
                        <a:rPr/>
                        <a:t>Baseline plasmode results</a:t>
                      </a:r>
                    </a:p>
                  </a:txBody>
                </a:tc>
                <a:tc>
                  <a:txBody>
                    <a:bodyPr/>
                    <a:lstStyle/>
                    <a:p>
                      <a:pPr lvl="0" indent="0" marL="0">
                        <a:buNone/>
                      </a:pPr>
                      <a:r>
                        <a:rPr/>
                        <a:t>How do the candidate methods perform under a realistic synthetic outcome?</a:t>
                      </a:r>
                    </a:p>
                  </a:txBody>
                </a:tc>
              </a:tr>
              <a:tr h="0">
                <a:tc>
                  <a:txBody>
                    <a:bodyPr/>
                    <a:lstStyle/>
                    <a:p>
                      <a:pPr lvl="0" indent="0" marL="0">
                        <a:buNone/>
                      </a:pPr>
                      <a:r>
                        <a:rPr/>
                        <a:t>Data-quality stress test</a:t>
                      </a:r>
                    </a:p>
                  </a:txBody>
                </a:tc>
                <a:tc>
                  <a:txBody>
                    <a:bodyPr/>
                    <a:lstStyle/>
                    <a:p>
                      <a:pPr lvl="0" indent="0" marL="0">
                        <a:buNone/>
                      </a:pPr>
                      <a:r>
                        <a:rPr/>
                        <a:t>How do they hold up under realistic threats?</a:t>
                      </a:r>
                    </a:p>
                  </a:txBody>
                </a:tc>
              </a:tr>
              <a:tr h="0">
                <a:tc>
                  <a:txBody>
                    <a:bodyPr/>
                    <a:lstStyle/>
                    <a:p>
                      <a:pPr lvl="0" indent="0" marL="0">
                        <a:buNone/>
                      </a:pPr>
                      <a:r>
                        <a:rPr/>
                        <a:t>Negative controls</a:t>
                      </a:r>
                    </a:p>
                  </a:txBody>
                </a:tc>
                <a:tc>
                  <a:txBody>
                    <a:bodyPr/>
                    <a:lstStyle/>
                    <a:p>
                      <a:pPr lvl="0" indent="0" marL="0">
                        <a:buNone/>
                      </a:pPr>
                      <a:r>
                        <a:rPr/>
                        <a:t>Probes for residual confounding</a:t>
                      </a:r>
                    </a:p>
                  </a:txBody>
                </a:tc>
              </a:tr>
              <a:tr h="0">
                <a:tc>
                  <a:txBody>
                    <a:bodyPr/>
                    <a:lstStyle/>
                    <a:p>
                      <a:pPr lvl="0" indent="0" marL="0">
                        <a:buNone/>
                      </a:pPr>
                      <a:r>
                        <a:rPr/>
                        <a:t>Pre-outcome decision (GO / FLAG / STOP)</a:t>
                      </a:r>
                    </a:p>
                  </a:txBody>
                </a:tc>
                <a:tc>
                  <a:txBody>
                    <a:bodyPr/>
                    <a:lstStyle/>
                    <a:p>
                      <a:pPr lvl="0" indent="0" marL="0">
                        <a:buNone/>
                      </a:pPr>
                      <a:r>
                        <a:rPr/>
                        <a:t>The reviewer’s verdict</a:t>
                      </a:r>
                    </a:p>
                  </a:txBody>
                </a:tc>
              </a:tr>
              <a:tr h="0">
                <a:tc>
                  <a:txBody>
                    <a:bodyPr/>
                    <a:lstStyle/>
                    <a:p>
                      <a:pPr lvl="0" indent="0" marL="0">
                        <a:buNone/>
                      </a:pPr>
                      <a:r>
                        <a:rPr/>
                        <a:t>Decision and audit logs</a:t>
                      </a:r>
                    </a:p>
                  </a:txBody>
                </a:tc>
                <a:tc>
                  <a:txBody>
                    <a:bodyPr/>
                    <a:lstStyle/>
                    <a:p>
                      <a:pPr lvl="0" indent="0" marL="0">
                        <a:buNone/>
                      </a:pPr>
                      <a:r>
                        <a:rPr/>
                        <a:t>Everything that happened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decision labels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Meaning</a:t>
                      </a:r>
                    </a:p>
                  </a:txBody>
                  <a:tcPr/>
                </a:tc>
              </a:tr>
              <a:tr h="0">
                <a:tc>
                  <a:txBody>
                    <a:bodyPr/>
                    <a:lstStyle/>
                    <a:p>
                      <a:pPr lvl="0" indent="0" marL="0">
                        <a:buNone/>
                      </a:pPr>
                      <a:r>
                        <a:rPr b="1"/>
                        <a:t>GO</a:t>
                      </a:r>
                    </a:p>
                  </a:txBody>
                </a:tc>
                <a:tc>
                  <a:txBody>
                    <a:bodyPr/>
                    <a:lstStyle/>
                    <a:p>
                      <a:pPr lvl="0" indent="0" marL="0">
                        <a:buNone/>
                      </a:pPr>
                      <a:r>
                        <a:rPr/>
                        <a:t>Proceed to the locked comparative analysis.</a:t>
                      </a:r>
                    </a:p>
                  </a:txBody>
                </a:tc>
              </a:tr>
              <a:tr h="0">
                <a:tc>
                  <a:txBody>
                    <a:bodyPr/>
                    <a:lstStyle/>
                    <a:p>
                      <a:pPr lvl="0" indent="0" marL="0">
                        <a:buNone/>
                      </a:pPr>
                      <a:r>
                        <a:rPr b="1"/>
                        <a:t>FLAG</a:t>
                      </a:r>
                    </a:p>
                  </a:txBody>
                </a:tc>
                <a:tc>
                  <a:txBody>
                    <a:bodyPr/>
                    <a:lstStyle/>
                    <a:p>
                      <a:pPr lvl="0" indent="0" marL="0">
                        <a:buNone/>
                      </a:pPr>
                      <a:r>
                        <a:rPr/>
                        <a:t>Proceed, but document a concern that the report should address.</a:t>
                      </a:r>
                    </a:p>
                  </a:txBody>
                </a:tc>
              </a:tr>
              <a:tr h="0">
                <a:tc>
                  <a:txBody>
                    <a:bodyPr/>
                    <a:lstStyle/>
                    <a:p>
                      <a:pPr lvl="0" indent="0" marL="0">
                        <a:buNone/>
                      </a:pPr>
                      <a:r>
                        <a:rPr b="1"/>
                        <a:t>STOP</a:t>
                      </a:r>
                    </a:p>
                  </a:txBody>
                </a:tc>
                <a:tc>
                  <a:txBody>
                    <a:bodyPr/>
                    <a:lstStyle/>
                    <a:p>
                      <a:pPr lvl="0" indent="0" marL="0">
                        <a:buNone/>
                      </a:pPr>
                      <a:r>
                        <a:rPr/>
                        <a:t>Do not run the comparative analysis as planned. Redesign, narrow the question, or document an override.</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GO decision is </a:t>
            </a:r>
            <a:r>
              <a:rPr b="1"/>
              <a:t>not</a:t>
            </a:r>
            <a:r>
              <a:rPr/>
              <a:t> a guarantee that the answer is correct. It says: under the assumptions we wrote down, the checks did not fail.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does, and does not, control</a:t>
            </a:r>
          </a:p>
        </p:txBody>
      </p:sp>
      <p:sp>
        <p:nvSpPr>
          <p:cNvPr id="3" name="Content Placeholder 2"/>
          <p:cNvSpPr>
            <a:spLocks noGrp="1"/>
          </p:cNvSpPr>
          <p:nvPr>
            <p:ph idx="1"/>
          </p:nvPr>
        </p:nvSpPr>
        <p:spPr/>
        <p:txBody>
          <a:bodyPr/>
          <a:lstStyle/>
          <a:p>
            <a:pPr lvl="0" indent="0" marL="0">
              <a:buNone/>
            </a:pPr>
            <a:r>
              <a:rPr/>
              <a:t>The package can:</a:t>
            </a:r>
          </a:p>
          <a:p>
            <a:pPr lvl="0"/>
            <a:r>
              <a:rPr/>
              <a:t>Record every decision and check.</a:t>
            </a:r>
          </a:p>
          <a:p>
            <a:pPr lvl="0"/>
            <a:r>
              <a:rPr/>
              <a:t>Refuse to run a comparative analysis until the dossier is complete.</a:t>
            </a:r>
          </a:p>
          <a:p>
            <a:pPr lvl="0"/>
            <a:r>
              <a:rPr/>
              <a:t>Apply a prespecified GO / FLAG / STOP rule on a common quantitative scale.</a:t>
            </a:r>
          </a:p>
          <a:p>
            <a:pPr lvl="0" indent="0" marL="0">
              <a:buNone/>
            </a:pPr>
            <a:r>
              <a:rPr/>
              <a:t>The package cannot:</a:t>
            </a:r>
          </a:p>
          <a:p>
            <a:pPr lvl="0"/>
            <a:r>
              <a:rPr/>
              <a:t>Stop someone with raw-data access from looking at the outcome outside the package.</a:t>
            </a:r>
          </a:p>
          <a:p>
            <a:pPr lvl="0"/>
            <a:r>
              <a:rPr/>
              <a:t>Validate that an exposure or outcome was </a:t>
            </a:r>
            <a:r>
              <a:rPr i="1"/>
              <a:t>measured</a:t>
            </a:r>
            <a:r>
              <a:rPr/>
              <a:t> correctly.</a:t>
            </a:r>
          </a:p>
          <a:p>
            <a:pPr lvl="0"/>
            <a:r>
              <a:rPr/>
              <a:t>Replace independent review.</a:t>
            </a:r>
          </a:p>
          <a:p>
            <a:pPr lvl="0" indent="0" marL="0">
              <a:buNone/>
            </a:pPr>
            <a:r>
              <a:rPr/>
              <a:t>These remaining safeguards have to come from the institution running the study.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Simulation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simulations are for</a:t>
            </a:r>
          </a:p>
        </p:txBody>
      </p:sp>
      <p:sp>
        <p:nvSpPr>
          <p:cNvPr id="3" name="Content Placeholder 2"/>
          <p:cNvSpPr>
            <a:spLocks noGrp="1"/>
          </p:cNvSpPr>
          <p:nvPr>
            <p:ph idx="1"/>
          </p:nvPr>
        </p:nvSpPr>
        <p:spPr/>
        <p:txBody>
          <a:bodyPr/>
          <a:lstStyle/>
          <a:p>
            <a:pPr lvl="0" indent="0" marL="0">
              <a:buNone/>
            </a:pPr>
            <a:r>
              <a:rPr/>
              <a:t>We simulated three contrasting scenarios on a small dataset (2,000 people, 200 repetitions each), then ran the same six estimators in each:</a:t>
            </a:r>
          </a:p>
          <a:p>
            <a:pPr lvl="0"/>
            <a:r>
              <a:rPr b="1"/>
              <a:t>Scenario A.</a:t>
            </a:r>
            <a:r>
              <a:rPr/>
              <a:t> Easy: treatment groups overlap well, no hidden confounders.</a:t>
            </a:r>
          </a:p>
          <a:p>
            <a:pPr lvl="0"/>
            <a:r>
              <a:rPr b="1"/>
              <a:t>Scenario B.</a:t>
            </a:r>
            <a:r>
              <a:rPr/>
              <a:t> Harder: groups overlap only partially.</a:t>
            </a:r>
          </a:p>
          <a:p>
            <a:pPr lvl="0"/>
            <a:r>
              <a:rPr b="1"/>
              <a:t>Scenario C.</a:t>
            </a:r>
            <a:r>
              <a:rPr/>
              <a:t> Hardest: there is a hidden confounder the analyst cannot measure.</a:t>
            </a:r>
          </a:p>
          <a:p>
            <a:pPr lvl="0" indent="0" marL="0">
              <a:buNone/>
            </a:pPr>
            <a:r>
              <a:rPr/>
              <a:t>We also re-ran each scenario under four kinds of data-quality stress: covariate missingness, exposure measurement error, outcome measurement error, and unmeasured confounding.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six methods, in plain language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Method</a:t>
                      </a:r>
                    </a:p>
                  </a:txBody>
                  <a:tcPr/>
                </a:tc>
                <a:tc>
                  <a:txBody>
                    <a:bodyPr/>
                    <a:lstStyle/>
                    <a:p>
                      <a:pPr lvl="0" indent="0" marL="0">
                        <a:buNone/>
                      </a:pPr>
                      <a:r>
                        <a:rPr/>
                        <a:t>What it does</a:t>
                      </a:r>
                    </a:p>
                  </a:txBody>
                  <a:tcPr/>
                </a:tc>
              </a:tr>
              <a:tr h="0">
                <a:tc>
                  <a:txBody>
                    <a:bodyPr/>
                    <a:lstStyle/>
                    <a:p>
                      <a:pPr lvl="0" indent="0" marL="0">
                        <a:buNone/>
                      </a:pPr>
                      <a:r>
                        <a:rPr b="1"/>
                        <a:t>Crude</a:t>
                      </a:r>
                    </a:p>
                  </a:txBody>
                </a:tc>
                <a:tc>
                  <a:txBody>
                    <a:bodyPr/>
                    <a:lstStyle/>
                    <a:p>
                      <a:pPr lvl="0" indent="0" marL="0">
                        <a:buNone/>
                      </a:pPr>
                      <a:r>
                        <a:rPr/>
                        <a:t>Compare outcome rates in the two groups; ignore baseline differences.</a:t>
                      </a:r>
                    </a:p>
                  </a:txBody>
                </a:tc>
              </a:tr>
              <a:tr h="0">
                <a:tc>
                  <a:txBody>
                    <a:bodyPr/>
                    <a:lstStyle/>
                    <a:p>
                      <a:pPr lvl="0" indent="0" marL="0">
                        <a:buNone/>
                      </a:pPr>
                      <a:r>
                        <a:rPr b="1"/>
                        <a:t>Propensity-score matching</a:t>
                      </a:r>
                    </a:p>
                  </a:txBody>
                </a:tc>
                <a:tc>
                  <a:txBody>
                    <a:bodyPr/>
                    <a:lstStyle/>
                    <a:p>
                      <a:pPr lvl="0" indent="0" marL="0">
                        <a:buNone/>
                      </a:pPr>
                      <a:r>
                        <a:rPr/>
                        <a:t>Pair each treated person with an untreated person who looks similar at baseline.</a:t>
                      </a:r>
                    </a:p>
                  </a:txBody>
                </a:tc>
              </a:tr>
              <a:tr h="0">
                <a:tc>
                  <a:txBody>
                    <a:bodyPr/>
                    <a:lstStyle/>
                    <a:p>
                      <a:pPr lvl="0" indent="0" marL="0">
                        <a:buNone/>
                      </a:pPr>
                      <a:r>
                        <a:rPr b="1"/>
                        <a:t>IPTW</a:t>
                      </a:r>
                      <a:r>
                        <a:rPr/>
                        <a:t> (inverse-probability weighting)</a:t>
                      </a:r>
                    </a:p>
                  </a:txBody>
                </a:tc>
                <a:tc>
                  <a:txBody>
                    <a:bodyPr/>
                    <a:lstStyle/>
                    <a:p>
                      <a:pPr lvl="0" indent="0" marL="0">
                        <a:buNone/>
                      </a:pPr>
                      <a:r>
                        <a:rPr/>
                        <a:t>Re-weight people so the two groups look balanced on baseline variables, then compare.</a:t>
                      </a:r>
                    </a:p>
                  </a:txBody>
                </a:tc>
              </a:tr>
              <a:tr h="0">
                <a:tc>
                  <a:txBody>
                    <a:bodyPr/>
                    <a:lstStyle/>
                    <a:p>
                      <a:pPr lvl="0" indent="0" marL="0">
                        <a:buNone/>
                      </a:pPr>
                      <a:r>
                        <a:rPr b="1"/>
                        <a:t>TMLE</a:t>
                      </a:r>
                    </a:p>
                  </a:txBody>
                </a:tc>
                <a:tc>
                  <a:txBody>
                    <a:bodyPr/>
                    <a:lstStyle/>
                    <a:p>
                      <a:pPr lvl="0" indent="0" marL="0">
                        <a:buNone/>
                      </a:pPr>
                      <a:r>
                        <a:rPr/>
                        <a:t>Use flexible models for who got treatment and who has the outcome, then nudge the estimate so it is properly calibrated for the </a:t>
                      </a:r>
                      <a:r>
                        <a:rPr i="1"/>
                        <a:t>treatment effect</a:t>
                      </a:r>
                      <a:r>
                        <a:rPr/>
                        <a:t>.</a:t>
                      </a:r>
                    </a:p>
                  </a:txBody>
                </a:tc>
              </a:tr>
              <a:tr h="0">
                <a:tc>
                  <a:txBody>
                    <a:bodyPr/>
                    <a:lstStyle/>
                    <a:p>
                      <a:pPr lvl="0" indent="0" marL="0">
                        <a:buNone/>
                      </a:pPr>
                      <a:r>
                        <a:rPr b="1"/>
                        <a:t>CV-TMLE</a:t>
                      </a:r>
                    </a:p>
                  </a:txBody>
                </a:tc>
                <a:tc>
                  <a:txBody>
                    <a:bodyPr/>
                    <a:lstStyle/>
                    <a:p>
                      <a:pPr lvl="0" indent="0" marL="0">
                        <a:buNone/>
                      </a:pPr>
                      <a:r>
                        <a:rPr/>
                        <a:t>TMLE with cross-fitting; gives more honest standard errors when the models are flexible.</a:t>
                      </a:r>
                    </a:p>
                  </a:txBody>
                </a:tc>
              </a:tr>
              <a:tr h="0">
                <a:tc>
                  <a:txBody>
                    <a:bodyPr/>
                    <a:lstStyle/>
                    <a:p>
                      <a:pPr lvl="0" indent="0" marL="0">
                        <a:buNone/>
                      </a:pPr>
                      <a:r>
                        <a:rPr b="1"/>
                        <a:t>Matched TMLE</a:t>
                      </a:r>
                    </a:p>
                  </a:txBody>
                </a:tc>
                <a:tc>
                  <a:txBody>
                    <a:bodyPr/>
                    <a:lstStyle/>
                    <a:p>
                      <a:pPr lvl="0" indent="0" marL="0">
                        <a:buNone/>
                      </a:pPr>
                      <a:r>
                        <a:rPr/>
                        <a:t>Match first, then run TMLE on the matched subset.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first three are “traditional” methods. The last three are targeted-learning methods.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1 — under good overlap, everything works</a:t>
            </a:r>
          </a:p>
        </p:txBody>
      </p:sp>
      <p:sp>
        <p:nvSpPr>
          <p:cNvPr id="3" name="Content Placeholder 2"/>
          <p:cNvSpPr>
            <a:spLocks noGrp="1"/>
          </p:cNvSpPr>
          <p:nvPr>
            <p:ph idx="1"/>
          </p:nvPr>
        </p:nvSpPr>
        <p:spPr/>
        <p:txBody>
          <a:bodyPr/>
          <a:lstStyle/>
          <a:p>
            <a:pPr lvl="0" indent="0" marL="0">
              <a:buNone/>
            </a:pPr>
            <a:r>
              <a:rPr/>
              <a:t>In Scenario A, all the adjusted estimators recover the true effect. Bias is well under the 0.02 threshold we set, and the 95 % confidence intervals cover the truth about 95 % of the time. The unadjusted comparison has substantial leftover confounding.</a:t>
            </a:r>
          </a:p>
          <a:p>
            <a:pPr lvl="0" indent="0" marL="0">
              <a:buNone/>
            </a:pPr>
            <a:r>
              <a:rPr b="1"/>
              <a:t>Reviewer summary:</a:t>
            </a:r>
            <a:r>
              <a:rPr/>
              <a:t> the workflow says </a:t>
            </a:r>
            <a:r>
              <a:rPr b="1"/>
              <a:t>GO</a:t>
            </a:r>
            <a:r>
              <a:rPr/>
              <a:t>. This is the benchmark check that the machinery is correctly wired.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2 — under marginal overlap, TMLE holds up; some standard errors don’t</a:t>
            </a:r>
          </a:p>
        </p:txBody>
      </p:sp>
      <p:sp>
        <p:nvSpPr>
          <p:cNvPr id="3" name="Content Placeholder 2"/>
          <p:cNvSpPr>
            <a:spLocks noGrp="1"/>
          </p:cNvSpPr>
          <p:nvPr>
            <p:ph idx="1"/>
          </p:nvPr>
        </p:nvSpPr>
        <p:spPr/>
        <p:txBody>
          <a:bodyPr/>
          <a:lstStyle/>
          <a:p>
            <a:pPr lvl="0" indent="0" marL="0">
              <a:buNone/>
            </a:pPr>
            <a:r>
              <a:rPr/>
              <a:t>In Scenario B, the harder of the two structural scenarios:</a:t>
            </a:r>
          </a:p>
          <a:p>
            <a:pPr lvl="0"/>
            <a:r>
              <a:rPr b="1"/>
              <a:t>TMLE and cross-validated TMLE</a:t>
            </a:r>
            <a:r>
              <a:rPr/>
              <a:t> keep bias small relative to the spread of the estimates.</a:t>
            </a:r>
          </a:p>
          <a:p>
            <a:pPr lvl="0"/>
            <a:r>
              <a:rPr b="1"/>
              <a:t>Inverse-probability weighting</a:t>
            </a:r>
            <a:r>
              <a:rPr/>
              <a:t> (IPTW) shows confidence intervals that are too wide. The reason is technical (the variance formula assumes the propensity score is known when in fact it was estimated). A bootstrap variance is the standard fix.</a:t>
            </a:r>
          </a:p>
          <a:p>
            <a:pPr lvl="0"/>
            <a:r>
              <a:rPr b="1"/>
              <a:t>Matched TMLE</a:t>
            </a:r>
            <a:r>
              <a:rPr/>
              <a:t> has the same issue, for the same reason. The standard error roughly doubles the actual spread of the estimates.</a:t>
            </a:r>
          </a:p>
          <a:p>
            <a:pPr lvl="0" indent="0" marL="0">
              <a:buNone/>
            </a:pPr>
            <a:r>
              <a:rPr b="1"/>
              <a:t>Reviewer summary:</a:t>
            </a:r>
            <a:r>
              <a:rPr/>
              <a:t> the workflow says </a:t>
            </a:r>
            <a:r>
              <a:rPr b="1"/>
              <a:t>GO with a FLAG</a:t>
            </a:r>
            <a:r>
              <a:rPr/>
              <a:t> noting that IPTW and matched-TMLE confidence intervals need a bootstrap variance before they are reported as primary.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3 — under unmeasured confounding, the workflow correctly stops</a:t>
            </a:r>
          </a:p>
        </p:txBody>
      </p:sp>
      <p:sp>
        <p:nvSpPr>
          <p:cNvPr id="3" name="Content Placeholder 2"/>
          <p:cNvSpPr>
            <a:spLocks noGrp="1"/>
          </p:cNvSpPr>
          <p:nvPr>
            <p:ph idx="1"/>
          </p:nvPr>
        </p:nvSpPr>
        <p:spPr/>
        <p:txBody>
          <a:bodyPr/>
          <a:lstStyle/>
          <a:p>
            <a:pPr lvl="0" indent="0" marL="0">
              <a:buNone/>
            </a:pPr>
            <a:r>
              <a:rPr/>
              <a:t>In Scenario C, where there is a confounder the analyst cannot measure:</a:t>
            </a:r>
          </a:p>
          <a:p>
            <a:pPr lvl="0"/>
            <a:r>
              <a:rPr/>
              <a:t>Every estimator is biased in the same direction. TMLE is the </a:t>
            </a:r>
            <a:r>
              <a:rPr i="1"/>
              <a:t>least</a:t>
            </a:r>
            <a:r>
              <a:rPr/>
              <a:t> biased, but it is still biased.</a:t>
            </a:r>
          </a:p>
          <a:p>
            <a:pPr lvl="0"/>
            <a:r>
              <a:rPr/>
              <a:t>The baseline plasmode coverage sits at the lower edge of the acceptable range; what makes the failure unambiguous is the unmeasured-confounder stress-test row, where bias exceeds the prespecified threshold.</a:t>
            </a:r>
          </a:p>
          <a:p>
            <a:pPr lvl="0" indent="0" marL="0">
              <a:buNone/>
            </a:pPr>
            <a:r>
              <a:rPr b="1"/>
              <a:t>Reviewer summary:</a:t>
            </a:r>
            <a:r>
              <a:rPr/>
              <a:t> the workflow says </a:t>
            </a:r>
            <a:r>
              <a:rPr b="1"/>
              <a:t>STOP</a:t>
            </a:r>
            <a:r>
              <a:rPr/>
              <a:t>. The locked analysis should not be run as planned; the study needs redesign, a narrower question, additional validation, or a documented override.</a:t>
            </a:r>
          </a:p>
          <a:p>
            <a:pPr lvl="0" indent="0" marL="0">
              <a:buNone/>
            </a:pPr>
            <a:r>
              <a:rPr/>
              <a:t>The takeaway is not that the software “detects” hidden confounding (it cannot). The takeaway is that the prespecified rule was willing to return STOP when a built-in identification failure was present — which is what we want.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4 — the stress test is most useful for identification and measurement, not for variance</a:t>
            </a:r>
          </a:p>
        </p:txBody>
      </p:sp>
      <p:sp>
        <p:nvSpPr>
          <p:cNvPr id="3" name="Content Placeholder 2"/>
          <p:cNvSpPr>
            <a:spLocks noGrp="1"/>
          </p:cNvSpPr>
          <p:nvPr>
            <p:ph idx="1"/>
          </p:nvPr>
        </p:nvSpPr>
        <p:spPr/>
        <p:txBody>
          <a:bodyPr/>
          <a:lstStyle/>
          <a:p>
            <a:pPr lvl="0" indent="0" marL="0">
              <a:buNone/>
            </a:pPr>
            <a:r>
              <a:rPr/>
              <a:t>The four kinds of stress behaved differently:</a:t>
            </a:r>
          </a:p>
          <a:p>
            <a:pPr lvl="0"/>
            <a:r>
              <a:rPr b="1"/>
              <a:t>Covariate missingness</a:t>
            </a:r>
            <a:r>
              <a:rPr/>
              <a:t> produced a flat gradient — the workflow handles MCAR + median imputation correctly, but this is a weak test (MAR / MNAR variants are on the 0.2 roadmap).</a:t>
            </a:r>
          </a:p>
          <a:p>
            <a:pPr lvl="0"/>
            <a:r>
              <a:rPr b="1"/>
              <a:t>Exposure measurement error</a:t>
            </a:r>
            <a:r>
              <a:rPr/>
              <a:t> attenuated the estimate toward “no effect”, as expected.</a:t>
            </a:r>
          </a:p>
          <a:p>
            <a:pPr lvl="0"/>
            <a:r>
              <a:rPr b="1"/>
              <a:t>Outcome measurement error</a:t>
            </a:r>
            <a:r>
              <a:rPr/>
              <a:t> produced the largest bias of the three measurement threats, especially when error rates differed between treatment groups.</a:t>
            </a:r>
          </a:p>
          <a:p>
            <a:pPr lvl="0"/>
            <a:r>
              <a:rPr b="1"/>
              <a:t>Unmeasured confounding</a:t>
            </a:r>
            <a:r>
              <a:rPr/>
              <a:t> produced the largest degradation overall, and was the only threat that pushed RMSE more than 50 % above the baseline plasmode.</a:t>
            </a:r>
          </a:p>
          <a:p>
            <a:pPr lvl="0" indent="0" marL="0">
              <a:buNone/>
            </a:pPr>
            <a:r>
              <a:rPr b="1"/>
              <a:t>Reviewer summary:</a:t>
            </a:r>
            <a:r>
              <a:rPr/>
              <a:t> the data-quality stress test is most informative when the threat targets either how well variables were measured or whether identification holds. It is less informative for ordinary sampling variability, which is already covered by the baseline simulation.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operational lessons for any applied user</a:t>
            </a:r>
          </a:p>
        </p:txBody>
      </p:sp>
      <p:sp>
        <p:nvSpPr>
          <p:cNvPr id="3" name="Content Placeholder 2"/>
          <p:cNvSpPr>
            <a:spLocks noGrp="1"/>
          </p:cNvSpPr>
          <p:nvPr>
            <p:ph idx="1"/>
          </p:nvPr>
        </p:nvSpPr>
        <p:spPr/>
        <p:txBody>
          <a:bodyPr/>
          <a:lstStyle/>
          <a:p>
            <a:pPr lvl="0" indent="-342900" marL="342900">
              <a:buAutoNum type="arabicPeriod"/>
            </a:pPr>
            <a:r>
              <a:rPr b="1"/>
              <a:t>IPTW standard errors are conservative when the propensity score was estimated.</a:t>
            </a:r>
            <a:r>
              <a:rPr/>
              <a:t> This is a well-known property of the influence-function-based variance. If IPTW is primary, bootstrap the standard error.</a:t>
            </a:r>
          </a:p>
          <a:p>
            <a:pPr lvl="0" indent="-342900" marL="342900">
              <a:buAutoNum type="arabicPeriod"/>
            </a:pPr>
            <a:r>
              <a:rPr b="1"/>
              <a:t>Matched-TMLE standard errors are also conservative.</a:t>
            </a:r>
            <a:r>
              <a:rPr/>
              <a:t> The post-match TMLE step ignores the matching draw. A block bootstrap fixes this.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Traditional approach vs the outcome-blind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What a traditional analyst would see</a:t>
                      </a:r>
                    </a:p>
                  </a:txBody>
                  <a:tcPr/>
                </a:tc>
                <a:tc>
                  <a:txBody>
                    <a:bodyPr/>
                    <a:lstStyle/>
                    <a:p>
                      <a:pPr lvl="0" indent="0" marL="0">
                        <a:buNone/>
                      </a:pPr>
                      <a:r>
                        <a:rPr/>
                        <a:t>What the outcome-blind workflow does</a:t>
                      </a:r>
                    </a:p>
                  </a:txBody>
                  <a:tcPr/>
                </a:tc>
              </a:tr>
              <a:tr h="0">
                <a:tc>
                  <a:txBody>
                    <a:bodyPr/>
                    <a:lstStyle/>
                    <a:p>
                      <a:pPr lvl="0" indent="0" marL="0">
                        <a:buNone/>
                      </a:pPr>
                      <a:r>
                        <a:rPr b="1"/>
                        <a:t>A. Good overlap</a:t>
                      </a:r>
                    </a:p>
                  </a:txBody>
                </a:tc>
                <a:tc>
                  <a:txBody>
                    <a:bodyPr/>
                    <a:lstStyle/>
                    <a:p>
                      <a:pPr lvl="0" indent="0" marL="0">
                        <a:buNone/>
                      </a:pPr>
                      <a:r>
                        <a:rPr/>
                        <a:t>PS diagnostics look good; pick a method; report.</a:t>
                      </a:r>
                    </a:p>
                  </a:txBody>
                </a:tc>
                <a:tc>
                  <a:txBody>
                    <a:bodyPr/>
                    <a:lstStyle/>
                    <a:p>
                      <a:pPr lvl="0" indent="0" marL="0">
                        <a:buNone/>
                      </a:pPr>
                      <a:r>
                        <a:rPr/>
                        <a:t>Same diagnostics, plus plasmode confirms all candidates behave well. </a:t>
                      </a:r>
                      <a:r>
                        <a:rPr b="1"/>
                        <a:t>GO.</a:t>
                      </a:r>
                    </a:p>
                  </a:txBody>
                </a:tc>
              </a:tr>
              <a:tr h="0">
                <a:tc>
                  <a:txBody>
                    <a:bodyPr/>
                    <a:lstStyle/>
                    <a:p>
                      <a:pPr lvl="0" indent="0" marL="0">
                        <a:buNone/>
                      </a:pPr>
                      <a:r>
                        <a:rPr b="1"/>
                        <a:t>B. Marginal overlap</a:t>
                      </a:r>
                    </a:p>
                  </a:txBody>
                </a:tc>
                <a:tc>
                  <a:txBody>
                    <a:bodyPr/>
                    <a:lstStyle/>
                    <a:p>
                      <a:pPr lvl="0" indent="0" marL="0">
                        <a:buNone/>
                      </a:pPr>
                      <a:r>
                        <a:rPr/>
                        <a:t>PS overlap shows the strain; weights are heavy. An attentive analyst will widen the truncation or switch methods. Many do not.</a:t>
                      </a:r>
                    </a:p>
                  </a:txBody>
                </a:tc>
                <a:tc>
                  <a:txBody>
                    <a:bodyPr/>
                    <a:lstStyle/>
                    <a:p>
                      <a:pPr lvl="0" indent="0" marL="0">
                        <a:buNone/>
                      </a:pPr>
                      <a:r>
                        <a:rPr/>
                        <a:t>Plasmode quantifies that IPTW SE/SD ratio runs &gt; 1 and matched-TMLE doubles it. </a:t>
                      </a:r>
                      <a:r>
                        <a:rPr b="1"/>
                        <a:t>GO with a FLAG</a:t>
                      </a:r>
                      <a:r>
                        <a:rPr/>
                        <a:t> explicitly recommending bootstrap variance.</a:t>
                      </a:r>
                    </a:p>
                  </a:txBody>
                </a:tc>
              </a:tr>
              <a:tr h="0">
                <a:tc>
                  <a:txBody>
                    <a:bodyPr/>
                    <a:lstStyle/>
                    <a:p>
                      <a:pPr lvl="0" indent="0" marL="0">
                        <a:buNone/>
                      </a:pPr>
                      <a:r>
                        <a:rPr b="1"/>
                        <a:t>C. Unmeasured confounding</a:t>
                      </a:r>
                    </a:p>
                  </a:txBody>
                </a:tc>
                <a:tc>
                  <a:txBody>
                    <a:bodyPr/>
                    <a:lstStyle/>
                    <a:p>
                      <a:pPr lvl="0" indent="0" marL="0">
                        <a:buNone/>
                      </a:pPr>
                      <a:r>
                        <a:rPr/>
                        <a:t>All adjusted estimates agree on a non-null effect. Without an external probe, the analyst would likely proceed and report.</a:t>
                      </a:r>
                    </a:p>
                  </a:txBody>
                </a:tc>
                <a:tc>
                  <a:txBody>
                    <a:bodyPr/>
                    <a:lstStyle/>
                    <a:p>
                      <a:pPr lvl="0" indent="0" marL="0">
                        <a:buNone/>
                      </a:pPr>
                      <a:r>
                        <a:rPr/>
                        <a:t>The prespecified unmeasured-confounding row of the DQ stress test pushes bias above the locked threshold. </a:t>
                      </a:r>
                      <a:r>
                        <a:rPr b="1"/>
                        <a:t>STOP.</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contrast is sharpest in Scenario C: a traditional careful analyst can pass the standard PS diagnostics and still proceed with a biased estimator. The outcome-blind workflow flags the candidate as fragile under a prespecified threat </a:t>
            </a:r>
            <a:r>
              <a:rPr i="1"/>
              <a:t>before</a:t>
            </a:r>
            <a:r>
              <a:rPr/>
              <a:t> unblinding.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 recommendations for colleagues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Situation</a:t>
                      </a:r>
                    </a:p>
                  </a:txBody>
                  <a:tcPr/>
                </a:tc>
                <a:tc>
                  <a:txBody>
                    <a:bodyPr/>
                    <a:lstStyle/>
                    <a:p>
                      <a:pPr lvl="0" indent="0" marL="0">
                        <a:buNone/>
                      </a:pPr>
                      <a:r>
                        <a:rPr/>
                        <a:t>Primary recommendation</a:t>
                      </a:r>
                    </a:p>
                  </a:txBody>
                  <a:tcPr/>
                </a:tc>
                <a:tc>
                  <a:txBody>
                    <a:bodyPr/>
                    <a:lstStyle/>
                    <a:p>
                      <a:pPr lvl="0" indent="0" marL="0">
                        <a:buNone/>
                      </a:pPr>
                      <a:r>
                        <a:rPr/>
                        <a:t>Why</a:t>
                      </a:r>
                    </a:p>
                  </a:txBody>
                  <a:tcPr/>
                </a:tc>
              </a:tr>
              <a:tr h="0">
                <a:tc>
                  <a:txBody>
                    <a:bodyPr/>
                    <a:lstStyle/>
                    <a:p>
                      <a:pPr lvl="0" indent="0" marL="0">
                        <a:buNone/>
                      </a:pPr>
                      <a:r>
                        <a:rPr/>
                        <a:t>Good overlap, well-measured covariates</a:t>
                      </a:r>
                    </a:p>
                  </a:txBody>
                </a:tc>
                <a:tc>
                  <a:txBody>
                    <a:bodyPr/>
                    <a:lstStyle/>
                    <a:p>
                      <a:pPr lvl="0" indent="0" marL="0">
                        <a:buNone/>
                      </a:pPr>
                      <a:r>
                        <a:rPr b="1"/>
                        <a:t>CV-TMLE</a:t>
                      </a:r>
                      <a:r>
                        <a:rPr/>
                        <a:t> as primary; report IPTW + PS matching as concordance checks</a:t>
                      </a:r>
                    </a:p>
                  </a:txBody>
                </a:tc>
                <a:tc>
                  <a:txBody>
                    <a:bodyPr/>
                    <a:lstStyle/>
                    <a:p>
                      <a:pPr lvl="0" indent="0" marL="0">
                        <a:buNone/>
                      </a:pPr>
                      <a:r>
                        <a:rPr/>
                        <a:t>Robust across all three scenarios; interpretable CIs; doubly robust</a:t>
                      </a:r>
                    </a:p>
                  </a:txBody>
                </a:tc>
              </a:tr>
              <a:tr h="0">
                <a:tc>
                  <a:txBody>
                    <a:bodyPr/>
                    <a:lstStyle/>
                    <a:p>
                      <a:pPr lvl="0" indent="0" marL="0">
                        <a:buNone/>
                      </a:pPr>
                      <a:r>
                        <a:rPr/>
                        <a:t>Marginal overlap</a:t>
                      </a:r>
                    </a:p>
                  </a:txBody>
                </a:tc>
                <a:tc>
                  <a:txBody>
                    <a:bodyPr/>
                    <a:lstStyle/>
                    <a:p>
                      <a:pPr lvl="0" indent="0" marL="0">
                        <a:buNone/>
                      </a:pPr>
                      <a:r>
                        <a:rPr b="1"/>
                        <a:t>CV-TMLE</a:t>
                      </a:r>
                      <a:r>
                        <a:rPr/>
                        <a:t> as primary; </a:t>
                      </a:r>
                      <a:r>
                        <a:rPr b="1"/>
                        <a:t>bootstrap</a:t>
                      </a:r>
                      <a:r>
                        <a:rPr/>
                        <a:t> the SE if you ever report IPTW or matched TMLE as primary</a:t>
                      </a:r>
                    </a:p>
                  </a:txBody>
                </a:tc>
                <a:tc>
                  <a:txBody>
                    <a:bodyPr/>
                    <a:lstStyle/>
                    <a:p>
                      <a:pPr lvl="0" indent="0" marL="0">
                        <a:buNone/>
                      </a:pPr>
                      <a:r>
                        <a:rPr/>
                        <a:t>TMLE bias is well controlled; IPTW/matched SE formulas are too conservative</a:t>
                      </a:r>
                    </a:p>
                  </a:txBody>
                </a:tc>
              </a:tr>
              <a:tr h="0">
                <a:tc>
                  <a:txBody>
                    <a:bodyPr/>
                    <a:lstStyle/>
                    <a:p>
                      <a:pPr lvl="0" indent="0" marL="0">
                        <a:buNone/>
                      </a:pPr>
                      <a:r>
                        <a:rPr/>
                        <a:t>Heavy truncation needed for positivity</a:t>
                      </a:r>
                    </a:p>
                  </a:txBody>
                </a:tc>
                <a:tc>
                  <a:txBody>
                    <a:bodyPr/>
                    <a:lstStyle/>
                    <a:p>
                      <a:pPr lvl="0" indent="0" marL="0">
                        <a:buNone/>
                      </a:pPr>
                      <a:r>
                        <a:rPr b="1"/>
                        <a:t>Reconsider the estimand</a:t>
                      </a:r>
                      <a:r>
                        <a:rPr/>
                        <a:t>, not just the estimator</a:t>
                      </a:r>
                    </a:p>
                  </a:txBody>
                </a:tc>
                <a:tc>
                  <a:txBody>
                    <a:bodyPr/>
                    <a:lstStyle/>
                    <a:p>
                      <a:pPr lvl="0" indent="0" marL="0">
                        <a:buNone/>
                      </a:pPr>
                      <a:r>
                        <a:rPr/>
                        <a:t>Heavy truncation changes the target population from “everyone eligible” to “everyone plausibly treatable”</a:t>
                      </a:r>
                    </a:p>
                  </a:txBody>
                </a:tc>
              </a:tr>
              <a:tr h="0">
                <a:tc>
                  <a:txBody>
                    <a:bodyPr/>
                    <a:lstStyle/>
                    <a:p>
                      <a:pPr lvl="0" indent="0" marL="0">
                        <a:buNone/>
                      </a:pPr>
                      <a:r>
                        <a:rPr/>
                        <a:t>Suspected unmeasured confounder</a:t>
                      </a:r>
                    </a:p>
                  </a:txBody>
                </a:tc>
                <a:tc>
                  <a:txBody>
                    <a:bodyPr/>
                    <a:lstStyle/>
                    <a:p>
                      <a:pPr lvl="0" indent="0" marL="0">
                        <a:buNone/>
                      </a:pPr>
                      <a:r>
                        <a:rPr b="1"/>
                        <a:t>Collect it, narrow the question, or accept bounded sensitivity analysis</a:t>
                      </a:r>
                    </a:p>
                  </a:txBody>
                </a:tc>
                <a:tc>
                  <a:txBody>
                    <a:bodyPr/>
                    <a:lstStyle/>
                    <a:p>
                      <a:pPr lvl="0" indent="0" marL="0">
                        <a:buNone/>
                      </a:pPr>
                      <a:r>
                        <a:rPr/>
                        <a:t>No statistical method on measured covariates can rescue you</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baseline plasmode before unblinding is cheap and high-information. A DQ stress test is informative when you have </a:t>
            </a:r>
            <a:r>
              <a:rPr i="1"/>
              <a:t>specific</a:t>
            </a:r>
            <a:r>
              <a:rPr/>
              <a:t> concerns about measurement, missingness, or unmeasured confounding.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 does and does not show</a:t>
            </a:r>
          </a:p>
        </p:txBody>
      </p:sp>
      <p:sp>
        <p:nvSpPr>
          <p:cNvPr id="3" name="Content Placeholder 2"/>
          <p:cNvSpPr>
            <a:spLocks noGrp="1"/>
          </p:cNvSpPr>
          <p:nvPr>
            <p:ph idx="1"/>
          </p:nvPr>
        </p:nvSpPr>
        <p:spPr/>
        <p:txBody>
          <a:bodyPr/>
          <a:lstStyle/>
          <a:p>
            <a:pPr lvl="0" indent="0" marL="0">
              <a:buNone/>
            </a:pPr>
            <a:r>
              <a:rPr b="1"/>
              <a:t>Does show:</a:t>
            </a:r>
            <a:r>
              <a:rPr/>
              <a:t> - The candidate-selection machinery recovers the truth on synthetic outcomes when assumptions hold. - TMLE / CV-TMLE bias is well controlled under marginal overlap; IPTW and matched-TMLE SE calibration is not. - When a hidden confounder is built into the data-generating process, the prespecified stress-test row catches the resulting bias and the locked rule returns STOP. - The prespecified rule arrives at the right verdict in all three scenarios </a:t>
            </a:r>
            <a:r>
              <a:rPr i="1"/>
              <a:t>without ever inspecting the realised treatment-outcome association</a:t>
            </a:r>
            <a:r>
              <a:rPr/>
              <a:t>.</a:t>
            </a:r>
          </a:p>
          <a:p>
            <a:pPr lvl="0" indent="0" marL="0">
              <a:buNone/>
            </a:pPr>
            <a:r>
              <a:rPr b="1"/>
              <a:t>Does not show:</a:t>
            </a:r>
            <a:r>
              <a:rPr/>
              <a:t> - That the outcome-blind workflow detects an unmeasured confounder a traditional analyst would have missed. The workflow does not “detect” confounders; it scores prespecified threats. - That cleanTMLE delivers a numerical advantage over a careful traditional analysis on the </a:t>
            </a:r>
            <a:r>
              <a:rPr i="1"/>
              <a:t>same</a:t>
            </a:r>
            <a:r>
              <a:rPr/>
              <a:t> dataset. The workflow’s value is operational (prespecification, auditability, gating), not a different point estimate. - That the small DGP used here generalises to all RWE settings. The case study exercises real-data behaviour separately.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a:t>
            </a:r>
          </a:p>
        </p:txBody>
      </p:sp>
      <p:sp>
        <p:nvSpPr>
          <p:cNvPr id="3" name="Content Placeholder 2"/>
          <p:cNvSpPr>
            <a:spLocks noGrp="1"/>
          </p:cNvSpPr>
          <p:nvPr>
            <p:ph idx="1"/>
          </p:nvPr>
        </p:nvSpPr>
        <p:spPr/>
        <p:txBody>
          <a:bodyPr/>
          <a:lstStyle/>
          <a:p>
            <a:pPr lvl="0" indent="0" marL="0">
              <a:buNone/>
            </a:pPr>
            <a:r>
              <a:rPr/>
              <a:t>Rescue.Co operates a network of motorcycle-based emergency ambulances in Nairobi. Patients arriving by Rescue.Co versus by other ambulance services were compared on whether they had a “good functional outcome” six months after their injury.</a:t>
            </a:r>
          </a:p>
          <a:p>
            <a:pPr lvl="0"/>
            <a:r>
              <a:rPr b="1"/>
              <a:t>Cohort:</a:t>
            </a:r>
            <a:r>
              <a:rPr/>
              <a:t> 1,693 ambulance arrivals at participating hospitals, 2018–2024.</a:t>
            </a:r>
          </a:p>
          <a:p>
            <a:pPr lvl="0"/>
            <a:r>
              <a:rPr b="1"/>
              <a:t>Treatment:</a:t>
            </a:r>
            <a:r>
              <a:rPr/>
              <a:t> Rescue.Co versus other ambulance services (point exposure at arrival).</a:t>
            </a:r>
          </a:p>
          <a:p>
            <a:pPr lvl="0"/>
            <a:r>
              <a:rPr b="1"/>
              <a:t>Outcome:</a:t>
            </a:r>
            <a:r>
              <a:rPr/>
              <a:t> GOSE &gt; 4 at 6 months (a standard scale of functional recovery).</a:t>
            </a:r>
          </a:p>
          <a:p>
            <a:pPr lvl="0"/>
            <a:r>
              <a:rPr b="1"/>
              <a:t>Missing outcomes:</a:t>
            </a:r>
            <a:r>
              <a:rPr/>
              <a:t> 24.6 % of the cohort.</a:t>
            </a:r>
          </a:p>
          <a:p>
            <a:pPr lvl="0" indent="0" marL="0">
              <a:buNone/>
            </a:pPr>
            <a:r>
              <a:rPr b="1"/>
              <a:t>This is a workflow demonstration on real data; it is not intended as evidence about whether Rescue.Co transport works.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Walking through the dossier</a:t>
            </a:r>
          </a:p>
        </p:txBody>
      </p:sp>
      <p:sp>
        <p:nvSpPr>
          <p:cNvPr id="3" name="Content Placeholder 2"/>
          <p:cNvSpPr>
            <a:spLocks noGrp="1"/>
          </p:cNvSpPr>
          <p:nvPr>
            <p:ph idx="1"/>
          </p:nvPr>
        </p:nvSpPr>
        <p:spPr/>
        <p:txBody>
          <a:bodyPr/>
          <a:lstStyle/>
          <a:p>
            <a:pPr lvl="0" indent="0" marL="0">
              <a:buNone/>
            </a:pPr>
            <a:r>
              <a:rPr/>
              <a:t>Before any comparative analysis was run:</a:t>
            </a:r>
          </a:p>
          <a:p>
            <a:pPr lvl="0"/>
            <a:r>
              <a:rPr b="1"/>
              <a:t>Cohort flow.</a:t>
            </a:r>
            <a:r>
              <a:rPr/>
              <a:t> From 1,693 eligible patients to 1,277 with a complete 6-month outcome; 615 in the matched subset.</a:t>
            </a:r>
          </a:p>
          <a:p>
            <a:pPr lvl="0"/>
            <a:r>
              <a:rPr b="1"/>
              <a:t>Design diagnostics.</a:t>
            </a:r>
            <a:r>
              <a:rPr/>
              <a:t> Propensity scores were well within the acceptable range. Standardised mean differences were balanced after weighting. Effective sample size retained 78 % of observations.</a:t>
            </a:r>
          </a:p>
          <a:p>
            <a:pPr lvl="0"/>
            <a:r>
              <a:rPr b="1"/>
              <a:t>Baseline plasmode candidate selection.</a:t>
            </a:r>
            <a:r>
              <a:rPr/>
              <a:t> Two candidates (different propensity-score truncation levels) both passed.</a:t>
            </a:r>
          </a:p>
          <a:p>
            <a:pPr lvl="0"/>
            <a:r>
              <a:rPr b="1"/>
              <a:t>Data-quality stress test.</a:t>
            </a:r>
            <a:r>
              <a:rPr/>
              <a:t> A minimax rule selected the candidate that performed best across worst-case threats.</a:t>
            </a:r>
          </a:p>
          <a:p>
            <a:pPr lvl="0"/>
            <a:r>
              <a:rPr b="1"/>
              <a:t>Negative controls.</a:t>
            </a:r>
            <a:r>
              <a:rPr/>
              <a:t> Five negative-control outcomes were planned in the protocol. Three failed an automatic data-cleaning filter and were dropped; the two that remained both passed. The audit log records the drops as a documented limitation.</a:t>
            </a:r>
          </a:p>
          <a:p>
            <a:pPr lvl="0" indent="0" marL="0">
              <a:buNone/>
            </a:pPr>
            <a:r>
              <a:rPr/>
              <a:t>The prespecified rule returned </a:t>
            </a:r>
            <a:r>
              <a:rPr b="1"/>
              <a:t>GO with a documented FLAG</a:t>
            </a:r>
            <a:r>
              <a:rPr/>
              <a:t> about the narrower negative-control panel. The comparative analysis was then run.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comparative analysis showed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Risk difference</a:t>
                      </a:r>
                    </a:p>
                  </a:txBody>
                  <a:tcPr/>
                </a:tc>
                <a:tc>
                  <a:txBody>
                    <a:bodyPr/>
                    <a:lstStyle/>
                    <a:p>
                      <a:pPr lvl="0" indent="0" marL="0">
                        <a:buNone/>
                      </a:pPr>
                      <a:r>
                        <a:rPr/>
                        <a:t>95 % CI</a:t>
                      </a:r>
                    </a:p>
                  </a:txBody>
                  <a:tcPr/>
                </a:tc>
              </a:tr>
              <a:tr h="0">
                <a:tc>
                  <a:txBody>
                    <a:bodyPr/>
                    <a:lstStyle/>
                    <a:p>
                      <a:pPr lvl="0" indent="0" marL="0">
                        <a:buNone/>
                      </a:pPr>
                      <a:r>
                        <a:rPr/>
                        <a:t>Unadjusted comparison</a:t>
                      </a:r>
                    </a:p>
                  </a:txBody>
                </a:tc>
                <a:tc>
                  <a:txBody>
                    <a:bodyPr/>
                    <a:lstStyle/>
                    <a:p>
                      <a:pPr lvl="0" indent="0" marL="0">
                        <a:buNone/>
                      </a:pPr>
                      <a:r>
                        <a:rPr/>
                        <a:t>Complete-outcome</a:t>
                      </a:r>
                    </a:p>
                  </a:txBody>
                </a:tc>
                <a:tc>
                  <a:txBody>
                    <a:bodyPr/>
                    <a:lstStyle/>
                    <a:p>
                      <a:pPr lvl="0" indent="0" marL="0" algn="r">
                        <a:buNone/>
                      </a:pPr>
                      <a:r>
                        <a:rPr/>
                        <a:t>1,277</a:t>
                      </a:r>
                    </a:p>
                  </a:txBody>
                </a:tc>
                <a:tc>
                  <a:txBody>
                    <a:bodyPr/>
                    <a:lstStyle/>
                    <a:p>
                      <a:pPr lvl="0" indent="0" marL="0" algn="r">
                        <a:buNone/>
                      </a:pPr>
                      <a:r>
                        <a:rPr/>
                        <a:t>0.037</a:t>
                      </a:r>
                    </a:p>
                  </a:txBody>
                </a:tc>
                <a:tc>
                  <a:txBody>
                    <a:bodyPr/>
                    <a:lstStyle/>
                    <a:p>
                      <a:pPr lvl="0" indent="0" marL="0">
                        <a:buNone/>
                      </a:pPr>
                      <a:r>
                        <a:rPr/>
                        <a:t>(0.003, 0.071)</a:t>
                      </a:r>
                    </a:p>
                  </a:txBody>
                </a:tc>
              </a:tr>
              <a:tr h="0">
                <a:tc>
                  <a:txBody>
                    <a:bodyPr/>
                    <a:lstStyle/>
                    <a:p>
                      <a:pPr lvl="0" indent="0" marL="0">
                        <a:buNone/>
                      </a:pPr>
                      <a:r>
                        <a:rPr/>
                        <a:t>Propensity-score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a:t>
                      </a:r>
                    </a:p>
                  </a:txBody>
                </a:tc>
                <a:tc>
                  <a:txBody>
                    <a:bodyPr/>
                    <a:lstStyle/>
                    <a:p>
                      <a:pPr lvl="0" indent="0" marL="0">
                        <a:buNone/>
                      </a:pPr>
                      <a:r>
                        <a:rPr/>
                        <a:t>(−0.020, 0.074)</a:t>
                      </a:r>
                    </a:p>
                  </a:txBody>
                </a:tc>
              </a:tr>
              <a:tr h="0">
                <a:tc>
                  <a:txBody>
                    <a:bodyPr/>
                    <a:lstStyle/>
                    <a:p>
                      <a:pPr lvl="0" indent="0" marL="0">
                        <a:buNone/>
                      </a:pPr>
                      <a:r>
                        <a:rPr/>
                        <a:t>IPTW</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a:t>0.037</a:t>
                      </a:r>
                    </a:p>
                  </a:txBody>
                </a:tc>
                <a:tc>
                  <a:txBody>
                    <a:bodyPr/>
                    <a:lstStyle/>
                    <a:p>
                      <a:pPr lvl="0" indent="0" marL="0">
                        <a:buNone/>
                      </a:pPr>
                      <a:r>
                        <a:rPr/>
                        <a:t>(0.002, 0.071)</a:t>
                      </a:r>
                    </a:p>
                  </a:txBody>
                </a:tc>
              </a:tr>
              <a:tr h="0">
                <a:tc>
                  <a:txBody>
                    <a:bodyPr/>
                    <a:lstStyle/>
                    <a:p>
                      <a:pPr lvl="0" indent="0" marL="0">
                        <a:buNone/>
                      </a:pPr>
                      <a:r>
                        <a:rPr/>
                        <a:t>Full-cohort TMLE </a:t>
                      </a:r>
                      <a:r>
                        <a:rPr i="1"/>
                        <a:t>(primary)</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b="1"/>
                        <a:t>0.031</a:t>
                      </a:r>
                    </a:p>
                  </a:txBody>
                </a:tc>
                <a:tc>
                  <a:txBody>
                    <a:bodyPr/>
                    <a:lstStyle/>
                    <a:p>
                      <a:pPr lvl="0" indent="0" marL="0">
                        <a:buNone/>
                      </a:pPr>
                      <a:r>
                        <a:rPr b="1"/>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0.026</a:t>
                      </a:r>
                    </a:p>
                  </a:txBody>
                </a:tc>
                <a:tc>
                  <a:txBody>
                    <a:bodyPr/>
                    <a:lstStyle/>
                    <a:p>
                      <a:pPr lvl="0" indent="0" marL="0">
                        <a:buNone/>
                      </a:pPr>
                      <a:r>
                        <a:rPr/>
                        <a:t>(−0.015, 0.067)</a:t>
                      </a:r>
                    </a:p>
                  </a:txBody>
                </a:tc>
              </a:tr>
              <a:tr h="0">
                <a:tc>
                  <a:txBody>
                    <a:bodyPr/>
                    <a:lstStyle/>
                    <a:p>
                      <a:pPr lvl="0" indent="0" marL="0">
                        <a:buNone/>
                      </a:pPr>
                      <a:r>
                        <a:rPr/>
                        <a:t>Complete-outcome TMLE with IPCW weights</a:t>
                      </a:r>
                    </a:p>
                  </a:txBody>
                </a:tc>
                <a:tc>
                  <a:txBody>
                    <a:bodyPr/>
                    <a:lstStyle/>
                    <a:p>
                      <a:pPr lvl="0" indent="0" marL="0">
                        <a:buNone/>
                      </a:pPr>
                      <a:r>
                        <a:rPr/>
                        <a:t>Full-cohort target</a:t>
                      </a:r>
                    </a:p>
                  </a:txBody>
                </a:tc>
                <a:tc>
                  <a:txBody>
                    <a:bodyPr/>
                    <a:lstStyle/>
                    <a:p>
                      <a:pPr lvl="0" indent="0" marL="0" algn="r">
                        <a:buNone/>
                      </a:pPr>
                      <a:r>
                        <a:rPr/>
                        <a:t>1,277</a:t>
                      </a:r>
                    </a:p>
                  </a:txBody>
                </a:tc>
                <a:tc>
                  <a:txBody>
                    <a:bodyPr/>
                    <a:lstStyle/>
                    <a:p>
                      <a:pPr lvl="0" indent="0" marL="0" algn="r">
                        <a:buNone/>
                      </a:pPr>
                      <a:r>
                        <a:rPr/>
                        <a:t>0.033</a:t>
                      </a:r>
                    </a:p>
                  </a:txBody>
                </a:tc>
                <a:tc>
                  <a:txBody>
                    <a:bodyPr/>
                    <a:lstStyle/>
                    <a:p>
                      <a:pPr lvl="0" indent="0" marL="0">
                        <a:buNone/>
                      </a:pPr>
                      <a:r>
                        <a:rPr/>
                        <a:t>(−0.000, 0.066)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six methods agree on direction. The prespecified primary estimate (full-cohort TMLE) just crosses zero. The data are consistent with a small, possibly real, possibly null, effect.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Matched vs full cohort: what the gap means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Comparison</a:t>
                      </a:r>
                    </a:p>
                  </a:txBody>
                  <a:tcPr/>
                </a:tc>
                <a:tc>
                  <a:txBody>
                    <a:bodyPr/>
                    <a:lstStyle/>
                    <a:p>
                      <a:pPr lvl="0" indent="0" marL="0" algn="r">
                        <a:buNone/>
                      </a:pPr>
                      <a:r>
                        <a:rPr/>
                        <a:t>Risk difference</a:t>
                      </a:r>
                    </a:p>
                  </a:txBody>
                  <a:tcPr/>
                </a:tc>
              </a:tr>
              <a:tr h="0">
                <a:tc>
                  <a:txBody>
                    <a:bodyPr/>
                    <a:lstStyle/>
                    <a:p>
                      <a:pPr lvl="0" indent="0" marL="0">
                        <a:buNone/>
                      </a:pPr>
                      <a:r>
                        <a:rPr/>
                        <a:t>PS matching (n = 615)</a:t>
                      </a:r>
                    </a:p>
                  </a:txBody>
                </a:tc>
                <a:tc>
                  <a:txBody>
                    <a:bodyPr/>
                    <a:lstStyle/>
                    <a:p>
                      <a:pPr lvl="0" indent="0" marL="0" algn="r">
                        <a:buNone/>
                      </a:pPr>
                      <a:r>
                        <a:rPr/>
                        <a:t>0.027</a:t>
                      </a:r>
                    </a:p>
                  </a:txBody>
                </a:tc>
              </a:tr>
              <a:tr h="0">
                <a:tc>
                  <a:txBody>
                    <a:bodyPr/>
                    <a:lstStyle/>
                    <a:p>
                      <a:pPr lvl="0" indent="0" marL="0">
                        <a:buNone/>
                      </a:pPr>
                      <a:r>
                        <a:rPr/>
                        <a:t>Matched-cohort TMLE (n = 1,230)</a:t>
                      </a:r>
                    </a:p>
                  </a:txBody>
                </a:tc>
                <a:tc>
                  <a:txBody>
                    <a:bodyPr/>
                    <a:lstStyle/>
                    <a:p>
                      <a:pPr lvl="0" indent="0" marL="0" algn="r">
                        <a:buNone/>
                      </a:pPr>
                      <a:r>
                        <a:rPr/>
                        <a:t>0.026</a:t>
                      </a:r>
                    </a:p>
                  </a:txBody>
                </a:tc>
              </a:tr>
              <a:tr h="0">
                <a:tc>
                  <a:txBody>
                    <a:bodyPr/>
                    <a:lstStyle/>
                    <a:p>
                      <a:pPr lvl="0" indent="0" marL="0">
                        <a:buNone/>
                      </a:pPr>
                      <a:r>
                        <a:rPr/>
                        <a:t>IPTW, full cohort (n = 1,693)</a:t>
                      </a:r>
                    </a:p>
                  </a:txBody>
                </a:tc>
                <a:tc>
                  <a:txBody>
                    <a:bodyPr/>
                    <a:lstStyle/>
                    <a:p>
                      <a:pPr lvl="0" indent="0" marL="0" algn="r">
                        <a:buNone/>
                      </a:pPr>
                      <a:r>
                        <a:rPr/>
                        <a:t>0.037</a:t>
                      </a:r>
                    </a:p>
                  </a:txBody>
                </a:tc>
              </a:tr>
              <a:tr h="0">
                <a:tc>
                  <a:txBody>
                    <a:bodyPr/>
                    <a:lstStyle/>
                    <a:p>
                      <a:pPr lvl="0" indent="0" marL="0">
                        <a:buNone/>
                      </a:pPr>
                      <a:r>
                        <a:rPr/>
                        <a:t>Full-cohort TMLE, primary (n = 1,693)</a:t>
                      </a:r>
                    </a:p>
                  </a:txBody>
                </a:tc>
                <a:tc>
                  <a:txBody>
                    <a:bodyPr/>
                    <a:lstStyle/>
                    <a:p>
                      <a:pPr lvl="0" indent="0" marL="0" algn="r">
                        <a:buNone/>
                      </a:pPr>
                      <a:r>
                        <a:rPr/>
                        <a:t>0.031</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Under standard assumptions (no effect modification by baseline covariates, adequate overlap), the matched and full-cohort estimators target the </a:t>
            </a:r>
            <a:r>
              <a:rPr b="1"/>
              <a:t>same</a:t>
            </a:r>
            <a:r>
              <a:rPr/>
              <a:t> marginal treatment effect and should agree in expectation. The 0.005 to 0.011 gap here is most plausibly </a:t>
            </a:r>
            <a:r>
              <a:rPr b="1"/>
              <a:t>sampling noise</a:t>
            </a:r>
            <a:r>
              <a:rPr/>
              <a:t>, with the matched confidence intervals roughly 50 % wider because matching throws away controls (which is also an </a:t>
            </a:r>
            <a:r>
              <a:rPr b="1"/>
              <a:t>efficiency cost</a:t>
            </a:r>
            <a:r>
              <a:rPr/>
              <a:t>, not a bias signal).</a:t>
            </a:r>
          </a:p>
          <a:p>
            <a:pPr lvl="0" indent="0" marL="0">
              <a:buNone/>
            </a:pPr>
            <a:r>
              <a:rPr/>
              <a:t>They would target </a:t>
            </a:r>
            <a:r>
              <a:rPr i="1"/>
              <a:t>different</a:t>
            </a:r>
            <a:r>
              <a:rPr/>
              <a:t> causal parameters in two specific situations:</a:t>
            </a:r>
          </a:p>
          <a:p>
            <a:pPr lvl="0"/>
            <a:r>
              <a:rPr b="1"/>
              <a:t>Effect modification by baseline covariates.</a:t>
            </a:r>
            <a:r>
              <a:rPr/>
              <a:t> If the Rescue.Co effect were genuinely different in the overlap subset than in the full cohort, the two estimators would converge to different numbers in expectation.</a:t>
            </a:r>
          </a:p>
          <a:p>
            <a:pPr lvl="0"/>
            <a:r>
              <a:rPr b="1"/>
              <a:t>Positivity strain.</a:t>
            </a:r>
            <a:r>
              <a:rPr/>
              <a:t> If propensity scores for some patients were near 0 or 1, the marginal full-cohort ATE would not be identifiable without model-based extrapolation, and the matched estimator would be the more conservative target.</a:t>
            </a:r>
          </a:p>
          <a:p>
            <a:pPr lvl="0" indent="0" marL="0">
              <a:buNone/>
            </a:pPr>
            <a:r>
              <a:rPr/>
              <a:t>In rescueCo, propensity scores stayed inside [0.21, 0.81] and the gap is within roughly one standard error of each estimate, so the most parsimonious reading is sampling noise plus the efficiency cost of matching. The prespecified primary is the full-cohort TMLE because the protocol question is about all eligible ambulance patients; the matched-cohort row is a sensitivity analysis showing the answer is robust to the narrower target population.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would read this</a:t>
            </a:r>
          </a:p>
        </p:txBody>
      </p:sp>
      <p:sp>
        <p:nvSpPr>
          <p:cNvPr id="3" name="Content Placeholder 2"/>
          <p:cNvSpPr>
            <a:spLocks noGrp="1"/>
          </p:cNvSpPr>
          <p:nvPr>
            <p:ph idx="1"/>
          </p:nvPr>
        </p:nvSpPr>
        <p:spPr/>
        <p:txBody>
          <a:bodyPr/>
          <a:lstStyle/>
          <a:p>
            <a:pPr lvl="0"/>
            <a:r>
              <a:rPr/>
              <a:t>Every analytic decision was recorded before the comparative numbers above were produced.</a:t>
            </a:r>
          </a:p>
          <a:p>
            <a:pPr lvl="0"/>
            <a:r>
              <a:rPr/>
              <a:t>Six methods that make different assumptions all point the same way.</a:t>
            </a:r>
          </a:p>
          <a:p>
            <a:pPr lvl="0"/>
            <a:r>
              <a:rPr/>
              <a:t>The primary confidence interval crosses zero by a small amount; the workflow does not “confirm” the signal under prespecified diagnostics.</a:t>
            </a:r>
          </a:p>
          <a:p>
            <a:pPr lvl="0"/>
            <a:r>
              <a:rPr/>
              <a:t>The audit log shows the three negative controls that were dropped and the reason.</a:t>
            </a:r>
          </a:p>
          <a:p>
            <a:pPr lvl="0" indent="0" marL="0">
              <a:buNone/>
            </a:pPr>
            <a:r>
              <a:rPr/>
              <a:t>The reviewer can reconstruct the entire analysis from the dossier and the lock fingerprint.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How cleanTMLE improves on existing tools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was already available</a:t>
            </a:r>
          </a:p>
        </p:txBody>
      </p:sp>
      <p:sp>
        <p:nvSpPr>
          <p:cNvPr id="3" name="Content Placeholder 2"/>
          <p:cNvSpPr>
            <a:spLocks noGrp="1"/>
          </p:cNvSpPr>
          <p:nvPr>
            <p:ph idx="1"/>
          </p:nvPr>
        </p:nvSpPr>
        <p:spPr/>
        <p:txBody>
          <a:bodyPr/>
          <a:lstStyle/>
          <a:p>
            <a:pPr lvl="0" indent="0" marL="0">
              <a:buNone/>
            </a:pPr>
            <a:r>
              <a:rPr/>
              <a:t>Many parts of this workflow already exist as separate tools:</a:t>
            </a:r>
          </a:p>
          <a:p>
            <a:pPr lvl="0"/>
            <a:r>
              <a:rPr/>
              <a:t>The </a:t>
            </a:r>
            <a:r>
              <a:rPr b="1"/>
              <a:t>TMLE method</a:t>
            </a:r>
            <a:r>
              <a:rPr/>
              <a:t> has had implementations in R for over a decade (</a:t>
            </a:r>
            <a:r>
              <a:rPr>
                <a:latin typeface="Courier"/>
              </a:rPr>
              <a:t>tmle</a:t>
            </a:r>
            <a:r>
              <a:rPr/>
              <a:t>, </a:t>
            </a:r>
            <a:r>
              <a:rPr>
                <a:latin typeface="Courier"/>
              </a:rPr>
              <a:t>tmle3</a:t>
            </a:r>
            <a:r>
              <a:rPr/>
              <a:t>, </a:t>
            </a:r>
            <a:r>
              <a:rPr>
                <a:latin typeface="Courier"/>
              </a:rPr>
              <a:t>lmtp</a:t>
            </a:r>
            <a:r>
              <a:rPr/>
              <a:t>, </a:t>
            </a:r>
            <a:r>
              <a:rPr>
                <a:latin typeface="Courier"/>
              </a:rPr>
              <a:t>survtmle</a:t>
            </a:r>
            <a:r>
              <a:rPr/>
              <a:t>, </a:t>
            </a:r>
            <a:r>
              <a:rPr>
                <a:latin typeface="Courier"/>
              </a:rPr>
              <a:t>targeted</a:t>
            </a:r>
            <a:r>
              <a:rPr/>
              <a:t>).</a:t>
            </a:r>
          </a:p>
          <a:p>
            <a:pPr lvl="0"/>
            <a:r>
              <a:rPr/>
              <a:t>The </a:t>
            </a:r>
            <a:r>
              <a:rPr b="1"/>
              <a:t>clean-room / staged-analysis idea</a:t>
            </a:r>
            <a:r>
              <a:rPr/>
              <a:t> is described in published guidance papers (Muntner et al. 2024; McGrath et al. 2021), but as a workflow, not as software.</a:t>
            </a:r>
          </a:p>
          <a:p>
            <a:pPr lvl="0"/>
            <a:r>
              <a:rPr/>
              <a:t>The </a:t>
            </a:r>
            <a:r>
              <a:rPr b="1"/>
              <a:t>causalRisk package</a:t>
            </a:r>
            <a:r>
              <a:rPr/>
              <a:t> (Brookhart, Breskin, Eledath) provides a cohort-specification grammar, cumulative-risk reporting, and weight diagnostics for time-to-event observational studies. It is the closest related R package and is the right point of comparison for the cumulative-risk reporting components.</a:t>
            </a:r>
          </a:p>
          <a:p>
            <a:pPr lvl="0"/>
            <a:r>
              <a:rPr b="1"/>
              <a:t>Propensity-score diagnostics</a:t>
            </a:r>
            <a:r>
              <a:rPr/>
              <a:t> (overlap plots, balance tables, Love plots) are standard in most epidemiological pipelines.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cleanTMLE adds something new</a:t>
            </a:r>
          </a:p>
        </p:txBody>
      </p:sp>
      <p:sp>
        <p:nvSpPr>
          <p:cNvPr id="3" name="Content Placeholder 2"/>
          <p:cNvSpPr>
            <a:spLocks noGrp="1"/>
          </p:cNvSpPr>
          <p:nvPr>
            <p:ph idx="1"/>
          </p:nvPr>
        </p:nvSpPr>
        <p:spPr/>
        <p:txBody>
          <a:bodyPr/>
          <a:lstStyle/>
          <a:p>
            <a:pPr lvl="0" indent="0" marL="0">
              <a:buNone/>
            </a:pPr>
            <a:r>
              <a:rPr/>
              <a:t>The contribution is integrative rather than methodological. cleanTMLE provides:</a:t>
            </a:r>
          </a:p>
          <a:p>
            <a:pPr lvl="0"/>
            <a:r>
              <a:rPr/>
              <a:t>A </a:t>
            </a:r>
            <a:r>
              <a:rPr b="1"/>
              <a:t>fingerprinted analysis lock</a:t>
            </a:r>
            <a:r>
              <a:rPr/>
              <a:t>, </a:t>
            </a:r>
            <a:r>
              <a:rPr b="1"/>
              <a:t>audit log</a:t>
            </a:r>
            <a:r>
              <a:rPr/>
              <a:t>, and </a:t>
            </a:r>
            <a:r>
              <a:rPr b="1"/>
              <a:t>decision log</a:t>
            </a:r>
            <a:r>
              <a:rPr/>
              <a:t>, so the prespecification is a code artefact, not a separate document.</a:t>
            </a:r>
          </a:p>
          <a:p>
            <a:pPr lvl="0"/>
            <a:r>
              <a:rPr/>
              <a:t>A </a:t>
            </a:r>
            <a:r>
              <a:rPr b="1"/>
              <a:t>pre-outcome plasmode candidate selector</a:t>
            </a:r>
            <a:r>
              <a:rPr/>
              <a:t> that uses the real covariate and treatment structure but a synthetic outcome to compare candidate methods before unblinding.</a:t>
            </a:r>
          </a:p>
          <a:p>
            <a:pPr lvl="0"/>
            <a:r>
              <a:rPr/>
              <a:t>A </a:t>
            </a:r>
            <a:r>
              <a:rPr b="1"/>
              <a:t>data-quality stress test</a:t>
            </a:r>
            <a:r>
              <a:rPr/>
              <a:t> that turns qualitative concerns about measurement error, missingness, and unmeasured confounding into quantitative reruns of the same simulation, on the same metrics.</a:t>
            </a:r>
          </a:p>
          <a:p>
            <a:pPr lvl="0"/>
            <a:r>
              <a:rPr/>
              <a:t>A </a:t>
            </a:r>
            <a:r>
              <a:rPr b="1"/>
              <a:t>prespecified GO / FLAG / STOP rule</a:t>
            </a:r>
            <a:r>
              <a:rPr/>
              <a:t> that the workflow checks before allowing the comparative analysis.</a:t>
            </a:r>
          </a:p>
          <a:p>
            <a:pPr lvl="0"/>
            <a:r>
              <a:rPr/>
              <a:t>An </a:t>
            </a:r>
            <a:r>
              <a:rPr b="1"/>
              <a:t>outcome-access gate</a:t>
            </a:r>
            <a:r>
              <a:rPr/>
              <a:t> inside the package: comparative-analysis functions refuse to run on an unauthorised lock.</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Side-by-side comparison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TMLE-only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b="1"/>
                        <a:t>cleanTMLE</a:t>
                      </a:r>
                    </a:p>
                  </a:txBody>
                  <a:tcPr/>
                </a:tc>
              </a:tr>
              <a:tr h="0">
                <a:tc>
                  <a:txBody>
                    <a:bodyPr/>
                    <a:lstStyle/>
                    <a:p>
                      <a:pPr lvl="0" indent="0" marL="0">
                        <a:buNone/>
                      </a:pPr>
                      <a:r>
                        <a:rPr/>
                        <a:t>Targeted-learning estimation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Cohort-specification grammar</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Cumulative-risk reporting</a:t>
                      </a:r>
                    </a:p>
                  </a:txBody>
                </a:tc>
                <a:tc>
                  <a:txBody>
                    <a:bodyPr/>
                    <a:lstStyle/>
                    <a:p>
                      <a:pPr lvl="0" indent="0" marL="0" algn="ctr">
                        <a:buNone/>
                      </a:pPr>
                      <a:r>
                        <a:rPr/>
                        <a:t>partial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Weight diagnostics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Fingerprinted analysis lock</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Audit + decision logs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Outcome-blind plasmode candidate selection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b="1"/>
                        <a:t>Data-quality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b="1"/>
                        <a:t>✓</a:t>
                      </a:r>
                    </a:p>
                  </a:txBody>
                </a:tc>
              </a:tr>
              <a:tr h="0">
                <a:tc>
                  <a:txBody>
                    <a:bodyPr/>
                    <a:lstStyle/>
                    <a:p>
                      <a:pPr lvl="0" indent="0" marL="0">
                        <a:buNone/>
                      </a:pPr>
                      <a:r>
                        <a:rPr/>
                        <a:t>Prespecified GO / FLAG / STOP rule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Software outcome-access gate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cleanTMLE shares the cohort-specification and cumulative-risk reporting concepts with causalRisk, then adds the prespecification, simulation, stress-test, and gate machinery on top.</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cleanTMLE</a:t>
            </a:r>
          </a:p>
        </p:txBody>
      </p:sp>
      <p:sp>
        <p:nvSpPr>
          <p:cNvPr id="3" name="Content Placeholder 2"/>
          <p:cNvSpPr>
            <a:spLocks noGrp="1"/>
          </p:cNvSpPr>
          <p:nvPr>
            <p:ph idx="1"/>
          </p:nvPr>
        </p:nvSpPr>
        <p:spPr/>
        <p:txBody>
          <a:bodyPr/>
          <a:lstStyle/>
          <a:p>
            <a:pPr lvl="0"/>
            <a:r>
              <a:rPr/>
              <a:t>Methods development around outcome-blind workflows.</a:t>
            </a:r>
          </a:p>
          <a:p>
            <a:pPr lvl="0"/>
            <a:r>
              <a:rPr/>
              <a:t>Outcome-blind estimator selection for observational studies.</a:t>
            </a:r>
          </a:p>
          <a:p>
            <a:pPr lvl="0"/>
            <a:r>
              <a:rPr/>
              <a:t>Protocol and statistical-analysis-plan development for real-world evidence projects.</a:t>
            </a:r>
          </a:p>
          <a:p>
            <a:pPr lvl="0"/>
            <a:r>
              <a:rPr/>
              <a:t>Exploratory or lower-stakes RWE analyses where structured pre-outcome review is useful.</a:t>
            </a:r>
          </a:p>
          <a:p>
            <a:pPr lvl="0" indent="0" marL="0">
              <a:buNone/>
            </a:pPr>
            <a:r>
              <a:rPr/>
              <a:t>For high-stakes confirmatory studies, cleanTMLE should be embedded inside external governance — role separation, credentialed data access, an independent review team — that the software cannot provide.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does </a:t>
            </a:r>
            <a:r>
              <a:rPr i="1"/>
              <a:t>not</a:t>
            </a:r>
            <a:r>
              <a:rPr/>
              <a:t> do</a:t>
            </a:r>
          </a:p>
        </p:txBody>
      </p:sp>
      <p:sp>
        <p:nvSpPr>
          <p:cNvPr id="3" name="Content Placeholder 2"/>
          <p:cNvSpPr>
            <a:spLocks noGrp="1"/>
          </p:cNvSpPr>
          <p:nvPr>
            <p:ph idx="1"/>
          </p:nvPr>
        </p:nvSpPr>
        <p:spPr/>
        <p:txBody>
          <a:bodyPr/>
          <a:lstStyle/>
          <a:p>
            <a:pPr lvl="0"/>
            <a:r>
              <a:rPr/>
              <a:t>It does not automate study design.</a:t>
            </a:r>
          </a:p>
          <a:p>
            <a:pPr lvl="0"/>
            <a:r>
              <a:rPr/>
              <a:t>It does not validate the source data or the phenotypes.</a:t>
            </a:r>
          </a:p>
          <a:p>
            <a:pPr lvl="0"/>
            <a:r>
              <a:rPr/>
              <a:t>It does not guarantee that the assumptions hold.</a:t>
            </a:r>
          </a:p>
          <a:p>
            <a:pPr lvl="0"/>
            <a:r>
              <a:rPr/>
              <a:t>It does not replace negative controls or post-outcome sensitivity analyses.</a:t>
            </a:r>
          </a:p>
          <a:p>
            <a:pPr lvl="0"/>
            <a:r>
              <a:rPr/>
              <a:t>It does not control raw-data access outside the package.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Open questions for collaborators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b="1"/>
              <a:t>Severity ranges.</a:t>
            </a:r>
            <a:r>
              <a:rPr/>
              <a:t> How should we elicit and document the (sensitivity, specificity), missingness, and unmeasured-confounding ranges for a new study so that a reviewer accepts them?</a:t>
            </a:r>
          </a:p>
          <a:p>
            <a:pPr lvl="0" indent="-342900" marL="342900">
              <a:buAutoNum type="arabicPeriod"/>
            </a:pPr>
            <a:r>
              <a:rPr b="1"/>
              <a:t>Decision thresholds.</a:t>
            </a:r>
            <a:r>
              <a:rPr/>
              <a:t> Are the current defaults reasonable, or should they scale with the size of the effect being estimated and the Type-I error budget?</a:t>
            </a:r>
          </a:p>
          <a:p>
            <a:pPr lvl="0" indent="-342900" marL="342900">
              <a:buAutoNum type="arabicPeriod"/>
            </a:pPr>
            <a:r>
              <a:rPr b="1"/>
              <a:t>Role separation.</a:t>
            </a:r>
            <a:r>
              <a:rPr/>
              <a:t> What minimum personnel structure should sit on top of the software workflow for submission-grade studies?</a:t>
            </a:r>
          </a:p>
          <a:p>
            <a:pPr lvl="0" indent="-342900" marL="342900">
              <a:buAutoNum type="arabicPeriod"/>
            </a:pPr>
            <a:r>
              <a:rPr b="1"/>
              <a:t>Plasmode faithfulness.</a:t>
            </a:r>
            <a:r>
              <a:rPr/>
              <a:t> Is the synthetic outcome model rich enough, or do we need richer data-generating processes (effect modification, time-varying treatment)?</a:t>
            </a:r>
          </a:p>
          <a:p>
            <a:pPr lvl="0" indent="-342900" marL="342900">
              <a:buAutoNum type="arabicPeriod"/>
            </a:pPr>
            <a:r>
              <a:rPr b="1"/>
              <a:t>Negative-control policy.</a:t>
            </a:r>
            <a:r>
              <a:rPr/>
              <a:t> When the automatic data-cleaning filter drops some of the prespecified negative controls, should we re-elicit before unblinding or accept a narrower panel and document it?</a:t>
            </a:r>
          </a:p>
          <a:p>
            <a:pPr lvl="0" indent="-342900" marL="342900">
              <a:buAutoNum type="arabicPeriod"/>
            </a:pPr>
            <a:r>
              <a:rPr b="1"/>
              <a:t>Publication venue.</a:t>
            </a:r>
            <a:r>
              <a:rPr/>
              <a:t> Methods journal, applied RWE journal, or both?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p>
          <a:p>
            <a:pPr lvl="0"/>
            <a:r>
              <a:rPr/>
              <a:t>Manuscript draft: </a:t>
            </a:r>
            <a:r>
              <a:rPr>
                <a:latin typeface="Courier"/>
              </a:rPr>
              <a:t>reports/manuscript_outcome_blind_dq.qmd</a:t>
            </a:r>
          </a:p>
          <a:p>
            <a:pPr lvl="0"/>
            <a:r>
              <a:rPr/>
              <a:t>Case study: </a:t>
            </a:r>
            <a:r>
              <a:rPr>
                <a:latin typeface="Courier"/>
              </a:rPr>
              <a:t>rescueCo/reports/rescueco_clean_room_case_study.qmd</a:t>
            </a:r>
          </a:p>
          <a:p>
            <a:pPr lvl="0"/>
            <a:r>
              <a:rPr/>
              <a:t>Vignette: </a:t>
            </a:r>
            <a:r>
              <a:rPr>
                <a:latin typeface="Courier"/>
              </a:rPr>
              <a:t>cleanTMLE/vignettes/cleanTMLE-staged-analysis.qmd</a:t>
            </a:r>
          </a:p>
          <a:p>
            <a:pPr lvl="0" indent="0" marL="0">
              <a:buNone/>
            </a:pPr>
            <a:r>
              <a:rPr/>
              <a:t>Thank you. Questions and pushback welcome.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Conceptual tables and roadmap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 or causal contrast.</a:t>
                      </a:r>
                    </a:p>
                  </a:txBody>
                </a:tc>
              </a:tr>
              <a:tr h="0">
                <a:tc>
                  <a:txBody>
                    <a:bodyPr/>
                    <a:lstStyle/>
                    <a:p>
                      <a:pPr lvl="0" indent="0" marL="0">
                        <a:buNone/>
                      </a:pPr>
                      <a:r>
                        <a:rPr/>
                        <a:t>Causal estimand</a:t>
                      </a:r>
                    </a:p>
                  </a:txBody>
                </a:tc>
                <a:tc>
                  <a:txBody>
                    <a:bodyPr/>
                    <a:lstStyle/>
                    <a:p>
                      <a:pPr lvl="0" indent="0" marL="0">
                        <a:buNone/>
                      </a:pPr>
                      <a:r>
                        <a:rPr/>
                        <a:t>Counterfactual treatment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causal estimand can be expressed as an observed-data parameter.</a:t>
                      </a:r>
                    </a:p>
                  </a:txBody>
                </a:tc>
              </a:tr>
              <a:tr h="0">
                <a:tc>
                  <a:txBody>
                    <a:bodyPr/>
                    <a:lstStyle/>
                    <a:p>
                      <a:pPr lvl="0" indent="0" marL="0">
                        <a:buNone/>
                      </a:pPr>
                      <a:r>
                        <a:rPr/>
                        <a:t>Statistical estimand</a:t>
                      </a:r>
                    </a:p>
                  </a:txBody>
                </a:tc>
                <a:tc>
                  <a:txBody>
                    <a:bodyPr/>
                    <a:lstStyle/>
                    <a:p>
                      <a:pPr lvl="0" indent="0" marL="0">
                        <a:buNone/>
                      </a:pPr>
                      <a:r>
                        <a:rPr/>
                        <a:t>Observed-data parameter identified under the assumptions above.</a:t>
                      </a:r>
                    </a:p>
                  </a:txBody>
                </a:tc>
              </a:tr>
              <a:tr h="0">
                <a:tc>
                  <a:txBody>
                    <a:bodyPr/>
                    <a:lstStyle/>
                    <a:p>
                      <a:pPr lvl="0" indent="0" marL="0">
                        <a:buNone/>
                      </a:pPr>
                      <a:r>
                        <a:rPr/>
                        <a:t>Estimator</a:t>
                      </a:r>
                    </a:p>
                  </a:txBody>
                </a:tc>
                <a:tc>
                  <a:txBody>
                    <a:bodyPr/>
                    <a:lstStyle/>
                    <a:p>
                      <a:pPr lvl="0" indent="0" marL="0">
                        <a:buNone/>
                      </a:pPr>
                      <a:r>
                        <a:rPr/>
                        <a:t>Algorithm used to estimate the statistical estimand (e.g. TMLE, IPTW, matching).</a:t>
                      </a:r>
                    </a:p>
                  </a:txBody>
                </a:tc>
              </a:tr>
              <a:tr h="0">
                <a:tc>
                  <a:txBody>
                    <a:bodyPr/>
                    <a:lstStyle/>
                    <a:p>
                      <a:pPr lvl="0" indent="0" marL="0">
                        <a:buNone/>
                      </a:pPr>
                      <a:r>
                        <a:rPr/>
                        <a:t>Pre-outcome diagnostic</a:t>
                      </a:r>
                    </a:p>
                  </a:txBody>
                </a:tc>
                <a:tc>
                  <a:txBody>
                    <a:bodyPr/>
                    <a:lstStyle/>
                    <a:p>
                      <a:pPr lvl="0" indent="0" marL="0">
                        <a:buNone/>
                      </a:pPr>
                      <a:r>
                        <a:rPr/>
                        <a:t>Quantity used for design checks: simulated bias, RMSE, coverage, ESS, balance, NC performance.</a:t>
                      </a:r>
                    </a:p>
                  </a:txBody>
                </a:tc>
              </a:tr>
              <a:tr h="0">
                <a:tc>
                  <a:txBody>
                    <a:bodyPr/>
                    <a:lstStyle/>
                    <a:p>
                      <a:pPr lvl="0" indent="0" marL="0">
                        <a:buNone/>
                      </a:pPr>
                      <a:r>
                        <a:rPr/>
                        <a:t>Governance decision</a:t>
                      </a:r>
                    </a:p>
                  </a:txBody>
                </a:tc>
                <a:tc>
                  <a:txBody>
                    <a:bodyPr/>
                    <a:lstStyle/>
                    <a:p>
                      <a:pPr lvl="0" indent="0" marL="0">
                        <a:buNone/>
                      </a:pPr>
                      <a:r>
                        <a:rPr/>
                        <a:t>Whether prespecified criteria support proceeding, require review, or require stopping.</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Causal roadmap and where cleanTMLE sits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702300" y="203200"/>
            <a:ext cx="850900" cy="4381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Governance stack</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4.png" id="0" name="Picture 1"/>
          <p:cNvPicPr>
            <a:picLocks noGrp="1" noChangeAspect="1"/>
          </p:cNvPicPr>
          <p:nvPr/>
        </p:nvPicPr>
        <p:blipFill>
          <a:blip r:embed="rId2"/>
          <a:stretch>
            <a:fillRect/>
          </a:stretch>
        </p:blipFill>
        <p:spPr bwMode="auto">
          <a:xfrm>
            <a:off x="3568700" y="1676400"/>
            <a:ext cx="5105400" cy="1447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What cleanTMLE operationalises</a:t>
                      </a:r>
                    </a:p>
                  </a:txBody>
                  <a:tcPr/>
                </a:tc>
              </a:tr>
              <a:tr h="0">
                <a:tc>
                  <a:txBody>
                    <a:bodyPr/>
                    <a:lstStyle/>
                    <a:p>
                      <a:pPr lvl="0" indent="0" marL="0">
                        <a:buNone/>
                      </a:pPr>
                      <a:r>
                        <a:rPr/>
                        <a:t>Causal question</a:t>
                      </a:r>
                    </a:p>
                  </a:txBody>
                </a:tc>
                <a:tc>
                  <a:txBody>
                    <a:bodyPr/>
                    <a:lstStyle/>
                    <a:p>
                      <a:pPr lvl="0" indent="0" marL="0">
                        <a:buNone/>
                      </a:pPr>
                      <a:r>
                        <a:rPr/>
                        <a:t>Hernán target-trial framework; FDA RWE Framework; ICH M14</a:t>
                      </a:r>
                    </a:p>
                  </a:txBody>
                </a:tc>
                <a:tc>
                  <a:txBody>
                    <a:bodyPr/>
                    <a:lstStyle/>
                    <a:p>
                      <a:pPr lvl="0" indent="0" marL="0">
                        <a:buNone/>
                      </a:pPr>
                      <a:r>
                        <a:rPr/>
                        <a:t>Locked estimand, target trial timing</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attach_estimand()</a:t>
                      </a:r>
                      <a:r>
                        <a:rPr/>
                        <a:t>, lock fingerprint</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lock_primary_tmle_spec()</a:t>
                      </a:r>
                    </a:p>
                  </a:txBody>
                </a:tc>
              </a:tr>
              <a:tr h="0">
                <a:tc>
                  <a:txBody>
                    <a:bodyPr/>
                    <a:lstStyle/>
                    <a:p>
                      <a:pPr lvl="0" indent="0" marL="0">
                        <a:buNone/>
                      </a:pPr>
                      <a:r>
                        <a:rPr/>
                        <a:t>Pre-outcome DQ stress</a:t>
                      </a:r>
                    </a:p>
                  </a:txBody>
                </a:tc>
                <a:tc>
                  <a:txBody>
                    <a:bodyPr/>
                    <a:lstStyle/>
                    <a:p>
                      <a:pPr lvl="0" indent="0" marL="0">
                        <a:buNone/>
                      </a:pPr>
                      <a:r>
                        <a:rPr/>
                        <a:t>Source reliability (FDA/EMA); validation evidence</a:t>
                      </a:r>
                    </a:p>
                  </a:txBody>
                </a:tc>
                <a:tc>
                  <a:txBody>
                    <a:bodyPr/>
                    <a:lstStyle/>
                    <a:p>
                      <a:pPr lvl="0" indent="0" marL="0">
                        <a:buNone/>
                      </a:pPr>
                      <a:r>
                        <a:rPr>
                          <a:latin typeface="Courier"/>
                        </a:rPr>
                        <a:t>run_plasmode_dq_stress()</a:t>
                      </a:r>
                    </a:p>
                  </a:txBody>
                </a:tc>
              </a:tr>
              <a:tr h="0">
                <a:tc>
                  <a:txBody>
                    <a:bodyPr/>
                    <a:lstStyle/>
                    <a:p>
                      <a:pPr lvl="0" indent="0" marL="0">
                        <a:buNone/>
                      </a:pPr>
                      <a:r>
                        <a:rPr/>
                        <a:t>Stage gate (GO/FLAG/STOP)</a:t>
                      </a:r>
                    </a:p>
                  </a:txBody>
                </a:tc>
                <a:tc>
                  <a:txBody>
                    <a:bodyPr/>
                    <a:lstStyle/>
                    <a:p>
                      <a:pPr lvl="0" indent="0" marL="0">
                        <a:buNone/>
                      </a:pPr>
                      <a:r>
                        <a:rPr/>
                        <a:t>Internal protocol governance</a:t>
                      </a:r>
                    </a:p>
                  </a:txBody>
                </a:tc>
                <a:tc>
                  <a:txBody>
                    <a:bodyPr/>
                    <a:lstStyle/>
                    <a:p>
                      <a:pPr lvl="0" indent="0" marL="0">
                        <a:buNone/>
                      </a:pPr>
                      <a:r>
                        <a:rPr>
                          <a:latin typeface="Courier"/>
                        </a:rPr>
                        <a:t>gate_all()</a:t>
                      </a:r>
                      <a:r>
                        <a:rPr/>
                        <a:t>, </a:t>
                      </a:r>
                      <a:r>
                        <a:rPr>
                          <a:latin typeface="Courier"/>
                        </a:rPr>
                        <a:t>authorize_outcome_analysis()</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tipping_point_sensitivity()</a:t>
                      </a:r>
                    </a:p>
                  </a:txBody>
                </a:tc>
              </a:tr>
            </a:tbl>
          </a:graphicData>
        </a:graphic>
      </p:graphicFrame>
    </p:spTree>
  </p:cSld>
</p:sld>
</file>

<file path=ppt/slides/slide5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DQ threats and parameter inputs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pPr lvl="0" indent="0" marL="0"><a:buNone /></a:pPr><a:r><a:rPr /><a:t>Threat</a:t></a:r></a:p></a:txBody><a:tcPr /></a:tc><a:tc><a:txBody><a:bodyPr /><a:lstStyle /><a:p><a:pPr lvl="0" indent="0" marL="0"><a:buNone /></a:pPr><a:r><a:rPr /><a:t>Mechanism</a:t></a:r></a:p></a:txBody><a:tcPr /></a:tc><a:tc><a:txBody><a:bodyPr /><a:lstStyle /><a:p><a:pPr lvl="0" indent="0" marL="0"><a:buNone /></a:pPr><a:r><a:rPr /><a:t>Severity parameters</a:t></a:r></a:p></a:txBody><a:tcPr /></a:tc></a:tr><a:tr h="0"><a:tc><a:txBody><a:bodyPr /><a:lstStyle /><a:p><a:pPr lvl="0" indent="0" marL="0"><a:buNone /></a:pPr><a:r><a:rPr /><a:t>Covariate missingness</a:t></a:r></a:p></a:txBody></a:tc><a:tc><a:txBody><a:bodyPr /><a:lstStyle /><a:p><a:pPr lvl="0" indent="0" marL="0"><a:buNone /></a:pPr><a:r><a:rPr /><a:t>MCAR on a covariate subset, median impute</a:t></a:r></a:p></a:txBody></a:tc><a:tc><a:txBody><a:bodyPr /><a:lstStyle /><a:p><a:pPr lvl="0" indent="0" marL="0"><a:buNone /></a:pPr><a:r><a:rPr /><a:t>proportion missing</a:t></a:r></a:p></a:txBody></a:tc></a:tr><a:tr h="0"><a:tc><a:txBody><a:bodyPr /><a:lstStyle /><a:p><a:pPr lvl="0" indent="0" marL="0"><a:buNone /></a:pPr><a:r><a:rPr /><a:t>Exposure misclassification</a:t></a:r></a:p></a:txBody></a:tc><a:tc><a:txBody><a:bodyPr /><a:lstStyle /><a:p><a:pPr lvl="0" indent="0" marL="0"><a:buNone /></a:pPr><a:r><a:rPr /><a:t>Flip A with given (sens, spec)</a:t></a:r></a:p></a:txBody></a:tc><a:tc><a:txBody><a:bodyPr /><a:lstStyle /><a:p><a:pPr lvl="0" indent="0" marL="0"><a:buNone /></a:pPr><a:r><a:rPr /><a:t>(sens, spec) pairs</a:t></a:r></a:p></a:txBody></a:tc></a:tr><a:tr h="0"><a:tc><a:txBody><a:bodyPr /><a:lstStyle /><a:p><a:pPr lvl="0" indent="0" marL="0"><a:buNone /></a:pPr><a:r><a:rPr /><a:t>Outcome misclassification</a:t></a:r></a:p></a:txBody></a:tc><a:tc><a:txBody><a:bodyPr /><a:lstStyle /><a:p><a:pPr lvl="0" indent="0" marL="0"><a:buNone /></a:pPr><a:r><a:rPr /><a:t>Flip Y with given (sens, spec), optional differential</a:t></a:r></a:p></a:txBody></a:tc><a:tc><a:txBody><a:bodyPr /><a:lstStyle /><a:p><a:pPr lvl="0" indent="0" marL="0"><a:buNone /></a:pPr><a:r><a:rPr /><a:t>(sens, spec) pairs</a:t></a:r></a:p></a:txBody></a:tc></a:tr><a:tr h="0"><a:tc><a:txBody><a:bodyPr /><a:lstStyle /><a:p><a:pPr lvl="0" indent="0" marL="0"><a:buNone /></a:pPr><a:r><a:rPr /><a:t>Unmeasured confounding</a:t></a:r></a:p></a:txBody></a:tc><a:tc><a:txBody><a:bodyPr /><a:lstStyle /><a:p><a:pPr lvl="0" indent="0" marL="0"><a:buNone /></a:pPr><a:r><a:rPr /><a:t>Latent U shifts both A and Y</a:t></a:r></a:p></a:txBody></a:tc><a:tc><a:txBody><a:bodyPr /><a:lstStyle /><a:p><a:pPr lvl="0" indent="0" marL="0"><a:buNone /></a:pPr><a14:m><m:oMath xmlns:m="http://schemas.openxmlformats.org/officeDocument/2006/math"><m:sSub><m:e><m:r><m:t>β</m:t></m:r></m:e><m:sub><m:r><m:t>U</m:t></m:r><m:r><m:t>A</m:t></m:r></m:sub></m:sSub></m:oMath></a14:m><a:r><a:rPr /><a:t>, </a:t></a:r><a14:m><m:oMath xmlns:m="http://schemas.openxmlformats.org/officeDocument/2006/math"><m:sSub><m:e><m:r><m:t>β</m:t></m:r></m:e><m:sub><m:r><m:t>U</m:t></m:r><m:r><m:t>Y</m:t></m:r></m:sub></m:sSub></m:oMath></a14:m></a:p></a:txBody></a:tc></a:tr></a:tbl></a:graphicData></a:graphic></p:graphicFrame></p:spTree></p:cSld></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Threat-to-assumption matrix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Assumption nominally probed</a:t>
                      </a:r>
                    </a:p>
                  </a:txBody>
                  <a:tcPr/>
                </a:tc>
                <a:tc>
                  <a:txBody>
                    <a:bodyPr/>
                    <a:lstStyle/>
                    <a:p>
                      <a:pPr lvl="0" indent="0" marL="0">
                        <a:buNone/>
                      </a:pPr>
                      <a:r>
                        <a:rPr/>
                        <a:t>What it does NOT probe</a:t>
                      </a:r>
                    </a:p>
                  </a:txBody>
                  <a:tcPr/>
                </a:tc>
              </a:tr>
              <a:tr h="0">
                <a:tc>
                  <a:txBody>
                    <a:bodyPr/>
                    <a:lstStyle/>
                    <a:p>
                      <a:pPr lvl="0" indent="0" marL="0">
                        <a:buNone/>
                      </a:pPr>
                      <a:r>
                        <a:rPr/>
                        <a:t>Covariate MCAR</a:t>
                      </a:r>
                    </a:p>
                  </a:txBody>
                </a:tc>
                <a:tc>
                  <a:txBody>
                    <a:bodyPr/>
                    <a:lstStyle/>
                    <a:p>
                      <a:pPr lvl="0" indent="0" marL="0">
                        <a:buNone/>
                      </a:pPr>
                      <a:r>
                        <a:rPr/>
                        <a:t>Some forms of missing-data robustness</a:t>
                      </a:r>
                    </a:p>
                  </a:txBody>
                </a:tc>
                <a:tc>
                  <a:txBody>
                    <a:bodyPr/>
                    <a:lstStyle/>
                    <a:p>
                      <a:pPr lvl="0" indent="0" marL="0">
                        <a:buNone/>
                      </a:pPr>
                      <a:r>
                        <a:rPr/>
                        <a:t>MAR / MNAR; phenotype validity</a:t>
                      </a:r>
                    </a:p>
                  </a:txBody>
                </a:tc>
              </a:tr>
              <a:tr h="0">
                <a:tc>
                  <a:txBody>
                    <a:bodyPr/>
                    <a:lstStyle/>
                    <a:p>
                      <a:pPr lvl="0" indent="0" marL="0">
                        <a:buNone/>
                      </a:pPr>
                      <a:r>
                        <a:rPr/>
                        <a:t>Exposure misclassification</a:t>
                      </a:r>
                    </a:p>
                  </a:txBody>
                </a:tc>
                <a:tc>
                  <a:txBody>
                    <a:bodyPr/>
                    <a:lstStyle/>
                    <a:p>
                      <a:pPr lvl="0" indent="0" marL="0">
                        <a:buNone/>
                      </a:pPr>
                      <a:r>
                        <a:rPr/>
                        <a:t>Treatment-measurement validity</a:t>
                      </a:r>
                    </a:p>
                  </a:txBody>
                </a:tc>
                <a:tc>
                  <a:txBody>
                    <a:bodyPr/>
                    <a:lstStyle/>
                    <a:p>
                      <a:pPr lvl="0" indent="0" marL="0">
                        <a:buNone/>
                      </a:pPr>
                      <a:r>
                        <a:rPr/>
                        <a:t>Differential misclassification by outcome</a:t>
                      </a:r>
                    </a:p>
                  </a:txBody>
                </a:tc>
              </a:tr>
              <a:tr h="0">
                <a:tc>
                  <a:txBody>
                    <a:bodyPr/>
                    <a:lstStyle/>
                    <a:p>
                      <a:pPr lvl="0" indent="0" marL="0">
                        <a:buNone/>
                      </a:pPr>
                      <a:r>
                        <a:rPr/>
                        <a:t>Outcome misclassification</a:t>
                      </a:r>
                    </a:p>
                  </a:txBody>
                </a:tc>
                <a:tc>
                  <a:txBody>
                    <a:bodyPr/>
                    <a:lstStyle/>
                    <a:p>
                      <a:pPr lvl="0" indent="0" marL="0">
                        <a:buNone/>
                      </a:pPr>
                      <a:r>
                        <a:rPr/>
                        <a:t>Outcome-measurement validity</a:t>
                      </a:r>
                    </a:p>
                  </a:txBody>
                </a:tc>
                <a:tc>
                  <a:txBody>
                    <a:bodyPr/>
                    <a:lstStyle/>
                    <a:p>
                      <a:pPr lvl="0" indent="0" marL="0">
                        <a:buNone/>
                      </a:pPr>
                      <a:r>
                        <a:rPr/>
                        <a:t>Time-varying outcome ascertainment</a:t>
                      </a:r>
                    </a:p>
                  </a:txBody>
                </a:tc>
              </a:tr>
              <a:tr h="0">
                <a:tc>
                  <a:txBody>
                    <a:bodyPr/>
                    <a:lstStyle/>
                    <a:p>
                      <a:pPr lvl="0" indent="0" marL="0">
                        <a:buNone/>
                      </a:pPr>
                      <a:r>
                        <a:rPr/>
                        <a:t>Unmeasured confounding</a:t>
                      </a:r>
                    </a:p>
                  </a:txBody>
                </a:tc>
                <a:tc>
                  <a:txBody>
                    <a:bodyPr/>
                    <a:lstStyle/>
                    <a:p>
                      <a:pPr lvl="0" indent="0" marL="0">
                        <a:buNone/>
                      </a:pPr>
                      <a:r>
                        <a:rPr/>
                        <a:t>Exchangeability</a:t>
                      </a:r>
                    </a:p>
                  </a:txBody>
                </a:tc>
                <a:tc>
                  <a:txBody>
                    <a:bodyPr/>
                    <a:lstStyle/>
                    <a:p>
                      <a:pPr lvl="0" indent="0" marL="0">
                        <a:buNone/>
                      </a:pPr>
                      <a:r>
                        <a:rPr/>
                        <a:t>Multiple unmeasured Us; effect modification by U</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setup (Rescue.Co)</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Cohort flow</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3.png" id="0" name="Picture 1"/>
          <p:cNvPicPr>
            <a:picLocks noGrp="1" noChangeAspect="1"/>
          </p:cNvPicPr>
          <p:nvPr/>
        </p:nvPicPr>
        <p:blipFill>
          <a:blip r:embed="rId2"/>
          <a:stretch>
            <a:fillRect/>
          </a:stretch>
        </p:blipFill>
        <p:spPr bwMode="auto">
          <a:xfrm>
            <a:off x="3721100" y="203200"/>
            <a:ext cx="4787900" cy="43815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 grid (case-study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t>
                      </a:r>
                    </a:p>
                  </a:txBody>
                  <a:tcPr/>
                </a:tc>
                <a:tc>
                  <a:txBody>
                    <a:bodyPr/>
                    <a:lstStyle/>
                    <a:p>
                      <a:pPr lvl="0" indent="0" marL="0">
                        <a:buNone/>
                      </a:pPr>
                      <a:r>
                        <a:rPr/>
                        <a:t>Estimator</a:t>
                      </a:r>
                    </a:p>
                  </a:txBody>
                  <a:tcPr/>
                </a:tc>
                <a:tc>
                  <a:txBody>
                    <a:bodyPr/>
                    <a:lstStyle/>
                    <a:p>
                      <a:pPr lvl="0" indent="0" marL="0">
                        <a:buNone/>
                      </a:pPr>
                      <a:r>
                        <a:rPr/>
                        <a:t>Outcome</a:t>
                      </a:r>
                    </a:p>
                  </a:txBody>
                  <a:tcPr/>
                </a:tc>
                <a:tc>
                  <a:txBody>
                    <a:bodyPr/>
                    <a:lstStyle/>
                    <a:p>
                      <a:pPr lvl="0" indent="0" marL="0">
                        <a:buNone/>
                      </a:pPr>
                      <a:r>
                        <a:rPr/>
                        <a:t>Cohort</a:t>
                      </a:r>
                    </a:p>
                  </a:txBody>
                  <a:tcPr/>
                </a:tc>
              </a:tr>
              <a:tr h="0">
                <a:tc>
                  <a:txBody>
                    <a:bodyPr/>
                    <a:lstStyle/>
                    <a:p>
                      <a:pPr lvl="0" indent="0" marL="0">
                        <a:buNone/>
                      </a:pPr>
                      <a:r>
                        <a:rPr/>
                        <a:t>A</a:t>
                      </a:r>
                    </a:p>
                  </a:txBody>
                </a:tc>
                <a:tc>
                  <a:txBody>
                    <a:bodyPr/>
                    <a:lstStyle/>
                    <a:p>
                      <a:pPr lvl="0" indent="0" marL="0">
                        <a:buNone/>
                      </a:pPr>
                      <a:r>
                        <a:rPr/>
                        <a:t>PS-matched logistic regression</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B</a:t>
                      </a:r>
                    </a:p>
                  </a:txBody>
                </a:tc>
                <a:tc>
                  <a:txBody>
                    <a:bodyPr/>
                    <a:lstStyle/>
                    <a:p>
                      <a:pPr lvl="0" indent="0" marL="0">
                        <a:buNone/>
                      </a:pPr>
                      <a:r>
                        <a:rPr/>
                        <a:t>PS-matched TMLE</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C</a:t>
                      </a:r>
                    </a:p>
                  </a:txBody>
                </a:tc>
                <a:tc>
                  <a:txBody>
                    <a:bodyPr/>
                    <a:lstStyle/>
                    <a:p>
                      <a:pPr lvl="0" indent="0" marL="0">
                        <a:buNone/>
                      </a:pPr>
                      <a:r>
                        <a:rPr/>
                        <a:t>Outcome-blind plasmode candidate selection</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D</a:t>
                      </a:r>
                    </a:p>
                  </a:txBody>
                </a:tc>
                <a:tc>
                  <a:txBody>
                    <a:bodyPr/>
                    <a:lstStyle/>
                    <a:p>
                      <a:pPr lvl="0" indent="0" marL="0">
                        <a:buNone/>
                      </a:pPr>
                      <a:r>
                        <a:rPr/>
                        <a:t>Full-cohort TMLE</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E</a:t>
                      </a:r>
                    </a:p>
                  </a:txBody>
                </a:tc>
                <a:tc>
                  <a:txBody>
                    <a:bodyPr/>
                    <a:lstStyle/>
                    <a:p>
                      <a:pPr lvl="0" indent="0" marL="0">
                        <a:buNone/>
                      </a:pPr>
                      <a:r>
                        <a:rPr/>
                        <a:t>IPTW (stabilised)</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F</a:t>
                      </a:r>
                    </a:p>
                  </a:txBody>
                </a:tc>
                <a:tc>
                  <a:txBody>
                    <a:bodyPr/>
                    <a:lstStyle/>
                    <a:p>
                      <a:pPr lvl="0" indent="0" marL="0">
                        <a:buNone/>
                      </a:pPr>
                      <a:r>
                        <a:rPr/>
                        <a:t>Complete-outcome TMLE with IPCW weights</a:t>
                      </a:r>
                    </a:p>
                  </a:txBody>
                </a:tc>
                <a:tc>
                  <a:txBody>
                    <a:bodyPr/>
                    <a:lstStyle/>
                    <a:p>
                      <a:pPr lvl="0" indent="0" marL="0">
                        <a:buNone/>
                      </a:pPr>
                      <a:r>
                        <a:rPr/>
                        <a:t>Binary</a:t>
                      </a:r>
                    </a:p>
                  </a:txBody>
                </a:tc>
                <a:tc>
                  <a:txBody>
                    <a:bodyPr/>
                    <a:lstStyle/>
                    <a:p>
                      <a:pPr lvl="0" indent="0" marL="0">
                        <a:buNone/>
                      </a:pPr>
                      <a:r>
                        <a:rPr/>
                        <a:t>Complete-outcome</a:t>
                      </a:r>
                    </a:p>
                  </a:txBody>
                </a:tc>
              </a:tr>
              <a:tr h="0">
                <a:tc>
                  <a:txBody>
                    <a:bodyPr/>
                    <a:lstStyle/>
                    <a:p>
                      <a:pPr lvl="0" indent="0" marL="0">
                        <a:buNone/>
                      </a:pPr>
                      <a:r>
                        <a:rPr/>
                        <a:t>G</a:t>
                      </a:r>
                    </a:p>
                  </a:txBody>
                </a:tc>
                <a:tc>
                  <a:txBody>
                    <a:bodyPr/>
                    <a:lstStyle/>
                    <a:p>
                      <a:pPr lvl="0" indent="0" marL="0">
                        <a:buNone/>
                      </a:pPr>
                      <a:r>
                        <a:rPr/>
                        <a:t>Survival TMLE (experimental)</a:t>
                      </a:r>
                    </a:p>
                  </a:txBody>
                </a:tc>
                <a:tc>
                  <a:txBody>
                    <a:bodyPr/>
                    <a:lstStyle/>
                    <a:p>
                      <a:pPr lvl="0" indent="0" marL="0">
                        <a:buNone/>
                      </a:pPr>
                      <a:r>
                        <a:rPr/>
                        <a:t>Survival</a:t>
                      </a:r>
                    </a:p>
                  </a:txBody>
                </a:tc>
                <a:tc>
                  <a:txBody>
                    <a:bodyPr/>
                    <a:lstStyle/>
                    <a:p>
                      <a:pPr lvl="0" indent="0" marL="0">
                        <a:buNone/>
                      </a:pPr>
                      <a:r>
                        <a:rPr/>
                        <a:t>Full</a:t>
                      </a:r>
                    </a:p>
                  </a:txBody>
                </a:tc>
              </a:tr>
              <a:tr h="0">
                <a:tc>
                  <a:txBody>
                    <a:bodyPr/>
                    <a:lstStyle/>
                    <a:p>
                      <a:pPr lvl="0" indent="0" marL="0">
                        <a:buNone/>
                      </a:pPr>
                      <a:r>
                        <a:rPr/>
                        <a:t>H</a:t>
                      </a:r>
                    </a:p>
                  </a:txBody>
                </a:tc>
                <a:tc>
                  <a:txBody>
                    <a:bodyPr/>
                    <a:lstStyle/>
                    <a:p>
                      <a:pPr lvl="0" indent="0" marL="0">
                        <a:buNone/>
                      </a:pPr>
                      <a:r>
                        <a:rPr/>
                        <a:t>Cox PH (sensitivity)</a:t>
                      </a:r>
                    </a:p>
                  </a:txBody>
                </a:tc>
                <a:tc>
                  <a:txBody>
                    <a:bodyPr/>
                    <a:lstStyle/>
                    <a:p>
                      <a:pPr lvl="0" indent="0" marL="0">
                        <a:buNone/>
                      </a:pPr>
                      <a:r>
                        <a:rPr/>
                        <a:t>Survival</a:t>
                      </a:r>
                    </a:p>
                  </a:txBody>
                </a:tc>
                <a:tc>
                  <a:txBody>
                    <a:bodyPr/>
                    <a:lstStyle/>
                    <a:p>
                      <a:pPr lvl="0" indent="0" marL="0">
                        <a:buNone/>
                      </a:pPr>
                      <a:r>
                        <a:rPr/>
                        <a:t>Full</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Target-trial timing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Design element</a:t>
                      </a:r>
                    </a:p>
                  </a:txBody>
                  <a:tcPr/>
                </a:tc>
                <a:tc>
                  <a:txBody>
                    <a:bodyPr/>
                    <a:lstStyle/>
                    <a:p>
                      <a:pPr lvl="0" indent="0" marL="0">
                        <a:buNone/>
                      </a:pPr>
                      <a:r>
                        <a:rPr/>
                        <a:t>Rescue.Co implementation</a:t>
                      </a:r>
                    </a:p>
                  </a:txBody>
                  <a:tcPr/>
                </a:tc>
                <a:tc>
                  <a:txBody>
                    <a:bodyPr/>
                    <a:lstStyle/>
                    <a:p>
                      <a:pPr lvl="0" indent="0" marL="0">
                        <a:buNone/>
                      </a:pPr>
                      <a:r>
                        <a:rPr/>
                        <a:t>Pre-outcome status</a:t>
                      </a:r>
                    </a:p>
                  </a:txBody>
                  <a:tcPr/>
                </a:tc>
              </a:tr>
              <a:tr h="0">
                <a:tc>
                  <a:txBody>
                    <a:bodyPr/>
                    <a:lstStyle/>
                    <a:p>
                      <a:pPr lvl="0" indent="0" marL="0">
                        <a:buNone/>
                      </a:pPr>
                      <a:r>
                        <a:rPr/>
                        <a:t>Index date / time zero</a:t>
                      </a:r>
                    </a:p>
                  </a:txBody>
                </a:tc>
                <a:tc>
                  <a:txBody>
                    <a:bodyPr/>
                    <a:lstStyle/>
                    <a:p>
                      <a:pPr lvl="0" indent="0" marL="0">
                        <a:buNone/>
                      </a:pPr>
                      <a:r>
                        <a:rPr/>
                        <a:t>Trauma-related ambulance arrival at participating hospital</a:t>
                      </a:r>
                    </a:p>
                  </a:txBody>
                </a:tc>
                <a:tc>
                  <a:txBody>
                    <a:bodyPr/>
                    <a:lstStyle/>
                    <a:p>
                      <a:pPr lvl="0" indent="0" marL="0">
                        <a:buNone/>
                      </a:pPr>
                      <a:r>
                        <a:rPr/>
                        <a:t>Locked in </a:t>
                      </a:r>
                      <a:r>
                        <a:rPr>
                          <a:latin typeface="Courier"/>
                        </a:rPr>
                        <a:t>identify_interval()</a:t>
                      </a:r>
                    </a:p>
                  </a:txBody>
                </a:tc>
              </a:tr>
              <a:tr h="0">
                <a:tc>
                  <a:txBody>
                    <a:bodyPr/>
                    <a:lstStyle/>
                    <a:p>
                      <a:pPr lvl="0" indent="0" marL="0">
                        <a:buNone/>
                      </a:pPr>
                      <a:r>
                        <a:rPr/>
                        <a:t>Treatment definition</a:t>
                      </a:r>
                    </a:p>
                  </a:txBody>
                </a:tc>
                <a:tc>
                  <a:txBody>
                    <a:bodyPr/>
                    <a:lstStyle/>
                    <a:p>
                      <a:pPr lvl="0" indent="0" marL="0">
                        <a:buNone/>
                      </a:pPr>
                      <a:r>
                        <a:rPr/>
                        <a:t>Rescue.Co EMS (A=1) vs other ambulance (A=0) at index</a:t>
                      </a:r>
                    </a:p>
                  </a:txBody>
                </a:tc>
                <a:tc>
                  <a:txBody>
                    <a:bodyPr/>
                    <a:lstStyle/>
                    <a:p>
                      <a:pPr lvl="0" indent="0" marL="0">
                        <a:buNone/>
                      </a:pPr>
                      <a:r>
                        <a:rPr/>
                        <a:t>Locked in </a:t>
                      </a:r>
                      <a:r>
                        <a:rPr>
                          <a:latin typeface="Courier"/>
                        </a:rPr>
                        <a:t>identify_treatment()</a:t>
                      </a:r>
                    </a:p>
                  </a:txBody>
                </a:tc>
              </a:tr>
              <a:tr h="0">
                <a:tc>
                  <a:txBody>
                    <a:bodyPr/>
                    <a:lstStyle/>
                    <a:p>
                      <a:pPr lvl="0" indent="0" marL="0">
                        <a:buNone/>
                      </a:pPr>
                      <a:r>
                        <a:rPr/>
                        <a:t>Reference group</a:t>
                      </a:r>
                    </a:p>
                  </a:txBody>
                </a:tc>
                <a:tc>
                  <a:txBody>
                    <a:bodyPr/>
                    <a:lstStyle/>
                    <a:p>
                      <a:pPr lvl="0" indent="0" marL="0">
                        <a:buNone/>
                      </a:pPr>
                      <a:r>
                        <a:rPr/>
                        <a:t>Other ambulance services, same hospitals + period</a:t>
                      </a:r>
                    </a:p>
                  </a:txBody>
                </a:tc>
                <a:tc>
                  <a:txBody>
                    <a:bodyPr/>
                    <a:lstStyle/>
                    <a:p>
                      <a:pPr lvl="0" indent="0" marL="0">
                        <a:buNone/>
                      </a:pPr>
                      <a:r>
                        <a:rPr/>
                        <a:t>Locked</a:t>
                      </a:r>
                    </a:p>
                  </a:txBody>
                </a:tc>
              </a:tr>
              <a:tr h="0">
                <a:tc>
                  <a:txBody>
                    <a:bodyPr/>
                    <a:lstStyle/>
                    <a:p>
                      <a:pPr lvl="0" indent="0" marL="0">
                        <a:buNone/>
                      </a:pPr>
                      <a:r>
                        <a:rPr/>
                        <a:t>Eligibility window</a:t>
                      </a:r>
                    </a:p>
                  </a:txBody>
                </a:tc>
                <a:tc>
                  <a:txBody>
                    <a:bodyPr/>
                    <a:lstStyle/>
                    <a:p>
                      <a:pPr lvl="0" indent="0" marL="0">
                        <a:buNone/>
                      </a:pPr>
                      <a:r>
                        <a:rPr/>
                        <a:t>2018-2024 trauma transports, direct-from-scene only</a:t>
                      </a:r>
                    </a:p>
                  </a:txBody>
                </a:tc>
                <a:tc>
                  <a:txBody>
                    <a:bodyPr/>
                    <a:lstStyle/>
                    <a:p>
                      <a:pPr lvl="0" indent="0" marL="0">
                        <a:buNone/>
                      </a:pPr>
                      <a:r>
                        <a:rPr/>
                        <a:t>Locked</a:t>
                      </a:r>
                    </a:p>
                  </a:txBody>
                </a:tc>
              </a:tr>
              <a:tr h="0">
                <a:tc>
                  <a:txBody>
                    <a:bodyPr/>
                    <a:lstStyle/>
                    <a:p>
                      <a:pPr lvl="0" indent="0" marL="0">
                        <a:buNone/>
                      </a:pPr>
                      <a:r>
                        <a:rPr/>
                        <a:t>Covariate window</a:t>
                      </a:r>
                    </a:p>
                  </a:txBody>
                </a:tc>
                <a:tc>
                  <a:txBody>
                    <a:bodyPr/>
                    <a:lstStyle/>
                    <a:p>
                      <a:pPr lvl="0" indent="0" marL="0">
                        <a:buNone/>
                      </a:pPr>
                      <a:r>
                        <a:rPr/>
                        <a:t>At or before index</a:t>
                      </a:r>
                    </a:p>
                  </a:txBody>
                </a:tc>
                <a:tc>
                  <a:txBody>
                    <a:bodyPr/>
                    <a:lstStyle/>
                    <a:p>
                      <a:pPr lvl="0" indent="0" marL="0">
                        <a:buNone/>
                      </a:pPr>
                      <a:r>
                        <a:rPr/>
                        <a:t>Locked</a:t>
                      </a:r>
                    </a:p>
                  </a:txBody>
                </a:tc>
              </a:tr>
              <a:tr h="0">
                <a:tc>
                  <a:txBody>
                    <a:bodyPr/>
                    <a:lstStyle/>
                    <a:p>
                      <a:pPr lvl="0" indent="0" marL="0">
                        <a:buNone/>
                      </a:pPr>
                      <a:r>
                        <a:rPr/>
                        <a:t>Outcome window</a:t>
                      </a:r>
                    </a:p>
                  </a:txBody>
                </a:tc>
                <a:tc>
                  <a:txBody>
                    <a:bodyPr/>
                    <a:lstStyle/>
                    <a:p>
                      <a:pPr lvl="0" indent="0" marL="0">
                        <a:buNone/>
                      </a:pPr>
                      <a:r>
                        <a:rPr/>
                        <a:t>6 months from index</a:t>
                      </a:r>
                    </a:p>
                  </a:txBody>
                </a:tc>
                <a:tc>
                  <a:txBody>
                    <a:bodyPr/>
                    <a:lstStyle/>
                    <a:p>
                      <a:pPr lvl="0" indent="0" marL="0">
                        <a:buNone/>
                      </a:pPr>
                      <a:r>
                        <a:rPr/>
                        <a:t>Locked</a:t>
                      </a:r>
                    </a:p>
                  </a:txBody>
                </a:tc>
              </a:tr>
              <a:tr h="0">
                <a:tc>
                  <a:txBody>
                    <a:bodyPr/>
                    <a:lstStyle/>
                    <a:p>
                      <a:pPr lvl="0" indent="0" marL="0">
                        <a:buNone/>
                      </a:pPr>
                      <a:r>
                        <a:rPr/>
                        <a:t>Outcome definition</a:t>
                      </a:r>
                    </a:p>
                  </a:txBody>
                </a:tc>
                <a:tc>
                  <a:txBody>
                    <a:bodyPr/>
                    <a:lstStyle/>
                    <a:p>
                      <a:pPr lvl="0" indent="0" marL="0">
                        <a:buNone/>
                      </a:pPr>
                      <a:r>
                        <a:rPr/>
                        <a:t>GOSE &gt; 4 at 6 months</a:t>
                      </a:r>
                    </a:p>
                  </a:txBody>
                </a:tc>
                <a:tc>
                  <a:txBody>
                    <a:bodyPr/>
                    <a:lstStyle/>
                    <a:p>
                      <a:pPr lvl="0" indent="0" marL="0">
                        <a:buNone/>
                      </a:pPr>
                      <a:r>
                        <a:rPr/>
                        <a:t>Locked</a:t>
                      </a:r>
                    </a:p>
                  </a:txBody>
                </a:tc>
              </a:tr>
              <a:tr h="0">
                <a:tc>
                  <a:txBody>
                    <a:bodyPr/>
                    <a:lstStyle/>
                    <a:p>
                      <a:pPr lvl="0" indent="0" marL="0">
                        <a:buNone/>
                      </a:pPr>
                      <a:r>
                        <a:rPr/>
                        <a:t>Missingness / censoring</a:t>
                      </a:r>
                    </a:p>
                  </a:txBody>
                </a:tc>
                <a:tc>
                  <a:txBody>
                    <a:bodyPr/>
                    <a:lstStyle/>
                    <a:p>
                      <a:pPr lvl="0" indent="0" marL="0">
                        <a:buNone/>
                      </a:pPr>
                      <a:r>
                        <a:rPr/>
                        <a:t>Missing 6-month GOSE; primary complete-outcome + IPCW sensitivity</a:t>
                      </a:r>
                    </a:p>
                  </a:txBody>
                </a:tc>
                <a:tc>
                  <a:txBody>
                    <a:bodyPr/>
                    <a:lstStyle/>
                    <a:p>
                      <a:pPr lvl="0" indent="0" marL="0">
                        <a:buNone/>
                      </a:pPr>
                      <a:r>
                        <a:rPr/>
                        <a:t>Locked</a:t>
                      </a:r>
                    </a:p>
                  </a:txBody>
                </a:tc>
              </a:tr>
              <a:tr h="0">
                <a:tc>
                  <a:txBody>
                    <a:bodyPr/>
                    <a:lstStyle/>
                    <a:p>
                      <a:pPr lvl="0" indent="0" marL="0">
                        <a:buNone/>
                      </a:pPr>
                      <a:r>
                        <a:rPr/>
                        <a:t>Switching / discontinuation</a:t>
                      </a:r>
                    </a:p>
                  </a:txBody>
                </a:tc>
                <a:tc>
                  <a:txBody>
                    <a:bodyPr/>
                    <a:lstStyle/>
                    <a:p>
                      <a:pPr lvl="0" indent="0" marL="0">
                        <a:buNone/>
                      </a:pPr>
                      <a:r>
                        <a:rPr/>
                        <a:t>Not applicable (point exposure at scene)</a:t>
                      </a:r>
                    </a:p>
                  </a:txBody>
                </a:tc>
                <a:tc>
                  <a:txBody>
                    <a:bodyPr/>
                    <a:lstStyle/>
                    <a:p>
                      <a:pPr lvl="0" indent="0" marL="0">
                        <a:buNone/>
                      </a:pPr>
                      <a:r>
                        <a:rPr/>
                        <a:t>Locked</a:t>
                      </a:r>
                    </a:p>
                  </a:txBody>
                </a:tc>
              </a:tr>
              <a:tr h="0">
                <a:tc>
                  <a:txBody>
                    <a:bodyPr/>
                    <a:lstStyle/>
                    <a:p>
                      <a:pPr lvl="0" indent="0" marL="0">
                        <a:buNone/>
                      </a:pPr>
                      <a:r>
                        <a:rPr/>
                        <a:t>Administrative end of FU</a:t>
                      </a:r>
                    </a:p>
                  </a:txBody>
                </a:tc>
                <a:tc>
                  <a:txBody>
                    <a:bodyPr/>
                    <a:lstStyle/>
                    <a:p>
                      <a:pPr lvl="0" indent="0" marL="0">
                        <a:buNone/>
                      </a:pPr>
                      <a:r>
                        <a:rPr/>
                        <a:t>Fixed at 6 months</a:t>
                      </a:r>
                    </a:p>
                  </a:txBody>
                </a:tc>
                <a:tc>
                  <a:txBody>
                    <a:bodyPr/>
                    <a:lstStyle/>
                    <a:p>
                      <a:pPr lvl="0" indent="0" marL="0">
                        <a:buNone/>
                      </a:pPr>
                      <a:r>
                        <a:rPr/>
                        <a:t>Locked</a:t>
                      </a:r>
                    </a:p>
                  </a:txBody>
                </a:tc>
              </a:tr>
              <a:tr h="0">
                <a:tc>
                  <a:txBody>
                    <a:bodyPr/>
                    <a:lstStyle/>
                    <a:p>
                      <a:pPr lvl="0" indent="0" marL="0">
                        <a:buNone/>
                      </a:pPr>
                      <a:r>
                        <a:rPr/>
                        <a:t>Excluded intercurrent events</a:t>
                      </a:r>
                    </a:p>
                  </a:txBody>
                </a:tc>
                <a:tc>
                  <a:txBody>
                    <a:bodyPr/>
                    <a:lstStyle/>
                    <a:p>
                      <a:pPr lvl="0" indent="0" marL="0">
                        <a:buNone/>
                      </a:pPr>
                      <a:r>
                        <a:rPr/>
                        <a:t>Inter-facility transfers excluded; recorded as </a:t>
                      </a:r>
                      <a:r>
                        <a:rPr>
                          <a:latin typeface="Courier"/>
                        </a:rPr>
                        <a:t>is_transfer</a:t>
                      </a:r>
                    </a:p>
                  </a:txBody>
                </a:tc>
                <a:tc>
                  <a:txBody>
                    <a:bodyPr/>
                    <a:lstStyle/>
                    <a:p>
                      <a:pPr lvl="0" indent="0" marL="0">
                        <a:buNone/>
                      </a:pPr>
                      <a:r>
                        <a:rPr/>
                        <a:t>Locked</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Event-process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Event-like quantity</a:t>
                      </a:r>
                    </a:p>
                  </a:txBody>
                  <a:tcPr/>
                </a:tc>
                <a:tc>
                  <a:txBody>
                    <a:bodyPr/>
                    <a:lstStyle/>
                    <a:p>
                      <a:pPr lvl="0" indent="0" marL="0">
                        <a:buNone/>
                      </a:pPr>
                      <a:r>
                        <a:rPr/>
                        <a:t>Class</a:t>
                      </a:r>
                    </a:p>
                  </a:txBody>
                  <a:tcPr/>
                </a:tc>
                <a:tc>
                  <a:txBody>
                    <a:bodyPr/>
                    <a:lstStyle/>
                    <a:p>
                      <a:pPr lvl="0" indent="0" marL="0">
                        <a:buNone/>
                      </a:pPr>
                      <a:r>
                        <a:rPr/>
                        <a:t>Handling</a:t>
                      </a:r>
                    </a:p>
                  </a:txBody>
                  <a:tcPr/>
                </a:tc>
              </a:tr>
              <a:tr h="0">
                <a:tc>
                  <a:txBody>
                    <a:bodyPr/>
                    <a:lstStyle/>
                    <a:p>
                      <a:pPr lvl="0" indent="0" marL="0">
                        <a:buNone/>
                      </a:pPr>
                      <a:r>
                        <a:rPr/>
                        <a:t>GOSE &gt; 4 at 6 months</a:t>
                      </a:r>
                    </a:p>
                  </a:txBody>
                </a:tc>
                <a:tc>
                  <a:txBody>
                    <a:bodyPr/>
                    <a:lstStyle/>
                    <a:p>
                      <a:pPr lvl="0" indent="0" marL="0">
                        <a:buNone/>
                      </a:pPr>
                      <a:r>
                        <a:rPr/>
                        <a:t>Event of interest (outcome)</a:t>
                      </a:r>
                    </a:p>
                  </a:txBody>
                </a:tc>
                <a:tc>
                  <a:txBody>
                    <a:bodyPr/>
                    <a:lstStyle/>
                    <a:p>
                      <a:pPr lvl="0" indent="0" marL="0">
                        <a:buNone/>
                      </a:pPr>
                      <a:r>
                        <a:rPr/>
                        <a:t>Estimand: marginal RD on this binary outcome</a:t>
                      </a:r>
                    </a:p>
                  </a:txBody>
                </a:tc>
              </a:tr>
              <a:tr h="0">
                <a:tc>
                  <a:txBody>
                    <a:bodyPr/>
                    <a:lstStyle/>
                    <a:p>
                      <a:pPr lvl="0" indent="0" marL="0">
                        <a:buNone/>
                      </a:pPr>
                      <a:r>
                        <a:rPr/>
                        <a:t>GOSE missing at 6 months</a:t>
                      </a:r>
                    </a:p>
                  </a:txBody>
                </a:tc>
                <a:tc>
                  <a:txBody>
                    <a:bodyPr/>
                    <a:lstStyle/>
                    <a:p>
                      <a:pPr lvl="0" indent="0" marL="0">
                        <a:buNone/>
                      </a:pPr>
                      <a:r>
                        <a:rPr/>
                        <a:t>Missingness</a:t>
                      </a:r>
                    </a:p>
                  </a:txBody>
                </a:tc>
                <a:tc>
                  <a:txBody>
                    <a:bodyPr/>
                    <a:lstStyle/>
                    <a:p>
                      <a:pPr lvl="0" indent="0" marL="0">
                        <a:buNone/>
                      </a:pPr>
                      <a:r>
                        <a:rPr/>
                        <a:t>Primary: complete-outcome; IPCW sensitivity</a:t>
                      </a:r>
                    </a:p>
                  </a:txBody>
                </a:tc>
              </a:tr>
              <a:tr h="0">
                <a:tc>
                  <a:txBody>
                    <a:bodyPr/>
                    <a:lstStyle/>
                    <a:p>
                      <a:pPr lvl="0" indent="0" marL="0">
                        <a:buNone/>
                      </a:pPr>
                      <a:r>
                        <a:rPr/>
                        <a:t>In-hospital death before 6-month GOSE</a:t>
                      </a:r>
                    </a:p>
                  </a:txBody>
                </a:tc>
                <a:tc>
                  <a:txBody>
                    <a:bodyPr/>
                    <a:lstStyle/>
                    <a:p>
                      <a:pPr lvl="0" indent="0" marL="0">
                        <a:buNone/>
                      </a:pPr>
                      <a:r>
                        <a:rPr/>
                        <a:t>Outcome component / intercurrent event</a:t>
                      </a:r>
                    </a:p>
                  </a:txBody>
                </a:tc>
                <a:tc>
                  <a:txBody>
                    <a:bodyPr/>
                    <a:lstStyle/>
                    <a:p>
                      <a:pPr lvl="0" indent="0" marL="0">
                        <a:buNone/>
                      </a:pPr>
                      <a:r>
                        <a:rPr/>
                        <a:t>Coded as GOSE = 1 (worst-rank)</a:t>
                      </a:r>
                    </a:p>
                  </a:txBody>
                </a:tc>
              </a:tr>
              <a:tr h="0">
                <a:tc>
                  <a:txBody>
                    <a:bodyPr/>
                    <a:lstStyle/>
                    <a:p>
                      <a:pPr lvl="0" indent="0" marL="0">
                        <a:buNone/>
                      </a:pPr>
                      <a:r>
                        <a:rPr/>
                        <a:t>Inter-facility transfer at index</a:t>
                      </a:r>
                    </a:p>
                  </a:txBody>
                </a:tc>
                <a:tc>
                  <a:txBody>
                    <a:bodyPr/>
                    <a:lstStyle/>
                    <a:p>
                      <a:pPr lvl="0" indent="0" marL="0">
                        <a:buNone/>
                      </a:pPr>
                      <a:r>
                        <a:rPr/>
                        <a:t>Exclusion</a:t>
                      </a:r>
                    </a:p>
                  </a:txBody>
                </a:tc>
                <a:tc>
                  <a:txBody>
                    <a:bodyPr/>
                    <a:lstStyle/>
                    <a:p>
                      <a:pPr lvl="0" indent="0" marL="0">
                        <a:buNone/>
                      </a:pPr>
                      <a:r>
                        <a:rPr/>
                        <a:t>Excluded from analytic cohort</a:t>
                      </a:r>
                    </a:p>
                  </a:txBody>
                </a:tc>
              </a:tr>
              <a:tr h="0">
                <a:tc>
                  <a:txBody>
                    <a:bodyPr/>
                    <a:lstStyle/>
                    <a:p>
                      <a:pPr lvl="0" indent="0" marL="0">
                        <a:buNone/>
                      </a:pPr>
                      <a:r>
                        <a:rPr/>
                        <a:t>Treatment switching / crossover</a:t>
                      </a:r>
                    </a:p>
                  </a:txBody>
                </a:tc>
                <a:tc>
                  <a:txBody>
                    <a:bodyPr/>
                    <a:lstStyle/>
                    <a:p>
                      <a:pPr lvl="0" indent="0" marL="0">
                        <a:buNone/>
                      </a:pPr>
                      <a:r>
                        <a:rPr/>
                        <a:t>Not applicable</a:t>
                      </a:r>
                    </a:p>
                  </a:txBody>
                </a:tc>
                <a:tc>
                  <a:txBody>
                    <a:bodyPr/>
                    <a:lstStyle/>
                    <a:p>
                      <a:pPr lvl="0" indent="0" marL="0">
                        <a:buNone/>
                      </a:pPr>
                      <a:r>
                        <a:rPr/>
                        <a:t>Point exposure at scene</a:t>
                      </a:r>
                    </a:p>
                  </a:txBody>
                </a:tc>
              </a:tr>
              <a:tr h="0">
                <a:tc>
                  <a:txBody>
                    <a:bodyPr/>
                    <a:lstStyle/>
                    <a:p>
                      <a:pPr lvl="0" indent="0" marL="0">
                        <a:buNone/>
                      </a:pPr>
                      <a:r>
                        <a:rPr/>
                        <a:t>6-month follow-up window end</a:t>
                      </a:r>
                    </a:p>
                  </a:txBody>
                </a:tc>
                <a:tc>
                  <a:txBody>
                    <a:bodyPr/>
                    <a:lstStyle/>
                    <a:p>
                      <a:pPr lvl="0" indent="0" marL="0">
                        <a:buNone/>
                      </a:pPr>
                      <a:r>
                        <a:rPr/>
                        <a:t>Administrative end of FU</a:t>
                      </a:r>
                    </a:p>
                  </a:txBody>
                </a:tc>
                <a:tc>
                  <a:txBody>
                    <a:bodyPr/>
                    <a:lstStyle/>
                    <a:p>
                      <a:pPr lvl="0" indent="0" marL="0">
                        <a:buNone/>
                      </a:pPr>
                      <a:r>
                        <a:rPr/>
                        <a:t>Fixed at 6 months</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Target-population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Procedure</a:t>
                      </a:r>
                    </a:p>
                  </a:txBody>
                  <a:tcPr/>
                </a:tc>
                <a:tc>
                  <a:txBody>
                    <a:bodyPr/>
                    <a:lstStyle/>
                    <a:p>
                      <a:pPr lvl="0" indent="0" marL="0">
                        <a:buNone/>
                      </a:pPr>
                      <a:r>
                        <a:rPr/>
                        <a:t>Target population</a:t>
                      </a:r>
                    </a:p>
                  </a:txBody>
                  <a:tcPr/>
                </a:tc>
              </a:tr>
              <a:tr h="0">
                <a:tc>
                  <a:txBody>
                    <a:bodyPr/>
                    <a:lstStyle/>
                    <a:p>
                      <a:pPr lvl="0" indent="0" marL="0">
                        <a:buNone/>
                      </a:pPr>
                      <a:r>
                        <a:rPr/>
                        <a:t>Crude (complete-case)</a:t>
                      </a:r>
                    </a:p>
                  </a:txBody>
                </a:tc>
                <a:tc>
                  <a:txBody>
                    <a:bodyPr/>
                    <a:lstStyle/>
                    <a:p>
                      <a:pPr lvl="0" indent="0" marL="0">
                        <a:buNone/>
                      </a:pPr>
                      <a:r>
                        <a:rPr/>
                        <a:t>Complete-outcome subset (n = 1,277)</a:t>
                      </a:r>
                    </a:p>
                  </a:txBody>
                </a:tc>
              </a:tr>
              <a:tr h="0">
                <a:tc>
                  <a:txBody>
                    <a:bodyPr/>
                    <a:lstStyle/>
                    <a:p>
                      <a:pPr lvl="0" indent="0" marL="0">
                        <a:buNone/>
                      </a:pPr>
                      <a:r>
                        <a:rPr/>
                        <a:t>PS matching</a:t>
                      </a:r>
                    </a:p>
                  </a:txBody>
                </a:tc>
                <a:tc>
                  <a:txBody>
                    <a:bodyPr/>
                    <a:lstStyle/>
                    <a:p>
                      <a:pPr lvl="0" indent="0" marL="0">
                        <a:buNone/>
                      </a:pPr>
                      <a:r>
                        <a:rPr/>
                        <a:t>Matched overlap subset (n = 615)</a:t>
                      </a:r>
                    </a:p>
                  </a:txBody>
                </a:tc>
              </a:tr>
              <a:tr h="0">
                <a:tc>
                  <a:txBody>
                    <a:bodyPr/>
                    <a:lstStyle/>
                    <a:p>
                      <a:pPr lvl="0" indent="0" marL="0">
                        <a:buNone/>
                      </a:pPr>
                      <a:r>
                        <a:rPr/>
                        <a:t>IPTW (stabilised)</a:t>
                      </a:r>
                    </a:p>
                  </a:txBody>
                </a:tc>
                <a:tc>
                  <a:txBody>
                    <a:bodyPr/>
                    <a:lstStyle/>
                    <a:p>
                      <a:pPr lvl="0" indent="0" marL="0">
                        <a:buNone/>
                      </a:pPr>
                      <a:r>
                        <a:rPr/>
                        <a:t>Full eligible cohort (n = 1,693)</a:t>
                      </a:r>
                    </a:p>
                  </a:txBody>
                </a:tc>
              </a:tr>
              <a:tr h="0">
                <a:tc>
                  <a:txBody>
                    <a:bodyPr/>
                    <a:lstStyle/>
                    <a:p>
                      <a:pPr lvl="0" indent="0" marL="0">
                        <a:buNone/>
                      </a:pPr>
                      <a:r>
                        <a:rPr/>
                        <a:t>Full-cohort TMLE</a:t>
                      </a:r>
                    </a:p>
                  </a:txBody>
                </a:tc>
                <a:tc>
                  <a:txBody>
                    <a:bodyPr/>
                    <a:lstStyle/>
                    <a:p>
                      <a:pPr lvl="0" indent="0" marL="0">
                        <a:buNone/>
                      </a:pPr>
                      <a:r>
                        <a:rPr/>
                        <a:t>Full eligible cohort (n = 1,693)</a:t>
                      </a:r>
                    </a:p>
                  </a:txBody>
                </a:tc>
              </a:tr>
              <a:tr h="0">
                <a:tc>
                  <a:txBody>
                    <a:bodyPr/>
                    <a:lstStyle/>
                    <a:p>
                      <a:pPr lvl="0" indent="0" marL="0">
                        <a:buNone/>
                      </a:pPr>
                      <a:r>
                        <a:rPr/>
                        <a:t>Matched-cohort TMLE</a:t>
                      </a:r>
                    </a:p>
                  </a:txBody>
                </a:tc>
                <a:tc>
                  <a:txBody>
                    <a:bodyPr/>
                    <a:lstStyle/>
                    <a:p>
                      <a:pPr lvl="0" indent="0" marL="0">
                        <a:buNone/>
                      </a:pPr>
                      <a:r>
                        <a:rPr/>
                        <a:t>Matched overlap subset (n = 1,230)</a:t>
                      </a:r>
                    </a:p>
                  </a:txBody>
                </a:tc>
              </a:tr>
              <a:tr h="0">
                <a:tc>
                  <a:txBody>
                    <a:bodyPr/>
                    <a:lstStyle/>
                    <a:p>
                      <a:pPr lvl="0" indent="0" marL="0">
                        <a:buNone/>
                      </a:pPr>
                      <a:r>
                        <a:rPr/>
                        <a:t>Complete-outcome TMLE w/ IPCW weights</a:t>
                      </a:r>
                    </a:p>
                  </a:txBody>
                </a:tc>
                <a:tc>
                  <a:txBody>
                    <a:bodyPr/>
                    <a:lstStyle/>
                    <a:p>
                      <a:pPr lvl="0" indent="0" marL="0">
                        <a:buNone/>
                      </a:pPr>
                      <a:r>
                        <a:rPr/>
                        <a:t>Complete-outcome rows, weighted to full-cohort target</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Weight-diagnostics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Weight type</a:t>
                      </a:r>
                    </a:p>
                  </a:txBody>
                  <a:tcPr/>
                </a:tc>
                <a:tc>
                  <a:txBody>
                    <a:bodyPr/>
                    <a:lstStyle/>
                    <a:p>
                      <a:pPr lvl="0" indent="0" marL="0">
                        <a:buNone/>
                      </a:pPr>
                      <a:r>
                        <a:rPr/>
                        <a:t>Source</a:t>
                      </a:r>
                    </a:p>
                  </a:txBody>
                  <a:tcPr/>
                </a:tc>
                <a:tc>
                  <a:txBody>
                    <a:bodyPr/>
                    <a:lstStyle/>
                    <a:p>
                      <a:pPr lvl="0" indent="0" marL="0">
                        <a:buNone/>
                      </a:pPr>
                      <a:r>
                        <a:rPr/>
                        <a:t>Reporting</a:t>
                      </a:r>
                    </a:p>
                  </a:txBody>
                  <a:tcPr/>
                </a:tc>
                <a:tc>
                  <a:txBody>
                    <a:bodyPr/>
                    <a:lstStyle/>
                    <a:p>
                      <a:pPr lvl="0" indent="0" marL="0">
                        <a:buNone/>
                      </a:pPr>
                      <a:r>
                        <a:rPr/>
                        <a:t>Prespecified instability flag</a:t>
                      </a:r>
                    </a:p>
                  </a:txBody>
                  <a:tcPr/>
                </a:tc>
              </a:tr>
              <a:tr h="0">
                <a:tc>
                  <a:txBody>
                    <a:bodyPr/>
                    <a:lstStyle/>
                    <a:p>
                      <a:pPr lvl="0" indent="0" marL="0">
                        <a:buNone/>
                      </a:pPr>
                      <a:r>
                        <a:rPr/>
                        <a:t>Treatment weights (stabilised)</a:t>
                      </a:r>
                    </a:p>
                  </a:txBody>
                </a:tc>
                <a:tc>
                  <a:txBody>
                    <a:bodyPr/>
                    <a:lstStyle/>
                    <a:p>
                      <a:pPr lvl="0" indent="0" marL="0">
                        <a:buNone/>
                      </a:pPr>
                      <a:r>
                        <a:rPr>
                          <a:latin typeface="Courier"/>
                        </a:rPr>
                        <a:t>fit_ps_superlearner()</a:t>
                      </a:r>
                    </a:p>
                  </a:txBody>
                </a:tc>
                <a:tc>
                  <a:txBody>
                    <a:bodyPr/>
                    <a:lstStyle/>
                    <a:p>
                      <a:pPr lvl="0" indent="0" marL="0">
                        <a:buNone/>
                      </a:pPr>
                      <a:r>
                        <a:rPr/>
                        <a:t>Mean, SD, 99th pct, max, Kish ESS</a:t>
                      </a:r>
                    </a:p>
                  </a:txBody>
                </a:tc>
                <a:tc>
                  <a:txBody>
                    <a:bodyPr/>
                    <a:lstStyle/>
                    <a:p>
                      <a:pPr lvl="0" indent="0" marL="0">
                        <a:buNone/>
                      </a:pPr>
                      <a:r>
                        <a:rPr/>
                        <a:t>Max &gt; 10 or &gt; 1 % above 5</a:t>
                      </a:r>
                    </a:p>
                  </a:txBody>
                </a:tc>
              </a:tr>
              <a:tr h="0">
                <a:tc>
                  <a:txBody>
                    <a:bodyPr/>
                    <a:lstStyle/>
                    <a:p>
                      <a:pPr lvl="0" indent="0" marL="0">
                        <a:buNone/>
                      </a:pPr>
                      <a:r>
                        <a:rPr/>
                        <a:t>IPCW weights</a:t>
                      </a:r>
                    </a:p>
                  </a:txBody>
                </a:tc>
                <a:tc>
                  <a:txBody>
                    <a:bodyPr/>
                    <a:lstStyle/>
                    <a:p>
                      <a:pPr lvl="0" indent="0" marL="0">
                        <a:buNone/>
                      </a:pPr>
                      <a:r>
                        <a:rPr>
                          <a:latin typeface="Courier"/>
                        </a:rPr>
                        <a:t>run_ipcw_tmle()</a:t>
                      </a:r>
                    </a:p>
                  </a:txBody>
                </a:tc>
                <a:tc>
                  <a:txBody>
                    <a:bodyPr/>
                    <a:lstStyle/>
                    <a:p>
                      <a:pPr lvl="0" indent="0" marL="0">
                        <a:buNone/>
                      </a:pPr>
                      <a:r>
                        <a:rPr/>
                        <a:t>Mean, SD, 99th pct, max</a:t>
                      </a:r>
                    </a:p>
                  </a:txBody>
                </a:tc>
                <a:tc>
                  <a:txBody>
                    <a:bodyPr/>
                    <a:lstStyle/>
                    <a:p>
                      <a:pPr lvl="0" indent="0" marL="0">
                        <a:buNone/>
                      </a:pPr>
                      <a:r>
                        <a:rPr/>
                        <a:t>Max &gt; 10</a:t>
                      </a:r>
                    </a:p>
                  </a:txBody>
                </a:tc>
              </a:tr>
              <a:tr h="0">
                <a:tc>
                  <a:txBody>
                    <a:bodyPr/>
                    <a:lstStyle/>
                    <a:p>
                      <a:pPr lvl="0" indent="0" marL="0">
                        <a:buNone/>
                      </a:pPr>
                      <a:r>
                        <a:rPr/>
                        <a:t>Combined</a:t>
                      </a:r>
                    </a:p>
                  </a:txBody>
                </a:tc>
                <a:tc>
                  <a:txBody>
                    <a:bodyPr/>
                    <a:lstStyle/>
                    <a:p>
                      <a:pPr lvl="0" indent="0" marL="0">
                        <a:buNone/>
                      </a:pPr>
                      <a:r>
                        <a:rPr/>
                        <a:t>Product of treatment + IPCW</a:t>
                      </a:r>
                    </a:p>
                  </a:txBody>
                </a:tc>
                <a:tc>
                  <a:txBody>
                    <a:bodyPr/>
                    <a:lstStyle/>
                    <a:p>
                      <a:pPr lvl="0" indent="0" marL="0">
                        <a:buNone/>
                      </a:pPr>
                      <a:r>
                        <a:rPr/>
                        <a:t>Mean, SD, max, ESS</a:t>
                      </a:r>
                    </a:p>
                  </a:txBody>
                </a:tc>
                <a:tc>
                  <a:txBody>
                    <a:bodyPr/>
                    <a:lstStyle/>
                    <a:p>
                      <a:pPr lvl="0" indent="0" marL="0">
                        <a:buNone/>
                      </a:pPr>
                      <a:r>
                        <a:rPr/>
                        <a:t>Max &gt; 15 or ESS &lt; 30 % of n</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Estimator-estimand pairs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2057400"/>
                <a:gridCol w="1549400"/>
                <a:gridCol w="1549400"/>
              </a:tblGrid>
              <a:tr h="0">
                <a:tc>
                  <a:txBody>
                    <a:bodyPr/>
                    <a:lstStyle/>
                    <a:p>
                      <a:pPr lvl="0" indent="0" marL="0">
                        <a:buNone/>
                      </a:pPr>
                      <a:r>
                        <a:rPr/>
                        <a:t>Candidate</a:t>
                      </a:r>
                    </a:p>
                  </a:txBody>
                  <a:tcPr/>
                </a:tc>
                <a:tc>
                  <a:txBody>
                    <a:bodyPr/>
                    <a:lstStyle/>
                    <a:p>
                      <a:pPr lvl="0" indent="0" marL="0">
                        <a:buNone/>
                      </a:pPr>
                      <a:r>
                        <a:rPr/>
                        <a:t>Library</a:t>
                      </a:r>
                    </a:p>
                  </a:txBody>
                  <a:tcPr/>
                </a:tc>
                <a:tc>
                  <a:txBody>
                    <a:bodyPr/>
                    <a:lstStyle/>
                    <a:p>
                      <a:pPr lvl="0" indent="0" marL="0" algn="r">
                        <a:buNone/>
                      </a:pPr>
                      <a:r>
                        <a:rPr/>
                        <a:t>Truncation</a:t>
                      </a:r>
                    </a:p>
                  </a:txBody>
                  <a:tcPr/>
                </a:tc>
                <a:tc>
                  <a:txBody>
                    <a:bodyPr/>
                    <a:lstStyle/>
                    <a:p>
                      <a:pPr lvl="0" indent="0" marL="0">
                        <a:buNone/>
                      </a:pPr>
                      <a:r>
                        <a:rPr/>
                        <a:t>Missingness</a:t>
                      </a:r>
                    </a:p>
                  </a:txBody>
                  <a:tcPr/>
                </a:tc>
                <a:tc>
                  <a:txBody>
                    <a:bodyPr/>
                    <a:lstStyle/>
                    <a:p>
                      <a:pPr lvl="0" indent="0" marL="0">
                        <a:buNone/>
                      </a:pPr>
                      <a:r>
                        <a:rPr/>
                        <a:t>Status</a:t>
                      </a:r>
                    </a:p>
                  </a:txBody>
                  <a:tcPr/>
                </a:tc>
              </a:tr>
              <a:tr h="0">
                <a:tc>
                  <a:txBody>
                    <a:bodyPr/>
                    <a:lstStyle/>
                    <a:p>
                      <a:pPr lvl="0" indent="0" marL="0">
                        <a:buNone/>
                      </a:pPr>
                      <a:r>
                        <a:rPr/>
                        <a:t>Crude</a:t>
                      </a:r>
                    </a:p>
                  </a:txBody>
                </a:tc>
                <a:tc>
                  <a:txBody>
                    <a:bodyPr/>
                    <a:lstStyle/>
                    <a:p>
                      <a:pPr lvl="0" indent="0" marL="0">
                        <a:buNone/>
                      </a:pPr>
                      <a:r>
                        <a:rPr/>
                        <a:t>n/a</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Reference</a:t>
                      </a:r>
                    </a:p>
                  </a:txBody>
                </a:tc>
              </a:tr>
              <a:tr h="0">
                <a:tc>
                  <a:txBody>
                    <a:bodyPr/>
                    <a:lstStyle/>
                    <a:p>
                      <a:pPr lvl="0" indent="0" marL="0">
                        <a:buNone/>
                      </a:pPr>
                      <a:r>
                        <a:rPr/>
                        <a:t>PS matching</a:t>
                      </a:r>
                    </a:p>
                  </a:txBody>
                </a:tc>
                <a:tc>
                  <a:txBody>
                    <a:bodyPr/>
                    <a:lstStyle/>
                    <a:p>
                      <a:pPr lvl="0" indent="0" marL="0">
                        <a:buNone/>
                      </a:pPr>
                      <a:r>
                        <a:rPr/>
                        <a:t>GLM PS</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IPTW (stabilised)</a:t>
                      </a:r>
                    </a:p>
                  </a:txBody>
                </a:tc>
                <a:tc>
                  <a:txBody>
                    <a:bodyPr/>
                    <a:lstStyle/>
                    <a:p>
                      <a:pPr lvl="0" indent="0" marL="0">
                        <a:buNone/>
                      </a:pPr>
                      <a:r>
                        <a:rPr/>
                        <a:t>GLM PS</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Full-cohort TMLE</a:t>
                      </a:r>
                    </a:p>
                  </a:txBody>
                </a:tc>
                <a:tc>
                  <a:txBody>
                    <a:bodyPr/>
                    <a:lstStyle/>
                    <a:p>
                      <a:pPr lvl="0" indent="0" marL="0">
                        <a:buNone/>
                      </a:pPr>
                      <a:r>
                        <a:rPr/>
                        <a:t>SL ensemble</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b="1"/>
                        <a:t>Primary</a:t>
                      </a:r>
                    </a:p>
                  </a:txBody>
                </a:tc>
              </a:tr>
              <a:tr h="0">
                <a:tc>
                  <a:txBody>
                    <a:bodyPr/>
                    <a:lstStyle/>
                    <a:p>
                      <a:pPr lvl="0" indent="0" marL="0">
                        <a:buNone/>
                      </a:pPr>
                      <a:r>
                        <a:rPr/>
                        <a:t>Matched-cohort TMLE</a:t>
                      </a:r>
                    </a:p>
                  </a:txBody>
                </a:tc>
                <a:tc>
                  <a:txBody>
                    <a:bodyPr/>
                    <a:lstStyle/>
                    <a:p>
                      <a:pPr lvl="0" indent="0" marL="0">
                        <a:buNone/>
                      </a:pPr>
                      <a:r>
                        <a:rPr/>
                        <a:t>SL ensemble (matched)</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Sensitivity (target pop)</a:t>
                      </a:r>
                    </a:p>
                  </a:txBody>
                </a:tc>
              </a:tr>
              <a:tr h="0">
                <a:tc>
                  <a:txBody>
                    <a:bodyPr/>
                    <a:lstStyle/>
                    <a:p>
                      <a:pPr lvl="0" indent="0" marL="0">
                        <a:buNone/>
                      </a:pPr>
                      <a:r>
                        <a:rPr/>
                        <a:t>Complete-outcome TMLE w/ IPCW</a:t>
                      </a:r>
                    </a:p>
                  </a:txBody>
                </a:tc>
                <a:tc>
                  <a:txBody>
                    <a:bodyPr/>
                    <a:lstStyle/>
                    <a:p>
                      <a:pPr lvl="0" indent="0" marL="0">
                        <a:buNone/>
                      </a:pPr>
                      <a:r>
                        <a:rPr/>
                        <a:t>SL ensemble + SL IPCW</a:t>
                      </a:r>
                    </a:p>
                  </a:txBody>
                </a:tc>
                <a:tc>
                  <a:txBody>
                    <a:bodyPr/>
                    <a:lstStyle/>
                    <a:p>
                      <a:pPr lvl="0" indent="0" marL="0" algn="r">
                        <a:buNone/>
                      </a:pPr>
                      <a:r>
                        <a:rPr/>
                        <a:t>0.01</a:t>
                      </a:r>
                    </a:p>
                  </a:txBody>
                </a:tc>
                <a:tc>
                  <a:txBody>
                    <a:bodyPr/>
                    <a:lstStyle/>
                    <a:p>
                      <a:pPr lvl="0" indent="0" marL="0">
                        <a:buNone/>
                      </a:pPr>
                      <a:r>
                        <a:rPr/>
                        <a:t>IPCW</a:t>
                      </a:r>
                    </a:p>
                  </a:txBody>
                </a:tc>
                <a:tc>
                  <a:txBody>
                    <a:bodyPr/>
                    <a:lstStyle/>
                    <a:p>
                      <a:pPr lvl="0" indent="0" marL="0">
                        <a:buNone/>
                      </a:pPr>
                      <a:r>
                        <a:rPr/>
                        <a:t>Sensitivity (missingness)</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Checkpoint dashboard (case study)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Stage</a:t>
                      </a:r>
                    </a:p>
                  </a:txBody>
                  <a:tcPr/>
                </a:tc>
                <a:tc>
                  <a:txBody>
                    <a:bodyPr/>
                    <a:lstStyle/>
                    <a:p>
                      <a:pPr lvl="0" indent="0" marL="0">
                        <a:buNone/>
                      </a:pPr>
                      <a:r>
                        <a:rPr/>
                        <a:t>Evidence</a:t>
                      </a:r>
                    </a:p>
                  </a:txBody>
                  <a:tcPr/>
                </a:tc>
                <a:tc>
                  <a:txBody>
                    <a:bodyPr/>
                    <a:lstStyle/>
                    <a:p>
                      <a:pPr lvl="0" indent="0" marL="0">
                        <a:buNone/>
                      </a:pPr>
                      <a:r>
                        <a:rPr/>
                        <a:t>Threshold</a:t>
                      </a:r>
                    </a:p>
                  </a:txBody>
                  <a:tcPr/>
                </a:tc>
                <a:tc>
                  <a:txBody>
                    <a:bodyPr/>
                    <a:lstStyle/>
                    <a:p>
                      <a:pPr lvl="0" indent="0" marL="0" algn="ctr">
                        <a:buNone/>
                      </a:pPr>
                      <a:r>
                        <a:rPr/>
                        <a:t>Decision</a:t>
                      </a:r>
                    </a:p>
                  </a:txBody>
                  <a:tcPr/>
                </a:tc>
              </a:tr>
              <a:tr h="0">
                <a:tc>
                  <a:txBody>
                    <a:bodyPr/>
                    <a:lstStyle/>
                    <a:p>
                      <a:pPr lvl="0" indent="0" marL="0">
                        <a:buNone/>
                      </a:pPr>
                      <a:r>
                        <a:rPr/>
                        <a:t>Stage 0 protocol/setup</a:t>
                      </a:r>
                    </a:p>
                  </a:txBody>
                </a:tc>
                <a:tc>
                  <a:txBody>
                    <a:bodyPr/>
                    <a:lstStyle/>
                    <a:p>
                      <a:pPr lvl="0" indent="0" marL="0">
                        <a:buNone/>
                      </a:pPr>
                      <a:r>
                        <a:rPr/>
                        <a:t>Target-trial timing, SAP, lock fingerprint</a:t>
                      </a:r>
                    </a:p>
                  </a:txBody>
                </a:tc>
                <a:tc>
                  <a:txBody>
                    <a:bodyPr/>
                    <a:lstStyle/>
                    <a:p>
                      <a:pPr lvl="0" indent="0" marL="0">
                        <a:buNone/>
                      </a:pPr>
                      <a:r>
                        <a:rPr/>
                        <a:t>All design elements specified before data access</a:t>
                      </a:r>
                    </a:p>
                  </a:txBody>
                </a:tc>
                <a:tc>
                  <a:txBody>
                    <a:bodyPr/>
                    <a:lstStyle/>
                    <a:p>
                      <a:pPr lvl="0" indent="0" marL="0" algn="ctr">
                        <a:buNone/>
                      </a:pPr>
                      <a:r>
                        <a:rPr/>
                        <a:t>GO</a:t>
                      </a:r>
                    </a:p>
                  </a:txBody>
                </a:tc>
              </a:tr>
              <a:tr h="0">
                <a:tc>
                  <a:txBody>
                    <a:bodyPr/>
                    <a:lstStyle/>
                    <a:p>
                      <a:pPr lvl="0" indent="0" marL="0">
                        <a:buNone/>
                      </a:pPr>
                      <a:r>
                        <a:rPr/>
                        <a:t>Stage 1b cohort adequacy</a:t>
                      </a:r>
                    </a:p>
                  </a:txBody>
                </a:tc>
                <a:tc>
                  <a:txBody>
                    <a:bodyPr/>
                    <a:lstStyle/>
                    <a:p>
                      <a:pPr lvl="0" indent="0" marL="0">
                        <a:buNone/>
                      </a:pPr>
                      <a:r>
                        <a:rPr>
                          <a:latin typeface="Courier"/>
                        </a:rPr>
                        <a:t>checkpoint_cohort_adequacy()</a:t>
                      </a:r>
                      <a:r>
                        <a:rPr/>
                        <a:t>, attrition table</a:t>
                      </a:r>
                    </a:p>
                  </a:txBody>
                </a:tc>
                <a:tc>
                  <a:txBody>
                    <a:bodyPr/>
                    <a:lstStyle/>
                    <a:p>
                      <a:pPr lvl="0" indent="0" marL="0">
                        <a:buNone/>
                      </a:pPr>
                      <a:r>
                        <a:rPr/>
                        <a:t>min_n_per_arm = 200; min_events = 50</a:t>
                      </a:r>
                    </a:p>
                  </a:txBody>
                </a:tc>
                <a:tc>
                  <a:txBody>
                    <a:bodyPr/>
                    <a:lstStyle/>
                    <a:p>
                      <a:pPr lvl="0" indent="0" marL="0" algn="ctr">
                        <a:buNone/>
                      </a:pPr>
                      <a:r>
                        <a:rPr/>
                        <a:t>GO</a:t>
                      </a:r>
                    </a:p>
                  </a:txBody>
                </a:tc>
              </a:tr>
              <a:tr h="0">
                <a:tc>
                  <a:txBody>
                    <a:bodyPr/>
                    <a:lstStyle/>
                    <a:p>
                      <a:pPr lvl="0" indent="0" marL="0">
                        <a:buNone/>
                      </a:pPr>
                      <a:r>
                        <a:rPr/>
                        <a:t>Stage 2a overlap / balance</a:t>
                      </a:r>
                    </a:p>
                  </a:txBody>
                </a:tc>
                <a:tc>
                  <a:txBody>
                    <a:bodyPr/>
                    <a:lstStyle/>
                    <a:p>
                      <a:pPr lvl="0" indent="0" marL="0">
                        <a:buNone/>
                      </a:pPr>
                      <a:r>
                        <a:rPr/>
                        <a:t>PS in [0.21, 0.81]; balanced SMDs; ESS 78 %</a:t>
                      </a:r>
                    </a:p>
                  </a:txBody>
                </a:tc>
                <a:tc>
                  <a:txBody>
                    <a:bodyPr/>
                    <a:lstStyle/>
                    <a:p>
                      <a:pPr lvl="0" indent="0" marL="0">
                        <a:buNone/>
                      </a:pPr>
                      <a:r>
                        <a:rPr/>
                        <a:t>PS in [0.01, 0.99]; SMD &lt;= 0.10; max wt &lt;= 10</a:t>
                      </a:r>
                    </a:p>
                  </a:txBody>
                </a:tc>
                <a:tc>
                  <a:txBody>
                    <a:bodyPr/>
                    <a:lstStyle/>
                    <a:p>
                      <a:pPr lvl="0" indent="0" marL="0" algn="ctr">
                        <a:buNone/>
                      </a:pPr>
                      <a:r>
                        <a:rPr/>
                        <a:t>GO</a:t>
                      </a:r>
                    </a:p>
                  </a:txBody>
                </a:tc>
              </a:tr>
              <a:tr h="0">
                <a:tc>
                  <a:txBody>
                    <a:bodyPr/>
                    <a:lstStyle/>
                    <a:p>
                      <a:pPr lvl="0" indent="0" marL="0">
                        <a:buNone/>
                      </a:pPr>
                      <a:r>
                        <a:rPr/>
                        <a:t>Stage 2b baseline plasmode</a:t>
                      </a:r>
                    </a:p>
                  </a:txBody>
                </a:tc>
                <a:tc>
                  <a:txBody>
                    <a:bodyPr/>
                    <a:lstStyle/>
                    <a:p>
                      <a:pPr lvl="0" indent="0" marL="0">
                        <a:buNone/>
                      </a:pPr>
                      <a:r>
                        <a:rPr/>
                        <a:t>bias &lt; 0.001; coverage 0.94</a:t>
                      </a:r>
                    </a:p>
                  </a:txBody>
                </a:tc>
                <a:tc>
                  <a:txBody>
                    <a:bodyPr/>
                    <a:lstStyle/>
                    <a:p>
                      <a:pPr lvl="0" indent="0" marL="0">
                        <a:buNone/>
                      </a:pPr>
                      <a:r>
                        <a:rPr/>
                        <a:t>bias &lt;= 0.01; coverage &gt;= 0.90; SE/SD in (0.8, 1.2)</a:t>
                      </a:r>
                    </a:p>
                  </a:txBody>
                </a:tc>
                <a:tc>
                  <a:txBody>
                    <a:bodyPr/>
                    <a:lstStyle/>
                    <a:p>
                      <a:pPr lvl="0" indent="0" marL="0" algn="ctr">
                        <a:buNone/>
                      </a:pPr>
                      <a:r>
                        <a:rPr/>
                        <a:t>GO</a:t>
                      </a:r>
                    </a:p>
                  </a:txBody>
                </a:tc>
              </a:tr>
              <a:tr h="0">
                <a:tc>
                  <a:txBody>
                    <a:bodyPr/>
                    <a:lstStyle/>
                    <a:p>
                      <a:pPr lvl="0" indent="0" marL="0">
                        <a:buNone/>
                      </a:pPr>
                      <a:r>
                        <a:rPr/>
                        <a:t>Stage 2c DQ stress</a:t>
                      </a:r>
                    </a:p>
                  </a:txBody>
                </a:tc>
                <a:tc>
                  <a:txBody>
                    <a:bodyPr/>
                    <a:lstStyle/>
                    <a:p>
                      <a:pPr lvl="0" indent="0" marL="0">
                        <a:buNone/>
                      </a:pPr>
                      <a:r>
                        <a:rPr/>
                        <a:t>Minimax rule selects </a:t>
                      </a:r>
                      <a:r>
                        <a:rPr>
                          <a:latin typeface="Courier"/>
                        </a:rPr>
                        <a:t>glm_t01</a:t>
                      </a:r>
                    </a:p>
                  </a:txBody>
                </a:tc>
                <a:tc>
                  <a:txBody>
                    <a:bodyPr/>
                    <a:lstStyle/>
                    <a:p>
                      <a:pPr lvl="0" indent="0" marL="0">
                        <a:buNone/>
                      </a:pPr>
                      <a:r>
                        <a:rPr/>
                        <a:t>Each scenario within thresholds across severities</a:t>
                      </a:r>
                    </a:p>
                  </a:txBody>
                </a:tc>
                <a:tc>
                  <a:txBody>
                    <a:bodyPr/>
                    <a:lstStyle/>
                    <a:p>
                      <a:pPr lvl="0" indent="0" marL="0" algn="ctr">
                        <a:buNone/>
                      </a:pPr>
                      <a:r>
                        <a:rPr/>
                        <a:t>GO</a:t>
                      </a:r>
                    </a:p>
                  </a:txBody>
                </a:tc>
              </a:tr>
              <a:tr h="0">
                <a:tc>
                  <a:txBody>
                    <a:bodyPr/>
                    <a:lstStyle/>
                    <a:p>
                      <a:pPr lvl="0" indent="0" marL="0">
                        <a:buNone/>
                      </a:pPr>
                      <a:r>
                        <a:rPr/>
                        <a:t>Stage 3 negative controls</a:t>
                      </a:r>
                    </a:p>
                  </a:txBody>
                </a:tc>
                <a:tc>
                  <a:txBody>
                    <a:bodyPr/>
                    <a:lstStyle/>
                    <a:p>
                      <a:pPr lvl="0" indent="0" marL="0">
                        <a:buNone/>
                      </a:pPr>
                      <a:r>
                        <a:rPr/>
                        <a:t>2 of 5 NCs survived NZV; both pass</a:t>
                      </a:r>
                    </a:p>
                  </a:txBody>
                </a:tc>
                <a:tc>
                  <a:txBody>
                    <a:bodyPr/>
                    <a:lstStyle/>
                    <a:p>
                      <a:pPr lvl="0" indent="0" marL="0">
                        <a:buNone/>
                      </a:pPr>
                      <a:r>
                        <a:rPr/>
                        <a:t>All analysed NCs pass at α = 0.05</a:t>
                      </a:r>
                    </a:p>
                  </a:txBody>
                </a:tc>
                <a:tc>
                  <a:txBody>
                    <a:bodyPr/>
                    <a:lstStyle/>
                    <a:p>
                      <a:pPr lvl="0" indent="0" marL="0" algn="ctr">
                        <a:buNone/>
                      </a:pPr>
                      <a:r>
                        <a:rPr/>
                        <a:t>GO with FLAG</a:t>
                      </a:r>
                    </a:p>
                  </a:txBody>
                </a:tc>
              </a:tr>
              <a:tr h="0">
                <a:tc>
                  <a:txBody>
                    <a:bodyPr/>
                    <a:lstStyle/>
                    <a:p>
                      <a:pPr lvl="0" indent="0" marL="0">
                        <a:buNone/>
                      </a:pPr>
                      <a:r>
                        <a:rPr/>
                        <a:t>Gate authorisation</a:t>
                      </a:r>
                    </a:p>
                  </a:txBody>
                </a:tc>
                <a:tc>
                  <a:txBody>
                    <a:bodyPr/>
                    <a:lstStyle/>
                    <a:p>
                      <a:pPr lvl="0" indent="0" marL="0">
                        <a:buNone/>
                      </a:pPr>
                      <a:r>
                        <a:rPr>
                          <a:latin typeface="Courier"/>
                        </a:rPr>
                        <a:t>authorize_outcome_analysis()</a:t>
                      </a:r>
                    </a:p>
                  </a:txBody>
                </a:tc>
                <a:tc>
                  <a:txBody>
                    <a:bodyPr/>
                    <a:lstStyle/>
                    <a:p>
                      <a:pPr lvl="0" indent="0" marL="0">
                        <a:buNone/>
                      </a:pPr>
                      <a:r>
                        <a:rPr/>
                        <a:t>All preceding GO or documented FLAG</a:t>
                      </a:r>
                    </a:p>
                  </a:txBody>
                </a:tc>
                <a:tc>
                  <a:txBody>
                    <a:bodyPr/>
                    <a:lstStyle/>
                    <a:p>
                      <a:pPr lvl="0" indent="0" marL="0" algn="ctr">
                        <a:buNone/>
                      </a:pPr>
                      <a:r>
                        <a:rPr/>
                        <a:t>GO</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Decision-log example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95400"/>
                <a:gridCol w="1295400"/>
                <a:gridCol w="1295400"/>
                <a:gridCol w="2171700"/>
                <a:gridCol w="2171700"/>
              </a:tblGrid>
              <a:tr h="0">
                <a:tc>
                  <a:txBody>
                    <a:bodyPr/>
                    <a:lstStyle/>
                    <a:p>
                      <a:pPr lvl="0" indent="0" marL="0">
                        <a:buNone/>
                      </a:pPr>
                      <a:r>
                        <a:rPr/>
                        <a:t>Timestamp</a:t>
                      </a:r>
                    </a:p>
                  </a:txBody>
                  <a:tcPr/>
                </a:tc>
                <a:tc>
                  <a:txBody>
                    <a:bodyPr/>
                    <a:lstStyle/>
                    <a:p>
                      <a:pPr lvl="0" indent="0" marL="0">
                        <a:buNone/>
                      </a:pPr>
                      <a:r>
                        <a:rPr/>
                        <a:t>Stage</a:t>
                      </a:r>
                    </a:p>
                  </a:txBody>
                  <a:tcPr/>
                </a:tc>
                <a:tc>
                  <a:txBody>
                    <a:bodyPr/>
                    <a:lstStyle/>
                    <a:p>
                      <a:pPr lvl="0" indent="0" marL="0">
                        <a:buNone/>
                      </a:pPr>
                      <a:r>
                        <a:rPr/>
                        <a:t>Issue</a:t>
                      </a:r>
                    </a:p>
                  </a:txBody>
                  <a:tcPr/>
                </a:tc>
                <a:tc>
                  <a:txBody>
                    <a:bodyPr/>
                    <a:lstStyle/>
                    <a:p>
                      <a:pPr lvl="0" indent="0" marL="0" algn="ctr">
                        <a:buNone/>
                      </a:pPr>
                      <a:r>
                        <a:rPr/>
                        <a:t>Decision</a:t>
                      </a:r>
                    </a:p>
                  </a:txBody>
                  <a:tcPr/>
                </a:tc>
                <a:tc>
                  <a:txBody>
                    <a:bodyPr/>
                    <a:lstStyle/>
                    <a:p>
                      <a:pPr lvl="0" indent="0" marL="0" algn="ctr">
                        <a:buNone/>
                      </a:pPr>
                      <a:r>
                        <a:rPr/>
                        <a:t>Y visible?</a:t>
                      </a:r>
                    </a:p>
                  </a:txBody>
                  <a:tcPr/>
                </a:tc>
              </a:tr>
              <a:tr h="0">
                <a:tc>
                  <a:txBody>
                    <a:bodyPr/>
                    <a:lstStyle/>
                    <a:p>
                      <a:pPr lvl="0" indent="0" marL="0">
                        <a:buNone/>
                      </a:pPr>
                      <a:r>
                        <a:rPr/>
                        <a:t>2026-01-12 09:14</a:t>
                      </a:r>
                    </a:p>
                  </a:txBody>
                </a:tc>
                <a:tc>
                  <a:txBody>
                    <a:bodyPr/>
                    <a:lstStyle/>
                    <a:p>
                      <a:pPr lvl="0" indent="0" marL="0">
                        <a:buNone/>
                      </a:pPr>
                      <a:r>
                        <a:rPr/>
                        <a:t>2a</a:t>
                      </a:r>
                    </a:p>
                  </a:txBody>
                </a:tc>
                <a:tc>
                  <a:txBody>
                    <a:bodyPr/>
                    <a:lstStyle/>
                    <a:p>
                      <a:pPr lvl="0" indent="0" marL="0">
                        <a:buNone/>
                      </a:pPr>
                      <a:r>
                        <a:rPr/>
                        <a:t>Three NCs failed NZV filter</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11:02</a:t>
                      </a:r>
                    </a:p>
                  </a:txBody>
                </a:tc>
                <a:tc>
                  <a:txBody>
                    <a:bodyPr/>
                    <a:lstStyle/>
                    <a:p>
                      <a:pPr lvl="0" indent="0" marL="0">
                        <a:buNone/>
                      </a:pPr>
                      <a:r>
                        <a:rPr/>
                        <a:t>2c</a:t>
                      </a:r>
                    </a:p>
                  </a:txBody>
                </a:tc>
                <a:tc>
                  <a:txBody>
                    <a:bodyPr/>
                    <a:lstStyle/>
                    <a:p>
                      <a:pPr lvl="0" indent="0" marL="0">
                        <a:buNone/>
                      </a:pPr>
                      <a:r>
                        <a:rPr/>
                        <a:t>DQ stress at n_sims = 3 (fast demo)</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14:45</a:t>
                      </a:r>
                    </a:p>
                  </a:txBody>
                </a:tc>
                <a:tc>
                  <a:txBody>
                    <a:bodyPr/>
                    <a:lstStyle/>
                    <a:p>
                      <a:pPr lvl="0" indent="0" marL="0">
                        <a:buNone/>
                      </a:pPr>
                      <a:r>
                        <a:rPr/>
                        <a:t>Gate</a:t>
                      </a:r>
                    </a:p>
                  </a:txBody>
                </a:tc>
                <a:tc>
                  <a:txBody>
                    <a:bodyPr/>
                    <a:lstStyle/>
                    <a:p>
                      <a:pPr lvl="0" indent="0" marL="0">
                        <a:buNone/>
                      </a:pPr>
                      <a:r>
                        <a:rPr/>
                        <a:t>All checkpoints GO or documented FLAG</a:t>
                      </a:r>
                    </a:p>
                  </a:txBody>
                </a:tc>
                <a:tc>
                  <a:txBody>
                    <a:bodyPr/>
                    <a:lstStyle/>
                    <a:p>
                      <a:pPr lvl="0" indent="0" marL="0" algn="ctr">
                        <a:buNone/>
                      </a:pPr>
                      <a:r>
                        <a:rPr/>
                        <a:t>GO</a:t>
                      </a:r>
                    </a:p>
                  </a:txBody>
                </a:tc>
                <a:tc>
                  <a:txBody>
                    <a:bodyPr/>
                    <a:lstStyle/>
                    <a:p>
                      <a:pPr lvl="0" indent="0" marL="0" algn="ctr">
                        <a:buNone/>
                      </a:pPr>
                      <a:r>
                        <a:rPr/>
                        <a:t>No</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Sensitivity analyses mapped to assumptions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Assumption</a:t>
                      </a:r>
                    </a:p>
                  </a:txBody>
                  <a:tcPr/>
                </a:tc>
                <a:tc>
                  <a:txBody>
                    <a:bodyPr/>
                    <a:lstStyle/>
                    <a:p>
                      <a:pPr lvl="0" indent="0" marL="0">
                        <a:buNone/>
                      </a:pPr>
                      <a:r>
                        <a:rPr/>
                        <a:t>Sensitivity analysis or diagnostic</a:t>
                      </a:r>
                    </a:p>
                  </a:txBody>
                  <a:tcPr/>
                </a:tc>
              </a:tr>
              <a:tr h="0">
                <a:tc>
                  <a:txBody>
                    <a:bodyPr/>
                    <a:lstStyle/>
                    <a:p>
                      <a:pPr lvl="0" indent="0" marL="0">
                        <a:buNone/>
                      </a:pPr>
                      <a:r>
                        <a:rPr/>
                        <a:t>Exchangeability</a:t>
                      </a:r>
                    </a:p>
                  </a:txBody>
                </a:tc>
                <a:tc>
                  <a:txBody>
                    <a:bodyPr/>
                    <a:lstStyle/>
                    <a:p>
                      <a:pPr lvl="0" indent="0" marL="0">
                        <a:buNone/>
                      </a:pPr>
                      <a:r>
                        <a:rPr/>
                        <a:t>Negative-control outcomes; E-value on primary estimate</a:t>
                      </a:r>
                    </a:p>
                  </a:txBody>
                </a:tc>
              </a:tr>
              <a:tr h="0">
                <a:tc>
                  <a:txBody>
                    <a:bodyPr/>
                    <a:lstStyle/>
                    <a:p>
                      <a:pPr lvl="0" indent="0" marL="0">
                        <a:buNone/>
                      </a:pPr>
                      <a:r>
                        <a:rPr/>
                        <a:t>Positivity</a:t>
                      </a:r>
                    </a:p>
                  </a:txBody>
                </a:tc>
                <a:tc>
                  <a:txBody>
                    <a:bodyPr/>
                    <a:lstStyle/>
                    <a:p>
                      <a:pPr lvl="0" indent="0" marL="0">
                        <a:buNone/>
                      </a:pPr>
                      <a:r>
                        <a:rPr/>
                        <a:t>Truncation-grid sensitivity; weight + ESS reporting</a:t>
                      </a:r>
                    </a:p>
                  </a:txBody>
                </a:tc>
              </a:tr>
              <a:tr h="0">
                <a:tc>
                  <a:txBody>
                    <a:bodyPr/>
                    <a:lstStyle/>
                    <a:p>
                      <a:pPr lvl="0" indent="0" marL="0">
                        <a:buNone/>
                      </a:pPr>
                      <a:r>
                        <a:rPr/>
                        <a:t>Consistency</a:t>
                      </a:r>
                    </a:p>
                  </a:txBody>
                </a:tc>
                <a:tc>
                  <a:txBody>
                    <a:bodyPr/>
                    <a:lstStyle/>
                    <a:p>
                      <a:pPr lvl="0" indent="0" marL="0">
                        <a:buNone/>
                      </a:pPr>
                      <a:r>
                        <a:rPr/>
                        <a:t>Documented exposure phenotype; direct-from-scene restriction</a:t>
                      </a:r>
                    </a:p>
                  </a:txBody>
                </a:tc>
              </a:tr>
              <a:tr h="0">
                <a:tc>
                  <a:txBody>
                    <a:bodyPr/>
                    <a:lstStyle/>
                    <a:p>
                      <a:pPr lvl="0" indent="0" marL="0">
                        <a:buNone/>
                      </a:pPr>
                      <a:r>
                        <a:rPr/>
                        <a:t>Dependent censoring</a:t>
                      </a:r>
                    </a:p>
                  </a:txBody>
                </a:tc>
                <a:tc>
                  <a:txBody>
                    <a:bodyPr/>
                    <a:lstStyle/>
                    <a:p>
                      <a:pPr lvl="0" indent="0" marL="0">
                        <a:buNone/>
                      </a:pPr>
                      <a:r>
                        <a:rPr/>
                        <a:t>IPCW-TMLE on binary outcome</a:t>
                      </a:r>
                    </a:p>
                  </a:txBody>
                </a:tc>
              </a:tr>
              <a:tr h="0">
                <a:tc>
                  <a:txBody>
                    <a:bodyPr/>
                    <a:lstStyle/>
                    <a:p>
                      <a:pPr lvl="0" indent="0" marL="0">
                        <a:buNone/>
                      </a:pPr>
                      <a:r>
                        <a:rPr/>
                        <a:t>Missing outcome</a:t>
                      </a:r>
                    </a:p>
                  </a:txBody>
                </a:tc>
                <a:tc>
                  <a:txBody>
                    <a:bodyPr/>
                    <a:lstStyle/>
                    <a:p>
                      <a:pPr lvl="0" indent="0" marL="0">
                        <a:buNone/>
                      </a:pPr>
                      <a:r>
                        <a:rPr/>
                        <a:t>IPCW-TMLE vs complete-case TMLE comparison</a:t>
                      </a:r>
                    </a:p>
                  </a:txBody>
                </a:tc>
              </a:tr>
              <a:tr h="0">
                <a:tc>
                  <a:txBody>
                    <a:bodyPr/>
                    <a:lstStyle/>
                    <a:p>
                      <a:pPr lvl="0" indent="0" marL="0">
                        <a:buNone/>
                      </a:pPr>
                      <a:r>
                        <a:rPr/>
                        <a:t>Composite / competing</a:t>
                      </a:r>
                    </a:p>
                  </a:txBody>
                </a:tc>
                <a:tc>
                  <a:txBody>
                    <a:bodyPr/>
                    <a:lstStyle/>
                    <a:p>
                      <a:pPr lvl="0" indent="0" marL="0">
                        <a:buNone/>
                      </a:pPr>
                      <a:r>
                        <a:rPr/>
                        <a:t>Coherence check via </a:t>
                      </a:r>
                      <a:r>
                        <a:rPr>
                          <a:latin typeface="Courier"/>
                        </a:rPr>
                        <a:t>clean_check_event_processes()</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2b feasibility plasmode metrics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Candidate</a:t>
                      </a:r>
                    </a:p>
                  </a:txBody>
                  <a:tcPr/>
                </a:tc>
                <a:tc>
                  <a:txBody>
                    <a:bodyPr/>
                    <a:lstStyle/>
                    <a:p>
                      <a:pPr lvl="0" indent="0" marL="0" algn="r">
                        <a:buNone/>
                      </a:pPr>
                      <a:r>
                        <a:rPr/>
                        <a:t>Bias</a:t>
                      </a:r>
                    </a:p>
                  </a:txBody>
                  <a:tcPr/>
                </a:tc>
                <a:tc>
                  <a:txBody>
                    <a:bodyPr/>
                    <a:lstStyle/>
                    <a:p>
                      <a:pPr lvl="0" indent="0" marL="0" algn="r">
                        <a:buNone/>
                      </a:pPr>
                      <a:r>
                        <a:rPr/>
                        <a:t>RMSE</a:t>
                      </a:r>
                    </a:p>
                  </a:txBody>
                  <a:tcPr/>
                </a:tc>
                <a:tc>
                  <a:txBody>
                    <a:bodyPr/>
                    <a:lstStyle/>
                    <a:p>
                      <a:pPr lvl="0" indent="0" marL="0" algn="r">
                        <a:buNone/>
                      </a:pPr>
                      <a:r>
                        <a:rPr/>
                        <a:t>Coverage</a:t>
                      </a:r>
                    </a:p>
                  </a:txBody>
                  <a:tcPr/>
                </a:tc>
                <a:tc>
                  <a:txBody>
                    <a:bodyPr/>
                    <a:lstStyle/>
                    <a:p>
                      <a:pPr lvl="0" indent="0" marL="0" algn="r">
                        <a:buNone/>
                      </a:pPr>
                      <a:r>
                        <a:rPr/>
                        <a:t>SE/SD</a:t>
                      </a:r>
                    </a:p>
                  </a:txBody>
                  <a:tcPr/>
                </a:tc>
              </a:tr>
              <a:tr h="0">
                <a:tc>
                  <a:txBody>
                    <a:bodyPr/>
                    <a:lstStyle/>
                    <a:p>
                      <a:pPr lvl="0" indent="0" marL="0">
                        <a:buNone/>
                      </a:pPr>
                      <a:r>
                        <a:rPr>
                          <a:latin typeface="Courier"/>
                        </a:rPr>
                        <a:t>glm_t01</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r h="0">
                <a:tc>
                  <a:txBody>
                    <a:bodyPr/>
                    <a:lstStyle/>
                    <a:p>
                      <a:pPr lvl="0" indent="0" marL="0">
                        <a:buNone/>
                      </a:pPr>
                      <a:r>
                        <a:rPr>
                          <a:latin typeface="Courier"/>
                        </a:rPr>
                        <a:t>glm_t05</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3 negative-control TMLE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Negative control</a:t>
                      </a:r>
                    </a:p>
                  </a:txBody>
                  <a:tcPr/>
                </a:tc>
                <a:tc>
                  <a:txBody>
                    <a:bodyPr/>
                    <a:lstStyle/>
                    <a:p>
                      <a:pPr lvl="0" indent="0" marL="0" algn="r">
                        <a:buNone/>
                      </a:pPr>
                      <a:r>
                        <a:rPr/>
                        <a:t>Estimate</a:t>
                      </a:r>
                    </a:p>
                  </a:txBody>
                  <a:tcPr/>
                </a:tc>
                <a:tc>
                  <a:txBody>
                    <a:bodyPr/>
                    <a:lstStyle/>
                    <a:p>
                      <a:pPr lvl="0" indent="0" marL="0" algn="r">
                        <a:buNone/>
                      </a:pPr>
                      <a:r>
                        <a:rPr/>
                        <a:t>SE</a:t>
                      </a:r>
                    </a:p>
                  </a:txBody>
                  <a:tcPr/>
                </a:tc>
                <a:tc>
                  <a:txBody>
                    <a:bodyPr/>
                    <a:lstStyle/>
                    <a:p>
                      <a:pPr lvl="0" indent="0" marL="0" algn="r">
                        <a:buNone/>
                      </a:pPr>
                      <a:r>
                        <a:rPr/>
                        <a:t>p-value</a:t>
                      </a:r>
                    </a:p>
                  </a:txBody>
                  <a:tcPr/>
                </a:tc>
                <a:tc>
                  <a:txBody>
                    <a:bodyPr/>
                    <a:lstStyle/>
                    <a:p>
                      <a:pPr lvl="0" indent="0" marL="0" algn="ctr">
                        <a:buNone/>
                      </a:pPr>
                      <a:r>
                        <a:rPr/>
                        <a:t>Pass</a:t>
                      </a:r>
                    </a:p>
                  </a:txBody>
                  <a:tcPr/>
                </a:tc>
              </a:tr>
              <a:tr h="0">
                <a:tc>
                  <a:txBody>
                    <a:bodyPr/>
                    <a:lstStyle/>
                    <a:p>
                      <a:pPr lvl="0" indent="0" marL="0">
                        <a:buNone/>
                      </a:pPr>
                      <a:r>
                        <a:rPr/>
                        <a:t>chronic hypertension</a:t>
                      </a:r>
                    </a:p>
                  </a:txBody>
                </a:tc>
                <a:tc>
                  <a:txBody>
                    <a:bodyPr/>
                    <a:lstStyle/>
                    <a:p>
                      <a:pPr lvl="0" indent="0" marL="0" algn="r">
                        <a:buNone/>
                      </a:pPr>
                      <a:r>
                        <a:rPr/>
                        <a:t>0.00248</a:t>
                      </a:r>
                    </a:p>
                  </a:txBody>
                </a:tc>
                <a:tc>
                  <a:txBody>
                    <a:bodyPr/>
                    <a:lstStyle/>
                    <a:p>
                      <a:pPr lvl="0" indent="0" marL="0" algn="r">
                        <a:buNone/>
                      </a:pPr>
                      <a:r>
                        <a:rPr/>
                        <a:t>0.0072</a:t>
                      </a:r>
                    </a:p>
                  </a:txBody>
                </a:tc>
                <a:tc>
                  <a:txBody>
                    <a:bodyPr/>
                    <a:lstStyle/>
                    <a:p>
                      <a:pPr lvl="0" indent="0" marL="0" algn="r">
                        <a:buNone/>
                      </a:pPr>
                      <a:r>
                        <a:rPr/>
                        <a:t>0.73</a:t>
                      </a:r>
                    </a:p>
                  </a:txBody>
                </a:tc>
                <a:tc>
                  <a:txBody>
                    <a:bodyPr/>
                    <a:lstStyle/>
                    <a:p>
                      <a:pPr lvl="0" indent="0" marL="0" algn="ctr">
                        <a:buNone/>
                      </a:pPr>
                      <a:r>
                        <a:rPr/>
                        <a:t>✓</a:t>
                      </a:r>
                    </a:p>
                  </a:txBody>
                </a:tc>
              </a:tr>
              <a:tr h="0">
                <a:tc>
                  <a:txBody>
                    <a:bodyPr/>
                    <a:lstStyle/>
                    <a:p>
                      <a:pPr lvl="0" indent="0" marL="0">
                        <a:buNone/>
                      </a:pPr>
                      <a:r>
                        <a:rPr/>
                        <a:t>household urban</a:t>
                      </a:r>
                    </a:p>
                  </a:txBody>
                </a:tc>
                <a:tc>
                  <a:txBody>
                    <a:bodyPr/>
                    <a:lstStyle/>
                    <a:p>
                      <a:pPr lvl="0" indent="0" marL="0" algn="r">
                        <a:buNone/>
                      </a:pPr>
                      <a:r>
                        <a:rPr/>
                        <a:t>-0.00077</a:t>
                      </a:r>
                    </a:p>
                  </a:txBody>
                </a:tc>
                <a:tc>
                  <a:txBody>
                    <a:bodyPr/>
                    <a:lstStyle/>
                    <a:p>
                      <a:pPr lvl="0" indent="0" marL="0" algn="r">
                        <a:buNone/>
                      </a:pPr>
                      <a:r>
                        <a:rPr/>
                        <a:t>0.0071</a:t>
                      </a:r>
                    </a:p>
                  </a:txBody>
                </a:tc>
                <a:tc>
                  <a:txBody>
                    <a:bodyPr/>
                    <a:lstStyle/>
                    <a:p>
                      <a:pPr lvl="0" indent="0" marL="0" algn="r">
                        <a:buNone/>
                      </a:pPr>
                      <a:r>
                        <a:rPr/>
                        <a:t>0.91</a:t>
                      </a:r>
                    </a:p>
                  </a:txBody>
                </a:tc>
                <a:tc>
                  <a:txBody>
                    <a:bodyPr/>
                    <a:lstStyle/>
                    <a:p>
                      <a:pPr lvl="0" indent="0" marL="0" algn="ctr">
                        <a:buNone/>
                      </a:pPr>
                      <a:r>
                        <a:rPr/>
                        <a:t>✓</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attrition</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3568700" y="1701800"/>
            <a:ext cx="5105400" cy="13716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Rescue.Co binary-outcome estimates (six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RD</a:t>
                      </a:r>
                    </a:p>
                  </a:txBody>
                  <a:tcPr/>
                </a:tc>
                <a:tc>
                  <a:txBody>
                    <a:bodyPr/>
                    <a:lstStyle/>
                    <a:p>
                      <a:pPr lvl="0" indent="0" marL="0">
                        <a:buNone/>
                      </a:pPr>
                      <a:r>
                        <a:rPr/>
                        <a:t>95% CI</a:t>
                      </a:r>
                    </a:p>
                  </a:txBody>
                  <a:tcPr/>
                </a:tc>
              </a:tr>
              <a:tr h="0">
                <a:tc>
                  <a:txBody>
                    <a:bodyPr/>
                    <a:lstStyle/>
                    <a:p>
                      <a:pPr lvl="0" indent="0" marL="0">
                        <a:buNone/>
                      </a:pPr>
                      <a:r>
                        <a:rPr/>
                        <a:t>Crude</a:t>
                      </a:r>
                    </a:p>
                  </a:txBody>
                </a:tc>
                <a:tc>
                  <a:txBody>
                    <a:bodyPr/>
                    <a:lstStyle/>
                    <a:p>
                      <a:pPr lvl="0" indent="0" marL="0">
                        <a:buNone/>
                      </a:pPr>
                      <a:r>
                        <a:rPr/>
                        <a:t>Complete-outcome subset</a:t>
                      </a:r>
                    </a:p>
                  </a:txBody>
                </a:tc>
                <a:tc>
                  <a:txBody>
                    <a:bodyPr/>
                    <a:lstStyle/>
                    <a:p>
                      <a:pPr lvl="0" indent="0" marL="0" algn="r">
                        <a:buNone/>
                      </a:pPr>
                      <a:r>
                        <a:rPr/>
                        <a:t>1,277</a:t>
                      </a:r>
                    </a:p>
                  </a:txBody>
                </a:tc>
                <a:tc>
                  <a:txBody>
                    <a:bodyPr/>
                    <a:lstStyle/>
                    <a:p>
                      <a:pPr lvl="0" indent="0" marL="0" algn="r">
                        <a:buNone/>
                      </a:pPr>
                      <a:r>
                        <a:rPr/>
                        <a:t>0.0370</a:t>
                      </a:r>
                    </a:p>
                  </a:txBody>
                </a:tc>
                <a:tc>
                  <a:txBody>
                    <a:bodyPr/>
                    <a:lstStyle/>
                    <a:p>
                      <a:pPr lvl="0" indent="0" marL="0">
                        <a:buNone/>
                      </a:pPr>
                      <a:r>
                        <a:rPr/>
                        <a:t>(0.003, 0.071)</a:t>
                      </a:r>
                    </a:p>
                  </a:txBody>
                </a:tc>
              </a:tr>
              <a:tr h="0">
                <a:tc>
                  <a:txBody>
                    <a:bodyPr/>
                    <a:lstStyle/>
                    <a:p>
                      <a:pPr lvl="0" indent="0" marL="0">
                        <a:buNone/>
                      </a:pPr>
                      <a:r>
                        <a:rPr/>
                        <a:t>PS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0.0272</a:t>
                      </a:r>
                    </a:p>
                  </a:txBody>
                </a:tc>
                <a:tc>
                  <a:txBody>
                    <a:bodyPr/>
                    <a:lstStyle/>
                    <a:p>
                      <a:pPr lvl="0" indent="0" marL="0">
                        <a:buNone/>
                      </a:pPr>
                      <a:r>
                        <a:rPr/>
                        <a:t>(-0.020, 0.074)</a:t>
                      </a:r>
                    </a:p>
                  </a:txBody>
                </a:tc>
              </a:tr>
              <a:tr h="0">
                <a:tc>
                  <a:txBody>
                    <a:bodyPr/>
                    <a:lstStyle/>
                    <a:p>
                      <a:pPr lvl="0" indent="0" marL="0">
                        <a:buNone/>
                      </a:pPr>
                      <a:r>
                        <a:rPr/>
                        <a:t>IPTW (stabilised)</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0.0366</a:t>
                      </a:r>
                    </a:p>
                  </a:txBody>
                </a:tc>
                <a:tc>
                  <a:txBody>
                    <a:bodyPr/>
                    <a:lstStyle/>
                    <a:p>
                      <a:pPr lvl="0" indent="0" marL="0">
                        <a:buNone/>
                      </a:pPr>
                      <a:r>
                        <a:rPr/>
                        <a:t>(0.002, 0.071)</a:t>
                      </a:r>
                    </a:p>
                  </a:txBody>
                </a:tc>
              </a:tr>
              <a:tr h="0">
                <a:tc>
                  <a:txBody>
                    <a:bodyPr/>
                    <a:lstStyle/>
                    <a:p>
                      <a:pPr lvl="0" indent="0" marL="0">
                        <a:buNone/>
                      </a:pPr>
                      <a:r>
                        <a:rPr/>
                        <a:t>Full-cohort TMLE</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0.0306</a:t>
                      </a:r>
                    </a:p>
                  </a:txBody>
                </a:tc>
                <a:tc>
                  <a:txBody>
                    <a:bodyPr/>
                    <a:lstStyle/>
                    <a:p>
                      <a:pPr lvl="0" indent="0" marL="0">
                        <a:buNone/>
                      </a:pPr>
                      <a:r>
                        <a:rPr/>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0.0259</a:t>
                      </a:r>
                    </a:p>
                  </a:txBody>
                </a:tc>
                <a:tc>
                  <a:txBody>
                    <a:bodyPr/>
                    <a:lstStyle/>
                    <a:p>
                      <a:pPr lvl="0" indent="0" marL="0">
                        <a:buNone/>
                      </a:pPr>
                      <a:r>
                        <a:rPr/>
                        <a:t>(-0.015, 0.067)</a:t>
                      </a:r>
                    </a:p>
                  </a:txBody>
                </a:tc>
              </a:tr>
              <a:tr h="0">
                <a:tc>
                  <a:txBody>
                    <a:bodyPr/>
                    <a:lstStyle/>
                    <a:p>
                      <a:pPr lvl="0" indent="0" marL="0">
                        <a:buNone/>
                      </a:pPr>
                      <a:r>
                        <a:rPr/>
                        <a:t>Complete-outcome TMLE w/ IPCW</a:t>
                      </a:r>
                    </a:p>
                  </a:txBody>
                </a:tc>
                <a:tc>
                  <a:txBody>
                    <a:bodyPr/>
                    <a:lstStyle/>
                    <a:p>
                      <a:pPr lvl="0" indent="0" marL="0">
                        <a:buNone/>
                      </a:pPr>
                      <a:r>
                        <a:rPr/>
                        <a:t>Complete-outcome rows, weighted to full-cohort</a:t>
                      </a:r>
                    </a:p>
                  </a:txBody>
                </a:tc>
                <a:tc>
                  <a:txBody>
                    <a:bodyPr/>
                    <a:lstStyle/>
                    <a:p>
                      <a:pPr lvl="0" indent="0" marL="0" algn="r">
                        <a:buNone/>
                      </a:pPr>
                      <a:r>
                        <a:rPr/>
                        <a:t>1,277</a:t>
                      </a:r>
                    </a:p>
                  </a:txBody>
                </a:tc>
                <a:tc>
                  <a:txBody>
                    <a:bodyPr/>
                    <a:lstStyle/>
                    <a:p>
                      <a:pPr lvl="0" indent="0" marL="0" algn="r">
                        <a:buNone/>
                      </a:pPr>
                      <a:r>
                        <a:rPr/>
                        <a:t>0.0326</a:t>
                      </a:r>
                    </a:p>
                  </a:txBody>
                </a:tc>
                <a:tc>
                  <a:txBody>
                    <a:bodyPr/>
                    <a:lstStyle/>
                    <a:p>
                      <a:pPr lvl="0" indent="0" marL="0">
                        <a:buNone/>
                      </a:pPr>
                      <a:r>
                        <a:rPr/>
                        <a:t>(-0.000, 0.066)</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Case-study diagnostic figures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 overlap density</a:t>
            </a:r>
          </a:p>
        </p:txBody>
      </p:sp>
      <p:pic>
        <p:nvPicPr>
          <p:cNvPr descr="../rescueCo/results/ps_overlap_density.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Propensity-score density by treatment group with truncation cutoffs marked.</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Love plot: matched vs unweighted</a:t>
            </a:r>
          </a:p>
        </p:txBody>
      </p:sp>
      <p:pic>
        <p:nvPicPr>
          <p:cNvPr descr="../rescueCo/results/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Standardised mean differences for retained covariates before and after PS matching.</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Three-way Love plot: unweighted vs matched vs IPTW</a:t>
            </a:r>
          </a:p>
        </p:txBody>
      </p:sp>
      <p:pic>
        <p:nvPicPr>
          <p:cNvPr descr="../rescueCo/results/weighted_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Three-way balance: unweighted, after matching, and after stabilised IPTW.</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IPTW weight distribution</a:t>
            </a:r>
          </a:p>
        </p:txBody>
      </p:sp>
      <p:pic>
        <p:nvPicPr>
          <p:cNvPr descr="../rescueCo/results/weight_distribu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Distribution of stabilised IPTW weights by treatment group.</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Plasmode simulation performance</a:t>
            </a:r>
          </a:p>
        </p:txBody>
      </p:sp>
      <p:pic>
        <p:nvPicPr>
          <p:cNvPr descr="../rescueCo/results/plasmode_performance.png" id="0" name="Picture 1"/>
          <p:cNvPicPr>
            <a:picLocks noGrp="1" noChangeAspect="1"/>
          </p:cNvPicPr>
          <p:nvPr/>
        </p:nvPicPr>
        <p:blipFill>
          <a:blip r:embed="rId2"/>
          <a:stretch>
            <a:fillRect/>
          </a:stretch>
        </p:blipFill>
        <p:spPr bwMode="auto">
          <a:xfrm>
            <a:off x="1689100" y="1193800"/>
            <a:ext cx="576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Plasmode performance across candidate estimators (true ATE = 0).</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Binary-outcome estimator forest plot</a:t>
            </a:r>
          </a:p>
        </p:txBody>
      </p:sp>
      <p:pic>
        <p:nvPicPr>
          <p:cNvPr descr="../rescueCo/results/cleanTMLE_forest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Forest plot of binary-outcome risk differences across the six prespecified estimators.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Influence-curve distribution (full-cohort TMLE)</a:t>
            </a:r>
          </a:p>
        </p:txBody>
      </p:sp>
      <p:pic>
        <p:nvPicPr>
          <p:cNvPr descr="../rescueCo/results/ic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Influence-curve distribution for the full-cohort TMLE primary estimator.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Clever covariate H_n by treatment arm</a:t>
            </a:r>
          </a:p>
        </p:txBody>
      </p:sp>
      <p:pic>
        <p:nvPicPr>
          <p:cNvPr descr="../rescueCo/results/clever_covariate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Clever covariate H_n by treatment arm (full-cohort TMLE).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Counterfactual cumulative-risk curves (full-cohort TMLE)</a:t>
            </a:r>
          </a:p>
        </p:txBody>
      </p:sp>
      <p:pic>
        <p:nvPicPr>
          <p:cNvPr descr="../rescueCo/results/risk_curves_full_c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Counterfactual cumulative-risk curves with CI bands, full-cohort TMLE.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Kaplan-Meier curves by treatment arm (descriptive)</a:t>
            </a:r>
          </a:p>
        </p:txBody>
      </p:sp>
      <p:pic>
        <p:nvPicPr>
          <p:cNvPr descr="../rescueCo/results/km_curve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KM survival curves by treatment arm; descriptive only.</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D: Helpers and outcome-access taxonomy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Outcome-access taxonomy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Definition</a:t>
                      </a:r>
                    </a:p>
                  </a:txBody>
                  <a:tcPr/>
                </a:tc>
              </a:tr>
              <a:tr h="0">
                <a:tc>
                  <a:txBody>
                    <a:bodyPr/>
                    <a:lstStyle/>
                    <a:p>
                      <a:pPr lvl="0" indent="0" marL="0">
                        <a:buNone/>
                      </a:pPr>
                      <a:r>
                        <a:rPr/>
                        <a:t>No Y access</a:t>
                      </a:r>
                    </a:p>
                  </a:txBody>
                </a:tc>
                <a:tc>
                  <a:txBody>
                    <a:bodyPr/>
                    <a:lstStyle/>
                    <a:p>
                      <a:pPr lvl="0" indent="0" marL="0">
                        <a:buNone/>
                      </a:pPr>
                      <a:r>
                        <a:rPr/>
                        <a:t>Function uses W, A, metadata, lock objects, synthetic outcomes, or diagnostics not involving Y</a:t>
                      </a:r>
                    </a:p>
                  </a:txBody>
                </a:tc>
              </a:tr>
              <a:tr h="0">
                <a:tc>
                  <a:txBody>
                    <a:bodyPr/>
                    <a:lstStyle/>
                    <a:p>
                      <a:pPr lvl="0" indent="0" marL="0">
                        <a:buNone/>
                      </a:pPr>
                      <a:r>
                        <a:rPr/>
                        <a:t>Marginal Y only</a:t>
                      </a:r>
                    </a:p>
                  </a:txBody>
                </a:tc>
                <a:tc>
                  <a:txBody>
                    <a:bodyPr/>
                    <a:lstStyle/>
                    <a:p>
                      <a:pPr lvl="0" indent="0" marL="0">
                        <a:buNone/>
                      </a:pPr>
                      <a:r>
                        <a:rPr/>
                        <a:t>Function uses event counts or marginal outcome support, not the A-Y association</a:t>
                      </a:r>
                    </a:p>
                  </a:txBody>
                </a:tc>
              </a:tr>
              <a:tr h="0">
                <a:tc>
                  <a:txBody>
                    <a:bodyPr/>
                    <a:lstStyle/>
                    <a:p>
                      <a:pPr lvl="0" indent="0" marL="0">
                        <a:buNone/>
                      </a:pPr>
                      <a:r>
                        <a:rPr/>
                        <a:t>Synthetic Y only</a:t>
                      </a:r>
                    </a:p>
                  </a:txBody>
                </a:tc>
                <a:tc>
                  <a:txBody>
                    <a:bodyPr/>
                    <a:lstStyle/>
                    <a:p>
                      <a:pPr lvl="0" indent="0" marL="0">
                        <a:buNone/>
                      </a:pPr>
                      <a:r>
                        <a:rPr/>
                        <a:t>Function uses plasmode-generated outcomes</a:t>
                      </a:r>
                    </a:p>
                  </a:txBody>
                </a:tc>
              </a:tr>
              <a:tr h="0">
                <a:tc>
                  <a:txBody>
                    <a:bodyPr/>
                    <a:lstStyle/>
                    <a:p>
                      <a:pPr lvl="0" indent="0" marL="0">
                        <a:buNone/>
                      </a:pPr>
                      <a:r>
                        <a:rPr/>
                        <a:t>Negative-control Y only</a:t>
                      </a:r>
                    </a:p>
                  </a:txBody>
                </a:tc>
                <a:tc>
                  <a:txBody>
                    <a:bodyPr/>
                    <a:lstStyle/>
                    <a:p>
                      <a:pPr lvl="0" indent="0" marL="0">
                        <a:buNone/>
                      </a:pPr>
                      <a:r>
                        <a:rPr/>
                        <a:t>Function uses prespecified NC outcomes, not the primary outcome</a:t>
                      </a:r>
                    </a:p>
                  </a:txBody>
                </a:tc>
              </a:tr>
              <a:tr h="0">
                <a:tc>
                  <a:txBody>
                    <a:bodyPr/>
                    <a:lstStyle/>
                    <a:p>
                      <a:pPr lvl="0" indent="0" marL="0">
                        <a:buNone/>
                      </a:pPr>
                      <a:r>
                        <a:rPr/>
                        <a:t>Primary Y</a:t>
                      </a:r>
                    </a:p>
                  </a:txBody>
                </a:tc>
                <a:tc>
                  <a:txBody>
                    <a:bodyPr/>
                    <a:lstStyle/>
                    <a:p>
                      <a:pPr lvl="0" indent="0" marL="0">
                        <a:buNone/>
                      </a:pPr>
                      <a:r>
                        <a:rPr/>
                        <a:t>Function uses the observed primary outcome for treatment-effect estimation</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labels describe what cleanTMLE exported functions use internally. They do not prevent a user with raw data access from inspecting outcomes outside the package.</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Helper functions by dossier component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Dossier component</a:t>
                      </a:r>
                    </a:p>
                  </a:txBody>
                  <a:tcPr/>
                </a:tc>
                <a:tc>
                  <a:txBody>
                    <a:bodyPr/>
                    <a:lstStyle/>
                    <a:p>
                      <a:pPr lvl="0" indent="0" marL="0">
                        <a:buNone/>
                      </a:pPr>
                      <a:r>
                        <a:rPr/>
                        <a:t>cleanTMLE artefact</a:t>
                      </a:r>
                    </a:p>
                  </a:txBody>
                  <a:tcPr/>
                </a:tc>
                <a:tc>
                  <a:txBody>
                    <a:bodyPr/>
                    <a:lstStyle/>
                    <a:p>
                      <a:pPr lvl="0" indent="0" marL="0">
                        <a:buNone/>
                      </a:pPr>
                      <a:r>
                        <a:rPr/>
                        <a:t>Outcome access</a:t>
                      </a:r>
                    </a:p>
                  </a:txBody>
                  <a:tcPr/>
                </a:tc>
              </a:tr>
              <a:tr h="0">
                <a:tc>
                  <a:txBody>
                    <a:bodyPr/>
                    <a:lstStyle/>
                    <a:p>
                      <a:pPr lvl="0" indent="0" marL="0">
                        <a:buNone/>
                      </a:pPr>
                      <a:r>
                        <a:rPr/>
                        <a:t>Protocol and target-trial timing</a:t>
                      </a:r>
                    </a:p>
                  </a:txBody>
                </a:tc>
                <a:tc>
                  <a:txBody>
                    <a:bodyPr/>
                    <a:lstStyle/>
                    <a:p>
                      <a:pPr lvl="0" indent="0" marL="0">
                        <a:buNone/>
                      </a:pPr>
                      <a:r>
                        <a:rPr>
                          <a:latin typeface="Courier"/>
                        </a:rPr>
                        <a:t>attach_estimand()</a:t>
                      </a:r>
                    </a:p>
                  </a:txBody>
                </a:tc>
                <a:tc>
                  <a:txBody>
                    <a:bodyPr/>
                    <a:lstStyle/>
                    <a:p>
                      <a:pPr lvl="0" indent="0" marL="0">
                        <a:buNone/>
                      </a:pPr>
                      <a:r>
                        <a:rPr/>
                        <a:t>No Y</a:t>
                      </a:r>
                    </a:p>
                  </a:txBody>
                </a:tc>
              </a:tr>
              <a:tr h="0">
                <a:tc>
                  <a:txBody>
                    <a:bodyPr/>
                    <a:lstStyle/>
                    <a:p>
                      <a:pPr lvl="0" indent="0" marL="0">
                        <a:buNone/>
                      </a:pPr>
                      <a:r>
                        <a:rPr/>
                        <a:t>Cohort flow / attrition</a:t>
                      </a:r>
                    </a:p>
                  </a:txBody>
                </a:tc>
                <a:tc>
                  <a:txBody>
                    <a:bodyPr/>
                    <a:lstStyle/>
                    <a:p>
                      <a:pPr lvl="0" indent="0" marL="0">
                        <a:buNone/>
                      </a:pPr>
                      <a:r>
                        <a:rPr>
                          <a:latin typeface="Courier"/>
                        </a:rPr>
                        <a:t>attrition_table()</a:t>
                      </a:r>
                    </a:p>
                  </a:txBody>
                </a:tc>
                <a:tc>
                  <a:txBody>
                    <a:bodyPr/>
                    <a:lstStyle/>
                    <a:p>
                      <a:pPr lvl="0" indent="0" marL="0">
                        <a:buNone/>
                      </a:pPr>
                      <a:r>
                        <a:rPr/>
                        <a:t>No Y</a:t>
                      </a:r>
                    </a:p>
                  </a:txBody>
                </a:tc>
              </a:tr>
              <a:tr h="0">
                <a:tc>
                  <a:txBody>
                    <a:bodyPr/>
                    <a:lstStyle/>
                    <a:p>
                      <a:pPr lvl="0" indent="0" marL="0">
                        <a:buNone/>
                      </a:pPr>
                      <a:r>
                        <a:rPr/>
                        <a:t>Event-process classification</a:t>
                      </a:r>
                    </a:p>
                  </a:txBody>
                </a:tc>
                <a:tc>
                  <a:txBody>
                    <a:bodyPr/>
                    <a:lstStyle/>
                    <a:p>
                      <a:pPr lvl="0" indent="0" marL="0">
                        <a:buNone/>
                      </a:pPr>
                      <a:r>
                        <a:rPr>
                          <a:latin typeface="Courier"/>
                        </a:rPr>
                        <a:t>clean_event_process_table()</a:t>
                      </a:r>
                      <a:r>
                        <a:rPr/>
                        <a:t>, </a:t>
                      </a:r>
                      <a:r>
                        <a:rPr>
                          <a:latin typeface="Courier"/>
                        </a:rPr>
                        <a:t>clean_check_event_processes()</a:t>
                      </a:r>
                    </a:p>
                  </a:txBody>
                </a:tc>
                <a:tc>
                  <a:txBody>
                    <a:bodyPr/>
                    <a:lstStyle/>
                    <a:p>
                      <a:pPr lvl="0" indent="0" marL="0">
                        <a:buNone/>
                      </a:pPr>
                      <a:r>
                        <a:rPr/>
                        <a:t>No Y</a:t>
                      </a:r>
                    </a:p>
                  </a:txBody>
                </a:tc>
              </a:tr>
              <a:tr h="0">
                <a:tc>
                  <a:txBody>
                    <a:bodyPr/>
                    <a:lstStyle/>
                    <a:p>
                      <a:pPr lvl="0" indent="0" marL="0">
                        <a:buNone/>
                      </a:pPr>
                      <a:r>
                        <a:rPr/>
                        <a:t>Covariate and missingness summary</a:t>
                      </a:r>
                    </a:p>
                  </a:txBody>
                </a:tc>
                <a:tc>
                  <a:txBody>
                    <a:bodyPr/>
                    <a:lstStyle/>
                    <a:p>
                      <a:pPr lvl="0" indent="0" marL="0">
                        <a:buNone/>
                      </a:pPr>
                      <a:r>
                        <a:rPr>
                          <a:latin typeface="Courier"/>
                        </a:rPr>
                        <a:t>make_table1()</a:t>
                      </a:r>
                      <a:r>
                        <a:rPr/>
                        <a:t>, missingness checks</a:t>
                      </a:r>
                    </a:p>
                  </a:txBody>
                </a:tc>
                <a:tc>
                  <a:txBody>
                    <a:bodyPr/>
                    <a:lstStyle/>
                    <a:p>
                      <a:pPr lvl="0" indent="0" marL="0">
                        <a:buNone/>
                      </a:pPr>
                      <a:r>
                        <a:rPr/>
                        <a:t>No Y</a:t>
                      </a:r>
                    </a:p>
                  </a:txBody>
                </a:tc>
              </a:tr>
              <a:tr h="0">
                <a:tc>
                  <a:txBody>
                    <a:bodyPr/>
                    <a:lstStyle/>
                    <a:p>
                      <a:pPr lvl="0" indent="0" marL="0">
                        <a:buNone/>
                      </a:pPr>
                      <a:r>
                        <a:rPr/>
                        <a:t>PS overlap and balance</a:t>
                      </a:r>
                    </a:p>
                  </a:txBody>
                </a:tc>
                <a:tc>
                  <a:txBody>
                    <a:bodyPr/>
                    <a:lstStyle/>
                    <a:p>
                      <a:pPr lvl="0" indent="0" marL="0">
                        <a:buNone/>
                      </a:pPr>
                      <a:r>
                        <a:rPr>
                          <a:latin typeface="Courier"/>
                        </a:rPr>
                        <a:t>compute_ps_diagnostics()</a:t>
                      </a:r>
                      <a:r>
                        <a:rPr/>
                        <a:t>, </a:t>
                      </a:r>
                      <a:r>
                        <a:rPr>
                          <a:latin typeface="Courier"/>
                        </a:rPr>
                        <a:t>love_plot()</a:t>
                      </a:r>
                      <a:r>
                        <a:rPr/>
                        <a:t>, </a:t>
                      </a:r>
                      <a:r>
                        <a:rPr>
                          <a:latin typeface="Courier"/>
                        </a:rPr>
                        <a:t>love_plot_threeway()</a:t>
                      </a:r>
                    </a:p>
                  </a:txBody>
                </a:tc>
                <a:tc>
                  <a:txBody>
                    <a:bodyPr/>
                    <a:lstStyle/>
                    <a:p>
                      <a:pPr lvl="0" indent="0" marL="0">
                        <a:buNone/>
                      </a:pPr>
                      <a:r>
                        <a:rPr/>
                        <a:t>No Y</a:t>
                      </a:r>
                    </a:p>
                  </a:txBody>
                </a:tc>
              </a:tr>
              <a:tr h="0">
                <a:tc>
                  <a:txBody>
                    <a:bodyPr/>
                    <a:lstStyle/>
                    <a:p>
                      <a:pPr lvl="0" indent="0" marL="0">
                        <a:buNone/>
                      </a:pPr>
                      <a:r>
                        <a:rPr/>
                        <a:t>Weight diagnostics</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No Y</a:t>
                      </a:r>
                    </a:p>
                  </a:txBody>
                </a:tc>
              </a:tr>
              <a:tr h="0">
                <a:tc>
                  <a:txBody>
                    <a:bodyPr/>
                    <a:lstStyle/>
                    <a:p>
                      <a:pPr lvl="0" indent="0" marL="0">
                        <a:buNone/>
                      </a:pPr>
                      <a:r>
                        <a:rPr/>
                        <a:t>Event-count adequacy</a:t>
                      </a:r>
                    </a:p>
                  </a:txBody>
                </a:tc>
                <a:tc>
                  <a:txBody>
                    <a:bodyPr/>
                    <a:lstStyle/>
                    <a:p>
                      <a:pPr lvl="0" indent="0" marL="0">
                        <a:buNone/>
                      </a:pPr>
                      <a:r>
                        <a:rPr>
                          <a:latin typeface="Courier"/>
                        </a:rPr>
                        <a:t>checkpoint_cohort_adequacy()</a:t>
                      </a:r>
                    </a:p>
                  </a:txBody>
                </a:tc>
                <a:tc>
                  <a:txBody>
                    <a:bodyPr/>
                    <a:lstStyle/>
                    <a:p>
                      <a:pPr lvl="0" indent="0" marL="0">
                        <a:buNone/>
                      </a:pPr>
                      <a:r>
                        <a:rPr/>
                        <a:t>Marginal Y only</a:t>
                      </a:r>
                    </a:p>
                  </a:txBody>
                </a:tc>
              </a:tr>
              <a:tr h="0">
                <a:tc>
                  <a:txBody>
                    <a:bodyPr/>
                    <a:lstStyle/>
                    <a:p>
                      <a:pPr lvl="0" indent="0" marL="0">
                        <a:buNone/>
                      </a:pPr>
                      <a:r>
                        <a:rPr/>
                        <a:t>Baseline plasmode</a:t>
                      </a:r>
                    </a:p>
                  </a:txBody>
                </a:tc>
                <a:tc>
                  <a:txBody>
                    <a:bodyPr/>
                    <a:lstStyle/>
                    <a:p>
                      <a:pPr lvl="0" indent="0" marL="0">
                        <a:buNone/>
                      </a:pPr>
                      <a:r>
                        <a:rPr>
                          <a:latin typeface="Courier"/>
                        </a:rPr>
                        <a:t>run_plasmode_feasibility()</a:t>
                      </a:r>
                      <a:r>
                        <a:rPr/>
                        <a:t>, </a:t>
                      </a:r>
                      <a:r>
                        <a:rPr>
                          <a:latin typeface="Courier"/>
                        </a:rPr>
                        <a:t>select_tmle_candidate()</a:t>
                      </a:r>
                    </a:p>
                  </a:txBody>
                </a:tc>
                <a:tc>
                  <a:txBody>
                    <a:bodyPr/>
                    <a:lstStyle/>
                    <a:p>
                      <a:pPr lvl="0" indent="0" marL="0">
                        <a:buNone/>
                      </a:pPr>
                      <a:r>
                        <a:rPr/>
                        <a:t>Synthetic Y only</a:t>
                      </a:r>
                    </a:p>
                  </a:txBody>
                </a:tc>
              </a:tr>
              <a:tr h="0">
                <a:tc>
                  <a:txBody>
                    <a:bodyPr/>
                    <a:lstStyle/>
                    <a:p>
                      <a:pPr lvl="0" indent="0" marL="0">
                        <a:buNone/>
                      </a:pPr>
                      <a:r>
                        <a:rPr/>
                        <a:t>DQ stress test</a:t>
                      </a:r>
                    </a:p>
                  </a:txBody>
                </a:tc>
                <a:tc>
                  <a:txBody>
                    <a:bodyPr/>
                    <a:lstStyle/>
                    <a:p>
                      <a:pPr lvl="0" indent="0" marL="0">
                        <a:buNone/>
                      </a:pPr>
                      <a:r>
                        <a:rPr>
                          <a:latin typeface="Courier"/>
                        </a:rPr>
                        <a:t>run_plasmode_dq_stress()</a:t>
                      </a:r>
                      <a:r>
                        <a:rPr/>
                        <a:t>, </a:t>
                      </a:r>
                      <a:r>
                        <a:rPr>
                          <a:latin typeface="Courier"/>
                        </a:rPr>
                        <a:t>summarize_dq_degradation()</a:t>
                      </a:r>
                    </a:p>
                  </a:txBody>
                </a:tc>
                <a:tc>
                  <a:txBody>
                    <a:bodyPr/>
                    <a:lstStyle/>
                    <a:p>
                      <a:pPr lvl="0" indent="0" marL="0">
                        <a:buNone/>
                      </a:pPr>
                      <a:r>
                        <a:rPr/>
                        <a:t>Synthetic Y only</a:t>
                      </a:r>
                    </a:p>
                  </a:txBody>
                </a:tc>
              </a:tr>
              <a:tr h="0">
                <a:tc>
                  <a:txBody>
                    <a:bodyPr/>
                    <a:lstStyle/>
                    <a:p>
                      <a:pPr lvl="0" indent="0" marL="0">
                        <a:buNone/>
                      </a:pPr>
                      <a:r>
                        <a:rPr/>
                        <a:t>Negative controls</a:t>
                      </a:r>
                    </a:p>
                  </a:txBody>
                </a:tc>
                <a:tc>
                  <a:txBody>
                    <a:bodyPr/>
                    <a:lstStyle/>
                    <a:p>
                      <a:pPr lvl="0" indent="0" marL="0">
                        <a:buNone/>
                      </a:pPr>
                      <a:r>
                        <a:rPr>
                          <a:latin typeface="Courier"/>
                        </a:rPr>
                        <a:t>run_residual_confounding_stage()</a:t>
                      </a:r>
                    </a:p>
                  </a:txBody>
                </a:tc>
                <a:tc>
                  <a:txBody>
                    <a:bodyPr/>
                    <a:lstStyle/>
                    <a:p>
                      <a:pPr lvl="0" indent="0" marL="0">
                        <a:buNone/>
                      </a:pPr>
                      <a:r>
                        <a:rPr/>
                        <a:t>Negative-control Y only</a:t>
                      </a:r>
                    </a:p>
                  </a:txBody>
                </a:tc>
              </a:tr>
              <a:tr h="0">
                <a:tc>
                  <a:txBody>
                    <a:bodyPr/>
                    <a:lstStyle/>
                    <a:p>
                      <a:pPr lvl="0" indent="0" marL="0">
                        <a:buNone/>
                      </a:pPr>
                      <a:r>
                        <a:rPr/>
                        <a:t>Composite gate</a:t>
                      </a:r>
                    </a:p>
                  </a:txBody>
                </a:tc>
                <a:tc>
                  <a:txBody>
                    <a:bodyPr/>
                    <a:lstStyle/>
                    <a:p>
                      <a:pPr lvl="0" indent="0" marL="0">
                        <a:buNone/>
                      </a:pPr>
                      <a:r>
                        <a:rPr>
                          <a:latin typeface="Courier"/>
                        </a:rPr>
                        <a:t>gate_all()</a:t>
                      </a:r>
                      <a:r>
                        <a:rPr/>
                        <a:t> (+ planned </a:t>
                      </a:r>
                      <a:r>
                        <a:rPr>
                          <a:latin typeface="Courier"/>
                        </a:rPr>
                        <a:t>checkpoint_dashboard()</a:t>
                      </a:r>
                      <a:r>
                        <a:rPr/>
                        <a:t>)</a:t>
                      </a:r>
                    </a:p>
                  </a:txBody>
                </a:tc>
                <a:tc>
                  <a:txBody>
                    <a:bodyPr/>
                    <a:lstStyle/>
                    <a:p>
                      <a:pPr lvl="0" indent="0" marL="0">
                        <a:buNone/>
                      </a:pPr>
                      <a:r>
                        <a:rPr/>
                        <a:t>No Y</a:t>
                      </a:r>
                    </a:p>
                  </a:txBody>
                </a:tc>
              </a:tr>
              <a:tr h="0">
                <a:tc>
                  <a:txBody>
                    <a:bodyPr/>
                    <a:lstStyle/>
                    <a:p>
                      <a:pPr lvl="0" indent="0" marL="0">
                        <a:buNone/>
                      </a:pPr>
                      <a:r>
                        <a:rPr/>
                        <a:t>Decision and audit logs</a:t>
                      </a:r>
                    </a:p>
                  </a:txBody>
                </a:tc>
                <a:tc>
                  <a:txBody>
                    <a:bodyPr/>
                    <a:lstStyle/>
                    <a:p>
                      <a:pPr lvl="0" indent="0" marL="0">
                        <a:buNone/>
                      </a:pPr>
                      <a:r>
                        <a:rPr>
                          <a:latin typeface="Courier"/>
                        </a:rPr>
                        <a:t>export_decision_log()</a:t>
                      </a:r>
                      <a:r>
                        <a:rPr/>
                        <a:t>, </a:t>
                      </a:r>
                      <a:r>
                        <a:rPr>
                          <a:latin typeface="Courier"/>
                        </a:rPr>
                        <a:t>save_decision_log()</a:t>
                      </a:r>
                    </a:p>
                  </a:txBody>
                </a:tc>
                <a:tc>
                  <a:txBody>
                    <a:bodyPr/>
                    <a:lstStyle/>
                    <a:p>
                      <a:pPr lvl="0" indent="0" marL="0">
                        <a:buNone/>
                      </a:pPr>
                      <a:r>
                        <a:rPr/>
                        <a:t>No Y</a:t>
                      </a:r>
                    </a:p>
                  </a:txBody>
                </a:tc>
              </a:tr>
              <a:tr h="0">
                <a:tc>
                  <a:txBody>
                    <a:bodyPr/>
                    <a:lstStyle/>
                    <a:p>
                      <a:pPr lvl="0" indent="0" marL="0">
                        <a:buNone/>
                      </a:pPr>
                      <a:r>
                        <a:rPr/>
                        <a:t>Authorisation</a:t>
                      </a:r>
                    </a:p>
                  </a:txBody>
                </a:tc>
                <a:tc>
                  <a:txBody>
                    <a:bodyPr/>
                    <a:lstStyle/>
                    <a:p>
                      <a:pPr lvl="0" indent="0" marL="0">
                        <a:buNone/>
                      </a:pPr>
                      <a:r>
                        <a:rPr>
                          <a:latin typeface="Courier"/>
                        </a:rPr>
                        <a:t>authorize_outcome_analysis()</a:t>
                      </a:r>
                    </a:p>
                  </a:txBody>
                </a:tc>
                <a:tc>
                  <a:txBody>
                    <a:bodyPr/>
                    <a:lstStyle/>
                    <a:p>
                      <a:pPr lvl="0" indent="0" marL="0">
                        <a:buNone/>
                      </a:pPr>
                      <a:r>
                        <a:rPr/>
                        <a:t>No Y</a:t>
                      </a:r>
                    </a:p>
                  </a:txBody>
                </a:tc>
              </a:tr>
              <a:tr h="0">
                <a:tc>
                  <a:txBody>
                    <a:bodyPr/>
                    <a:lstStyle/>
                    <a:p>
                      <a:pPr lvl="0" indent="0" marL="0">
                        <a:buNone/>
                      </a:pPr>
                      <a:r>
                        <a:rPr/>
                        <a:t>Primary analysis</a:t>
                      </a:r>
                    </a:p>
                  </a:txBody>
                </a:tc>
                <a:tc>
                  <a:txBody>
                    <a:bodyPr/>
                    <a:lstStyle/>
                    <a:p>
                      <a:pPr lvl="0" indent="0" marL="0">
                        <a:buNone/>
                      </a:pPr>
                      <a:r>
                        <a:rPr>
                          <a:latin typeface="Courier"/>
                        </a:rPr>
                        <a:t>run_clean_tmle()</a:t>
                      </a:r>
                      <a:r>
                        <a:rPr/>
                        <a:t>, </a:t>
                      </a:r>
                      <a:r>
                        <a:rPr>
                          <a:latin typeface="Courier"/>
                        </a:rPr>
                        <a:t>fit_tmle_*()</a:t>
                      </a:r>
                      <a:r>
                        <a:rPr/>
                        <a:t> family, </a:t>
                      </a:r>
                      <a:r>
                        <a:rPr>
                          <a:latin typeface="Courier"/>
                        </a:rPr>
                        <a:t>run_ipcw_tmle()</a:t>
                      </a:r>
                    </a:p>
                  </a:txBody>
                </a:tc>
                <a:tc>
                  <a:txBody>
                    <a:bodyPr/>
                    <a:lstStyle/>
                    <a:p>
                      <a:pPr lvl="0" indent="0" marL="0">
                        <a:buNone/>
                      </a:pPr>
                      <a:r>
                        <a:rPr/>
                        <a:t>Primary Y</a:t>
                      </a:r>
                    </a:p>
                  </a:txBody>
                </a:tc>
              </a:tr>
            </a:tbl>
          </a:graphicData>
        </a:graphic>
      </p:graphicFrame>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E: Step-by-step Rescue.Co walkthrough</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This appendix walks through the cleanTMLE analysis of the Rescue.Co data, function by function. Each slide shows one step: what we are trying to learn, the cleanTMLE function that does it, what comes back, and what the reviewer would see.</a:t>
            </a:r>
          </a:p>
          <a:p>
            <a:pPr lvl="0" indent="0" marL="0">
              <a:buNone/>
            </a:pPr>
            <a:r>
              <a:rPr/>
              <a:t>You can run these in order on your own data. The full reproducible version is in </a:t>
            </a:r>
            <a:r>
              <a:rPr>
                <a:latin typeface="Courier"/>
              </a:rPr>
              <a:t>rescueCo/reports/rescueco_clean_room_case_study.qmd</a:t>
            </a:r>
            <a:r>
              <a:rPr/>
              <a: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 Write down the question</a:t>
            </a:r>
          </a:p>
        </p:txBody>
      </p:sp>
      <p:sp>
        <p:nvSpPr>
          <p:cNvPr id="3" name="Content Placeholder 2"/>
          <p:cNvSpPr>
            <a:spLocks noGrp="1"/>
          </p:cNvSpPr>
          <p:nvPr>
            <p:ph idx="1"/>
          </p:nvPr>
        </p:nvSpPr>
        <p:spPr/>
        <p:txBody>
          <a:bodyPr/>
          <a:lstStyle/>
          <a:p>
            <a:pPr lvl="0" indent="0" marL="0">
              <a:buNone/>
            </a:pPr>
            <a:r>
              <a:rPr/>
              <a:t>Before any code runs, the team writes down the question in target-trial language: the cohort, the treatment, the comparison group, the outcome, and the follow-up window. This becomes the </a:t>
            </a:r>
            <a:r>
              <a:rPr b="1"/>
              <a:t>estimand</a:t>
            </a:r>
            <a:r>
              <a:rPr/>
              <a:t> attached to the analysis lock.</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attach_estimand</a:t>
            </a:r>
            <a:r>
              <a:rPr>
                <a:latin typeface="Courier"/>
              </a:rPr>
              <a:t>(</a:t>
            </a:r>
            <a:br/>
            <a:r>
              <a:rPr>
                <a:latin typeface="Courier"/>
              </a:rPr>
              <a:t>  lock,</a:t>
            </a:r>
            <a:br/>
            <a:r>
              <a:rPr>
                <a:latin typeface="Courier"/>
              </a:rPr>
              <a:t>  </a:t>
            </a:r>
            <a:r>
              <a:rPr>
                <a:solidFill>
                  <a:srgbClr val="7D9029"/>
                </a:solidFill>
                <a:latin typeface="Courier"/>
              </a:rPr>
              <a:t>description           =</a:t>
            </a:r>
            <a:r>
              <a:rPr>
                <a:latin typeface="Courier"/>
              </a:rPr>
              <a:t> </a:t>
            </a:r>
            <a:r>
              <a:rPr>
                <a:solidFill>
                  <a:srgbClr val="4070A0"/>
                </a:solidFill>
                <a:latin typeface="Courier"/>
              </a:rPr>
              <a:t>"Effect of Rescue.Co transport on 6-month GOSE &gt; 4"</a:t>
            </a:r>
            <a:r>
              <a:rPr>
                <a:latin typeface="Courier"/>
              </a:rPr>
              <a:t>,</a:t>
            </a:r>
            <a:br/>
            <a:r>
              <a:rPr>
                <a:latin typeface="Courier"/>
              </a:rPr>
              <a:t>  </a:t>
            </a:r>
            <a:r>
              <a:rPr>
                <a:solidFill>
                  <a:srgbClr val="7D9029"/>
                </a:solidFill>
                <a:latin typeface="Courier"/>
              </a:rPr>
              <a:t>population            =</a:t>
            </a:r>
            <a:r>
              <a:rPr>
                <a:latin typeface="Courier"/>
              </a:rPr>
              <a:t> </a:t>
            </a:r>
            <a:r>
              <a:rPr>
                <a:solidFill>
                  <a:srgbClr val="4070A0"/>
                </a:solidFill>
                <a:latin typeface="Courier"/>
              </a:rPr>
              <a:t>"Adults arriving by ambulance, direct-from-scene"</a:t>
            </a:r>
            <a:r>
              <a:rPr>
                <a:latin typeface="Courier"/>
              </a:rPr>
              <a:t>,</a:t>
            </a:r>
            <a:br/>
            <a:r>
              <a:rPr>
                <a:latin typeface="Courier"/>
              </a:rPr>
              <a:t>  </a:t>
            </a:r>
            <a:r>
              <a:rPr>
                <a:solidFill>
                  <a:srgbClr val="7D9029"/>
                </a:solidFill>
                <a:latin typeface="Courier"/>
              </a:rPr>
              <a:t>treatment_strategies  =</a:t>
            </a:r>
            <a:r>
              <a:rPr>
                <a:latin typeface="Courier"/>
              </a:rPr>
              <a:t> </a:t>
            </a:r>
            <a:r>
              <a:rPr>
                <a:solidFill>
                  <a:srgbClr val="06287E"/>
                </a:solidFill>
                <a:latin typeface="Courier"/>
              </a:rPr>
              <a:t>c</a:t>
            </a:r>
            <a:r>
              <a:rPr>
                <a:latin typeface="Courier"/>
              </a:rPr>
              <a:t>(</a:t>
            </a:r>
            <a:r>
              <a:rPr>
                <a:solidFill>
                  <a:srgbClr val="4070A0"/>
                </a:solidFill>
                <a:latin typeface="Courier"/>
              </a:rPr>
              <a:t>"Rescue.Co"</a:t>
            </a:r>
            <a:r>
              <a:rPr>
                <a:latin typeface="Courier"/>
              </a:rPr>
              <a:t>, </a:t>
            </a:r>
            <a:r>
              <a:rPr>
                <a:solidFill>
                  <a:srgbClr val="4070A0"/>
                </a:solidFill>
                <a:latin typeface="Courier"/>
              </a:rPr>
              <a:t>"Other ambulance"</a:t>
            </a:r>
            <a:r>
              <a:rPr>
                <a:latin typeface="Courier"/>
              </a:rPr>
              <a:t>),</a:t>
            </a:r>
            <a:br/>
            <a:r>
              <a:rPr>
                <a:latin typeface="Courier"/>
              </a:rPr>
              <a:t>  </a:t>
            </a:r>
            <a:r>
              <a:rPr>
                <a:solidFill>
                  <a:srgbClr val="7D9029"/>
                </a:solidFill>
                <a:latin typeface="Courier"/>
              </a:rPr>
              <a:t>outcome_label         =</a:t>
            </a:r>
            <a:r>
              <a:rPr>
                <a:latin typeface="Courier"/>
              </a:rPr>
              <a:t> </a:t>
            </a:r>
            <a:r>
              <a:rPr>
                <a:solidFill>
                  <a:srgbClr val="4070A0"/>
                </a:solidFill>
                <a:latin typeface="Courier"/>
              </a:rPr>
              <a:t>"GOSE &gt; 4 at 6 months"</a:t>
            </a:r>
            <a:r>
              <a:rPr>
                <a:latin typeface="Courier"/>
              </a:rPr>
              <a:t>,</a:t>
            </a:r>
            <a:br/>
            <a:r>
              <a:rPr>
                <a:latin typeface="Courier"/>
              </a:rPr>
              <a:t>  </a:t>
            </a:r>
            <a:r>
              <a:rPr>
                <a:solidFill>
                  <a:srgbClr val="7D9029"/>
                </a:solidFill>
                <a:latin typeface="Courier"/>
              </a:rPr>
              <a:t>followup              =</a:t>
            </a:r>
            <a:r>
              <a:rPr>
                <a:latin typeface="Courier"/>
              </a:rPr>
              <a:t> </a:t>
            </a:r>
            <a:r>
              <a:rPr>
                <a:solidFill>
                  <a:srgbClr val="4070A0"/>
                </a:solidFill>
                <a:latin typeface="Courier"/>
              </a:rPr>
              <a:t>"6 months"</a:t>
            </a:r>
            <a:r>
              <a:rPr>
                <a:latin typeface="Courier"/>
              </a:rPr>
              <a:t>,</a:t>
            </a:r>
            <a:br/>
            <a:r>
              <a:rPr>
                <a:latin typeface="Courier"/>
              </a:rPr>
              <a:t>  </a:t>
            </a:r>
            <a:r>
              <a:rPr>
                <a:solidFill>
                  <a:srgbClr val="7D9029"/>
                </a:solidFill>
                <a:latin typeface="Courier"/>
              </a:rPr>
              <a:t>contrast              =</a:t>
            </a:r>
            <a:r>
              <a:rPr>
                <a:latin typeface="Courier"/>
              </a:rPr>
              <a:t> </a:t>
            </a:r>
            <a:r>
              <a:rPr>
                <a:solidFill>
                  <a:srgbClr val="4070A0"/>
                </a:solidFill>
                <a:latin typeface="Courier"/>
              </a:rPr>
              <a:t>"risk_difference"</a:t>
            </a:r>
            <a:br/>
            <a:r>
              <a:rPr>
                <a:latin typeface="Courier"/>
              </a:rPr>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 Lock the analytic plan</a:t>
            </a:r>
          </a:p>
        </p:txBody>
      </p:sp>
      <p:sp>
        <p:nvSpPr>
          <p:cNvPr id="3" name="Content Placeholder 2"/>
          <p:cNvSpPr>
            <a:spLocks noGrp="1"/>
          </p:cNvSpPr>
          <p:nvPr>
            <p:ph idx="1"/>
          </p:nvPr>
        </p:nvSpPr>
        <p:spPr/>
        <p:txBody>
          <a:bodyPr/>
          <a:lstStyle/>
          <a:p>
            <a:pPr lvl="0" indent="0" marL="0">
              <a:buNone/>
            </a:pPr>
            <a:r>
              <a:rPr/>
              <a:t>The analytic plan is captured as a single object that gets a sha256 fingerprint. Any later change to the plan changes the fingerprint, which is visible to the reviewer.</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create_analysis_lock</a:t>
            </a:r>
            <a:r>
              <a:rPr>
                <a:latin typeface="Courier"/>
              </a:rPr>
              <a:t>(</a:t>
            </a:r>
            <a:br/>
            <a:r>
              <a:rPr>
                <a:latin typeface="Courier"/>
              </a:rPr>
              <a:t>  </a:t>
            </a:r>
            <a:r>
              <a:rPr>
                <a:solidFill>
                  <a:srgbClr val="7D9029"/>
                </a:solidFill>
                <a:latin typeface="Courier"/>
              </a:rPr>
              <a:t>data        =</a:t>
            </a:r>
            <a:r>
              <a:rPr>
                <a:latin typeface="Courier"/>
              </a:rPr>
              <a:t> rescueco_cohort,</a:t>
            </a:r>
            <a:br/>
            <a:r>
              <a:rPr>
                <a:latin typeface="Courier"/>
              </a:rPr>
              <a:t>  </a:t>
            </a:r>
            <a:r>
              <a:rPr>
                <a:solidFill>
                  <a:srgbClr val="7D9029"/>
                </a:solidFill>
                <a:latin typeface="Courier"/>
              </a:rPr>
              <a:t>treatment   =</a:t>
            </a:r>
            <a:r>
              <a:rPr>
                <a:latin typeface="Courier"/>
              </a:rPr>
              <a:t> </a:t>
            </a:r>
            <a:r>
              <a:rPr>
                <a:solidFill>
                  <a:srgbClr val="4070A0"/>
                </a:solidFill>
                <a:latin typeface="Courier"/>
              </a:rPr>
              <a:t>"is_rescueco"</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covariates  =</a:t>
            </a:r>
            <a:r>
              <a:rPr>
                <a:latin typeface="Courier"/>
              </a:rPr>
              <a:t> </a:t>
            </a:r>
            <a:r>
              <a:rPr>
                <a:solidFill>
                  <a:srgbClr val="06287E"/>
                </a:solidFill>
                <a:latin typeface="Courier"/>
              </a:rPr>
              <a:t>c</a:t>
            </a:r>
            <a:r>
              <a:rPr>
                <a:latin typeface="Courier"/>
              </a:rPr>
              <a:t>(</a:t>
            </a:r>
            <a:r>
              <a:rPr>
                <a:solidFill>
                  <a:srgbClr val="4070A0"/>
                </a:solidFill>
                <a:latin typeface="Courier"/>
              </a:rPr>
              <a:t>"age"</a:t>
            </a:r>
            <a:r>
              <a:rPr>
                <a:latin typeface="Courier"/>
              </a:rPr>
              <a:t>, </a:t>
            </a:r>
            <a:r>
              <a:rPr>
                <a:solidFill>
                  <a:srgbClr val="4070A0"/>
                </a:solidFill>
                <a:latin typeface="Courier"/>
              </a:rPr>
              <a:t>"sex"</a:t>
            </a:r>
            <a:r>
              <a:rPr>
                <a:latin typeface="Courier"/>
              </a:rPr>
              <a:t>, </a:t>
            </a:r>
            <a:r>
              <a:rPr>
                <a:solidFill>
                  <a:srgbClr val="4070A0"/>
                </a:solidFill>
                <a:latin typeface="Courier"/>
              </a:rPr>
              <a:t>"iss"</a:t>
            </a:r>
            <a:r>
              <a:rPr>
                <a:latin typeface="Courier"/>
              </a:rPr>
              <a:t>, </a:t>
            </a:r>
            <a:r>
              <a:rPr>
                <a:solidFill>
                  <a:srgbClr val="4070A0"/>
                </a:solidFill>
                <a:latin typeface="Courier"/>
              </a:rPr>
              <a:t>"gcs"</a:t>
            </a:r>
            <a:r>
              <a:rPr>
                <a:latin typeface="Courier"/>
              </a:rPr>
              <a:t>, </a:t>
            </a:r>
            <a:r>
              <a:rPr>
                <a:solidFill>
                  <a:srgbClr val="4070A0"/>
                </a:solidFill>
                <a:latin typeface="Courier"/>
              </a:rPr>
              <a:t>"distance"</a:t>
            </a:r>
            <a:r>
              <a:rPr>
                <a:latin typeface="Courier"/>
              </a:rPr>
              <a:t>, </a:t>
            </a:r>
            <a:r>
              <a:rPr>
                <a:solidFill>
                  <a:srgbClr val="4070A0"/>
                </a:solidFill>
                <a:latin typeface="Courier"/>
              </a:rPr>
              <a:t>"..."</a:t>
            </a:r>
            <a:r>
              <a:rPr>
                <a:latin typeface="Courier"/>
              </a:rPr>
              <a:t>),</a:t>
            </a:r>
            <a:br/>
            <a:r>
              <a:rPr>
                <a:latin typeface="Courier"/>
              </a:rPr>
              <a:t>  </a:t>
            </a:r>
            <a:r>
              <a:rPr>
                <a:solidFill>
                  <a:srgbClr val="7D9029"/>
                </a:solidFill>
                <a:latin typeface="Courier"/>
              </a:rPr>
              <a:t>sl_library  =</a:t>
            </a:r>
            <a:r>
              <a:rPr>
                <a:latin typeface="Courier"/>
              </a:rPr>
              <a:t> </a:t>
            </a:r>
            <a:r>
              <a:rPr>
                <a:solidFill>
                  <a:srgbClr val="06287E"/>
                </a:solidFill>
                <a:latin typeface="Courier"/>
              </a:rPr>
              <a:t>c</a:t>
            </a:r>
            <a:r>
              <a:rPr>
                <a:latin typeface="Courier"/>
              </a:rPr>
              <a:t>(</a:t>
            </a:r>
            <a:r>
              <a:rPr>
                <a:solidFill>
                  <a:srgbClr val="4070A0"/>
                </a:solidFill>
                <a:latin typeface="Courier"/>
              </a:rPr>
              <a:t>"SL.glm"</a:t>
            </a:r>
            <a:r>
              <a:rPr>
                <a:latin typeface="Courier"/>
              </a:rPr>
              <a:t>, </a:t>
            </a:r>
            <a:r>
              <a:rPr>
                <a:solidFill>
                  <a:srgbClr val="4070A0"/>
                </a:solidFill>
                <a:latin typeface="Courier"/>
              </a:rPr>
              <a:t>"SL.glmnet"</a:t>
            </a:r>
            <a:r>
              <a:rPr>
                <a:latin typeface="Courier"/>
              </a:rPr>
              <a:t>, </a:t>
            </a:r>
            <a:r>
              <a:rPr>
                <a:solidFill>
                  <a:srgbClr val="4070A0"/>
                </a:solidFill>
                <a:latin typeface="Courier"/>
              </a:rPr>
              <a:t>"SL.ranger"</a:t>
            </a:r>
            <a:r>
              <a:rPr>
                <a:latin typeface="Courier"/>
              </a:rPr>
              <a:t>),</a:t>
            </a:r>
            <a:br/>
            <a:r>
              <a:rPr>
                <a:latin typeface="Courier"/>
              </a:rPr>
              <a:t>  </a:t>
            </a:r>
            <a:r>
              <a:rPr>
                <a:solidFill>
                  <a:srgbClr val="7D9029"/>
                </a:solidFill>
                <a:latin typeface="Courier"/>
              </a:rPr>
              <a:t>seed        =</a:t>
            </a:r>
            <a:r>
              <a:rPr>
                <a:latin typeface="Courier"/>
              </a:rPr>
              <a:t> </a:t>
            </a:r>
            <a:r>
              <a:rPr>
                <a:solidFill>
                  <a:srgbClr val="40A070"/>
                </a:solidFill>
                <a:latin typeface="Courier"/>
              </a:rPr>
              <a:t>2026</a:t>
            </a:r>
            <a:br/>
            <a:r>
              <a:rPr>
                <a:latin typeface="Courier"/>
              </a:rPr>
              <a:t>)</a:t>
            </a:r>
          </a:p>
          <a:p>
            <a:pPr lvl="0" indent="0" marL="0">
              <a:buNone/>
            </a:pPr>
            <a:r>
              <a:rPr/>
              <a:t>The lock records the data shape, the covariate list, the learner library, and the seed.</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 Build a cohort-flow ledger</a:t>
            </a:r>
          </a:p>
        </p:txBody>
      </p:sp>
      <p:sp>
        <p:nvSpPr>
          <p:cNvPr id="3" name="Content Placeholder 2"/>
          <p:cNvSpPr>
            <a:spLocks noGrp="1"/>
          </p:cNvSpPr>
          <p:nvPr>
            <p:ph idx="1"/>
          </p:nvPr>
        </p:nvSpPr>
        <p:spPr/>
        <p:txBody>
          <a:bodyPr/>
          <a:lstStyle/>
          <a:p>
            <a:pPr lvl="0" indent="0" marL="0">
              <a:buNone/>
            </a:pPr>
            <a:r>
              <a:rPr>
                <a:latin typeface="Courier"/>
              </a:rPr>
              <a:t>attrition_table()</a:t>
            </a:r>
            <a:r>
              <a:rPr/>
              <a:t> records each inclusion and exclusion as a row, so the cohort flow is a code artefact rather than a separately maintained CONSORT figure.</a:t>
            </a:r>
          </a:p>
          <a:p>
            <a:pPr lvl="0" indent="0">
              <a:buNone/>
            </a:pPr>
            <a:r>
              <a:rPr>
                <a:latin typeface="Courier"/>
              </a:rPr>
              <a:t>attr_tbl </a:t>
            </a:r>
            <a:r>
              <a:rPr>
                <a:solidFill>
                  <a:srgbClr val="007020"/>
                </a:solidFill>
                <a:latin typeface="Courier"/>
              </a:rPr>
              <a:t>&lt;-</a:t>
            </a:r>
            <a:r>
              <a:rPr>
                <a:latin typeface="Courier"/>
              </a:rPr>
              <a:t> </a:t>
            </a:r>
            <a:r>
              <a:rPr>
                <a:solidFill>
                  <a:srgbClr val="06287E"/>
                </a:solidFill>
                <a:latin typeface="Courier"/>
              </a:rPr>
              <a:t>attrition_table</a:t>
            </a:r>
            <a:r>
              <a:rPr>
                <a:latin typeface="Courier"/>
              </a:rPr>
              <a:t>(</a:t>
            </a:r>
            <a:br/>
            <a:r>
              <a:rPr>
                <a:latin typeface="Courier"/>
              </a:rPr>
              <a:t>  raw_data, </a:t>
            </a:r>
            <a:r>
              <a:rPr>
                <a:solidFill>
                  <a:srgbClr val="7D9029"/>
                </a:solidFill>
                <a:latin typeface="Courier"/>
              </a:rPr>
              <a:t>rules =</a:t>
            </a: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"All trauma transports"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880000"/>
                </a:solidFill>
                <a:latin typeface="Courier"/>
              </a:rPr>
              <a:t>TRUE</a:t>
            </a:r>
            <a:r>
              <a:rPr>
                <a:latin typeface="Courier"/>
              </a:rPr>
              <a:t>,</a:t>
            </a:r>
            <a:br/>
            <a:r>
              <a:rPr>
                <a:latin typeface="Courier"/>
              </a:rPr>
              <a:t>    </a:t>
            </a:r>
            <a:r>
              <a:rPr>
                <a:solidFill>
                  <a:srgbClr val="4070A0"/>
                </a:solidFill>
                <a:latin typeface="Courier"/>
              </a:rPr>
              <a:t>"Ambulance arrivals"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arrival_mode </a:t>
            </a:r>
            <a:r>
              <a:rPr>
                <a:solidFill>
                  <a:srgbClr val="4070A0"/>
                </a:solidFill>
                <a:latin typeface="Courier"/>
              </a:rPr>
              <a:t>==</a:t>
            </a:r>
            <a:r>
              <a:rPr>
                <a:latin typeface="Courier"/>
              </a:rPr>
              <a:t> </a:t>
            </a:r>
            <a:r>
              <a:rPr>
                <a:solidFill>
                  <a:srgbClr val="4070A0"/>
                </a:solidFill>
                <a:latin typeface="Courier"/>
              </a:rPr>
              <a:t>"ambulance"</a:t>
            </a:r>
            <a:r>
              <a:rPr>
                <a:latin typeface="Courier"/>
              </a:rPr>
              <a:t>,</a:t>
            </a:r>
            <a:br/>
            <a:r>
              <a:rPr>
                <a:latin typeface="Courier"/>
              </a:rPr>
              <a:t>    </a:t>
            </a:r>
            <a:r>
              <a:rPr>
                <a:solidFill>
                  <a:srgbClr val="4070A0"/>
                </a:solidFill>
                <a:latin typeface="Courier"/>
              </a:rPr>
              <a:t>"Direct-from-scene"</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is_transfer,</a:t>
            </a:r>
            <a:br/>
            <a:r>
              <a:rPr>
                <a:latin typeface="Courier"/>
              </a:rPr>
              <a:t>    </a:t>
            </a:r>
            <a:r>
              <a:rPr>
                <a:solidFill>
                  <a:srgbClr val="4070A0"/>
                </a:solidFill>
                <a:latin typeface="Courier"/>
              </a:rPr>
              <a:t>"Within eligibility window"</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06287E"/>
                </a:solidFill>
                <a:latin typeface="Courier"/>
              </a:rPr>
              <a:t>between</a:t>
            </a:r>
            <a:r>
              <a:rPr>
                <a:latin typeface="Courier"/>
              </a:rPr>
              <a:t>(date, </a:t>
            </a:r>
            <a:r>
              <a:rPr>
                <a:solidFill>
                  <a:srgbClr val="4070A0"/>
                </a:solidFill>
                <a:latin typeface="Courier"/>
              </a:rPr>
              <a:t>"2018-01-01"</a:t>
            </a:r>
            <a:r>
              <a:rPr>
                <a:latin typeface="Courier"/>
              </a:rPr>
              <a:t>, </a:t>
            </a:r>
            <a:r>
              <a:rPr>
                <a:solidFill>
                  <a:srgbClr val="4070A0"/>
                </a:solidFill>
                <a:latin typeface="Courier"/>
              </a:rPr>
              <a:t>"2024-12-31"</a:t>
            </a:r>
            <a:r>
              <a:rPr>
                <a:latin typeface="Courier"/>
              </a:rPr>
              <a:t>),</a:t>
            </a:r>
            <a:br/>
            <a:r>
              <a:rPr>
                <a:latin typeface="Courier"/>
              </a:rPr>
              <a:t>    </a:t>
            </a:r>
            <a:r>
              <a:rPr>
                <a:solidFill>
                  <a:srgbClr val="4070A0"/>
                </a:solidFill>
                <a:latin typeface="Courier"/>
              </a:rPr>
              <a:t>"Analytic cohort"</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missing_baseline</a:t>
            </a:r>
            <a:br/>
            <a:r>
              <a:rPr>
                <a:latin typeface="Courier"/>
              </a:rPr>
              <a:t>  )</a:t>
            </a:r>
            <a:br/>
            <a:r>
              <a:rPr>
                <a:latin typeface="Courier"/>
              </a:rPr>
              <a:t>)</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 Classify the event process</a:t>
            </a:r>
          </a:p>
        </p:txBody>
      </p:sp>
      <p:sp>
        <p:nvSpPr>
          <p:cNvPr id="3" name="Content Placeholder 2"/>
          <p:cNvSpPr>
            <a:spLocks noGrp="1"/>
          </p:cNvSpPr>
          <p:nvPr>
            <p:ph idx="1"/>
          </p:nvPr>
        </p:nvSpPr>
        <p:spPr/>
        <p:txBody>
          <a:bodyPr/>
          <a:lstStyle/>
          <a:p>
            <a:pPr lvl="0" indent="0" marL="0">
              <a:buNone/>
            </a:pPr>
            <a:r>
              <a:rPr>
                <a:latin typeface="Courier"/>
              </a:rPr>
              <a:t>clean_event_process_table()</a:t>
            </a:r>
            <a:r>
              <a:rPr/>
              <a:t> writes down what each event-like quantity is: the outcome, a competing event, censoring, an exclusion, an intercurrent event, or the administrative end of follow-up.</a:t>
            </a:r>
          </a:p>
          <a:p>
            <a:pPr lvl="0" indent="0">
              <a:buNone/>
            </a:pPr>
            <a:r>
              <a:rPr>
                <a:latin typeface="Courier"/>
              </a:rPr>
              <a:t>events </a:t>
            </a:r>
            <a:r>
              <a:rPr>
                <a:solidFill>
                  <a:srgbClr val="007020"/>
                </a:solidFill>
                <a:latin typeface="Courier"/>
              </a:rPr>
              <a:t>&lt;-</a:t>
            </a:r>
            <a:r>
              <a:rPr>
                <a:latin typeface="Courier"/>
              </a:rPr>
              <a:t> </a:t>
            </a:r>
            <a:r>
              <a:rPr>
                <a:solidFill>
                  <a:srgbClr val="06287E"/>
                </a:solidFill>
                <a:latin typeface="Courier"/>
              </a:rPr>
              <a:t>clean_event_process_table</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missingness  =</a:t>
            </a:r>
            <a:r>
              <a:rPr>
                <a:latin typeface="Courier"/>
              </a:rPr>
              <a:t> </a:t>
            </a:r>
            <a:r>
              <a:rPr>
                <a:solidFill>
                  <a:srgbClr val="4070A0"/>
                </a:solidFill>
                <a:latin typeface="Courier"/>
              </a:rPr>
              <a:t>"gose_missing"</a:t>
            </a:r>
            <a:r>
              <a:rPr>
                <a:latin typeface="Courier"/>
              </a:rPr>
              <a:t>,</a:t>
            </a:r>
            <a:br/>
            <a:r>
              <a:rPr>
                <a:latin typeface="Courier"/>
              </a:rPr>
              <a:t>  </a:t>
            </a:r>
            <a:r>
              <a:rPr>
                <a:solidFill>
                  <a:srgbClr val="7D9029"/>
                </a:solidFill>
                <a:latin typeface="Courier"/>
              </a:rPr>
              <a:t>intercurrent =</a:t>
            </a:r>
            <a:r>
              <a:rPr>
                <a:latin typeface="Courier"/>
              </a:rPr>
              <a:t> </a:t>
            </a:r>
            <a:r>
              <a:rPr>
                <a:solidFill>
                  <a:srgbClr val="06287E"/>
                </a:solidFill>
                <a:latin typeface="Courier"/>
              </a:rPr>
              <a:t>list</a:t>
            </a:r>
            <a:r>
              <a:rPr>
                <a:latin typeface="Courier"/>
              </a:rPr>
              <a:t>(</a:t>
            </a:r>
            <a:r>
              <a:rPr>
                <a:solidFill>
                  <a:srgbClr val="4070A0"/>
                </a:solidFill>
                <a:latin typeface="Courier"/>
              </a:rPr>
              <a:t>"in-hospital death"</a:t>
            </a:r>
            <a:r>
              <a:rPr>
                <a:latin typeface="Courier"/>
              </a:rPr>
              <a:t> </a:t>
            </a:r>
            <a:r>
              <a:rPr>
                <a:solidFill>
                  <a:srgbClr val="007020"/>
                </a:solidFill>
                <a:latin typeface="Courier"/>
              </a:rPr>
              <a:t>=</a:t>
            </a:r>
            <a:r>
              <a:rPr>
                <a:latin typeface="Courier"/>
              </a:rPr>
              <a:t> </a:t>
            </a:r>
            <a:r>
              <a:rPr>
                <a:solidFill>
                  <a:srgbClr val="4070A0"/>
                </a:solidFill>
                <a:latin typeface="Courier"/>
              </a:rPr>
              <a:t>"worst-rank coded as GOSE = 1"</a:t>
            </a:r>
            <a:r>
              <a:rPr>
                <a:latin typeface="Courier"/>
              </a:rPr>
              <a:t>),</a:t>
            </a:r>
            <a:br/>
            <a:r>
              <a:rPr>
                <a:latin typeface="Courier"/>
              </a:rPr>
              <a:t>  </a:t>
            </a:r>
            <a:r>
              <a:rPr>
                <a:solidFill>
                  <a:srgbClr val="7D9029"/>
                </a:solidFill>
                <a:latin typeface="Courier"/>
              </a:rPr>
              <a:t>exclusions   =</a:t>
            </a:r>
            <a:r>
              <a:rPr>
                <a:latin typeface="Courier"/>
              </a:rPr>
              <a:t> </a:t>
            </a:r>
            <a:r>
              <a:rPr>
                <a:solidFill>
                  <a:srgbClr val="06287E"/>
                </a:solidFill>
                <a:latin typeface="Courier"/>
              </a:rPr>
              <a:t>list</a:t>
            </a:r>
            <a:r>
              <a:rPr>
                <a:latin typeface="Courier"/>
              </a:rPr>
              <a:t>(</a:t>
            </a:r>
            <a:r>
              <a:rPr>
                <a:solidFill>
                  <a:srgbClr val="4070A0"/>
                </a:solidFill>
                <a:latin typeface="Courier"/>
              </a:rPr>
              <a:t>"inter-facility transfer"</a:t>
            </a:r>
            <a:r>
              <a:rPr>
                <a:latin typeface="Courier"/>
              </a:rPr>
              <a:t> </a:t>
            </a:r>
            <a:r>
              <a:rPr>
                <a:solidFill>
                  <a:srgbClr val="007020"/>
                </a:solidFill>
                <a:latin typeface="Courier"/>
              </a:rPr>
              <a:t>=</a:t>
            </a:r>
            <a:r>
              <a:rPr>
                <a:latin typeface="Courier"/>
              </a:rPr>
              <a:t> </a:t>
            </a:r>
            <a:r>
              <a:rPr>
                <a:solidFill>
                  <a:srgbClr val="4070A0"/>
                </a:solidFill>
                <a:latin typeface="Courier"/>
              </a:rPr>
              <a:t>"is_transfer"</a:t>
            </a:r>
            <a:r>
              <a:rPr>
                <a:latin typeface="Courier"/>
              </a:rPr>
              <a:t>),</a:t>
            </a:r>
            <a:br/>
            <a:r>
              <a:rPr>
                <a:latin typeface="Courier"/>
              </a:rPr>
              <a:t>  </a:t>
            </a:r>
            <a:r>
              <a:rPr>
                <a:solidFill>
                  <a:srgbClr val="7D9029"/>
                </a:solidFill>
                <a:latin typeface="Courier"/>
              </a:rPr>
              <a:t>admin_end_fu =</a:t>
            </a:r>
            <a:r>
              <a:rPr>
                <a:latin typeface="Courier"/>
              </a:rPr>
              <a:t> </a:t>
            </a:r>
            <a:r>
              <a:rPr>
                <a:solidFill>
                  <a:srgbClr val="4070A0"/>
                </a:solidFill>
                <a:latin typeface="Courier"/>
              </a:rPr>
              <a:t>"180 days from index"</a:t>
            </a:r>
            <a:br/>
            <a:r>
              <a:rPr>
                <a:latin typeface="Courier"/>
              </a:rPr>
              <a:t>)</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 Cohort adequacy check</a:t>
            </a:r>
          </a:p>
        </p:txBody>
      </p:sp>
      <p:sp>
        <p:nvSpPr>
          <p:cNvPr id="3" name="Content Placeholder 2"/>
          <p:cNvSpPr>
            <a:spLocks noGrp="1"/>
          </p:cNvSpPr>
          <p:nvPr>
            <p:ph idx="1"/>
          </p:nvPr>
        </p:nvSpPr>
        <p:spPr/>
        <p:txBody>
          <a:bodyPr/>
          <a:lstStyle/>
          <a:p>
            <a:pPr lvl="0" indent="0" marL="0">
              <a:buNone/>
            </a:pPr>
            <a:r>
              <a:rPr/>
              <a:t>Before any modelling, check that the cohort has enough people and enough events to support the estimand. This is the first software-enforced checkpoint.</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create_audit_log</a:t>
            </a:r>
            <a:r>
              <a:rPr>
                <a:latin typeface="Courier"/>
              </a:rPr>
              <a:t>(lock)</a:t>
            </a:r>
            <a:br/>
            <a:r>
              <a:rPr>
                <a:latin typeface="Courier"/>
              </a:rPr>
              <a:t>cp1   </a:t>
            </a:r>
            <a:r>
              <a:rPr>
                <a:solidFill>
                  <a:srgbClr val="007020"/>
                </a:solidFill>
                <a:latin typeface="Courier"/>
              </a:rPr>
              <a:t>&lt;-</a:t>
            </a:r>
            <a:r>
              <a:rPr>
                <a:latin typeface="Courier"/>
              </a:rPr>
              <a:t> </a:t>
            </a:r>
            <a:r>
              <a:rPr>
                <a:solidFill>
                  <a:srgbClr val="06287E"/>
                </a:solidFill>
                <a:latin typeface="Courier"/>
              </a:rPr>
              <a:t>checkpoint_cohort_adequacy</a:t>
            </a:r>
            <a:r>
              <a:rPr>
                <a:latin typeface="Courier"/>
              </a:rPr>
              <a:t>(</a:t>
            </a:r>
            <a:br/>
            <a:r>
              <a:rPr>
                <a:latin typeface="Courier"/>
              </a:rPr>
              <a:t>  lock,</a:t>
            </a:r>
            <a:br/>
            <a:r>
              <a:rPr>
                <a:latin typeface="Courier"/>
              </a:rPr>
              <a:t>  </a:t>
            </a:r>
            <a:r>
              <a:rPr>
                <a:solidFill>
                  <a:srgbClr val="7D9029"/>
                </a:solidFill>
                <a:latin typeface="Courier"/>
              </a:rPr>
              <a:t>min_n_per_arm =</a:t>
            </a:r>
            <a:r>
              <a:rPr>
                <a:latin typeface="Courier"/>
              </a:rPr>
              <a:t> </a:t>
            </a:r>
            <a:r>
              <a:rPr>
                <a:solidFill>
                  <a:srgbClr val="40A070"/>
                </a:solidFill>
                <a:latin typeface="Courier"/>
              </a:rPr>
              <a:t>200</a:t>
            </a:r>
            <a:r>
              <a:rPr>
                <a:latin typeface="Courier"/>
              </a:rPr>
              <a:t>,</a:t>
            </a:r>
            <a:br/>
            <a:r>
              <a:rPr>
                <a:latin typeface="Courier"/>
              </a:rPr>
              <a:t>  </a:t>
            </a:r>
            <a:r>
              <a:rPr>
                <a:solidFill>
                  <a:srgbClr val="7D9029"/>
                </a:solidFill>
                <a:latin typeface="Courier"/>
              </a:rPr>
              <a:t>min_events    =</a:t>
            </a:r>
            <a:r>
              <a:rPr>
                <a:latin typeface="Courier"/>
              </a:rPr>
              <a:t> </a:t>
            </a:r>
            <a:r>
              <a:rPr>
                <a:solidFill>
                  <a:srgbClr val="40A070"/>
                </a:solidFill>
                <a:latin typeface="Courier"/>
              </a:rPr>
              <a:t>50</a:t>
            </a:r>
            <a:br/>
            <a:r>
              <a:rPr>
                <a:latin typeface="Courier"/>
              </a:rPr>
              <a:t>)</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cp1)</a:t>
            </a:r>
          </a:p>
          <a:p>
            <a:pPr lvl="0" indent="0" marL="0">
              <a:buNone/>
            </a:pPr>
            <a:r>
              <a:rPr/>
              <a:t>If the threshold is missed, the checkpoint returns FLAG or STOP and the reviewer sees it.</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 Design diagnostics (propensity score)</a:t>
            </a:r>
          </a:p>
        </p:txBody>
      </p:sp>
      <p:sp>
        <p:nvSpPr>
          <p:cNvPr id="3" name="Content Placeholder 2"/>
          <p:cNvSpPr>
            <a:spLocks noGrp="1"/>
          </p:cNvSpPr>
          <p:nvPr>
            <p:ph idx="1"/>
          </p:nvPr>
        </p:nvSpPr>
        <p:spPr/>
        <p:txBody>
          <a:bodyPr/>
          <a:lstStyle/>
          <a:p>
            <a:pPr lvl="0" indent="0" marL="0">
              <a:buNone/>
            </a:pPr>
            <a:r>
              <a:rPr/>
              <a:t>Fit the propensity score and produce overlap and balance diagnostics. The fit uses the locked SuperLearner library.</a:t>
            </a:r>
          </a:p>
          <a:p>
            <a:pPr lvl="0" indent="0">
              <a:buNone/>
            </a:pPr>
            <a:r>
              <a:rPr>
                <a:latin typeface="Courier"/>
              </a:rPr>
              <a:t>ps      </a:t>
            </a:r>
            <a:r>
              <a:rPr>
                <a:solidFill>
                  <a:srgbClr val="007020"/>
                </a:solidFill>
                <a:latin typeface="Courier"/>
              </a:rPr>
              <a:t>&lt;-</a:t>
            </a:r>
            <a:r>
              <a:rPr>
                <a:latin typeface="Courier"/>
              </a:rPr>
              <a:t> </a:t>
            </a:r>
            <a:r>
              <a:rPr>
                <a:solidFill>
                  <a:srgbClr val="06287E"/>
                </a:solidFill>
                <a:latin typeface="Courier"/>
              </a:rPr>
              <a:t>fit_ps_superlearner</a:t>
            </a:r>
            <a:r>
              <a:rPr>
                <a:latin typeface="Courier"/>
              </a:rPr>
              <a:t>(lock)</a:t>
            </a:r>
            <a:br/>
            <a:r>
              <a:rPr>
                <a:latin typeface="Courier"/>
              </a:rPr>
              <a:t>ps_diag </a:t>
            </a:r>
            <a:r>
              <a:rPr>
                <a:solidFill>
                  <a:srgbClr val="007020"/>
                </a:solidFill>
                <a:latin typeface="Courier"/>
              </a:rPr>
              <a:t>&lt;-</a:t>
            </a:r>
            <a:r>
              <a:rPr>
                <a:latin typeface="Courier"/>
              </a:rPr>
              <a:t> </a:t>
            </a:r>
            <a:r>
              <a:rPr>
                <a:solidFill>
                  <a:srgbClr val="06287E"/>
                </a:solidFill>
                <a:latin typeface="Courier"/>
              </a:rPr>
              <a:t>compute_ps_diagnostics</a:t>
            </a:r>
            <a:r>
              <a:rPr>
                <a:latin typeface="Courier"/>
              </a:rPr>
              <a:t>(ps)</a:t>
            </a:r>
            <a:br/>
            <a:r>
              <a:rPr>
                <a:solidFill>
                  <a:srgbClr val="06287E"/>
                </a:solidFill>
                <a:latin typeface="Courier"/>
              </a:rPr>
              <a:t>plot</a:t>
            </a:r>
            <a:r>
              <a:rPr>
                <a:latin typeface="Courier"/>
              </a:rPr>
              <a:t>(ps_diag)                          </a:t>
            </a:r>
            <a:r>
              <a:rPr i="1">
                <a:solidFill>
                  <a:srgbClr val="60A0B0"/>
                </a:solidFill>
                <a:latin typeface="Courier"/>
              </a:rPr>
              <a:t># overlap density</a:t>
            </a:r>
            <a:br/>
            <a:r>
              <a:rPr>
                <a:solidFill>
                  <a:srgbClr val="06287E"/>
                </a:solidFill>
                <a:latin typeface="Courier"/>
              </a:rPr>
              <a:t>love_plot_threeway</a:t>
            </a:r>
            <a:r>
              <a:rPr>
                <a:latin typeface="Courier"/>
              </a:rPr>
              <a:t>(lock, ps</a:t>
            </a:r>
            <a:r>
              <a:rPr>
                <a:solidFill>
                  <a:srgbClr val="4070A0"/>
                </a:solidFill>
                <a:latin typeface="Courier"/>
              </a:rPr>
              <a:t>$</a:t>
            </a:r>
            <a:r>
              <a:rPr>
                <a:latin typeface="Courier"/>
              </a:rPr>
              <a:t>weights)   </a:t>
            </a:r>
            <a:r>
              <a:rPr i="1">
                <a:solidFill>
                  <a:srgbClr val="60A0B0"/>
                </a:solidFill>
                <a:latin typeface="Courier"/>
              </a:rPr>
              <a:t># SMDs: unweighted vs matched vs IPTW</a:t>
            </a:r>
          </a:p>
          <a:p>
            <a:pPr lvl="0" indent="0" marL="0">
              <a:buNone/>
            </a:pPr>
            <a:r>
              <a:rPr/>
              <a:t>The reviewer sees the overlap density and the three-way Love plot before authorisation.</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7 — Weight diagnostics</a:t>
            </a:r>
          </a:p>
        </p:txBody>
      </p:sp>
      <p:sp>
        <p:nvSpPr>
          <p:cNvPr id="3" name="Content Placeholder 2"/>
          <p:cNvSpPr>
            <a:spLocks noGrp="1"/>
          </p:cNvSpPr>
          <p:nvPr>
            <p:ph idx="1"/>
          </p:nvPr>
        </p:nvSpPr>
        <p:spPr/>
        <p:txBody>
          <a:bodyPr/>
          <a:lstStyle/>
          <a:p>
            <a:pPr lvl="0" indent="0" marL="0">
              <a:buNone/>
            </a:pPr>
            <a:r>
              <a:rPr/>
              <a:t>Standardised treatment weights and IPCW weights are reviewed for stability and effective sample size. This is the weight equivalent of the cohort-adequacy check.</a:t>
            </a:r>
          </a:p>
          <a:p>
            <a:pPr lvl="0" indent="0">
              <a:buNone/>
            </a:pPr>
            <a:r>
              <a:rPr>
                <a:latin typeface="Courier"/>
              </a:rPr>
              <a:t>weight_diag </a:t>
            </a:r>
            <a:r>
              <a:rPr>
                <a:solidFill>
                  <a:srgbClr val="007020"/>
                </a:solidFill>
                <a:latin typeface="Courier"/>
              </a:rPr>
              <a:t>&lt;-</a:t>
            </a:r>
            <a:r>
              <a:rPr>
                <a:latin typeface="Courier"/>
              </a:rPr>
              <a:t> </a:t>
            </a:r>
            <a:r>
              <a:rPr>
                <a:solidFill>
                  <a:srgbClr val="06287E"/>
                </a:solidFill>
                <a:latin typeface="Courier"/>
              </a:rPr>
              <a:t>clean_weight_diagnostics</a:t>
            </a:r>
            <a:r>
              <a:rPr>
                <a:latin typeface="Courier"/>
              </a:rPr>
              <a:t>(</a:t>
            </a:r>
            <a:br/>
            <a:r>
              <a:rPr>
                <a:latin typeface="Courier"/>
              </a:rPr>
              <a:t>  </a:t>
            </a:r>
            <a:r>
              <a:rPr>
                <a:solidFill>
                  <a:srgbClr val="7D9029"/>
                </a:solidFill>
                <a:latin typeface="Courier"/>
              </a:rPr>
              <a:t>weights    =</a:t>
            </a:r>
            <a:r>
              <a:rPr>
                <a:latin typeface="Courier"/>
              </a:rPr>
              <a:t> ps</a:t>
            </a:r>
            <a:r>
              <a:rPr>
                <a:solidFill>
                  <a:srgbClr val="4070A0"/>
                </a:solidFill>
                <a:latin typeface="Courier"/>
              </a:rPr>
              <a:t>$</a:t>
            </a:r>
            <a:r>
              <a:rPr>
                <a:latin typeface="Courier"/>
              </a:rPr>
              <a:t>weights,</a:t>
            </a:r>
            <a:br/>
            <a:r>
              <a:rPr>
                <a:latin typeface="Courier"/>
              </a:rPr>
              <a:t>  </a:t>
            </a:r>
            <a:r>
              <a:rPr>
                <a:solidFill>
                  <a:srgbClr val="7D9029"/>
                </a:solidFill>
                <a:latin typeface="Courier"/>
              </a:rPr>
              <a:t>treatment  =</a:t>
            </a:r>
            <a:r>
              <a:rPr>
                <a:latin typeface="Courier"/>
              </a:rPr>
              <a:t> lock</a:t>
            </a:r>
            <a:r>
              <a:rPr>
                <a:solidFill>
                  <a:srgbClr val="4070A0"/>
                </a:solidFill>
                <a:latin typeface="Courier"/>
              </a:rPr>
              <a:t>$</a:t>
            </a:r>
            <a:r>
              <a:rPr>
                <a:latin typeface="Courier"/>
              </a:rPr>
              <a:t>data[[lock</a:t>
            </a:r>
            <a:r>
              <a:rPr>
                <a:solidFill>
                  <a:srgbClr val="4070A0"/>
                </a:solidFill>
                <a:latin typeface="Courier"/>
              </a:rPr>
              <a:t>$</a:t>
            </a:r>
            <a:r>
              <a:rPr>
                <a:latin typeface="Courier"/>
              </a:rPr>
              <a:t>treatment]],</a:t>
            </a:r>
            <a:br/>
            <a:r>
              <a:rPr>
                <a:latin typeface="Courier"/>
              </a:rPr>
              <a:t>  </a:t>
            </a:r>
            <a:r>
              <a:rPr>
                <a:solidFill>
                  <a:srgbClr val="7D9029"/>
                </a:solidFill>
                <a:latin typeface="Courier"/>
              </a:rPr>
              <a:t>covariates =</a:t>
            </a:r>
            <a:r>
              <a:rPr>
                <a:latin typeface="Courier"/>
              </a:rPr>
              <a:t> lock</a:t>
            </a:r>
            <a:r>
              <a:rPr>
                <a:solidFill>
                  <a:srgbClr val="4070A0"/>
                </a:solidFill>
                <a:latin typeface="Courier"/>
              </a:rPr>
              <a:t>$</a:t>
            </a:r>
            <a:r>
              <a:rPr>
                <a:latin typeface="Courier"/>
              </a:rPr>
              <a:t>data[, lock</a:t>
            </a:r>
            <a:r>
              <a:rPr>
                <a:solidFill>
                  <a:srgbClr val="4070A0"/>
                </a:solidFill>
                <a:latin typeface="Courier"/>
              </a:rPr>
              <a:t>$</a:t>
            </a:r>
            <a:r>
              <a:rPr>
                <a:latin typeface="Courier"/>
              </a:rPr>
              <a:t>covariates]</a:t>
            </a:r>
            <a:br/>
            <a:r>
              <a:rPr>
                <a:latin typeface="Courier"/>
              </a:rPr>
              <a:t>)</a:t>
            </a:r>
            <a:br/>
            <a:r>
              <a:rPr>
                <a:solidFill>
                  <a:srgbClr val="06287E"/>
                </a:solidFill>
                <a:latin typeface="Courier"/>
              </a:rPr>
              <a:t>extreme_weights</a:t>
            </a:r>
            <a:r>
              <a:rPr>
                <a:latin typeface="Courier"/>
              </a:rPr>
              <a:t>(ps</a:t>
            </a:r>
            <a:r>
              <a:rPr>
                <a:solidFill>
                  <a:srgbClr val="4070A0"/>
                </a:solidFill>
                <a:latin typeface="Courier"/>
              </a:rPr>
              <a:t>$</a:t>
            </a:r>
            <a:r>
              <a:rPr>
                <a:latin typeface="Courier"/>
              </a:rPr>
              <a:t>weights, </a:t>
            </a:r>
            <a:r>
              <a:rPr>
                <a:solidFill>
                  <a:srgbClr val="7D9029"/>
                </a:solidFill>
                <a:latin typeface="Courier"/>
              </a:rPr>
              <a:t>top_n =</a:t>
            </a:r>
            <a:r>
              <a:rPr>
                <a:latin typeface="Courier"/>
              </a:rPr>
              <a:t> </a:t>
            </a:r>
            <a:r>
              <a:rPr>
                <a:solidFill>
                  <a:srgbClr val="40A070"/>
                </a:solidFill>
                <a:latin typeface="Courier"/>
              </a:rPr>
              <a:t>10</a:t>
            </a:r>
            <a:r>
              <a:rPr>
                <a:latin typeface="Courier"/>
              </a:rPr>
              <a:t>)</a:t>
            </a:r>
            <a:br/>
            <a:r>
              <a:rPr>
                <a:latin typeface="Courier"/>
              </a:rPr>
              <a:t>cp2 </a:t>
            </a:r>
            <a:r>
              <a:rPr>
                <a:solidFill>
                  <a:srgbClr val="007020"/>
                </a:solidFill>
                <a:latin typeface="Courier"/>
              </a:rPr>
              <a:t>&lt;-</a:t>
            </a:r>
            <a:r>
              <a:rPr>
                <a:latin typeface="Courier"/>
              </a:rPr>
              <a:t> </a:t>
            </a:r>
            <a:r>
              <a:rPr>
                <a:solidFill>
                  <a:srgbClr val="06287E"/>
                </a:solidFill>
                <a:latin typeface="Courier"/>
              </a:rPr>
              <a:t>checkpoint_balance</a:t>
            </a:r>
            <a:r>
              <a:rPr>
                <a:latin typeface="Courier"/>
              </a:rPr>
              <a:t>(ps_diag, </a:t>
            </a:r>
            <a:r>
              <a:rPr>
                <a:solidFill>
                  <a:srgbClr val="7D9029"/>
                </a:solidFill>
                <a:latin typeface="Courier"/>
              </a:rPr>
              <a:t>max_smd =</a:t>
            </a:r>
            <a:r>
              <a:rPr>
                <a:latin typeface="Courier"/>
              </a:rPr>
              <a:t> </a:t>
            </a:r>
            <a:r>
              <a:rPr>
                <a:solidFill>
                  <a:srgbClr val="40A070"/>
                </a:solidFill>
                <a:latin typeface="Courier"/>
              </a:rPr>
              <a:t>0.10</a:t>
            </a:r>
            <a:r>
              <a:rPr>
                <a:latin typeface="Courier"/>
              </a:rPr>
              <a:t>, </a:t>
            </a:r>
            <a:r>
              <a:rPr>
                <a:solidFill>
                  <a:srgbClr val="7D9029"/>
                </a:solidFill>
                <a:latin typeface="Courier"/>
              </a:rPr>
              <a:t>lock_hash =</a:t>
            </a:r>
            <a:r>
              <a:rPr>
                <a:latin typeface="Courier"/>
              </a:rPr>
              <a:t> lock</a:t>
            </a:r>
            <a:r>
              <a:rPr>
                <a:solidFill>
                  <a:srgbClr val="4070A0"/>
                </a:solidFill>
                <a:latin typeface="Courier"/>
              </a:rPr>
              <a:t>$</a:t>
            </a:r>
            <a:r>
              <a:rPr>
                <a:latin typeface="Courier"/>
              </a:rPr>
              <a:t>lock_hash)</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cp2)</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8 — Baseline plasmode candidate selection</a:t>
            </a:r>
          </a:p>
        </p:txBody>
      </p:sp>
      <p:sp>
        <p:nvSpPr>
          <p:cNvPr id="3" name="Content Placeholder 2"/>
          <p:cNvSpPr>
            <a:spLocks noGrp="1"/>
          </p:cNvSpPr>
          <p:nvPr>
            <p:ph idx="1"/>
          </p:nvPr>
        </p:nvSpPr>
        <p:spPr/>
        <p:txBody>
          <a:bodyPr/>
          <a:lstStyle/>
          <a:p>
            <a:pPr lvl="0" indent="0" marL="0">
              <a:buNone/>
            </a:pPr>
            <a:r>
              <a:rPr/>
              <a:t>Two candidate TMLE specifications are compared on a synthetic outcome generated from the real covariate and treatment structure. The candidate-selection rule is locked in advance.</a:t>
            </a:r>
          </a:p>
          <a:p>
            <a:pPr lvl="0" indent="0">
              <a:buNone/>
            </a:pPr>
            <a:r>
              <a:rPr>
                <a:latin typeface="Courier"/>
              </a:rPr>
              <a:t>candidates </a:t>
            </a:r>
            <a:r>
              <a:rPr>
                <a:solidFill>
                  <a:srgbClr val="007020"/>
                </a:solidFill>
                <a:latin typeface="Courier"/>
              </a:rPr>
              <a:t>&lt;-</a:t>
            </a:r>
            <a:r>
              <a:rPr>
                <a:latin typeface="Courier"/>
              </a:rPr>
              <a:t> </a:t>
            </a:r>
            <a:r>
              <a:rPr>
                <a:solidFill>
                  <a:srgbClr val="06287E"/>
                </a:solidFill>
                <a:latin typeface="Courier"/>
              </a:rPr>
              <a:t>list</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"glm_t01"</a:t>
            </a:r>
            <a:r>
              <a:rPr>
                <a:latin typeface="Courier"/>
              </a:rPr>
              <a:t>, </a:t>
            </a:r>
            <a:r>
              <a:rPr>
                <a:solidFill>
                  <a:srgbClr val="4070A0"/>
                </a:solidFill>
                <a:latin typeface="Courier"/>
              </a:rPr>
              <a:t>"GLM PS, trunc = 0.01"</a:t>
            </a:r>
            <a:r>
              <a:rPr>
                <a:latin typeface="Courier"/>
              </a:rPr>
              <a:t>, </a:t>
            </a:r>
            <a:r>
              <a:rPr>
                <a:solidFill>
                  <a:srgbClr val="7D9029"/>
                </a:solidFill>
                <a:latin typeface="Courier"/>
              </a:rPr>
              <a:t>truncation =</a:t>
            </a:r>
            <a:r>
              <a:rPr>
                <a:latin typeface="Courier"/>
              </a:rPr>
              <a:t> </a:t>
            </a:r>
            <a:r>
              <a:rPr>
                <a:solidFill>
                  <a:srgbClr val="40A070"/>
                </a:solidFill>
                <a:latin typeface="Courier"/>
              </a:rPr>
              <a:t>0.01</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"glm_t05"</a:t>
            </a:r>
            <a:r>
              <a:rPr>
                <a:latin typeface="Courier"/>
              </a:rPr>
              <a:t>, </a:t>
            </a:r>
            <a:r>
              <a:rPr>
                <a:solidFill>
                  <a:srgbClr val="4070A0"/>
                </a:solidFill>
                <a:latin typeface="Courier"/>
              </a:rPr>
              <a:t>"GLM PS, trunc = 0.05"</a:t>
            </a:r>
            <a:r>
              <a:rPr>
                <a:latin typeface="Courier"/>
              </a:rPr>
              <a:t>, </a:t>
            </a:r>
            <a:r>
              <a:rPr>
                <a:solidFill>
                  <a:srgbClr val="7D9029"/>
                </a:solidFill>
                <a:latin typeface="Courier"/>
              </a:rPr>
              <a:t>truncation =</a:t>
            </a:r>
            <a:r>
              <a:rPr>
                <a:latin typeface="Courier"/>
              </a:rPr>
              <a:t> </a:t>
            </a:r>
            <a:r>
              <a:rPr>
                <a:solidFill>
                  <a:srgbClr val="40A070"/>
                </a:solidFill>
                <a:latin typeface="Courier"/>
              </a:rPr>
              <a:t>0.05</a:t>
            </a:r>
            <a:r>
              <a:rPr>
                <a:latin typeface="Courier"/>
              </a:rPr>
              <a:t>)</a:t>
            </a:r>
            <a:br/>
            <a:r>
              <a:rPr>
                <a:latin typeface="Courier"/>
              </a:rPr>
              <a:t>)</a:t>
            </a:r>
            <a:br/>
            <a:r>
              <a:rPr>
                <a:latin typeface="Courier"/>
              </a:rPr>
              <a:t>plas </a:t>
            </a:r>
            <a:r>
              <a:rPr>
                <a:solidFill>
                  <a:srgbClr val="007020"/>
                </a:solidFill>
                <a:latin typeface="Courier"/>
              </a:rPr>
              <a:t>&lt;-</a:t>
            </a:r>
            <a:r>
              <a:rPr>
                <a:latin typeface="Courier"/>
              </a:rPr>
              <a:t> </a:t>
            </a:r>
            <a:r>
              <a:rPr>
                <a:solidFill>
                  <a:srgbClr val="06287E"/>
                </a:solidFill>
                <a:latin typeface="Courier"/>
              </a:rPr>
              <a:t>run_plasmode_feasibility</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effect_sizes    =</a:t>
            </a:r>
            <a:r>
              <a:rPr>
                <a:latin typeface="Courier"/>
              </a:rPr>
              <a:t> </a:t>
            </a:r>
            <a:r>
              <a:rPr>
                <a:solidFill>
                  <a:srgbClr val="06287E"/>
                </a:solidFill>
                <a:latin typeface="Courier"/>
              </a:rPr>
              <a:t>c</a:t>
            </a:r>
            <a:r>
              <a:rPr>
                <a:latin typeface="Courier"/>
              </a:rPr>
              <a:t>(</a:t>
            </a:r>
            <a:r>
              <a:rPr>
                <a:solidFill>
                  <a:srgbClr val="40A070"/>
                </a:solidFill>
                <a:latin typeface="Courier"/>
              </a:rPr>
              <a:t>0.03</a:t>
            </a:r>
            <a:r>
              <a:rPr>
                <a:latin typeface="Courier"/>
              </a:rPr>
              <a:t>, </a:t>
            </a:r>
            <a:r>
              <a:rPr>
                <a:solidFill>
                  <a:srgbClr val="40A070"/>
                </a:solidFill>
                <a:latin typeface="Courier"/>
              </a:rPr>
              <a:t>0.05</a:t>
            </a:r>
            <a:r>
              <a:rPr>
                <a:latin typeface="Courier"/>
              </a:rPr>
              <a:t>),</a:t>
            </a:r>
            <a:br/>
            <a:r>
              <a:rPr>
                <a:latin typeface="Courier"/>
              </a:rPr>
              <a:t>  </a:t>
            </a:r>
            <a:r>
              <a:rPr>
                <a:solidFill>
                  <a:srgbClr val="7D9029"/>
                </a:solidFill>
                <a:latin typeface="Courier"/>
              </a:rPr>
              <a:t>reps            =</a:t>
            </a:r>
            <a:r>
              <a:rPr>
                <a:latin typeface="Courier"/>
              </a:rPr>
              <a:t> </a:t>
            </a:r>
            <a:r>
              <a:rPr>
                <a:solidFill>
                  <a:srgbClr val="40A070"/>
                </a:solidFill>
                <a:latin typeface="Courier"/>
              </a:rPr>
              <a:t>200</a:t>
            </a:r>
            <a:br/>
            <a:r>
              <a:rPr>
                <a:latin typeface="Courier"/>
              </a:rPr>
              <a:t>)</a:t>
            </a:r>
          </a:p>
          <a:p>
            <a:pPr lvl="0" indent="0" marL="0">
              <a:buNone/>
            </a:pPr>
            <a:r>
              <a:rPr/>
              <a:t>This is the first place where a “results-like” number appears, but the outcome involved is synthetic, not the real outcome.</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9 — Data-quality stress test</a:t>
            </a:r>
          </a:p>
        </p:txBody>
      </p:sp>
      <p:sp>
        <p:nvSpPr>
          <p:cNvPr id="3" name="Content Placeholder 2"/>
          <p:cNvSpPr>
            <a:spLocks noGrp="1"/>
          </p:cNvSpPr>
          <p:nvPr>
            <p:ph idx="1"/>
          </p:nvPr>
        </p:nvSpPr>
        <p:spPr/>
        <p:txBody>
          <a:bodyPr/>
          <a:lstStyle/>
          <a:p>
            <a:pPr lvl="0" indent="0" marL="0">
              <a:buNone/>
            </a:pPr>
            <a:r>
              <a:rPr/>
              <a:t>Repeat the same simulation under prespecified data-quality threats. The minimax rule chooses the candidate that performs best in its worst-case scenario.</a:t>
            </a:r>
          </a:p>
          <a:p>
            <a:pPr lvl="0" indent="0">
              <a:buNone/>
            </a:pPr>
            <a:r>
              <a:rPr>
                <a:latin typeface="Courier"/>
              </a:rPr>
              <a:t>dq_results </a:t>
            </a:r>
            <a:r>
              <a:rPr>
                <a:solidFill>
                  <a:srgbClr val="007020"/>
                </a:solidFill>
                <a:latin typeface="Courier"/>
              </a:rPr>
              <a:t>&lt;-</a:t>
            </a:r>
            <a:r>
              <a:rPr>
                <a:latin typeface="Courier"/>
              </a:rPr>
              <a:t> </a:t>
            </a:r>
            <a:r>
              <a:rPr>
                <a:solidFill>
                  <a:srgbClr val="06287E"/>
                </a:solidFill>
                <a:latin typeface="Courier"/>
              </a:rPr>
              <a:t>run_plasmode_dq_stress</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scenarios       =</a:t>
            </a:r>
            <a:r>
              <a:rPr>
                <a:latin typeface="Courier"/>
              </a:rPr>
              <a:t> </a:t>
            </a:r>
            <a:r>
              <a:rPr>
                <a:solidFill>
                  <a:srgbClr val="06287E"/>
                </a:solidFill>
                <a:latin typeface="Courier"/>
              </a:rPr>
              <a:t>default_dq_scenarios</a:t>
            </a:r>
            <a:r>
              <a:rPr>
                <a:latin typeface="Courier"/>
              </a:rPr>
              <a:t>(),  </a:t>
            </a:r>
            <a:r>
              <a:rPr i="1">
                <a:solidFill>
                  <a:srgbClr val="60A0B0"/>
                </a:solidFill>
                <a:latin typeface="Courier"/>
              </a:rPr>
              <a:t># missingness, exposure &amp; outcome misclass, latent U</a:t>
            </a:r>
            <a:br/>
            <a:r>
              <a:rPr>
                <a:latin typeface="Courier"/>
              </a:rPr>
              <a:t>  </a:t>
            </a:r>
            <a:r>
              <a:rPr>
                <a:solidFill>
                  <a:srgbClr val="7D9029"/>
                </a:solidFill>
                <a:latin typeface="Courier"/>
              </a:rPr>
              <a:t>n_reps          =</a:t>
            </a:r>
            <a:r>
              <a:rPr>
                <a:latin typeface="Courier"/>
              </a:rPr>
              <a:t> </a:t>
            </a:r>
            <a:r>
              <a:rPr>
                <a:solidFill>
                  <a:srgbClr val="40A070"/>
                </a:solidFill>
                <a:latin typeface="Courier"/>
              </a:rPr>
              <a:t>200</a:t>
            </a:r>
            <a:br/>
            <a:r>
              <a:rPr>
                <a:latin typeface="Courier"/>
              </a:rPr>
              <a:t>)</a:t>
            </a:r>
            <a:br/>
            <a:r>
              <a:rPr>
                <a:latin typeface="Courier"/>
              </a:rPr>
              <a:t>selected </a:t>
            </a:r>
            <a:r>
              <a:rPr>
                <a:solidFill>
                  <a:srgbClr val="007020"/>
                </a:solidFill>
                <a:latin typeface="Courier"/>
              </a:rPr>
              <a:t>&lt;-</a:t>
            </a:r>
            <a:r>
              <a:rPr>
                <a:latin typeface="Courier"/>
              </a:rPr>
              <a:t> </a:t>
            </a:r>
            <a:r>
              <a:rPr>
                <a:solidFill>
                  <a:srgbClr val="06287E"/>
                </a:solidFill>
                <a:latin typeface="Courier"/>
              </a:rPr>
              <a:t>select_tmle_candidate</a:t>
            </a:r>
            <a:r>
              <a:rPr>
                <a:latin typeface="Courier"/>
              </a:rPr>
              <a:t>(plas, </a:t>
            </a:r>
            <a:r>
              <a:rPr>
                <a:solidFill>
                  <a:srgbClr val="7D9029"/>
                </a:solidFill>
                <a:latin typeface="Courier"/>
              </a:rPr>
              <a:t>rule =</a:t>
            </a:r>
            <a:r>
              <a:rPr>
                <a:latin typeface="Courier"/>
              </a:rPr>
              <a:t> </a:t>
            </a:r>
            <a:r>
              <a:rPr>
                <a:solidFill>
                  <a:srgbClr val="4070A0"/>
                </a:solidFill>
                <a:latin typeface="Courier"/>
              </a:rPr>
              <a:t>"min_max_rmse"</a:t>
            </a:r>
            <a:r>
              <a:rPr>
                <a:latin typeface="Courier"/>
              </a:rPr>
              <a:t>,</a:t>
            </a:r>
            <a:br/>
            <a:r>
              <a:rPr>
                <a:latin typeface="Courier"/>
              </a:rPr>
              <a:t>                                  </a:t>
            </a:r>
            <a:r>
              <a:rPr>
                <a:solidFill>
                  <a:srgbClr val="7D9029"/>
                </a:solidFill>
                <a:latin typeface="Courier"/>
              </a:rPr>
              <a:t>dq_results =</a:t>
            </a:r>
            <a:r>
              <a:rPr>
                <a:latin typeface="Courier"/>
              </a:rPr>
              <a:t> dq_results)</a:t>
            </a:r>
          </a:p>
          <a:p>
            <a:pPr lvl="0" indent="0" marL="0">
              <a:buNone/>
            </a:pPr>
            <a:r>
              <a:rPr>
                <a:latin typeface="Courier"/>
              </a:rPr>
              <a:t>selected</a:t>
            </a:r>
            <a:r>
              <a:rPr/>
              <a:t> is the locked primary specification.</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10 — Negative-control screen</a:t>
            </a:r>
          </a:p>
        </p:txBody>
      </p:sp>
      <p:sp>
        <p:nvSpPr>
          <p:cNvPr id="3" name="Content Placeholder 2"/>
          <p:cNvSpPr>
            <a:spLocks noGrp="1"/>
          </p:cNvSpPr>
          <p:nvPr>
            <p:ph idx="1"/>
          </p:nvPr>
        </p:nvSpPr>
        <p:spPr/>
        <p:txBody>
          <a:bodyPr/>
          <a:lstStyle/>
          <a:p>
            <a:pPr lvl="0" indent="0" marL="0">
              <a:buNone/>
            </a:pPr>
            <a:r>
              <a:rPr/>
              <a:t>A small panel of pre-treatment outcomes that should not be affected by the exposure. This is a different probe of residual confounding from what plasmode or stress testing can give.</a:t>
            </a:r>
          </a:p>
          <a:p>
            <a:pPr lvl="0" indent="0">
              <a:buNone/>
            </a:pPr>
            <a:r>
              <a:rPr>
                <a:latin typeface="Courier"/>
              </a:rPr>
              <a:t>nc_results </a:t>
            </a:r>
            <a:r>
              <a:rPr>
                <a:solidFill>
                  <a:srgbClr val="007020"/>
                </a:solidFill>
                <a:latin typeface="Courier"/>
              </a:rPr>
              <a:t>&lt;-</a:t>
            </a:r>
            <a:r>
              <a:rPr>
                <a:latin typeface="Courier"/>
              </a:rPr>
              <a:t> </a:t>
            </a:r>
            <a:r>
              <a:rPr>
                <a:solidFill>
                  <a:srgbClr val="06287E"/>
                </a:solidFill>
                <a:latin typeface="Courier"/>
              </a:rPr>
              <a:t>run_residual_confounding_stage</a:t>
            </a:r>
            <a:r>
              <a:rPr>
                <a:latin typeface="Courier"/>
              </a:rPr>
              <a:t>(</a:t>
            </a:r>
            <a:br/>
            <a:r>
              <a:rPr>
                <a:latin typeface="Courier"/>
              </a:rPr>
              <a:t>  lock,</a:t>
            </a:r>
            <a:br/>
            <a:r>
              <a:rPr>
                <a:latin typeface="Courier"/>
              </a:rPr>
              <a:t>  </a:t>
            </a:r>
            <a:r>
              <a:rPr>
                <a:solidFill>
                  <a:srgbClr val="7D9029"/>
                </a:solidFill>
                <a:latin typeface="Courier"/>
              </a:rPr>
              <a:t>negative_controls =</a:t>
            </a:r>
            <a:r>
              <a:rPr>
                <a:latin typeface="Courier"/>
              </a:rPr>
              <a:t> </a:t>
            </a:r>
            <a:r>
              <a:rPr>
                <a:solidFill>
                  <a:srgbClr val="06287E"/>
                </a:solidFill>
                <a:latin typeface="Courier"/>
              </a:rPr>
              <a:t>c</a:t>
            </a:r>
            <a:r>
              <a:rPr>
                <a:latin typeface="Courier"/>
              </a:rPr>
              <a:t>(</a:t>
            </a:r>
            <a:r>
              <a:rPr>
                <a:solidFill>
                  <a:srgbClr val="4070A0"/>
                </a:solidFill>
                <a:latin typeface="Courier"/>
              </a:rPr>
              <a:t>"chronic_hypertension"</a:t>
            </a:r>
            <a:r>
              <a:rPr>
                <a:latin typeface="Courier"/>
              </a:rPr>
              <a:t>, </a:t>
            </a:r>
            <a:r>
              <a:rPr>
                <a:solidFill>
                  <a:srgbClr val="4070A0"/>
                </a:solidFill>
                <a:latin typeface="Courier"/>
              </a:rPr>
              <a:t>"household_urban"</a:t>
            </a:r>
            <a:r>
              <a:rPr>
                <a:latin typeface="Courier"/>
              </a:rPr>
              <a:t>,</a:t>
            </a:r>
            <a:br/>
            <a:r>
              <a:rPr>
                <a:latin typeface="Courier"/>
              </a:rPr>
              <a:t>                        </a:t>
            </a:r>
            <a:r>
              <a:rPr>
                <a:solidFill>
                  <a:srgbClr val="4070A0"/>
                </a:solidFill>
                <a:latin typeface="Courier"/>
              </a:rPr>
              <a:t>"chronic_diabetes_insulin"</a:t>
            </a:r>
            <a:r>
              <a:rPr>
                <a:latin typeface="Courier"/>
              </a:rPr>
              <a:t>, </a:t>
            </a:r>
            <a:r>
              <a:rPr>
                <a:solidFill>
                  <a:srgbClr val="4070A0"/>
                </a:solidFill>
                <a:latin typeface="Courier"/>
              </a:rPr>
              <a:t>"chronic_hiv_art"</a:t>
            </a:r>
            <a:r>
              <a:rPr>
                <a:latin typeface="Courier"/>
              </a:rPr>
              <a:t>,</a:t>
            </a:r>
            <a:br/>
            <a:r>
              <a:rPr>
                <a:latin typeface="Courier"/>
              </a:rPr>
              <a:t>                        </a:t>
            </a:r>
            <a:r>
              <a:rPr>
                <a:solidFill>
                  <a:srgbClr val="4070A0"/>
                </a:solidFill>
                <a:latin typeface="Courier"/>
              </a:rPr>
              <a:t>"fuel_wood"</a:t>
            </a:r>
            <a:r>
              <a:rPr>
                <a:latin typeface="Courier"/>
              </a:rPr>
              <a:t>)</a:t>
            </a:r>
            <a:br/>
            <a:r>
              <a:rPr>
                <a:latin typeface="Courier"/>
              </a:rPr>
              <a:t>)</a:t>
            </a:r>
            <a:br/>
            <a:r>
              <a:rPr>
                <a:latin typeface="Courier"/>
              </a:rPr>
              <a:t>cp3   </a:t>
            </a:r>
            <a:r>
              <a:rPr>
                <a:solidFill>
                  <a:srgbClr val="007020"/>
                </a:solidFill>
                <a:latin typeface="Courier"/>
              </a:rPr>
              <a:t>&lt;-</a:t>
            </a:r>
            <a:r>
              <a:rPr>
                <a:latin typeface="Courier"/>
              </a:rPr>
              <a:t> </a:t>
            </a:r>
            <a:r>
              <a:rPr>
                <a:solidFill>
                  <a:srgbClr val="06287E"/>
                </a:solidFill>
                <a:latin typeface="Courier"/>
              </a:rPr>
              <a:t>checkpoint_residual_bias</a:t>
            </a:r>
            <a:r>
              <a:rPr>
                <a:latin typeface="Courier"/>
              </a:rPr>
              <a:t>(nc_results)</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cp3)</a:t>
            </a:r>
          </a:p>
          <a:p>
            <a:pPr lvl="0" indent="0" marL="0">
              <a:buNone/>
            </a:pPr>
            <a:r>
              <a:rPr/>
              <a:t>Three of the five NCs failed the automatic data-cleaning filter and were dropped. The drops are recorded in the audit log.</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11 — Decision log entry</a:t>
            </a:r>
          </a:p>
        </p:txBody>
      </p:sp>
      <p:sp>
        <p:nvSpPr>
          <p:cNvPr id="3" name="Content Placeholder 2"/>
          <p:cNvSpPr>
            <a:spLocks noGrp="1"/>
          </p:cNvSpPr>
          <p:nvPr>
            <p:ph idx="1"/>
          </p:nvPr>
        </p:nvSpPr>
        <p:spPr/>
        <p:txBody>
          <a:bodyPr/>
          <a:lstStyle/>
          <a:p>
            <a:pPr lvl="0" indent="0" marL="0">
              <a:buNone/>
            </a:pPr>
            <a:r>
              <a:rPr/>
              <a:t>At each stage the analyst writes a short structured decision entry. The reviewer reads these alongside the checkpoint records.</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log_decision_entry</a:t>
            </a:r>
            <a:r>
              <a:rPr>
                <a:latin typeface="Courier"/>
              </a:rPr>
              <a:t>(</a:t>
            </a:r>
            <a:br/>
            <a:r>
              <a:rPr>
                <a:latin typeface="Courier"/>
              </a:rPr>
              <a:t>  audit,</a:t>
            </a:r>
            <a:br/>
            <a:r>
              <a:rPr>
                <a:latin typeface="Courier"/>
              </a:rPr>
              <a:t>  </a:t>
            </a:r>
            <a:r>
              <a:rPr>
                <a:solidFill>
                  <a:srgbClr val="7D9029"/>
                </a:solidFill>
                <a:latin typeface="Courier"/>
              </a:rPr>
              <a:t>stage     =</a:t>
            </a:r>
            <a:r>
              <a:rPr>
                <a:latin typeface="Courier"/>
              </a:rPr>
              <a:t> </a:t>
            </a:r>
            <a:r>
              <a:rPr>
                <a:solidFill>
                  <a:srgbClr val="4070A0"/>
                </a:solidFill>
                <a:latin typeface="Courier"/>
              </a:rPr>
              <a:t>"Stage 3 NC"</a:t>
            </a:r>
            <a:r>
              <a:rPr>
                <a:latin typeface="Courier"/>
              </a:rPr>
              <a:t>,</a:t>
            </a:r>
            <a:br/>
            <a:r>
              <a:rPr>
                <a:latin typeface="Courier"/>
              </a:rPr>
              <a:t>  </a:t>
            </a:r>
            <a:r>
              <a:rPr>
                <a:solidFill>
                  <a:srgbClr val="7D9029"/>
                </a:solidFill>
                <a:latin typeface="Courier"/>
              </a:rPr>
              <a:t>decision  =</a:t>
            </a:r>
            <a:r>
              <a:rPr>
                <a:latin typeface="Courier"/>
              </a:rPr>
              <a:t> </a:t>
            </a:r>
            <a:r>
              <a:rPr>
                <a:solidFill>
                  <a:srgbClr val="4070A0"/>
                </a:solidFill>
                <a:latin typeface="Courier"/>
              </a:rPr>
              <a:t>"FLAG"</a:t>
            </a:r>
            <a:r>
              <a:rPr>
                <a:latin typeface="Courier"/>
              </a:rPr>
              <a:t>,</a:t>
            </a:r>
            <a:br/>
            <a:r>
              <a:rPr>
                <a:latin typeface="Courier"/>
              </a:rPr>
              <a:t>  </a:t>
            </a:r>
            <a:r>
              <a:rPr>
                <a:solidFill>
                  <a:srgbClr val="7D9029"/>
                </a:solidFill>
                <a:latin typeface="Courier"/>
              </a:rPr>
              <a:t>rationale =</a:t>
            </a:r>
            <a:r>
              <a:rPr>
                <a:latin typeface="Courier"/>
              </a:rPr>
              <a:t> </a:t>
            </a:r>
            <a:r>
              <a:rPr>
                <a:solidFill>
                  <a:srgbClr val="4070A0"/>
                </a:solidFill>
                <a:latin typeface="Courier"/>
              </a:rPr>
              <a:t>"Three NCs dropped by NZV filter; residual-confounding probe rests on 2 of 5"</a:t>
            </a:r>
            <a:r>
              <a:rPr>
                <a:latin typeface="Courier"/>
              </a:rPr>
              <a:t>,</a:t>
            </a:r>
            <a:br/>
            <a:r>
              <a:rPr>
                <a:latin typeface="Courier"/>
              </a:rPr>
              <a:t>  </a:t>
            </a:r>
            <a:r>
              <a:rPr>
                <a:solidFill>
                  <a:srgbClr val="7D9029"/>
                </a:solidFill>
                <a:latin typeface="Courier"/>
              </a:rPr>
              <a:t>reviewer  =</a:t>
            </a:r>
            <a:r>
              <a:rPr>
                <a:latin typeface="Courier"/>
              </a:rPr>
              <a:t> </a:t>
            </a:r>
            <a:r>
              <a:rPr>
                <a:solidFill>
                  <a:srgbClr val="4070A0"/>
                </a:solidFill>
                <a:latin typeface="Courier"/>
              </a:rPr>
              <a:t>"lead_analyst"</a:t>
            </a:r>
            <a:r>
              <a:rPr>
                <a:latin typeface="Courier"/>
              </a:rPr>
              <a:t>,</a:t>
            </a:r>
            <a:br/>
            <a:r>
              <a:rPr>
                <a:latin typeface="Courier"/>
              </a:rPr>
              <a:t>  </a:t>
            </a:r>
            <a:r>
              <a:rPr>
                <a:solidFill>
                  <a:srgbClr val="7D9029"/>
                </a:solidFill>
                <a:latin typeface="Courier"/>
              </a:rPr>
              <a:t>y_visible =</a:t>
            </a:r>
            <a:r>
              <a:rPr>
                <a:latin typeface="Courier"/>
              </a:rPr>
              <a:t> </a:t>
            </a:r>
            <a:r>
              <a:rPr>
                <a:solidFill>
                  <a:srgbClr val="880000"/>
                </a:solidFill>
                <a:latin typeface="Courier"/>
              </a:rPr>
              <a:t>FALSE</a:t>
            </a:r>
            <a:br/>
            <a:r>
              <a:rPr>
                <a:latin typeface="Courie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12 — Pre-outcome gate</a:t>
            </a:r>
          </a:p>
        </p:txBody>
      </p:sp>
      <p:sp>
        <p:nvSpPr>
          <p:cNvPr id="3" name="Content Placeholder 2"/>
          <p:cNvSpPr>
            <a:spLocks noGrp="1"/>
          </p:cNvSpPr>
          <p:nvPr>
            <p:ph idx="1"/>
          </p:nvPr>
        </p:nvSpPr>
        <p:spPr/>
        <p:txBody>
          <a:bodyPr/>
          <a:lstStyle/>
          <a:p>
            <a:pPr lvl="0" indent="0" marL="0">
              <a:buNone/>
            </a:pPr>
            <a:r>
              <a:rPr>
                <a:latin typeface="Courier"/>
              </a:rPr>
              <a:t>gate_all()</a:t>
            </a:r>
            <a:r>
              <a:rPr/>
              <a:t> aggregates the recorded checkpoints into a single GO / FLAG / STOP decision against the prespecified thresholds.</a:t>
            </a:r>
          </a:p>
          <a:p>
            <a:pPr lvl="0" indent="0">
              <a:buNone/>
            </a:pPr>
            <a:r>
              <a:rPr>
                <a:latin typeface="Courier"/>
              </a:rPr>
              <a:t>gate </a:t>
            </a:r>
            <a:r>
              <a:rPr>
                <a:solidFill>
                  <a:srgbClr val="007020"/>
                </a:solidFill>
                <a:latin typeface="Courier"/>
              </a:rPr>
              <a:t>&lt;-</a:t>
            </a:r>
            <a:r>
              <a:rPr>
                <a:latin typeface="Courier"/>
              </a:rPr>
              <a:t> </a:t>
            </a:r>
            <a:r>
              <a:rPr>
                <a:solidFill>
                  <a:srgbClr val="06287E"/>
                </a:solidFill>
                <a:latin typeface="Courier"/>
              </a:rPr>
              <a:t>gate_all</a:t>
            </a:r>
            <a:r>
              <a:rPr>
                <a:latin typeface="Courier"/>
              </a:rPr>
              <a:t>(cp1, cp2, cp3, </a:t>
            </a:r>
            <a:r>
              <a:rPr>
                <a:solidFill>
                  <a:srgbClr val="7D9029"/>
                </a:solidFill>
                <a:latin typeface="Courier"/>
              </a:rPr>
              <a:t>allow_flag =</a:t>
            </a:r>
            <a:r>
              <a:rPr>
                <a:latin typeface="Courier"/>
              </a:rPr>
              <a:t> </a:t>
            </a:r>
            <a:r>
              <a:rPr>
                <a:solidFill>
                  <a:srgbClr val="880000"/>
                </a:solidFill>
                <a:latin typeface="Courier"/>
              </a:rPr>
              <a:t>TRUE</a:t>
            </a:r>
            <a:r>
              <a:rPr>
                <a:latin typeface="Courier"/>
              </a:rPr>
              <a:t>)</a:t>
            </a:r>
            <a:br/>
            <a:r>
              <a:rPr i="1">
                <a:solidFill>
                  <a:srgbClr val="60A0B0"/>
                </a:solidFill>
                <a:latin typeface="Courier"/>
              </a:rPr>
              <a:t># gate$decision  -&gt; "GO with FLAG"</a:t>
            </a:r>
          </a:p>
          <a:p>
            <a:pPr lvl="0" indent="0" marL="0">
              <a:buNone/>
            </a:pPr>
            <a:r>
              <a:rPr>
                <a:latin typeface="Courier"/>
              </a:rPr>
              <a:t>authorize_outcome_analysis()</a:t>
            </a:r>
            <a:r>
              <a:rPr/>
              <a:t> then turns that decision into an authorisation record that downstream estimators can verify.</a:t>
            </a:r>
          </a:p>
          <a:p>
            <a:pPr lvl="0" indent="0">
              <a:buNone/>
            </a:pPr>
            <a:r>
              <a:rPr>
                <a:latin typeface="Courier"/>
              </a:rPr>
              <a:t>auth </a:t>
            </a:r>
            <a:r>
              <a:rPr>
                <a:solidFill>
                  <a:srgbClr val="007020"/>
                </a:solidFill>
                <a:latin typeface="Courier"/>
              </a:rPr>
              <a:t>&lt;-</a:t>
            </a:r>
            <a:r>
              <a:rPr>
                <a:latin typeface="Courier"/>
              </a:rPr>
              <a:t> </a:t>
            </a:r>
            <a:r>
              <a:rPr>
                <a:solidFill>
                  <a:srgbClr val="06287E"/>
                </a:solidFill>
                <a:latin typeface="Courier"/>
              </a:rPr>
              <a:t>authorize_outcome_analysis</a:t>
            </a:r>
            <a:r>
              <a:rPr>
                <a:latin typeface="Courier"/>
              </a:rPr>
              <a:t>(lock, gate)</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13 — Locked primary analysis</a:t>
            </a:r>
          </a:p>
        </p:txBody>
      </p:sp>
      <p:sp>
        <p:nvSpPr>
          <p:cNvPr id="3" name="Content Placeholder 2"/>
          <p:cNvSpPr>
            <a:spLocks noGrp="1"/>
          </p:cNvSpPr>
          <p:nvPr>
            <p:ph idx="1"/>
          </p:nvPr>
        </p:nvSpPr>
        <p:spPr/>
        <p:txBody>
          <a:bodyPr/>
          <a:lstStyle/>
          <a:p>
            <a:pPr lvl="0" indent="0" marL="0">
              <a:buNone/>
            </a:pPr>
            <a:r>
              <a:rPr/>
              <a:t>The primary-analysis function refuses to run on an unauthorised lock. With the authorisation in place, the locked specification is now permitted to access the real outcome.</a:t>
            </a:r>
          </a:p>
          <a:p>
            <a:pPr lvl="0" indent="0">
              <a:buNone/>
            </a:pPr>
            <a:r>
              <a:rPr>
                <a:latin typeface="Courier"/>
              </a:rPr>
              <a:t>fit_primary </a:t>
            </a:r>
            <a:r>
              <a:rPr>
                <a:solidFill>
                  <a:srgbClr val="007020"/>
                </a:solidFill>
                <a:latin typeface="Courier"/>
              </a:rPr>
              <a:t>&lt;-</a:t>
            </a:r>
            <a:r>
              <a:rPr>
                <a:latin typeface="Courier"/>
              </a:rPr>
              <a:t> </a:t>
            </a:r>
            <a:r>
              <a:rPr>
                <a:solidFill>
                  <a:srgbClr val="06287E"/>
                </a:solidFill>
                <a:latin typeface="Courier"/>
              </a:rPr>
              <a:t>run_clean_tmle</a:t>
            </a:r>
            <a:r>
              <a:rPr>
                <a:latin typeface="Courier"/>
              </a:rPr>
              <a:t>(lock,</a:t>
            </a:r>
            <a:br/>
            <a:r>
              <a:rPr>
                <a:latin typeface="Courier"/>
              </a:rPr>
              <a:t>                              </a:t>
            </a:r>
            <a:r>
              <a:rPr>
                <a:solidFill>
                  <a:srgbClr val="7D9029"/>
                </a:solidFill>
                <a:latin typeface="Courier"/>
              </a:rPr>
              <a:t>spec          =</a:t>
            </a:r>
            <a:r>
              <a:rPr>
                <a:latin typeface="Courier"/>
              </a:rPr>
              <a:t> selected,</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br/>
            <a:r>
              <a:rPr>
                <a:latin typeface="Courier"/>
              </a:rPr>
              <a:t>fit_ipcw    </a:t>
            </a:r>
            <a:r>
              <a:rPr>
                <a:solidFill>
                  <a:srgbClr val="007020"/>
                </a:solidFill>
                <a:latin typeface="Courier"/>
              </a:rPr>
              <a:t>&lt;-</a:t>
            </a:r>
            <a:r>
              <a:rPr>
                <a:latin typeface="Courier"/>
              </a:rPr>
              <a:t> </a:t>
            </a:r>
            <a:r>
              <a:rPr>
                <a:solidFill>
                  <a:srgbClr val="06287E"/>
                </a:solidFill>
                <a:latin typeface="Courier"/>
              </a:rPr>
              <a:t>run_ipcw_tmle</a:t>
            </a:r>
            <a:r>
              <a:rPr>
                <a:latin typeface="Courier"/>
              </a:rPr>
              <a:t>(lock,</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p>
          <a:p>
            <a:pPr lvl="0" indent="0" marL="0">
              <a:buNone/>
            </a:pPr>
            <a:r>
              <a:rPr/>
              <a:t>The matched-cohort and IPTW comparators are run from the same authorised lock.</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14 — Cumulative-risk report</a:t>
            </a:r>
          </a:p>
        </p:txBody>
      </p:sp>
      <p:sp>
        <p:nvSpPr>
          <p:cNvPr id="3" name="Content Placeholder 2"/>
          <p:cNvSpPr>
            <a:spLocks noGrp="1"/>
          </p:cNvSpPr>
          <p:nvPr>
            <p:ph idx="1"/>
          </p:nvPr>
        </p:nvSpPr>
        <p:spPr/>
        <p:txBody>
          <a:bodyPr/>
          <a:lstStyle/>
          <a:p>
            <a:pPr lvl="0" indent="0" marL="0">
              <a:buNone/>
            </a:pPr>
            <a:r>
              <a:rPr/>
              <a:t>The package emphasises absolute risks at a clinically meaningful time point alongside the contrast.</a:t>
            </a:r>
          </a:p>
          <a:p>
            <a:pPr lvl="0" indent="0">
              <a:buNone/>
            </a:pPr>
            <a:r>
              <a:rPr>
                <a:latin typeface="Courier"/>
              </a:rPr>
              <a:t>risk_table </a:t>
            </a:r>
            <a:r>
              <a:rPr>
                <a:solidFill>
                  <a:srgbClr val="007020"/>
                </a:solidFill>
                <a:latin typeface="Courier"/>
              </a:rPr>
              <a:t>&lt;-</a:t>
            </a:r>
            <a:r>
              <a:rPr>
                <a:latin typeface="Courier"/>
              </a:rPr>
              <a:t> </a:t>
            </a:r>
            <a:r>
              <a:rPr>
                <a:solidFill>
                  <a:srgbClr val="06287E"/>
                </a:solidFill>
                <a:latin typeface="Courier"/>
              </a:rPr>
              <a:t>clean_risk_report_table</a:t>
            </a:r>
            <a:r>
              <a:rPr>
                <a:latin typeface="Courier"/>
              </a:rPr>
              <a:t>(</a:t>
            </a:r>
            <a:b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"Rescue.Co"</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risk_treated,</a:t>
            </a:r>
            <a:br/>
            <a:r>
              <a:rPr>
                <a:latin typeface="Courier"/>
              </a:rPr>
              <a:t>    </a:t>
            </a:r>
            <a:r>
              <a:rPr>
                <a:solidFill>
                  <a:srgbClr val="4070A0"/>
                </a:solidFill>
                <a:latin typeface="Courier"/>
              </a:rPr>
              <a:t>"Other ambulance"</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risk_control,</a:t>
            </a:r>
            <a:br/>
            <a:r>
              <a:rPr>
                <a:latin typeface="Courier"/>
              </a:rPr>
              <a:t>    </a:t>
            </a:r>
            <a:r>
              <a:rPr>
                <a:solidFill>
                  <a:srgbClr val="4070A0"/>
                </a:solidFill>
                <a:latin typeface="Courier"/>
              </a:rPr>
              <a:t>"Difference (RD)"</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estimate</a:t>
            </a:r>
            <a:br/>
            <a:r>
              <a:rPr>
                <a:latin typeface="Courier"/>
              </a:rPr>
              <a:t>  ),</a:t>
            </a:r>
            <a:br/>
            <a:r>
              <a:rPr>
                <a:latin typeface="Courier"/>
              </a:rPr>
              <a:t>  </a:t>
            </a:r>
            <a:r>
              <a:rPr>
                <a:solidFill>
                  <a:srgbClr val="7D9029"/>
                </a:solidFill>
                <a:latin typeface="Courier"/>
              </a:rPr>
              <a:t>time_point =</a:t>
            </a:r>
            <a:r>
              <a:rPr>
                <a:latin typeface="Courier"/>
              </a:rPr>
              <a:t> </a:t>
            </a:r>
            <a:r>
              <a:rPr>
                <a:solidFill>
                  <a:srgbClr val="4070A0"/>
                </a:solidFill>
                <a:latin typeface="Courier"/>
              </a:rPr>
              <a:t>"6 months"</a:t>
            </a:r>
            <a:br/>
            <a:r>
              <a:rPr>
                <a:latin typeface="Courie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15 — Sensitivity analyses</a:t>
            </a:r>
          </a:p>
        </p:txBody>
      </p:sp>
      <p:sp>
        <p:nvSpPr>
          <p:cNvPr id="3" name="Content Placeholder 2"/>
          <p:cNvSpPr>
            <a:spLocks noGrp="1"/>
          </p:cNvSpPr>
          <p:nvPr>
            <p:ph idx="1"/>
          </p:nvPr>
        </p:nvSpPr>
        <p:spPr/>
        <p:txBody>
          <a:bodyPr/>
          <a:lstStyle/>
          <a:p>
            <a:pPr lvl="0" indent="0" marL="0">
              <a:buNone/>
            </a:pPr>
            <a:r>
              <a:rPr/>
              <a:t>After the primary analysis runs, prespecified sensitivity analyses are added: a tipping-point sensitivity, an E-value, and a truncation-grid sweep.</a:t>
            </a:r>
          </a:p>
          <a:p>
            <a:pPr lvl="0" indent="0">
              <a:buNone/>
            </a:pPr>
            <a:r>
              <a:rPr>
                <a:latin typeface="Courier"/>
              </a:rPr>
              <a:t>tipping </a:t>
            </a:r>
            <a:r>
              <a:rPr>
                <a:solidFill>
                  <a:srgbClr val="007020"/>
                </a:solidFill>
                <a:latin typeface="Courier"/>
              </a:rPr>
              <a:t>&lt;-</a:t>
            </a:r>
            <a:r>
              <a:rPr>
                <a:latin typeface="Courier"/>
              </a:rPr>
              <a:t> </a:t>
            </a:r>
            <a:r>
              <a:rPr>
                <a:solidFill>
                  <a:srgbClr val="06287E"/>
                </a:solidFill>
                <a:latin typeface="Courier"/>
              </a:rPr>
              <a:t>tipping_point_sensitivity</a:t>
            </a:r>
            <a:r>
              <a:rPr>
                <a:latin typeface="Courier"/>
              </a:rPr>
              <a:t>(fit_primary</a:t>
            </a:r>
            <a:r>
              <a:rPr>
                <a:solidFill>
                  <a:srgbClr val="4070A0"/>
                </a:solidFill>
                <a:latin typeface="Courier"/>
              </a:rPr>
              <a:t>$</a:t>
            </a:r>
            <a:r>
              <a:rPr>
                <a:latin typeface="Courier"/>
              </a:rPr>
              <a:t>estimate,</a:t>
            </a:r>
            <a:br/>
            <a:r>
              <a:rPr>
                <a:latin typeface="Courier"/>
              </a:rPr>
              <a:t>                                     fit_primary</a:t>
            </a:r>
            <a:r>
              <a:rPr>
                <a:solidFill>
                  <a:srgbClr val="4070A0"/>
                </a:solidFill>
                <a:latin typeface="Courier"/>
              </a:rPr>
              <a:t>$</a:t>
            </a:r>
            <a:r>
              <a:rPr>
                <a:latin typeface="Courier"/>
              </a:rPr>
              <a:t>ci_lower,</a:t>
            </a:r>
            <a:br/>
            <a:r>
              <a:rPr>
                <a:latin typeface="Courier"/>
              </a:rPr>
              <a:t>                                     fit_primary</a:t>
            </a:r>
            <a:r>
              <a:rPr>
                <a:solidFill>
                  <a:srgbClr val="4070A0"/>
                </a:solidFill>
                <a:latin typeface="Courier"/>
              </a:rPr>
              <a:t>$</a:t>
            </a:r>
            <a:r>
              <a:rPr>
                <a:latin typeface="Courier"/>
              </a:rPr>
              <a:t>ci_upper)</a:t>
            </a:r>
            <a:br/>
            <a:r>
              <a:rPr>
                <a:latin typeface="Courier"/>
              </a:rPr>
              <a:t>evalue  </a:t>
            </a:r>
            <a:r>
              <a:rPr>
                <a:solidFill>
                  <a:srgbClr val="007020"/>
                </a:solidFill>
                <a:latin typeface="Courier"/>
              </a:rPr>
              <a:t>&lt;-</a:t>
            </a:r>
            <a:r>
              <a:rPr>
                <a:latin typeface="Courier"/>
              </a:rPr>
              <a:t> </a:t>
            </a:r>
            <a:r>
              <a:rPr>
                <a:solidFill>
                  <a:srgbClr val="06287E"/>
                </a:solidFill>
                <a:latin typeface="Courier"/>
              </a:rPr>
              <a:t>compute_evalue</a:t>
            </a:r>
            <a:r>
              <a:rPr>
                <a:latin typeface="Courier"/>
              </a:rPr>
              <a:t>(fit_primary</a:t>
            </a:r>
            <a:r>
              <a:rPr>
                <a:solidFill>
                  <a:srgbClr val="4070A0"/>
                </a:solidFill>
                <a:latin typeface="Courier"/>
              </a:rPr>
              <a:t>$</a:t>
            </a:r>
            <a:r>
              <a:rPr>
                <a:latin typeface="Courier"/>
              </a:rPr>
              <a:t>estimate, fit_primary</a:t>
            </a:r>
            <a:r>
              <a:rPr>
                <a:solidFill>
                  <a:srgbClr val="4070A0"/>
                </a:solidFill>
                <a:latin typeface="Courier"/>
              </a:rPr>
              <a:t>$</a:t>
            </a:r>
            <a:r>
              <a:rPr>
                <a:latin typeface="Courier"/>
              </a:rPr>
              <a:t>ci_lower)</a:t>
            </a:r>
            <a:br/>
            <a:r>
              <a:rPr>
                <a:latin typeface="Courier"/>
              </a:rPr>
              <a:t>trunc_s </a:t>
            </a:r>
            <a:r>
              <a:rPr>
                <a:solidFill>
                  <a:srgbClr val="007020"/>
                </a:solidFill>
                <a:latin typeface="Courier"/>
              </a:rPr>
              <a:t>&lt;-</a:t>
            </a:r>
            <a:r>
              <a:rPr>
                <a:latin typeface="Courier"/>
              </a:rPr>
              <a:t> </a:t>
            </a:r>
            <a:r>
              <a:rPr>
                <a:solidFill>
                  <a:srgbClr val="06287E"/>
                </a:solidFill>
                <a:latin typeface="Courier"/>
              </a:rPr>
              <a:t>sensitivity_truncation</a:t>
            </a:r>
            <a:r>
              <a:rPr>
                <a:latin typeface="Courier"/>
              </a:rPr>
              <a:t>(lock, </a:t>
            </a:r>
            <a:r>
              <a:rPr>
                <a:solidFill>
                  <a:srgbClr val="7D9029"/>
                </a:solidFill>
                <a:latin typeface="Courier"/>
              </a:rPr>
              <a:t>trunc_grid =</a:t>
            </a:r>
            <a:r>
              <a:rPr>
                <a:latin typeface="Courier"/>
              </a:rPr>
              <a:t> </a:t>
            </a:r>
            <a:r>
              <a:rPr>
                <a:solidFill>
                  <a:srgbClr val="06287E"/>
                </a:solidFill>
                <a:latin typeface="Courier"/>
              </a:rPr>
              <a:t>c</a:t>
            </a:r>
            <a:r>
              <a:rPr>
                <a:latin typeface="Courier"/>
              </a:rPr>
              <a:t>(</a:t>
            </a:r>
            <a:r>
              <a:rPr>
                <a:solidFill>
                  <a:srgbClr val="40A070"/>
                </a:solidFill>
                <a:latin typeface="Courier"/>
              </a:rPr>
              <a:t>0.01</a:t>
            </a:r>
            <a:r>
              <a:rPr>
                <a:latin typeface="Courier"/>
              </a:rPr>
              <a:t>, </a:t>
            </a:r>
            <a:r>
              <a:rPr>
                <a:solidFill>
                  <a:srgbClr val="40A070"/>
                </a:solidFill>
                <a:latin typeface="Courier"/>
              </a:rPr>
              <a:t>0.025</a:t>
            </a:r>
            <a:r>
              <a:rPr>
                <a:latin typeface="Courier"/>
              </a:rPr>
              <a:t>, </a:t>
            </a:r>
            <a:r>
              <a:rPr>
                <a:solidFill>
                  <a:srgbClr val="40A070"/>
                </a:solidFill>
                <a:latin typeface="Courier"/>
              </a:rPr>
              <a:t>0.05</a:t>
            </a:r>
            <a:r>
              <a:rPr>
                <a:latin typeface="Courier"/>
              </a:rPr>
              <a:t>, </a:t>
            </a:r>
            <a:r>
              <a:rPr>
                <a:solidFill>
                  <a:srgbClr val="40A070"/>
                </a:solidFill>
                <a:latin typeface="Courier"/>
              </a:rPr>
              <a:t>0.10</a:t>
            </a:r>
            <a:r>
              <a:rPr>
                <a:latin typeface="Courier"/>
              </a:rPr>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16 — Export the dossier</a:t>
            </a:r>
          </a:p>
        </p:txBody>
      </p:sp>
      <p:sp>
        <p:nvSpPr>
          <p:cNvPr id="3" name="Content Placeholder 2"/>
          <p:cNvSpPr>
            <a:spLocks noGrp="1"/>
          </p:cNvSpPr>
          <p:nvPr>
            <p:ph idx="1"/>
          </p:nvPr>
        </p:nvSpPr>
        <p:spPr/>
        <p:txBody>
          <a:bodyPr/>
          <a:lstStyle/>
          <a:p>
            <a:pPr lvl="0" indent="0" marL="0">
              <a:buNone/>
            </a:pPr>
            <a:r>
              <a:rPr/>
              <a:t>Every checkpoint, every decision entry, the lock, the authorisation, and the final estimates can be exported as a single bundle for an external reviewer.</a:t>
            </a:r>
          </a:p>
          <a:p>
            <a:pPr lvl="0" indent="0">
              <a:buNone/>
            </a:pPr>
            <a:r>
              <a:rPr>
                <a:solidFill>
                  <a:srgbClr val="06287E"/>
                </a:solidFill>
                <a:latin typeface="Courier"/>
              </a:rPr>
              <a:t>export_decision_log</a:t>
            </a:r>
            <a:r>
              <a:rPr>
                <a:latin typeface="Courier"/>
              </a:rPr>
              <a:t>(audit, </a:t>
            </a:r>
            <a:r>
              <a:rPr>
                <a:solidFill>
                  <a:srgbClr val="4070A0"/>
                </a:solidFill>
                <a:latin typeface="Courier"/>
              </a:rPr>
              <a:t>"rescueco_decision_log.csv"</a:t>
            </a:r>
            <a:r>
              <a:rPr>
                <a:latin typeface="Courier"/>
              </a:rPr>
              <a:t>)</a:t>
            </a:r>
            <a:br/>
            <a:r>
              <a:rPr>
                <a:solidFill>
                  <a:srgbClr val="06287E"/>
                </a:solidFill>
                <a:latin typeface="Courier"/>
              </a:rPr>
              <a:t>save_audit</a:t>
            </a:r>
            <a:r>
              <a:rPr>
                <a:latin typeface="Courier"/>
              </a:rPr>
              <a:t>(audit,           </a:t>
            </a:r>
            <a:r>
              <a:rPr>
                <a:solidFill>
                  <a:srgbClr val="4070A0"/>
                </a:solidFill>
                <a:latin typeface="Courier"/>
              </a:rPr>
              <a:t>"rescueco_audit.rds"</a:t>
            </a:r>
            <a:r>
              <a:rPr>
                <a:latin typeface="Courier"/>
              </a:rPr>
              <a:t>)</a:t>
            </a:r>
            <a:br/>
            <a:r>
              <a:rPr>
                <a:solidFill>
                  <a:srgbClr val="06287E"/>
                </a:solidFill>
                <a:latin typeface="Courier"/>
              </a:rPr>
              <a:t>save_lock</a:t>
            </a:r>
            <a:r>
              <a:rPr>
                <a:latin typeface="Courier"/>
              </a:rPr>
              <a:t>(lock,             </a:t>
            </a:r>
            <a:r>
              <a:rPr>
                <a:solidFill>
                  <a:srgbClr val="4070A0"/>
                </a:solidFill>
                <a:latin typeface="Courier"/>
              </a:rPr>
              <a:t>"rescueco_lock.rds"</a:t>
            </a:r>
            <a:r>
              <a:rPr>
                <a:latin typeface="Courier"/>
              </a:rPr>
              <a:t>)</a:t>
            </a:r>
          </a:p>
          <a:p>
            <a:pPr lvl="0" indent="0" marL="0">
              <a:buNone/>
            </a:pPr>
            <a:r>
              <a:rPr/>
              <a:t>The reviewer reads these in alongside the manuscript.</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the walkthrough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Step</a:t>
                      </a:r>
                    </a:p>
                  </a:txBody>
                  <a:tcPr/>
                </a:tc>
                <a:tc>
                  <a:txBody>
                    <a:bodyPr/>
                    <a:lstStyle/>
                    <a:p>
                      <a:pPr lvl="0" indent="0" marL="0">
                        <a:buNone/>
                      </a:pPr>
                      <a:r>
                        <a:rPr/>
                        <a:t>Function</a:t>
                      </a:r>
                    </a:p>
                  </a:txBody>
                  <a:tcPr/>
                </a:tc>
                <a:tc>
                  <a:txBody>
                    <a:bodyPr/>
                    <a:lstStyle/>
                    <a:p>
                      <a:pPr lvl="0" indent="0" marL="0">
                        <a:buNone/>
                      </a:pPr>
                      <a:r>
                        <a:rPr/>
                        <a:t>What it does</a:t>
                      </a:r>
                    </a:p>
                  </a:txBody>
                  <a:tcPr/>
                </a:tc>
                <a:tc>
                  <a:txBody>
                    <a:bodyPr/>
                    <a:lstStyle/>
                    <a:p>
                      <a:pPr lvl="0" indent="0" marL="0" algn="ctr">
                        <a:buNone/>
                      </a:pPr>
                      <a:r>
                        <a:rPr/>
                        <a:t>Y access</a:t>
                      </a:r>
                    </a:p>
                  </a:txBody>
                  <a:tcPr/>
                </a:tc>
              </a:tr>
              <a:tr h="0">
                <a:tc>
                  <a:txBody>
                    <a:bodyPr/>
                    <a:lstStyle/>
                    <a:p>
                      <a:pPr lvl="0" indent="0" marL="0">
                        <a:buNone/>
                      </a:pPr>
                      <a:r>
                        <a:rPr/>
                        <a:t>1</a:t>
                      </a:r>
                    </a:p>
                  </a:txBody>
                </a:tc>
                <a:tc>
                  <a:txBody>
                    <a:bodyPr/>
                    <a:lstStyle/>
                    <a:p>
                      <a:pPr lvl="0" indent="0" marL="0">
                        <a:buNone/>
                      </a:pPr>
                      <a:r>
                        <a:rPr>
                          <a:latin typeface="Courier"/>
                        </a:rPr>
                        <a:t>attach_estimand()</a:t>
                      </a:r>
                    </a:p>
                  </a:txBody>
                </a:tc>
                <a:tc>
                  <a:txBody>
                    <a:bodyPr/>
                    <a:lstStyle/>
                    <a:p>
                      <a:pPr lvl="0" indent="0" marL="0">
                        <a:buNone/>
                      </a:pPr>
                      <a:r>
                        <a:rPr/>
                        <a:t>Records the target-trial question</a:t>
                      </a:r>
                    </a:p>
                  </a:txBody>
                </a:tc>
                <a:tc>
                  <a:txBody>
                    <a:bodyPr/>
                    <a:lstStyle/>
                    <a:p>
                      <a:pPr lvl="0" indent="0" marL="0" algn="ctr">
                        <a:buNone/>
                      </a:pPr>
                      <a:r>
                        <a:rPr/>
                        <a:t>No</a:t>
                      </a:r>
                    </a:p>
                  </a:txBody>
                </a:tc>
              </a:tr>
              <a:tr h="0">
                <a:tc>
                  <a:txBody>
                    <a:bodyPr/>
                    <a:lstStyle/>
                    <a:p>
                      <a:pPr lvl="0" indent="0" marL="0">
                        <a:buNone/>
                      </a:pPr>
                      <a:r>
                        <a:rPr/>
                        <a:t>2</a:t>
                      </a:r>
                    </a:p>
                  </a:txBody>
                </a:tc>
                <a:tc>
                  <a:txBody>
                    <a:bodyPr/>
                    <a:lstStyle/>
                    <a:p>
                      <a:pPr lvl="0" indent="0" marL="0">
                        <a:buNone/>
                      </a:pPr>
                      <a:r>
                        <a:rPr>
                          <a:latin typeface="Courier"/>
                        </a:rPr>
                        <a:t>create_analysis_lock()</a:t>
                      </a:r>
                    </a:p>
                  </a:txBody>
                </a:tc>
                <a:tc>
                  <a:txBody>
                    <a:bodyPr/>
                    <a:lstStyle/>
                    <a:p>
                      <a:pPr lvl="0" indent="0" marL="0">
                        <a:buNone/>
                      </a:pPr>
                      <a:r>
                        <a:rPr/>
                        <a:t>Fingerprints the plan</a:t>
                      </a:r>
                    </a:p>
                  </a:txBody>
                </a:tc>
                <a:tc>
                  <a:txBody>
                    <a:bodyPr/>
                    <a:lstStyle/>
                    <a:p>
                      <a:pPr lvl="0" indent="0" marL="0" algn="ctr">
                        <a:buNone/>
                      </a:pPr>
                      <a:r>
                        <a:rPr/>
                        <a:t>No</a:t>
                      </a:r>
                    </a:p>
                  </a:txBody>
                </a:tc>
              </a:tr>
              <a:tr h="0">
                <a:tc>
                  <a:txBody>
                    <a:bodyPr/>
                    <a:lstStyle/>
                    <a:p>
                      <a:pPr lvl="0" indent="0" marL="0">
                        <a:buNone/>
                      </a:pPr>
                      <a:r>
                        <a:rPr/>
                        <a:t>3</a:t>
                      </a:r>
                    </a:p>
                  </a:txBody>
                </a:tc>
                <a:tc>
                  <a:txBody>
                    <a:bodyPr/>
                    <a:lstStyle/>
                    <a:p>
                      <a:pPr lvl="0" indent="0" marL="0">
                        <a:buNone/>
                      </a:pPr>
                      <a:r>
                        <a:rPr>
                          <a:latin typeface="Courier"/>
                        </a:rPr>
                        <a:t>attrition_table()</a:t>
                      </a:r>
                    </a:p>
                  </a:txBody>
                </a:tc>
                <a:tc>
                  <a:txBody>
                    <a:bodyPr/>
                    <a:lstStyle/>
                    <a:p>
                      <a:pPr lvl="0" indent="0" marL="0">
                        <a:buNone/>
                      </a:pPr>
                      <a:r>
                        <a:rPr/>
                        <a:t>Records cohort flow</a:t>
                      </a:r>
                    </a:p>
                  </a:txBody>
                </a:tc>
                <a:tc>
                  <a:txBody>
                    <a:bodyPr/>
                    <a:lstStyle/>
                    <a:p>
                      <a:pPr lvl="0" indent="0" marL="0" algn="ctr">
                        <a:buNone/>
                      </a:pPr>
                      <a:r>
                        <a:rPr/>
                        <a:t>No</a:t>
                      </a:r>
                    </a:p>
                  </a:txBody>
                </a:tc>
              </a:tr>
              <a:tr h="0">
                <a:tc>
                  <a:txBody>
                    <a:bodyPr/>
                    <a:lstStyle/>
                    <a:p>
                      <a:pPr lvl="0" indent="0" marL="0">
                        <a:buNone/>
                      </a:pPr>
                      <a:r>
                        <a:rPr/>
                        <a:t>4</a:t>
                      </a:r>
                    </a:p>
                  </a:txBody>
                </a:tc>
                <a:tc>
                  <a:txBody>
                    <a:bodyPr/>
                    <a:lstStyle/>
                    <a:p>
                      <a:pPr lvl="0" indent="0" marL="0">
                        <a:buNone/>
                      </a:pPr>
                      <a:r>
                        <a:rPr>
                          <a:latin typeface="Courier"/>
                        </a:rPr>
                        <a:t>clean_event_process_table()</a:t>
                      </a:r>
                    </a:p>
                  </a:txBody>
                </a:tc>
                <a:tc>
                  <a:txBody>
                    <a:bodyPr/>
                    <a:lstStyle/>
                    <a:p>
                      <a:pPr lvl="0" indent="0" marL="0">
                        <a:buNone/>
                      </a:pPr>
                      <a:r>
                        <a:rPr/>
                        <a:t>Classifies event processes</a:t>
                      </a:r>
                    </a:p>
                  </a:txBody>
                </a:tc>
                <a:tc>
                  <a:txBody>
                    <a:bodyPr/>
                    <a:lstStyle/>
                    <a:p>
                      <a:pPr lvl="0" indent="0" marL="0" algn="ctr">
                        <a:buNone/>
                      </a:pPr>
                      <a:r>
                        <a:rPr/>
                        <a:t>No</a:t>
                      </a:r>
                    </a:p>
                  </a:txBody>
                </a:tc>
              </a:tr>
              <a:tr h="0">
                <a:tc>
                  <a:txBody>
                    <a:bodyPr/>
                    <a:lstStyle/>
                    <a:p>
                      <a:pPr lvl="0" indent="0" marL="0">
                        <a:buNone/>
                      </a:pPr>
                      <a:r>
                        <a:rPr/>
                        <a:t>5</a:t>
                      </a:r>
                    </a:p>
                  </a:txBody>
                </a:tc>
                <a:tc>
                  <a:txBody>
                    <a:bodyPr/>
                    <a:lstStyle/>
                    <a:p>
                      <a:pPr lvl="0" indent="0" marL="0">
                        <a:buNone/>
                      </a:pPr>
                      <a:r>
                        <a:rPr>
                          <a:latin typeface="Courier"/>
                        </a:rPr>
                        <a:t>checkpoint_cohort_adequacy()</a:t>
                      </a:r>
                    </a:p>
                  </a:txBody>
                </a:tc>
                <a:tc>
                  <a:txBody>
                    <a:bodyPr/>
                    <a:lstStyle/>
                    <a:p>
                      <a:pPr lvl="0" indent="0" marL="0">
                        <a:buNone/>
                      </a:pPr>
                      <a:r>
                        <a:rPr/>
                        <a:t>Checks N and events</a:t>
                      </a:r>
                    </a:p>
                  </a:txBody>
                </a:tc>
                <a:tc>
                  <a:txBody>
                    <a:bodyPr/>
                    <a:lstStyle/>
                    <a:p>
                      <a:pPr lvl="0" indent="0" marL="0" algn="ctr">
                        <a:buNone/>
                      </a:pPr>
                      <a:r>
                        <a:rPr/>
                        <a:t>Marginal</a:t>
                      </a:r>
                    </a:p>
                  </a:txBody>
                </a:tc>
              </a:tr>
              <a:tr h="0">
                <a:tc>
                  <a:txBody>
                    <a:bodyPr/>
                    <a:lstStyle/>
                    <a:p>
                      <a:pPr lvl="0" indent="0" marL="0">
                        <a:buNone/>
                      </a:pPr>
                      <a:r>
                        <a:rPr/>
                        <a:t>6</a:t>
                      </a:r>
                    </a:p>
                  </a:txBody>
                </a:tc>
                <a:tc>
                  <a:txBody>
                    <a:bodyPr/>
                    <a:lstStyle/>
                    <a:p>
                      <a:pPr lvl="0" indent="0" marL="0">
                        <a:buNone/>
                      </a:pPr>
                      <a:r>
                        <a:rPr>
                          <a:latin typeface="Courier"/>
                        </a:rPr>
                        <a:t>fit_ps_superlearner()</a:t>
                      </a:r>
                      <a:r>
                        <a:rPr/>
                        <a:t>, </a:t>
                      </a:r>
                      <a:r>
                        <a:rPr>
                          <a:latin typeface="Courier"/>
                        </a:rPr>
                        <a:t>compute_ps_diagnostics()</a:t>
                      </a:r>
                    </a:p>
                  </a:txBody>
                </a:tc>
                <a:tc>
                  <a:txBody>
                    <a:bodyPr/>
                    <a:lstStyle/>
                    <a:p>
                      <a:pPr lvl="0" indent="0" marL="0">
                        <a:buNone/>
                      </a:pPr>
                      <a:r>
                        <a:rPr/>
                        <a:t>PS + overlap + balance</a:t>
                      </a:r>
                    </a:p>
                  </a:txBody>
                </a:tc>
                <a:tc>
                  <a:txBody>
                    <a:bodyPr/>
                    <a:lstStyle/>
                    <a:p>
                      <a:pPr lvl="0" indent="0" marL="0" algn="ctr">
                        <a:buNone/>
                      </a:pPr>
                      <a:r>
                        <a:rPr/>
                        <a:t>No</a:t>
                      </a:r>
                    </a:p>
                  </a:txBody>
                </a:tc>
              </a:tr>
              <a:tr h="0">
                <a:tc>
                  <a:txBody>
                    <a:bodyPr/>
                    <a:lstStyle/>
                    <a:p>
                      <a:pPr lvl="0" indent="0" marL="0">
                        <a:buNone/>
                      </a:pPr>
                      <a:r>
                        <a:rPr/>
                        <a:t>7</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Weight stability</a:t>
                      </a:r>
                    </a:p>
                  </a:txBody>
                </a:tc>
                <a:tc>
                  <a:txBody>
                    <a:bodyPr/>
                    <a:lstStyle/>
                    <a:p>
                      <a:pPr lvl="0" indent="0" marL="0" algn="ctr">
                        <a:buNone/>
                      </a:pPr>
                      <a:r>
                        <a:rPr/>
                        <a:t>No</a:t>
                      </a:r>
                    </a:p>
                  </a:txBody>
                </a:tc>
              </a:tr>
              <a:tr h="0">
                <a:tc>
                  <a:txBody>
                    <a:bodyPr/>
                    <a:lstStyle/>
                    <a:p>
                      <a:pPr lvl="0" indent="0" marL="0">
                        <a:buNone/>
                      </a:pPr>
                      <a:r>
                        <a:rPr/>
                        <a:t>8</a:t>
                      </a:r>
                    </a:p>
                  </a:txBody>
                </a:tc>
                <a:tc>
                  <a:txBody>
                    <a:bodyPr/>
                    <a:lstStyle/>
                    <a:p>
                      <a:pPr lvl="0" indent="0" marL="0">
                        <a:buNone/>
                      </a:pPr>
                      <a:r>
                        <a:rPr>
                          <a:latin typeface="Courier"/>
                        </a:rPr>
                        <a:t>run_plasmode_feasibility()</a:t>
                      </a:r>
                    </a:p>
                  </a:txBody>
                </a:tc>
                <a:tc>
                  <a:txBody>
                    <a:bodyPr/>
                    <a:lstStyle/>
                    <a:p>
                      <a:pPr lvl="0" indent="0" marL="0">
                        <a:buNone/>
                      </a:pPr>
                      <a:r>
                        <a:rPr/>
                        <a:t>Baseline candidate selection</a:t>
                      </a:r>
                    </a:p>
                  </a:txBody>
                </a:tc>
                <a:tc>
                  <a:txBody>
                    <a:bodyPr/>
                    <a:lstStyle/>
                    <a:p>
                      <a:pPr lvl="0" indent="0" marL="0" algn="ctr">
                        <a:buNone/>
                      </a:pPr>
                      <a:r>
                        <a:rPr/>
                        <a:t>Synthetic</a:t>
                      </a:r>
                    </a:p>
                  </a:txBody>
                </a:tc>
              </a:tr>
              <a:tr h="0">
                <a:tc>
                  <a:txBody>
                    <a:bodyPr/>
                    <a:lstStyle/>
                    <a:p>
                      <a:pPr lvl="0" indent="0" marL="0">
                        <a:buNone/>
                      </a:pPr>
                      <a:r>
                        <a:rPr/>
                        <a:t>9</a:t>
                      </a:r>
                    </a:p>
                  </a:txBody>
                </a:tc>
                <a:tc>
                  <a:txBody>
                    <a:bodyPr/>
                    <a:lstStyle/>
                    <a:p>
                      <a:pPr lvl="0" indent="0" marL="0">
                        <a:buNone/>
                      </a:pPr>
                      <a:r>
                        <a:rPr>
                          <a:latin typeface="Courier"/>
                        </a:rPr>
                        <a:t>run_plasmode_dq_stress()</a:t>
                      </a:r>
                    </a:p>
                  </a:txBody>
                </a:tc>
                <a:tc>
                  <a:txBody>
                    <a:bodyPr/>
                    <a:lstStyle/>
                    <a:p>
                      <a:pPr lvl="0" indent="0" marL="0">
                        <a:buNone/>
                      </a:pPr>
                      <a:r>
                        <a:rPr/>
                        <a:t>Stress test under threats</a:t>
                      </a:r>
                    </a:p>
                  </a:txBody>
                </a:tc>
                <a:tc>
                  <a:txBody>
                    <a:bodyPr/>
                    <a:lstStyle/>
                    <a:p>
                      <a:pPr lvl="0" indent="0" marL="0" algn="ctr">
                        <a:buNone/>
                      </a:pPr>
                      <a:r>
                        <a:rPr/>
                        <a:t>Synthetic</a:t>
                      </a:r>
                    </a:p>
                  </a:txBody>
                </a:tc>
              </a:tr>
              <a:tr h="0">
                <a:tc>
                  <a:txBody>
                    <a:bodyPr/>
                    <a:lstStyle/>
                    <a:p>
                      <a:pPr lvl="0" indent="0" marL="0">
                        <a:buNone/>
                      </a:pPr>
                      <a:r>
                        <a:rPr/>
                        <a:t>10</a:t>
                      </a:r>
                    </a:p>
                  </a:txBody>
                </a:tc>
                <a:tc>
                  <a:txBody>
                    <a:bodyPr/>
                    <a:lstStyle/>
                    <a:p>
                      <a:pPr lvl="0" indent="0" marL="0">
                        <a:buNone/>
                      </a:pPr>
                      <a:r>
                        <a:rPr>
                          <a:latin typeface="Courier"/>
                        </a:rPr>
                        <a:t>run_residual_confounding_stage()</a:t>
                      </a:r>
                    </a:p>
                  </a:txBody>
                </a:tc>
                <a:tc>
                  <a:txBody>
                    <a:bodyPr/>
                    <a:lstStyle/>
                    <a:p>
                      <a:pPr lvl="0" indent="0" marL="0">
                        <a:buNone/>
                      </a:pPr>
                      <a:r>
                        <a:rPr/>
                        <a:t>Negative-control probe</a:t>
                      </a:r>
                    </a:p>
                  </a:txBody>
                </a:tc>
                <a:tc>
                  <a:txBody>
                    <a:bodyPr/>
                    <a:lstStyle/>
                    <a:p>
                      <a:pPr lvl="0" indent="0" marL="0" algn="ctr">
                        <a:buNone/>
                      </a:pPr>
                      <a:r>
                        <a:rPr/>
                        <a:t>NC outcomes only</a:t>
                      </a:r>
                    </a:p>
                  </a:txBody>
                </a:tc>
              </a:tr>
              <a:tr h="0">
                <a:tc>
                  <a:txBody>
                    <a:bodyPr/>
                    <a:lstStyle/>
                    <a:p>
                      <a:pPr lvl="0" indent="0" marL="0">
                        <a:buNone/>
                      </a:pPr>
                      <a:r>
                        <a:rPr/>
                        <a:t>11</a:t>
                      </a:r>
                    </a:p>
                  </a:txBody>
                </a:tc>
                <a:tc>
                  <a:txBody>
                    <a:bodyPr/>
                    <a:lstStyle/>
                    <a:p>
                      <a:pPr lvl="0" indent="0" marL="0">
                        <a:buNone/>
                      </a:pPr>
                      <a:r>
                        <a:rPr>
                          <a:latin typeface="Courier"/>
                        </a:rPr>
                        <a:t>log_decision_entry()</a:t>
                      </a:r>
                    </a:p>
                  </a:txBody>
                </a:tc>
                <a:tc>
                  <a:txBody>
                    <a:bodyPr/>
                    <a:lstStyle/>
                    <a:p>
                      <a:pPr lvl="0" indent="0" marL="0">
                        <a:buNone/>
                      </a:pPr>
                      <a:r>
                        <a:rPr/>
                        <a:t>Records each analytic decision</a:t>
                      </a:r>
                    </a:p>
                  </a:txBody>
                </a:tc>
                <a:tc>
                  <a:txBody>
                    <a:bodyPr/>
                    <a:lstStyle/>
                    <a:p>
                      <a:pPr lvl="0" indent="0" marL="0" algn="ctr">
                        <a:buNone/>
                      </a:pPr>
                      <a:r>
                        <a:rPr/>
                        <a:t>No</a:t>
                      </a:r>
                    </a:p>
                  </a:txBody>
                </a:tc>
              </a:tr>
              <a:tr h="0">
                <a:tc>
                  <a:txBody>
                    <a:bodyPr/>
                    <a:lstStyle/>
                    <a:p>
                      <a:pPr lvl="0" indent="0" marL="0">
                        <a:buNone/>
                      </a:pPr>
                      <a:r>
                        <a:rPr/>
                        <a:t>12</a:t>
                      </a:r>
                    </a:p>
                  </a:txBody>
                </a:tc>
                <a:tc>
                  <a:txBody>
                    <a:bodyPr/>
                    <a:lstStyle/>
                    <a:p>
                      <a:pPr lvl="0" indent="0" marL="0">
                        <a:buNone/>
                      </a:pPr>
                      <a:r>
                        <a:rPr>
                          <a:latin typeface="Courier"/>
                        </a:rPr>
                        <a:t>gate_all()</a:t>
                      </a:r>
                      <a:r>
                        <a:rPr/>
                        <a:t>, </a:t>
                      </a:r>
                      <a:r>
                        <a:rPr>
                          <a:latin typeface="Courier"/>
                        </a:rPr>
                        <a:t>authorize_outcome_analysis()</a:t>
                      </a:r>
                    </a:p>
                  </a:txBody>
                </a:tc>
                <a:tc>
                  <a:txBody>
                    <a:bodyPr/>
                    <a:lstStyle/>
                    <a:p>
                      <a:pPr lvl="0" indent="0" marL="0">
                        <a:buNone/>
                      </a:pPr>
                      <a:r>
                        <a:rPr/>
                        <a:t>Pre-outcome decision</a:t>
                      </a:r>
                    </a:p>
                  </a:txBody>
                </a:tc>
                <a:tc>
                  <a:txBody>
                    <a:bodyPr/>
                    <a:lstStyle/>
                    <a:p>
                      <a:pPr lvl="0" indent="0" marL="0" algn="ctr">
                        <a:buNone/>
                      </a:pPr>
                      <a:r>
                        <a:rPr/>
                        <a:t>No</a:t>
                      </a:r>
                    </a:p>
                  </a:txBody>
                </a:tc>
              </a:tr>
              <a:tr h="0">
                <a:tc>
                  <a:txBody>
                    <a:bodyPr/>
                    <a:lstStyle/>
                    <a:p>
                      <a:pPr lvl="0" indent="0" marL="0">
                        <a:buNone/>
                      </a:pPr>
                      <a:r>
                        <a:rPr/>
                        <a:t>13</a:t>
                      </a:r>
                    </a:p>
                  </a:txBody>
                </a:tc>
                <a:tc>
                  <a:txBody>
                    <a:bodyPr/>
                    <a:lstStyle/>
                    <a:p>
                      <a:pPr lvl="0" indent="0" marL="0">
                        <a:buNone/>
                      </a:pPr>
                      <a:r>
                        <a:rPr>
                          <a:latin typeface="Courier"/>
                        </a:rPr>
                        <a:t>run_clean_tmle()</a:t>
                      </a:r>
                      <a:r>
                        <a:rPr/>
                        <a:t>, </a:t>
                      </a:r>
                      <a:r>
                        <a:rPr>
                          <a:latin typeface="Courier"/>
                        </a:rPr>
                        <a:t>run_ipcw_tmle()</a:t>
                      </a:r>
                    </a:p>
                  </a:txBody>
                </a:tc>
                <a:tc>
                  <a:txBody>
                    <a:bodyPr/>
                    <a:lstStyle/>
                    <a:p>
                      <a:pPr lvl="0" indent="0" marL="0">
                        <a:buNone/>
                      </a:pPr>
                      <a:r>
                        <a:rPr/>
                        <a:t>Locked primary analysis</a:t>
                      </a:r>
                    </a:p>
                  </a:txBody>
                </a:tc>
                <a:tc>
                  <a:txBody>
                    <a:bodyPr/>
                    <a:lstStyle/>
                    <a:p>
                      <a:pPr lvl="0" indent="0" marL="0" algn="ctr">
                        <a:buNone/>
                      </a:pPr>
                      <a:r>
                        <a:rPr b="1"/>
                        <a:t>Yes</a:t>
                      </a:r>
                    </a:p>
                  </a:txBody>
                </a:tc>
              </a:tr>
              <a:tr h="0">
                <a:tc>
                  <a:txBody>
                    <a:bodyPr/>
                    <a:lstStyle/>
                    <a:p>
                      <a:pPr lvl="0" indent="0" marL="0">
                        <a:buNone/>
                      </a:pPr>
                      <a:r>
                        <a:rPr/>
                        <a:t>14</a:t>
                      </a:r>
                    </a:p>
                  </a:txBody>
                </a:tc>
                <a:tc>
                  <a:txBody>
                    <a:bodyPr/>
                    <a:lstStyle/>
                    <a:p>
                      <a:pPr lvl="0" indent="0" marL="0">
                        <a:buNone/>
                      </a:pPr>
                      <a:r>
                        <a:rPr>
                          <a:latin typeface="Courier"/>
                        </a:rPr>
                        <a:t>clean_risk_report_table()</a:t>
                      </a:r>
                    </a:p>
                  </a:txBody>
                </a:tc>
                <a:tc>
                  <a:txBody>
                    <a:bodyPr/>
                    <a:lstStyle/>
                    <a:p>
                      <a:pPr lvl="0" indent="0" marL="0">
                        <a:buNone/>
                      </a:pPr>
                      <a:r>
                        <a:rPr/>
                        <a:t>Cumulative-risk report</a:t>
                      </a:r>
                    </a:p>
                  </a:txBody>
                </a:tc>
                <a:tc>
                  <a:txBody>
                    <a:bodyPr/>
                    <a:lstStyle/>
                    <a:p>
                      <a:pPr lvl="0" indent="0" marL="0" algn="ctr">
                        <a:buNone/>
                      </a:pPr>
                      <a:r>
                        <a:rPr/>
                        <a:t>Yes</a:t>
                      </a:r>
                    </a:p>
                  </a:txBody>
                </a:tc>
              </a:tr>
              <a:tr h="0">
                <a:tc>
                  <a:txBody>
                    <a:bodyPr/>
                    <a:lstStyle/>
                    <a:p>
                      <a:pPr lvl="0" indent="0" marL="0">
                        <a:buNone/>
                      </a:pPr>
                      <a:r>
                        <a:rPr/>
                        <a:t>15</a:t>
                      </a:r>
                    </a:p>
                  </a:txBody>
                </a:tc>
                <a:tc>
                  <a:txBody>
                    <a:bodyPr/>
                    <a:lstStyle/>
                    <a:p>
                      <a:pPr lvl="0" indent="0" marL="0">
                        <a:buNone/>
                      </a:pPr>
                      <a:r>
                        <a:rPr>
                          <a:latin typeface="Courier"/>
                        </a:rPr>
                        <a:t>tipping_point_sensitivity()</a:t>
                      </a:r>
                      <a:r>
                        <a:rPr/>
                        <a:t>, </a:t>
                      </a:r>
                      <a:r>
                        <a:rPr>
                          <a:latin typeface="Courier"/>
                        </a:rPr>
                        <a:t>compute_evalue()</a:t>
                      </a:r>
                    </a:p>
                  </a:txBody>
                </a:tc>
                <a:tc>
                  <a:txBody>
                    <a:bodyPr/>
                    <a:lstStyle/>
                    <a:p>
                      <a:pPr lvl="0" indent="0" marL="0">
                        <a:buNone/>
                      </a:pPr>
                      <a:r>
                        <a:rPr/>
                        <a:t>Sensitivity analyses</a:t>
                      </a:r>
                    </a:p>
                  </a:txBody>
                </a:tc>
                <a:tc>
                  <a:txBody>
                    <a:bodyPr/>
                    <a:lstStyle/>
                    <a:p>
                      <a:pPr lvl="0" indent="0" marL="0" algn="ctr">
                        <a:buNone/>
                      </a:pPr>
                      <a:r>
                        <a:rPr/>
                        <a:t>Yes</a:t>
                      </a:r>
                    </a:p>
                  </a:txBody>
                </a:tc>
              </a:tr>
              <a:tr h="0">
                <a:tc>
                  <a:txBody>
                    <a:bodyPr/>
                    <a:lstStyle/>
                    <a:p>
                      <a:pPr lvl="0" indent="0" marL="0">
                        <a:buNone/>
                      </a:pPr>
                      <a:r>
                        <a:rPr/>
                        <a:t>16</a:t>
                      </a:r>
                    </a:p>
                  </a:txBody>
                </a:tc>
                <a:tc>
                  <a:txBody>
                    <a:bodyPr/>
                    <a:lstStyle/>
                    <a:p>
                      <a:pPr lvl="0" indent="0" marL="0">
                        <a:buNone/>
                      </a:pPr>
                      <a:r>
                        <a:rPr>
                          <a:latin typeface="Courier"/>
                        </a:rPr>
                        <a:t>export_decision_log()</a:t>
                      </a:r>
                      <a:r>
                        <a:rPr/>
                        <a:t>, </a:t>
                      </a:r>
                      <a:r>
                        <a:rPr>
                          <a:latin typeface="Courier"/>
                        </a:rPr>
                        <a:t>save_audit()</a:t>
                      </a:r>
                      <a:r>
                        <a:rPr/>
                        <a:t>, </a:t>
                      </a:r>
                      <a:r>
                        <a:rPr>
                          <a:latin typeface="Courier"/>
                        </a:rPr>
                        <a:t>save_lock()</a:t>
                      </a:r>
                    </a:p>
                  </a:txBody>
                </a:tc>
                <a:tc>
                  <a:txBody>
                    <a:bodyPr/>
                    <a:lstStyle/>
                    <a:p>
                      <a:pPr lvl="0" indent="0" marL="0">
                        <a:buNone/>
                      </a:pPr>
                      <a:r>
                        <a:rPr/>
                        <a:t>Export the dossier</a:t>
                      </a:r>
                    </a:p>
                  </a:txBody>
                </a:tc>
                <a:tc>
                  <a:txBody>
                    <a:bodyPr/>
                    <a:lstStyle/>
                    <a:p>
                      <a:pPr lvl="0" indent="0" marL="0" algn="ctr">
                        <a:buNone/>
                      </a:pPr>
                      <a:r>
                        <a:rPr/>
                        <a:t>No</a:t>
                      </a:r>
                    </a:p>
                  </a:txBody>
                </a:tc>
              </a:tr>
            </a:tbl>
          </a:graphicData>
        </a:graphic>
      </p:graphicFrame>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2026-05-11T16:48:22Z</dcterms:created>
  <dcterms:modified xsi:type="dcterms:W3CDTF">2026-05-11T16:48:22Z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2026-05-11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Software layer for an outcome-blind staged workflow with plasmode DQ stress testing</vt:lpwstr>
  </property>
  <property fmtid="{D5CDD505-2E9C-101B-9397-08002B2CF9AE}" pid="16" name="toc-title">
    <vt:lpwstr>Table of contents</vt:lpwstr>
  </property>
</Properties>
</file>