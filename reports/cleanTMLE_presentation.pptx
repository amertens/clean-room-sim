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mertens/cleanTML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cleanTMLE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Software layer for an outcome-blind staged workflow with plasmode DQ stress testing</a:t>
            </a:r>
            <a:br/>
            <a:br/>
            <a:r>
              <a:rPr/>
              <a:t>Andrew Mertens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RWE workflows separate </a:t>
            </a:r>
            <a:r>
              <a:rPr b="1"/>
              <a:t>protocol design</a:t>
            </a:r>
            <a:r>
              <a:rPr/>
              <a:t>, </a:t>
            </a:r>
            <a:r>
              <a:rPr b="1"/>
              <a:t>fit-for-purpose data review</a:t>
            </a:r>
            <a:r>
              <a:rPr/>
              <a:t>, and </a:t>
            </a:r>
            <a:r>
              <a:rPr b="1"/>
              <a:t>estimator choice</a:t>
            </a:r>
            <a:r>
              <a:rPr/>
              <a:t> into different artefacts</a:t>
            </a:r>
          </a:p>
          <a:p>
            <a:pPr lvl="0"/>
            <a:r>
              <a:rPr/>
              <a:t>Standard diagnostics assess </a:t>
            </a:r>
            <a:r>
              <a:rPr b="1"/>
              <a:t>overlap and balance</a:t>
            </a:r>
            <a:r>
              <a:rPr/>
              <a:t>, but not </a:t>
            </a:r>
            <a:r>
              <a:rPr b="1"/>
              <a:t>estimator operating characteristics</a:t>
            </a:r>
          </a:p>
          <a:p>
            <a:pPr lvl="0"/>
            <a:r>
              <a:rPr/>
              <a:t>cleanTMLE links estimator selection and data-quality threats in one pre-outcome, auditable workflow</a:t>
            </a:r>
          </a:p>
          <a:p>
            <a:pPr lvl="0"/>
            <a:r>
              <a:rPr/>
              <a:t>This is the </a:t>
            </a:r>
            <a:r>
              <a:rPr b="1"/>
              <a:t>software layer</a:t>
            </a:r>
            <a:r>
              <a:rPr/>
              <a:t> of an outcome-blind staged workflow — not a full clean-room governance system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will cover (≈30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Five questions the workflow answers</a:t>
            </a:r>
          </a:p>
          <a:p>
            <a:pPr lvl="0" indent="-342900" marL="342900">
              <a:buAutoNum type="arabicPeriod"/>
            </a:pPr>
            <a:r>
              <a:rPr/>
              <a:t>Outcome-blind staged workflow (and what it does not replace)</a:t>
            </a:r>
          </a:p>
          <a:p>
            <a:pPr lvl="0" indent="-342900" marL="342900">
              <a:buAutoNum type="arabicPeriod"/>
            </a:pPr>
            <a:r>
              <a:rPr/>
              <a:t>From qualitative DQ review to quantitative stress testing</a:t>
            </a:r>
          </a:p>
          <a:p>
            <a:pPr lvl="0" indent="-342900" marL="342900">
              <a:buAutoNum type="arabicPeriod"/>
            </a:pPr>
            <a:r>
              <a:rPr/>
              <a:t>Simulation study</a:t>
            </a:r>
          </a:p>
          <a:p>
            <a:pPr lvl="0" indent="-342900" marL="342900">
              <a:buAutoNum type="arabicPeriod"/>
            </a:pPr>
            <a:r>
              <a:rPr/>
              <a:t>Rescue.Co case study (Kenya Trauma Registry)</a:t>
            </a:r>
          </a:p>
          <a:p>
            <a:pPr lvl="0" indent="-342900" marL="342900">
              <a:buAutoNum type="arabicPeriod"/>
            </a:pPr>
            <a:r>
              <a:rPr/>
              <a:t>What cleanTMLE contributes operationally</a:t>
            </a:r>
          </a:p>
          <a:p>
            <a:pPr lvl="0" indent="-342900" marL="342900">
              <a:buAutoNum type="arabicPeriod"/>
            </a:pPr>
            <a:r>
              <a:rPr/>
              <a:t>Limitations and the 0.2 roadmap</a:t>
            </a:r>
          </a:p>
          <a:p>
            <a:pPr lvl="0" indent="-342900" marL="342900">
              <a:buAutoNum type="arabicPeriod"/>
            </a:pPr>
            <a:r>
              <a:rPr/>
              <a:t>Open questions for collaborators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vs. cleanTMLE approach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489200"/>
                <a:gridCol w="373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cleanTMLE approach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 / estimand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Written SAP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with a fingerprinted analysis 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fitness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Qualitative checklist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Same, plus locked numerical severity ranges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 diagnostics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overlap, balance, SMDs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Tradition, or ad-hoc simulation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Outcome-blind plasmode candidate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Robustness to DQ threats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Qualitative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Plasmode DQ stress test on the same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Pre-outcome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Implicit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Prespecified GO / FLAG / STOP rule, audit-logged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contribution is operational, not a new estimator.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clean-room / staged design?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Muntner-style clean room is </a:t>
            </a:r>
            <a:r>
              <a:rPr b="1"/>
              <a:t>broader than software</a:t>
            </a:r>
            <a:r>
              <a:rPr/>
              <a:t>: role separation, staged access, checkpoint review, audit trail, deviation policy</a:t>
            </a:r>
          </a:p>
          <a:p>
            <a:pPr lvl="0"/>
            <a:r>
              <a:rPr/>
              <a:t>Its purpose is to protect against </a:t>
            </a:r>
            <a:r>
              <a:rPr b="1"/>
              <a:t>outcome-driven protocol drift</a:t>
            </a:r>
            <a:r>
              <a:rPr/>
              <a:t> — decisions revised after seeing the observed A→Y relationship</a:t>
            </a:r>
          </a:p>
          <a:p>
            <a:pPr lvl="0"/>
            <a:r>
              <a:rPr/>
              <a:t>cleanTMLE implements the </a:t>
            </a:r>
            <a:r>
              <a:rPr b="1"/>
              <a:t>software layer</a:t>
            </a:r>
            <a:r>
              <a:rPr/>
              <a:t> of that arrangement: lock, audit, decision logs, internal outcome-access checks</a:t>
            </a:r>
          </a:p>
          <a:p>
            <a:pPr lvl="0"/>
            <a:r>
              <a:rPr/>
              <a:t>Personnel-based clean rooms and simulation-mediated blinding are </a:t>
            </a:r>
            <a:r>
              <a:rPr b="1"/>
              <a:t>complementary</a:t>
            </a:r>
            <a:r>
              <a:rPr/>
              <a:t>: high-stakes studies should embed cleanTMLE inside a personnel-based clean-room arrangement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TMLE?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analyst can </a:t>
            </a:r>
            <a:r>
              <a:rPr b="1"/>
              <a:t>prespecify</a:t>
            </a:r>
            <a:r>
              <a:rPr/>
              <a:t> the estimand, SuperLearner library, truncation rule, targeting procedure, and candidate estimator grid before outcome access</a:t>
            </a:r>
          </a:p>
          <a:p>
            <a:pPr lvl="0"/>
            <a:r>
              <a:rPr/>
              <a:t>Nuisance estimation </a:t>
            </a:r>
            <a:r>
              <a:rPr b="1"/>
              <a:t>remains adaptive</a:t>
            </a:r>
            <a:r>
              <a:rPr/>
              <a:t> under the prespecified library</a:t>
            </a:r>
          </a:p>
          <a:p>
            <a:pPr lvl="0"/>
            <a:r>
              <a:rPr/>
              <a:t>Candidates can be compared </a:t>
            </a:r>
            <a:r>
              <a:rPr b="1"/>
              <a:t>under a common target parameter</a:t>
            </a:r>
            <a:r>
              <a:rPr/>
              <a:t> on an influence-function-based bias / RMSE / coverage scale</a:t>
            </a:r>
          </a:p>
          <a:p>
            <a:pPr lvl="0"/>
            <a:r>
              <a:rPr b="1"/>
              <a:t>Truncation is an estimand choice, not only a tuning knob:</a:t>
            </a:r>
            <a:r>
              <a:rPr/>
              <a:t> different truncation levels imply different effective target populations, so candidates are paired estimator-and-estimand objects</a:t>
            </a:r>
          </a:p>
          <a:p>
            <a:pPr lvl="0"/>
            <a:r>
              <a:rPr/>
              <a:t>The same machinery runs on baseline plasmode and on stress scenarios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plasmode simulation?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PS diagnostics evaluate </a:t>
            </a:r>
            <a:r>
              <a:rPr b="1"/>
              <a:t>design feasibility</a:t>
            </a:r>
            <a:r>
              <a:rPr/>
              <a:t> (overlap, balance, ESS, SMDs), not estimator operating characteristics</a:t>
            </a:r>
          </a:p>
          <a:p>
            <a:pPr lvl="0"/>
            <a:r>
              <a:rPr/>
              <a:t>Plasmode simulation uses the </a:t>
            </a:r>
            <a:r>
              <a:rPr b="1"/>
              <a:t>empirical (W, A) structure</a:t>
            </a:r>
            <a:r>
              <a:rPr/>
              <a:t> with a synthetic Y to compare candidate estimators on bias, RMSE, and coverage</a:t>
            </a:r>
          </a:p>
          <a:p>
            <a:pPr lvl="0"/>
            <a:r>
              <a:rPr/>
              <a:t>Done before primary outcome access, it supports candidate selection without inspecting the observed A→Y association</a:t>
            </a:r>
          </a:p>
          <a:p>
            <a:pPr lvl="0"/>
            <a:r>
              <a:rPr b="1"/>
              <a:t>Caveat:</a:t>
            </a:r>
            <a:r>
              <a:rPr/>
              <a:t> rankings under synthetic outcomes are not guaranteed to generalize to the realized outcome process — the synthetic-outcome mechanism is itself an assumption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DQ stress testing?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Baseline plasmode answers: </a:t>
            </a:r>
            <a:r>
              <a:rPr i="1"/>
              <a:t>which candidate is best under the locked synthetic outcome model?</a:t>
            </a:r>
          </a:p>
          <a:p>
            <a:pPr lvl="0"/>
            <a:r>
              <a:rPr/>
              <a:t>DQ stress testing answers: </a:t>
            </a:r>
            <a:r>
              <a:rPr i="1"/>
              <a:t>does that candidate remain acceptable under prespecified threats from the fit-for-purpose review?</a:t>
            </a:r>
          </a:p>
          <a:p>
            <a:pPr lvl="0"/>
            <a:r>
              <a:rPr/>
              <a:t>The same bias / RMSE / coverage scale is used, so the prespecified GO / FLAG / STOP rule applies uniformly</a:t>
            </a:r>
          </a:p>
          <a:p>
            <a:pPr lvl="0"/>
            <a:r>
              <a:rPr/>
              <a:t>It is a </a:t>
            </a:r>
            <a:r>
              <a:rPr b="1"/>
              <a:t>quantitative checkpoint</a:t>
            </a:r>
            <a:r>
              <a:rPr/>
              <a:t> in a staging-and-clean-room framework, not a substitute for source-data validation, phenotype validation, or post-outcome QBA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just PS diagnostics and negative controls?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PS diagnostics</a:t>
            </a:r>
            <a:r>
              <a:rPr/>
              <a:t> assess overlap, balance, and weight stability — design feasibility, not estimator behaviour</a:t>
            </a:r>
          </a:p>
          <a:p>
            <a:pPr lvl="0"/>
            <a:r>
              <a:rPr b="1"/>
              <a:t>Negative controls</a:t>
            </a:r>
            <a:r>
              <a:rPr/>
              <a:t> can flag residual bias for selected control outcomes, but do not stress-test the primary estimator under prespecified threats</a:t>
            </a:r>
          </a:p>
          <a:p>
            <a:pPr lvl="0"/>
            <a:r>
              <a:rPr b="1"/>
              <a:t>DQ stress testing</a:t>
            </a:r>
            <a:r>
              <a:rPr/>
              <a:t> evaluates whether the locked estimator-selection decision is stable under fit-for-purpose threats translated into quantitative perturbations before the primary A→Y association is inspected</a:t>
            </a:r>
          </a:p>
          <a:p>
            <a:pPr lvl="0"/>
            <a:r>
              <a:rPr/>
              <a:t>The three are complementary; the workflow uses all three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Outcome-blind staged workflow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the package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causal roadmap</a:t>
            </a:r>
            <a:r>
              <a:rPr/>
              <a:t> (Petersen 2014; Dang 2023): question → observed data → identification → estimand → estimator selection → pre-outcome decision → primary analysis → sensitivity</a:t>
            </a:r>
          </a:p>
          <a:p>
            <a:pPr lvl="0"/>
            <a:r>
              <a:rPr/>
              <a:t>cleanTMLE operates in </a:t>
            </a:r>
            <a:r>
              <a:rPr b="1"/>
              <a:t>estimator selection</a:t>
            </a:r>
            <a:r>
              <a:rPr/>
              <a:t> and the </a:t>
            </a:r>
            <a:r>
              <a:rPr b="1"/>
              <a:t>pre-outcome decision</a:t>
            </a:r>
          </a:p>
          <a:p>
            <a:pPr lvl="0"/>
            <a:r>
              <a:rPr/>
              <a:t>Steps before that remain external study-level work</a:t>
            </a:r>
          </a:p>
          <a:p>
            <a:pPr lvl="0"/>
            <a:r>
              <a:rPr/>
              <a:t>cleanTMLE records, checks, and audits the software workflow; personnel-based access control is external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Stage 0</a:t>
            </a:r>
            <a:r>
              <a:rPr/>
              <a:t> — feasibility, target-trial specification, protocol / SAP drafting (external)</a:t>
            </a:r>
          </a:p>
          <a:p>
            <a:pPr lvl="0"/>
            <a:r>
              <a:rPr b="1"/>
              <a:t>Stage 1a</a:t>
            </a:r>
            <a:r>
              <a:rPr/>
              <a:t> — lock estimand, covariates, learners, candidate grid, thresholds</a:t>
            </a:r>
          </a:p>
          <a:p>
            <a:pPr lvl="0"/>
            <a:r>
              <a:rPr b="1"/>
              <a:t>Stage 1b</a:t>
            </a:r>
            <a:r>
              <a:rPr/>
              <a:t> — cohort adequacy and marginal event support</a:t>
            </a:r>
          </a:p>
          <a:p>
            <a:pPr lvl="0"/>
            <a:r>
              <a:rPr b="1"/>
              <a:t>Stage 2a</a:t>
            </a:r>
            <a:r>
              <a:rPr/>
              <a:t> — PS, balance, overlap, ESS, design diagnostics</a:t>
            </a:r>
          </a:p>
          <a:p>
            <a:pPr lvl="0"/>
            <a:r>
              <a:rPr b="1"/>
              <a:t>Stage 2b</a:t>
            </a:r>
            <a:r>
              <a:rPr/>
              <a:t> — baseline plasmode candidate selection</a:t>
            </a:r>
          </a:p>
          <a:p>
            <a:pPr lvl="0"/>
            <a:r>
              <a:rPr b="1"/>
              <a:t>Stage 2c</a:t>
            </a:r>
            <a:r>
              <a:rPr/>
              <a:t> — DQ stress testing</a:t>
            </a:r>
          </a:p>
          <a:p>
            <a:pPr lvl="0"/>
            <a:r>
              <a:rPr b="1"/>
              <a:t>Stage 3</a:t>
            </a:r>
            <a:r>
              <a:rPr/>
              <a:t> (optional) — negative-control outcome checks</a:t>
            </a:r>
          </a:p>
          <a:p>
            <a:pPr lvl="0"/>
            <a:r>
              <a:rPr b="1"/>
              <a:t>Pre-outcome decision</a:t>
            </a:r>
            <a:r>
              <a:rPr/>
              <a:t> — GO / FLAG / STOP from the prespecified rule</a:t>
            </a:r>
          </a:p>
          <a:p>
            <a:pPr lvl="0"/>
            <a:r>
              <a:rPr b="1"/>
              <a:t>Stage 4</a:t>
            </a:r>
            <a:r>
              <a:rPr/>
              <a:t> — authorized primary outcome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records as code artefacts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Fingerprinted </a:t>
            </a:r>
            <a:r>
              <a:rPr b="1"/>
              <a:t>analysis-lock object</a:t>
            </a:r>
            <a:r>
              <a:rPr/>
              <a:t> (sha256 over the lock specification)</a:t>
            </a:r>
          </a:p>
          <a:p>
            <a:pPr lvl="0"/>
            <a:r>
              <a:rPr/>
              <a:t>Serialisable </a:t>
            </a:r>
            <a:r>
              <a:rPr b="1"/>
              <a:t>audit trail</a:t>
            </a:r>
            <a:r>
              <a:rPr/>
              <a:t> and </a:t>
            </a:r>
            <a:r>
              <a:rPr b="1"/>
              <a:t>decision log</a:t>
            </a:r>
          </a:p>
          <a:p>
            <a:pPr lvl="0"/>
            <a:r>
              <a:rPr b="1"/>
              <a:t>Cohort attrition ledger</a:t>
            </a:r>
            <a:r>
              <a:rPr/>
              <a:t> (</a:t>
            </a:r>
            <a:r>
              <a:rPr>
                <a:latin typeface="Courier"/>
              </a:rPr>
              <a:t>attrition_table()</a:t>
            </a:r>
            <a:r>
              <a:rPr/>
              <a:t>) for a code-level CONSORT-style flow</a:t>
            </a:r>
          </a:p>
          <a:p>
            <a:pPr lvl="0"/>
            <a:r>
              <a:rPr/>
              <a:t>Modular </a:t>
            </a:r>
            <a:r>
              <a:rPr b="1"/>
              <a:t>TMLE API</a:t>
            </a:r>
            <a:r>
              <a:rPr/>
              <a:t>: treatment fit, outcome fit, targeting, extract</a:t>
            </a:r>
          </a:p>
          <a:p>
            <a:pPr lvl="0"/>
            <a:r>
              <a:rPr b="1"/>
              <a:t>Estimator spectrum</a:t>
            </a:r>
            <a:r>
              <a:rPr/>
              <a:t> for the binary RD scope: IPTW (stabilised), g-computation (</a:t>
            </a:r>
            <a:r>
              <a:rPr>
                <a:latin typeface="Courier"/>
              </a:rPr>
              <a:t>estimate_gcomprisk()</a:t>
            </a:r>
            <a:r>
              <a:rPr/>
              <a:t>), AIPW (</a:t>
            </a:r>
            <a:r>
              <a:rPr>
                <a:latin typeface="Courier"/>
              </a:rPr>
              <a:t>estimate_aipwrisk()</a:t>
            </a:r>
            <a:r>
              <a:rPr/>
              <a:t>), TMLE, IPCW-TMLE (</a:t>
            </a:r>
            <a:r>
              <a:rPr>
                <a:latin typeface="Courier"/>
              </a:rPr>
              <a:t>run_ipcw_tmle()</a:t>
            </a:r>
            <a:r>
              <a:rPr/>
              <a:t>)</a:t>
            </a:r>
          </a:p>
          <a:p>
            <a:pPr lvl="0"/>
            <a:r>
              <a:rPr/>
              <a:t>IPW Cox-style hazard ratio (</a:t>
            </a:r>
            <a:r>
              <a:rPr>
                <a:latin typeface="Courier"/>
              </a:rPr>
              <a:t>estimate_ipwhr()</a:t>
            </a:r>
            <a:r>
              <a:rPr/>
              <a:t>) for analyses where a hazard-scale estimand is the primary scientific question</a:t>
            </a:r>
          </a:p>
          <a:p>
            <a:pPr lvl="0"/>
            <a:r>
              <a:rPr/>
              <a:t>Outcome-blind </a:t>
            </a:r>
            <a:r>
              <a:rPr b="1"/>
              <a:t>plasmode candidate selector</a:t>
            </a:r>
          </a:p>
          <a:p>
            <a:pPr lvl="0"/>
            <a:r>
              <a:rPr b="1"/>
              <a:t>DQ stress test</a:t>
            </a:r>
            <a:r>
              <a:rPr/>
              <a:t> (</a:t>
            </a:r>
            <a:r>
              <a:rPr>
                <a:latin typeface="Courier"/>
              </a:rPr>
              <a:t>run_plasmode_dq_stress()</a:t>
            </a:r>
            <a:r>
              <a:rPr/>
              <a:t>)</a:t>
            </a:r>
          </a:p>
          <a:p>
            <a:pPr lvl="0"/>
            <a:r>
              <a:rPr b="1"/>
              <a:t>Pre-outcome decision rule</a:t>
            </a:r>
            <a:r>
              <a:rPr/>
              <a:t> producing GO / FLAG / STOP</a:t>
            </a:r>
          </a:p>
          <a:p>
            <a:pPr lvl="0"/>
            <a:r>
              <a:rPr/>
              <a:t>Internal outcome-access checks on Stage 4 estimators until authorised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does </a:t>
            </a:r>
            <a:r>
              <a:rPr i="1"/>
              <a:t>not</a:t>
            </a:r>
            <a:r>
              <a:rPr/>
              <a:t>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not automate target-trial design or phenotype validation</a:t>
            </a:r>
          </a:p>
          <a:p>
            <a:pPr lvl="0"/>
            <a:r>
              <a:rPr/>
              <a:t>Does not validate source data, linkage, or representativeness</a:t>
            </a:r>
          </a:p>
          <a:p>
            <a:pPr lvl="0"/>
            <a:r>
              <a:rPr/>
              <a:t>Does not guarantee exchangeability or positivity</a:t>
            </a:r>
          </a:p>
          <a:p>
            <a:pPr lvl="0"/>
            <a:r>
              <a:rPr/>
              <a:t>Does not replace clean-room personnel governance, role separation, or access controls</a:t>
            </a:r>
          </a:p>
          <a:p>
            <a:pPr lvl="0"/>
            <a:r>
              <a:rPr/>
              <a:t>Does not remove the need for post-outcome sensitivity analyses (E-value, QBA, causal-gap)</a:t>
            </a:r>
          </a:p>
          <a:p>
            <a:pPr lvl="0"/>
            <a:r>
              <a:rPr/>
              <a:t>Does not guarantee that synthetic-outcome rankings generalize to the realized outcome process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Comparing four workflows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863600"/>
                <a:gridCol w="1714500"/>
                <a:gridCol w="1231900"/>
                <a:gridCol w="2451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Standard RWE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Personnel-based clean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cleanTMLE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Hybrid (cleanTMLE inside a clean room)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Outcome-access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Internal 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Estimator-selection flexibility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Moderate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DQ robustness quantification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Depends on plasmode faithfulness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Institutional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preregistration is not enough for RWE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incompleteness and coding limitations emerge during implementation, not at protocol time</a:t>
            </a:r>
          </a:p>
          <a:p>
            <a:pPr lvl="0"/>
            <a:r>
              <a:rPr/>
              <a:t>Sample size, event counts, covariate distributions, and model convergence affect which specifications are feasible</a:t>
            </a:r>
          </a:p>
          <a:p>
            <a:pPr lvl="0"/>
            <a:r>
              <a:rPr/>
              <a:t>Decisions must therefore be made </a:t>
            </a:r>
            <a:r>
              <a:rPr i="1"/>
              <a:t>after</a:t>
            </a:r>
            <a:r>
              <a:rPr/>
              <a:t> data access but </a:t>
            </a:r>
            <a:r>
              <a:rPr i="1"/>
              <a:t>before</a:t>
            </a:r>
            <a:r>
              <a:rPr/>
              <a:t> comparative outcome results are inspected</a:t>
            </a:r>
          </a:p>
          <a:p>
            <a:pPr lvl="0"/>
            <a:r>
              <a:rPr/>
              <a:t>cleanTMLE records those decisions in a decision log and gates the primary analysis behind authorisation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Reviewer-facing pre-outcome dossier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Protocol setup → cohort flow → event counts → overlap / balance → weights / ESS → baseline plasmode → DQ stress test → negative controls → GO / FLAG / STOP → authorisation.</a:t>
            </a:r>
          </a:p>
          <a:p>
            <a:pPr lvl="0" indent="0" marL="0">
              <a:buNone/>
            </a:pPr>
            <a:r>
              <a:rPr/>
              <a:t>The dossier is the artefact the reviewer reads. Comparative treatment-outcome estimates are not part of the dossier and are produced only after authorisation.</a:t>
            </a:r>
          </a:p>
        </p:txBody>
      </p:sp>
    </p:spTree>
  </p:cSld>
</p:sld>
</file>

<file path=ppt/slides/slide2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the review team sees before authorisation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Summary outputs available</a:t></a:r></a:p></a:txBody><a:tcPr /></a:tc><a:tc><a:txBody><a:bodyPr /><a:lstStyle /><a:p><a:pPr lvl="0" indent="0" marL="0"><a:buNone /></a:pPr><a:r><a:rPr /><a:t>Not available</a:t></a:r></a:p></a:txBody><a:tcPr /></a:tc><a:tc><a:txBody><a:bodyPr /><a:lstStyle /><a:p><a:pPr lvl="0" indent="0" marL="0"><a:buNone /></a:pPr><a:r><a:rPr /><a:t>Decision</a:t></a:r></a:p></a:txBody><a:tcPr /></a:tc></a:tr><a:tr h="0"><a:tc><a:txBody><a:bodyPr /><a:lstStyle /><a:p><a:pPr lvl="0" indent="0" marL="0"><a:buNone /></a:pPr><a:r><a:rPr /><a:t>Cohort flow and attrition</a:t></a:r></a:p></a:txBody></a:tc><a:tc><a:txBody><a:bodyPr /><a:lstStyle /><a:p><a:pPr lvl="0" indent="0" marL="0"><a:buNone /></a:pPr><a:r><a:rPr /><a:t>The observed primary </a:t></a:r><a14:m><m:oMath xmlns:m="http://schemas.openxmlformats.org/officeDocument/2006/math"><m:r><m:t>A</m:t></m:r><m:r><m:rPr><m:sty m:val="p" /></m:rPr><m:t>→</m:t></m:r><m:r><m:t>Y</m:t></m:r></m:oMath></a14:m><a:r><a:rPr /><a:t> association</a:t></a:r></a:p></a:txBody></a:tc><a:tc><a:txBody><a:bodyPr /><a:lstStyle /><a:p><a:pPr lvl="0" indent="0" marL="0"><a:buNone /></a:pPr><a:r><a:rPr /><a:t>Proceed (GO)</a:t></a:r></a:p></a:txBody></a:tc></a:tr><a:tr h="0"><a:tc><a:txBody><a:bodyPr /><a:lstStyle /><a:p><a:pPr lvl="0" indent="0" marL="0"><a:buNone /></a:pPr><a:r><a:rPr /><a:t>Event counts and adequacy</a:t></a:r></a:p></a:txBody></a:tc><a:tc><a:txBody><a:bodyPr /><a:lstStyle /><a:p><a:pPr lvl="0" indent="0" marL="0"><a:buNone /></a:pPr><a:r><a:rPr /><a:t>Primary comparative estimate</a:t></a:r></a:p></a:txBody></a:tc><a:tc><a:txBody><a:bodyPr /><a:lstStyle /><a:p><a:pPr lvl="0" indent="0" marL="0"><a:buNone /></a:pPr><a:r><a:rPr /><a:t>Revise / qualify (FLAG)</a:t></a:r></a:p></a:txBody></a:tc></a:tr><a:tr h="0"><a:tc><a:txBody><a:bodyPr /><a:lstStyle /><a:p><a:pPr lvl="0" indent="0" marL="0"><a:buNone /></a:pPr><a:r><a:rPr /><a:t>Missingness summary</a:t></a:r></a:p></a:txBody></a:tc><a:tc><a:txBody><a:bodyPr /><a:lstStyle /><a:p><a:endParaRPr /></a:p></a:txBody></a:tc><a:tc><a:txBody><a:bodyPr /><a:lstStyle /><a:p><a:pPr lvl="0" indent="0" marL="0"><a:buNone /></a:pPr><a:r><a:rPr /><a:t>Stop</a:t></a:r></a:p></a:txBody></a:tc></a:tr><a:tr h="0"><a:tc><a:txBody><a:bodyPr /><a:lstStyle /><a:p><a:pPr lvl="0" indent="0" marL="0"><a:buNone /></a:pPr><a:r><a:rPr /><a:t>PS overlap and balance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Treatment and IPCW weight diagnostics, ESS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Model-convergence diagnostics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Baseline plasmode / DQ stress diagnostics</a:t></a:r></a:p></a:txBody></a:tc><a:tc><a:txBody><a:bodyPr /><a:lstStyle /><a:p><a:endParaRPr /></a:p></a:txBody></a:tc><a:tc><a:txBody><a:bodyPr /><a:lstStyle /><a:p><a:endParaRPr /></a:p></a:txBody></a:tc></a:tr><a:tr h="0"><a:tc><a:txBody><a:bodyPr /><a:lstStyle /><a:p><a:pPr lvl="0" indent="0" marL="0"><a:buNone /></a:pPr><a:r><a:rPr /><a:t>Negative-control results</a:t></a:r></a:p></a:txBody></a:tc><a:tc><a:txBody><a:bodyPr /><a:lstStyle /><a:p><a:endParaRPr /></a:p></a:txBody></a:tc><a:tc><a:txBody><a:bodyPr /><a:lstStyle /><a:p><a:endParaRPr /></a:p></a:txBody></a:tc></a:tr></a:tbl></a:graphicData></a:graphic></p:graphicFrame></p:spTree></p:cSld>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Gated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checkpoint records complete</a:t>
            </a:r>
            <a:r>
              <a:rPr/>
              <a:t> → </a:t>
            </a:r>
            <a:r>
              <a:rPr>
                <a:latin typeface="Courier"/>
              </a:rPr>
              <a:t>authorisation object created</a:t>
            </a:r>
            <a:r>
              <a:rPr/>
              <a:t> → </a:t>
            </a:r>
            <a:r>
              <a:rPr>
                <a:latin typeface="Courier"/>
              </a:rPr>
              <a:t>primary-analysis function allowed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software gate complements external access control; it does not replace it. cleanTMLE cannot prevent a user with raw-data access from inspecting outcomes outside the package.</a:t>
            </a:r>
          </a:p>
        </p:txBody>
      </p:sp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Case-study checkpoint dashboard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511300" /><a:gridCol w="3390900" /><a:gridCol w="2806700" /><a:gridCol w="520700" /></a:tblGrid><a:tr h="0"><a:tc><a:txBody><a:bodyPr /><a:lstStyle /><a:p><a:pPr lvl="0" indent="0" marL="0"><a:buNone /></a:pPr><a:r><a:rPr /><a:t>Stage</a:t></a:r></a:p></a:txBody><a:tcPr /></a:tc><a:tc><a:txBody><a:bodyPr /><a:lstStyle /><a:p><a:pPr lvl="0" indent="0" marL="0"><a:buNone /></a:pPr><a:r><a:rPr /><a:t>Evidence</a:t></a:r></a:p></a:txBody><a:tcPr /></a:tc><a:tc><a:txBody><a:bodyPr /><a:lstStyle /><a:p><a:pPr lvl="0" indent="0" marL="0"><a:buNone /></a:pPr><a:r><a:rPr /><a:t>Threshold</a:t></a:r></a:p></a:txBody><a:tcPr /></a:tc><a:tc><a:txBody><a:bodyPr /><a:lstStyle /><a:p><a:pPr lvl="0" indent="0" marL="0" algn="ctr"><a:buNone /></a:pPr><a:r><a:rPr /><a:t>Decision</a:t></a:r></a:p></a:txBody><a:tcPr /></a:tc></a:tr><a:tr h="0"><a:tc><a:txBody><a:bodyPr /><a:lstStyle /><a:p><a:pPr lvl="0" indent="0" marL="0"><a:buNone /></a:pPr><a:r><a:rPr /><a:t>Stage 0 protocol/setup</a:t></a:r></a:p></a:txBody></a:tc><a:tc><a:txBody><a:bodyPr /><a:lstStyle /><a:p><a:pPr lvl="0" indent="0" marL="0"><a:buNone /></a:pPr><a:r><a:rPr /><a:t>Target-trial timing table, SAP, lock fingerprint</a:t></a:r></a:p></a:txBody></a:tc><a:tc><a:txBody><a:bodyPr /><a:lstStyle /><a:p><a:pPr lvl="0" indent="0" marL="0"><a:buNone /></a:pPr><a:r><a:rPr /><a:t>All design elements specified before data access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1b cohort adequacy</a:t></a:r></a:p></a:txBody></a:tc><a:tc><a:txBody><a:bodyPr /><a:lstStyle /><a:p><a:pPr lvl="0" indent="0" marL="0"><a:buNone /></a:pPr><a:r><a:rPr><a:latin typeface="Courier" /></a:rPr><a:t>checkpoint_cohort_adequacy()</a:t></a:r><a:r><a:rPr /><a:t>, attrition table</a:t></a:r></a:p></a:txBody></a:tc><a:tc><a:txBody><a:bodyPr /><a:lstStyle /><a:p><a:pPr lvl="0" indent="0" marL="0"><a:buNone /></a:pPr><a:r><a:rPr /><a:t>min_n_per_arm = 200; min_events = 50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2a overlap / balance</a:t></a:r></a:p></a:txBody></a:tc><a:tc><a:txBody><a:bodyPr /><a:lstStyle /><a:p><a:pPr lvl="0" indent="0" marL="0"><a:buNone /></a:pPr><a:r><a:rPr /><a:t>PS in [0.21, 0.81]; SMDs balanced; ESS retention 78 %</a:t></a:r></a:p></a:txBody></a:tc><a:tc><a:txBody><a:bodyPr /><a:lstStyle /><a:p><a:pPr lvl="0" indent="0" marL="0"><a:buNone /></a:pPr><a:r><a:rPr /><a:t>PS in [0.01, 0.99]; SMD &lt;= 0.10; max weight &lt;= 10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2b baseline plasmode</a:t></a:r></a:p></a:txBody></a:tc><a:tc><a:txBody><a:bodyPr /><a:lstStyle /><a:p><a:pPr lvl="0" indent="0" marL="0"><a:buNone /></a:pPr><a:r><a:rPr /><a:t>bias &lt; 0.001; coverage 0.94</a:t></a:r></a:p></a:txBody></a:tc><a:tc><a:txBody><a:bodyPr /><a:lstStyle /><a:p><a:pPr lvl="0" indent="0" marL="0"><a:buNone /></a:pPr><a:r><a:rPr /><a:t>bias &lt;= 0.01; coverage &gt;= 0.90; SE/SD in (0.8, 1.2)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2c DQ stress</a:t></a:r></a:p></a:txBody></a:tc><a:tc><a:txBody><a:bodyPr /><a:lstStyle /><a:p><a:pPr lvl="0" indent="0" marL="0"><a:buNone /></a:pPr><a:r><a:rPr /><a:t>Minimax rule selects </a:t></a:r><a:r><a:rPr><a:latin typeface="Courier" /></a:rPr><a:t>glm_t01</a:t></a:r></a:p></a:txBody></a:tc><a:tc><a:txBody><a:bodyPr /><a:lstStyle /><a:p><a:pPr lvl="0" indent="0" marL="0"><a:buNone /></a:pPr><a:r><a:rPr /><a:t>Each scenario within thresholds across severities</a:t></a:r></a:p></a:txBody></a:tc><a:tc><a:txBody><a:bodyPr /><a:lstStyle /><a:p><a:pPr lvl="0" indent="0" marL="0" algn="ctr"><a:buNone /></a:pPr><a:r><a:rPr /><a:t>GO</a:t></a:r></a:p></a:txBody></a:tc></a:tr><a:tr h="0"><a:tc><a:txBody><a:bodyPr /><a:lstStyle /><a:p><a:pPr lvl="0" indent="0" marL="0"><a:buNone /></a:pPr><a:r><a:rPr /><a:t>Stage 3 negative controls</a:t></a:r></a:p></a:txBody></a:tc><a:tc><a:txBody><a:bodyPr /><a:lstStyle /><a:p><a:pPr lvl="0" indent="0" marL="0"><a:buNone /></a:pPr><a:r><a:rPr /><a:t>2 of 5 NCs survived NZV; both pass</a:t></a:r></a:p></a:txBody></a:tc><a:tc><a:txBody><a:bodyPr /><a:lstStyle /><a:p><a:pPr lvl="0" indent="0" marL="0"><a:buNone /></a:pPr><a:r><a:rPr /><a:t>All analysed NCs pass at </a:t></a:r><a14:m><m:oMath xmlns:m="http://schemas.openxmlformats.org/officeDocument/2006/math"><m:r><m:t>α</m:t></m:r><m:r><m:rPr><m:sty m:val="p" /></m:rPr><m:t>=</m:t></m:r><m:r><m:t>0.05</m:t></m:r></m:oMath></a14:m></a:p></a:txBody></a:tc><a:tc><a:txBody><a:bodyPr /><a:lstStyle /><a:p><a:pPr lvl="0" indent="0" marL="0" algn="ctr"><a:buNone /></a:pPr><a:r><a:rPr /><a:t>GO with FLAG</a:t></a:r></a:p></a:txBody></a:tc></a:tr><a:tr h="0"><a:tc><a:txBody><a:bodyPr /><a:lstStyle /><a:p><a:pPr lvl="0" indent="0" marL="0"><a:buNone /></a:pPr><a:r><a:rPr /><a:t>Gate authorisation</a:t></a:r></a:p></a:txBody></a:tc><a:tc><a:txBody><a:bodyPr /><a:lstStyle /><a:p><a:pPr lvl="0" indent="0" marL="0"><a:buNone /></a:pPr><a:r><a:rPr><a:latin typeface="Courier" /></a:rPr><a:t>authorize_outcome_analysis()</a:t></a:r></a:p></a:txBody></a:tc><a:tc><a:txBody><a:bodyPr /><a:lstStyle /><a:p><a:pPr lvl="0" indent="0" marL="0"><a:buNone /></a:pPr><a:r><a:rPr /><a:t>All preceding GO or documented FLAG</a:t></a:r></a:p></a:txBody></a:tc><a:tc><a:txBody><a:bodyPr /><a:lstStyle /><a:p><a:pPr lvl="0" indent="0" marL="0" algn="ctr"><a:buNone /></a:pPr><a:r><a:rPr /><a:t>GO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qualitative DQ review to quantitative stress testing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translation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Fit-for-purpose concern</a:t>
            </a:r>
            <a:r>
              <a:rPr/>
              <a:t> → exposure definition, outcome ascertainment, covariate completeness, unmeasured confounding</a:t>
            </a:r>
          </a:p>
          <a:p>
            <a:pPr lvl="0"/>
            <a:r>
              <a:rPr b="1"/>
              <a:t>Plasmode input</a:t>
            </a:r>
            <a:r>
              <a:rPr/>
              <a:t> → (sens, spec), missingness fraction, latent U parameters</a:t>
            </a:r>
          </a:p>
          <a:p>
            <a:pPr lvl="0"/>
            <a:r>
              <a:rPr b="1"/>
              <a:t>Output</a:t>
            </a:r>
            <a:r>
              <a:rPr/>
              <a:t> → bias, RMSE, coverage, type I error</a:t>
            </a:r>
          </a:p>
          <a:p>
            <a:pPr lvl="0"/>
            <a:r>
              <a:rPr b="1"/>
              <a:t>Decision</a:t>
            </a:r>
            <a:r>
              <a:rPr/>
              <a:t> → GO / FLAG / STOP</a:t>
            </a:r>
          </a:p>
          <a:p>
            <a:pPr lvl="0" indent="0" marL="0">
              <a:buNone/>
            </a:pPr>
            <a:r>
              <a:rPr/>
              <a:t>The prespecified severity ranges turn qualitative DQ language into auditable numbers.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information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Fit-for-purpose review identifies plausible threats.</a:t>
            </a:r>
          </a:p>
          <a:p>
            <a:pPr lvl="0" indent="-342900" marL="342900">
              <a:buAutoNum type="arabicPeriod"/>
            </a:pPr>
            <a:r>
              <a:rPr/>
              <a:t>Threats are translated into quantitative severity ranges.</a:t>
            </a:r>
          </a:p>
          <a:p>
            <a:pPr lvl="0" indent="-342900" marL="342900">
              <a:buAutoNum type="arabicPeriod"/>
            </a:pPr>
            <a:r>
              <a:rPr/>
              <a:t>Severity ranges are locked before primary outcome access.</a:t>
            </a:r>
          </a:p>
          <a:p>
            <a:pPr lvl="0" indent="-342900" marL="342900">
              <a:buAutoNum type="arabicPeriod"/>
            </a:pPr>
            <a:r>
              <a:rPr/>
              <a:t>Synthetic outcomes are generated and perturbed under each scenario.</a:t>
            </a:r>
          </a:p>
          <a:p>
            <a:pPr lvl="0" indent="-342900" marL="342900">
              <a:buAutoNum type="arabicPeriod"/>
            </a:pPr>
            <a:r>
              <a:rPr/>
              <a:t>Candidate estimators are evaluated using the same metrics as the baseline plasmode.</a:t>
            </a:r>
          </a:p>
          <a:p>
            <a:pPr lvl="0" indent="-342900" marL="342900">
              <a:buAutoNum type="arabicPeriod"/>
            </a:pPr>
            <a:r>
              <a:rPr/>
              <a:t>The prespecified GO / FLAG / STOP rule is applied.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prespecified threats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438400" /><a:gridCol w="3581400" /><a:gridCol w="2197100" /></a:tblGrid><a:tr h="0"><a:tc><a:txBody><a:bodyPr /><a:lstStyle /><a:p><a:pPr lvl="0" indent="0" marL="0"><a:buNone /></a:pPr><a:r><a:rPr /><a:t>Threat</a:t></a:r></a:p></a:txBody><a:tcPr /></a:tc><a:tc><a:txBody><a:bodyPr /><a:lstStyle /><a:p><a:pPr lvl="0" indent="0" marL="0"><a:buNone /></a:pPr><a:r><a:rPr /><a:t>Mechanism</a:t></a:r></a:p></a:txBody><a:tcPr /></a:tc><a:tc><a:txBody><a:bodyPr /><a:lstStyle /><a:p><a:pPr lvl="0" indent="0" marL="0"><a:buNone /></a:pPr><a:r><a:rPr /><a:t>Severity parameters</a:t></a:r></a:p></a:txBody><a:tcPr /></a:tc></a:tr><a:tr h="0"><a:tc><a:txBody><a:bodyPr /><a:lstStyle /><a:p><a:pPr lvl="0" indent="0" marL="0"><a:buNone /></a:pPr><a:r><a:rPr /><a:t>Covariate missingness</a:t></a:r></a:p></a:txBody></a:tc><a:tc><a:txBody><a:bodyPr /><a:lstStyle /><a:p><a:pPr lvl="0" indent="0" marL="0"><a:buNone /></a:pPr><a:r><a:rPr /><a:t>MCAR on a covariate subset, median impute</a:t></a:r></a:p></a:txBody></a:tc><a:tc><a:txBody><a:bodyPr /><a:lstStyle /><a:p><a:pPr lvl="0" indent="0" marL="0"><a:buNone /></a:pPr><a:r><a:rPr /><a:t>proportion missing</a:t></a:r></a:p></a:txBody></a:tc></a:tr><a:tr h="0"><a:tc><a:txBody><a:bodyPr /><a:lstStyle /><a:p><a:pPr lvl="0" indent="0" marL="0"><a:buNone /></a:pPr><a:r><a:rPr /><a:t>Exposure misclassification</a:t></a:r></a:p></a:txBody></a:tc><a:tc><a:txBody><a:bodyPr /><a:lstStyle /><a:p><a:pPr lvl="0" indent="0" marL="0"><a:buNone /></a:pPr><a:r><a:rPr /><a:t>Flip A with given (sens, spec)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Outcome misclassification</a:t></a:r></a:p></a:txBody></a:tc><a:tc><a:txBody><a:bodyPr /><a:lstStyle /><a:p><a:pPr lvl="0" indent="0" marL="0"><a:buNone /></a:pPr><a:r><a:rPr /><a:t>Flip Y with given (sens, spec), optional differential</a:t></a:r></a:p></a:txBody></a:tc><a:tc><a:txBody><a:bodyPr /><a:lstStyle /><a:p><a:pPr lvl="0" indent="0" marL="0"><a:buNone /></a:pPr><a:r><a:rPr /><a:t>(sens, spec) pairs</a:t></a:r></a:p></a:txBody></a:tc></a:tr><a:tr h="0"><a:tc><a:txBody><a:bodyPr /><a:lstStyle /><a:p><a:pPr lvl="0" indent="0" marL="0"><a:buNone /></a:pPr><a:r><a:rPr /><a:t>Unmeasured confounding</a:t></a:r></a:p></a:txBody></a:tc><a:tc><a:txBody><a:bodyPr /><a:lstStyle /><a:p><a:pPr lvl="0" indent="0" marL="0"><a:buNone /></a:pPr><a:r><a:rPr /><a:t>Latent U shifts both A and Y</a:t></a:r></a:p></a:txBody></a:tc><a:tc><a:txBody><a:bodyPr /><a:lstStyle /><a:p><a:pPr lvl="0" indent="0" marL="0"><a:buNone /></a:pPr><a14:m><m:oMath xmlns:m="http://schemas.openxmlformats.org/officeDocument/2006/math"><m:sSub><m:e><m:r><m:t>β</m:t></m:r></m:e><m:sub><m:r><m:t>U</m:t></m:r><m:r><m:t>A</m:t></m:r></m:sub></m:sSub></m:oMath></a14:m><a:r><a:rPr /><a:t>, </a:t></a:r><a14:m><m:oMath xmlns:m="http://schemas.openxmlformats.org/officeDocument/2006/math"><m:sSub><m:e><m:r><m:t>β</m:t></m:r></m:e><m:sub><m:r><m:t>U</m:t></m:r><m:r><m:t>Y</m:t></m:r></m:sub></m:sSub></m:oMath></a14:m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cell reports the same triple as the baseline plasmode: bias, RMSE, coverage.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Degradation gradient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dose-response curve for estimator fragility.</a:t>
            </a:r>
          </a:p>
          <a:p>
            <a:pPr lvl="0"/>
            <a:r>
              <a:rPr b="1"/>
              <a:t>x-axis</a:t>
            </a:r>
            <a:r>
              <a:rPr/>
              <a:t>: severity of a prespecified DQ threat</a:t>
            </a:r>
          </a:p>
          <a:p>
            <a:pPr lvl="0"/>
            <a:r>
              <a:rPr b="1"/>
              <a:t>y-axis</a:t>
            </a:r>
            <a:r>
              <a:rPr/>
              <a:t>: bias, RMSE, coverage, or type I error</a:t>
            </a:r>
          </a:p>
          <a:p>
            <a:pPr lvl="0"/>
            <a:r>
              <a:rPr b="1"/>
              <a:t>Robust candidate</a:t>
            </a:r>
            <a:r>
              <a:rPr/>
              <a:t>: shallow gradient, stays inside the locked threshold across plausible severities</a:t>
            </a:r>
          </a:p>
          <a:p>
            <a:pPr lvl="0"/>
            <a:r>
              <a:rPr b="1"/>
              <a:t>Fragile candidate</a:t>
            </a:r>
            <a:r>
              <a:rPr/>
              <a:t>: cliff — a small severity increase pushes bias or coverage past the threshold</a:t>
            </a:r>
          </a:p>
          <a:p>
            <a:pPr lvl="0"/>
            <a:r>
              <a:rPr/>
              <a:t>A horizontal line on the plot marks the prespecified decision threshold</a:t>
            </a:r>
          </a:p>
          <a:p>
            <a:pPr lvl="0" indent="0" marL="0">
              <a:buNone/>
            </a:pPr>
            <a:r>
              <a:rPr/>
              <a:t>The gradient answers: </a:t>
            </a:r>
            <a:r>
              <a:rPr i="1"/>
              <a:t>how severe must the degradation be before this candidate fails the locked decision criteria?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test does </a:t>
            </a:r>
            <a:r>
              <a:rPr i="1"/>
              <a:t>not</a:t>
            </a:r>
            <a:r>
              <a:rPr/>
              <a:t> assess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provenance or linkage accuracy</a:t>
            </a:r>
          </a:p>
          <a:p>
            <a:pPr lvl="0"/>
            <a:r>
              <a:rPr/>
              <a:t>Phenotype validity for a specific endpoint</a:t>
            </a:r>
          </a:p>
          <a:p>
            <a:pPr lvl="0"/>
            <a:r>
              <a:rPr/>
              <a:t>Representativeness of the source</a:t>
            </a:r>
          </a:p>
          <a:p>
            <a:pPr lvl="0"/>
            <a:r>
              <a:rPr/>
              <a:t>Regulatory acceptability of the data source</a:t>
            </a:r>
          </a:p>
          <a:p>
            <a:pPr lvl="0" indent="0" marL="0">
              <a:buNone/>
            </a:pPr>
            <a:r>
              <a:rPr/>
              <a:t>The DQ stress test is a quantitative supplement to fit-for-purpose review, not formal causal sensitivity analysis and not a replacement for post-outcome quantitative bias analysis.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Simulation study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  <a:r>
                  <a:rPr/>
                  <a:t> per replicate, 200 replicates per scenario</a:t>
                </a:r>
              </a:p>
              <a:p>
                <a:pPr lvl="0"/>
                <a:r>
                  <a:rPr/>
                  <a:t>Six estimators: Crude, IPTW, PS Match, TMLE, TMLE_CF (CV-TMLE), Match_TMLE</a:t>
                </a:r>
              </a:p>
              <a:p>
                <a:pPr lvl="0"/>
                <a:r>
                  <a:rPr/>
                  <a:t>Three Monte Carlo scenarios:</a:t>
                </a:r>
              </a:p>
              <a:p>
                <a:pPr lvl="1"/>
                <a:r>
                  <a:rPr b="1"/>
                  <a:t>A</a:t>
                </a:r>
                <a:r>
                  <a:rPr/>
                  <a:t>: good overlap (benchmark)</a:t>
                </a:r>
              </a:p>
              <a:p>
                <a:pPr lvl="1"/>
                <a:r>
                  <a:rPr b="1"/>
                  <a:t>B</a:t>
                </a:r>
                <a:r>
                  <a:rPr/>
                  <a:t>: marginal overlap</a:t>
                </a:r>
              </a:p>
              <a:p>
                <a:pPr lvl="1"/>
                <a:r>
                  <a:rPr b="1"/>
                  <a:t>C</a:t>
                </a:r>
                <a:r>
                  <a:rPr/>
                  <a:t>: unmeasured confounding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shifts both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DQ stress sweep at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reps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200</m:t>
                    </m:r>
                  </m:oMath>
                </a14:m>
                <a:r>
                  <a:rPr/>
                  <a:t> for each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A: benchmark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adjusted estimators recover the truth</a:t>
            </a:r>
          </a:p>
          <a:p>
            <a:pPr lvl="0"/>
            <a:r>
              <a:rPr/>
              <a:t>Bias well under the prespecified 0.02 threshold</a:t>
            </a:r>
          </a:p>
          <a:p>
            <a:pPr lvl="0"/>
            <a:r>
              <a:rPr/>
              <a:t>Coverage at nominal 95%</a:t>
            </a:r>
          </a:p>
          <a:p>
            <a:pPr lvl="0"/>
            <a:r>
              <a:rPr/>
              <a:t>Crude estimator has substantial residual confounding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B: marginal 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TMLE and CV-TMLE hold bias small relative to empirical SD</a:t>
            </a:r>
          </a:p>
          <a:p>
            <a:pPr lvl="0"/>
            <a:r>
              <a:rPr/>
              <a:t>IPTW: SE-to-SD ratio above one (IF-variance treats PS as known)</a:t>
            </a:r>
          </a:p>
          <a:p>
            <a:pPr lvl="0"/>
            <a:r>
              <a:rPr/>
              <a:t>Matched TMLE: SE-to-SD ratio ≈ 2 (post-match TMLE ignores matching draw)</a:t>
            </a:r>
          </a:p>
          <a:p>
            <a:pPr lvl="0"/>
            <a:r>
              <a:rPr/>
              <a:t>Plasmode-selected specification adapts truncation upward</a:t>
            </a:r>
          </a:p>
          <a:p>
            <a:pPr lvl="0"/>
            <a:r>
              <a:rPr b="1"/>
              <a:t>Decision: GO with FLAG</a:t>
            </a:r>
            <a:r>
              <a:rPr/>
              <a:t> on IPTW SE calibration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 C: unmeasured confounding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Every estimator biased in the same direction (no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-only adjustment removes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The U-shift DQ row pushes the absolute bias above </a:t>
                </a:r>
                <a:r>
                  <a:rPr>
                    <a:latin typeface="Courier"/>
                  </a:rPr>
                  <a:t>max_abs_bias</a:t>
                </a:r>
              </a:p>
              <a:p>
                <a:pPr lvl="0"/>
                <a:r>
                  <a:rPr b="1"/>
                  <a:t>Decision: STOP</a:t>
                </a:r>
                <a:r>
                  <a:rPr/>
                  <a:t> — under the workflow, the primary analysis should not be run or interpreted without redesign, additional validation, narrowing of the claim, or documented override</a:t>
                </a:r>
              </a:p>
              <a:p>
                <a:pPr lvl="0"/>
                <a:r>
                  <a:rPr/>
                  <a:t>The DQ supplement is what makes the failure unambiguous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DQ degradation gradient — what we observed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Covariate missingness</a:t>
            </a:r>
            <a:r>
              <a:rPr/>
              <a:t> — flat (MCAR + median imputation is unbiased by construction; weak test)</a:t>
            </a:r>
          </a:p>
          <a:p>
            <a:pPr lvl="0"/>
            <a:r>
              <a:rPr b="1"/>
              <a:t>Exposure misclassification</a:t>
            </a:r>
            <a:r>
              <a:rPr/>
              <a:t> — bias rises toward null; coverage of the pre-misclassification estimand drops</a:t>
            </a:r>
          </a:p>
          <a:p>
            <a:pPr lvl="0"/>
            <a:r>
              <a:rPr b="1"/>
              <a:t>Outcome misclassification (0.90, 0.95)</a:t>
            </a:r>
            <a:r>
              <a:rPr/>
              <a:t> — largest bias of the three measurement threats, especially when differential</a:t>
            </a:r>
          </a:p>
          <a:p>
            <a:pPr lvl="0"/>
            <a:r>
              <a:rPr b="1"/>
              <a:t>Unmeasured confounding</a:t>
            </a:r>
            <a:r>
              <a:rPr/>
              <a:t> — largest degradation; only threat that pushes RMSE ratio above 1.5</a:t>
            </a:r>
          </a:p>
          <a:p>
            <a:pPr lvl="0" indent="0" marL="0">
              <a:buNone/>
            </a:pPr>
            <a:r>
              <a:rPr/>
              <a:t>The DQ test is most informative when the threat targets identification or measurement validity rather than ordinary estimator variance.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Rescue.Co (Kenya Trauma Registry)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Rescue.Co operates motorcycle-based trauma transport in Nairobi</a:t>
                </a:r>
              </a:p>
              <a:p>
                <a:pPr lvl="0"/>
                <a:r>
                  <a:rPr/>
                  <a:t>Question: does Rescue.Co transport (vs. self-/other-arranged) improve 6-month functional outcome?</a:t>
                </a:r>
              </a:p>
              <a:p>
                <a:pPr lvl="0"/>
                <a:r>
                  <a:rPr/>
                  <a:t>Outcome: GOSE &gt; 4 at 6 months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,</m:t>
                    </m:r>
                    <m:r>
                      <m:t>693</m:t>
                    </m:r>
                  </m:oMath>
                </a14:m>
                <a:r>
                  <a:rPr/>
                  <a:t> eligible; 24.6 % outcome missingness</a:t>
                </a:r>
              </a:p>
              <a:p>
                <a:pPr lvl="0" indent="0" marL="0">
                  <a:buNone/>
                </a:pPr>
                <a:r>
                  <a:rPr i="1"/>
                  <a:t>This case study demonstrates auditability and workflow behaviour; it is not intended as evidence that Rescue.Co transport has a causal effect.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Pre-outcome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Stage 1a lock: 18 baseline covariates, IPCW for missingness, six prespecified estimators</a:t>
            </a:r>
          </a:p>
          <a:p>
            <a:pPr lvl="0"/>
            <a:r>
              <a:rPr/>
              <a:t>Stage 1b: cohort adequacy and marginal event support pass</a:t>
            </a:r>
          </a:p>
          <a:p>
            <a:pPr lvl="0"/>
            <a:r>
              <a:rPr/>
              <a:t>Stage 2a: PS in [0.21, 0.81]; balanced SMDs; ESS retention 78 %</a:t>
            </a:r>
          </a:p>
          <a:p>
            <a:pPr lvl="0"/>
            <a:r>
              <a:rPr/>
              <a:t>Stage 2b plasmode: 50 replicates; bias &lt; 0.001; coverage 0.94</a:t>
            </a:r>
          </a:p>
          <a:p>
            <a:pPr lvl="0"/>
            <a:r>
              <a:rPr/>
              <a:t>Stage 2c DQ stress: minimax rule selects </a:t>
            </a:r>
            <a:r>
              <a:rPr>
                <a:latin typeface="Courier"/>
              </a:rPr>
              <a:t>glm_t01</a:t>
            </a:r>
          </a:p>
          <a:p>
            <a:pPr lvl="0"/>
            <a:r>
              <a:rPr/>
              <a:t>Stage 3 (optional NC): 2 of 5 prespecified NCs survive NZV filtering and both pass; narrower panel than the SAP specified, recorded in the audit log</a:t>
            </a:r>
          </a:p>
          <a:p>
            <a:pPr lvl="0"/>
            <a:r>
              <a:rPr b="1"/>
              <a:t>Decision: GO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estimates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3556000"/>
                <a:gridCol w="558800"/>
                <a:gridCol w="723900"/>
                <a:gridCol w="1536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Crude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(0.003, 0.071)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 matching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(-0.020, 0.074)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IPTW (stabilised)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(0.002, 0.071)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eligible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(-0.001, 0.062)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Matched-cohort TMLE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Matched subset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(-0.015, 0.067)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TMLE w/ IPCW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Complete-outcome rows, weighted to full-cohort target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(-0.000, 0.066)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estimators agree on direction; primary TMLE 95% CI crosses zero.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All six estimators agree on direction (RD 0.026 to 0.037 favouring Rescue.Co)</a:t>
            </a:r>
          </a:p>
          <a:p>
            <a:pPr lvl="0"/>
            <a:r>
              <a:rPr/>
              <a:t>The prespecified primary TMLE 95% CI crosses zero</a:t>
            </a:r>
          </a:p>
          <a:p>
            <a:pPr lvl="0"/>
            <a:r>
              <a:rPr/>
              <a:t>A 0.0012 additive bias would push the lower CI bound across zero (a CI-tipping-point distance, not a full QBA)</a:t>
            </a:r>
          </a:p>
          <a:p>
            <a:pPr lvl="0"/>
            <a:r>
              <a:rPr/>
              <a:t>The audit log captures every analytic decision, including the three NC drops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cleanTMLE contributes operationally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Auditable analysis lock</a:t>
            </a:r>
            <a:r>
              <a:rPr/>
              <a:t> with sha256 fingerprint</a:t>
            </a:r>
          </a:p>
          <a:p>
            <a:pPr lvl="0"/>
            <a:r>
              <a:rPr b="1"/>
              <a:t>Outcome-access checks</a:t>
            </a:r>
            <a:r>
              <a:rPr/>
              <a:t> inside exported functions</a:t>
            </a:r>
          </a:p>
          <a:p>
            <a:pPr lvl="0"/>
            <a:r>
              <a:rPr b="1"/>
              <a:t>Baseline plasmode estimator selection</a:t>
            </a:r>
            <a:r>
              <a:rPr/>
              <a:t> under the locked DGP</a:t>
            </a:r>
          </a:p>
          <a:p>
            <a:pPr lvl="0"/>
            <a:r>
              <a:rPr b="1"/>
              <a:t>DQ stress testing</a:t>
            </a:r>
            <a:r>
              <a:rPr/>
              <a:t> using the same performance metrics, on the same scale</a:t>
            </a:r>
          </a:p>
          <a:p>
            <a:pPr lvl="0"/>
            <a:r>
              <a:rPr b="1"/>
              <a:t>GO / FLAG / STOP</a:t>
            </a:r>
            <a:r>
              <a:rPr/>
              <a:t> checkpoint record</a:t>
            </a:r>
          </a:p>
          <a:p>
            <a:pPr lvl="0"/>
            <a:r>
              <a:rPr/>
              <a:t>A </a:t>
            </a:r>
            <a:r>
              <a:rPr b="1"/>
              <a:t>reproducible bridge</a:t>
            </a:r>
            <a:r>
              <a:rPr/>
              <a:t> between fit-for-purpose concerns and estimator choice</a:t>
            </a:r>
          </a:p>
          <a:p>
            <a:pPr lvl="0" indent="0" marL="0">
              <a:buNone/>
            </a:pPr>
            <a:r>
              <a:rPr/>
              <a:t>The claim is integration and auditability, not a new estimator.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not new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Targeted learning (van der Laan, Petersen, Gruber, Schuler, …)</a:t>
            </a:r>
          </a:p>
          <a:p>
            <a:pPr lvl="0"/>
            <a:r>
              <a:rPr/>
              <a:t>Plasmode simulation for candidate selection (Franklin 2014; Schuler 2017; Dang 2023)</a:t>
            </a:r>
          </a:p>
          <a:p>
            <a:pPr lvl="0"/>
            <a:r>
              <a:rPr/>
              <a:t>Outcome blinding as a governance idea (Muntner 2024; Kent 2026)</a:t>
            </a:r>
          </a:p>
          <a:p>
            <a:pPr lvl="0"/>
            <a:r>
              <a:rPr/>
              <a:t>Quantitative bias analysis (Lash 2014), which remains a post-outcome activity distinct from the pre-outcome DQ stress screen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Synthetic-outcome mechanism may not rank estimators the same way as the realized outcome process</a:t>
            </a:r>
          </a:p>
          <a:p>
            <a:pPr lvl="0"/>
            <a:r>
              <a:rPr/>
              <a:t>v0.1 scope: binary point exposure, binary outcome, marginal RD; outcome missingness handled through complete-case and IPCW sensitivity paths under prespecified missingness assumptions</a:t>
            </a:r>
          </a:p>
          <a:p>
            <a:pPr lvl="0"/>
            <a:r>
              <a:rPr/>
              <a:t>DQ stress testing is not formal causal sensitivity analysis</a:t>
            </a:r>
          </a:p>
          <a:p>
            <a:pPr lvl="0"/>
            <a:r>
              <a:rPr/>
              <a:t>Software cannot replace role separation or source-data validation</a:t>
            </a:r>
          </a:p>
          <a:p>
            <a:pPr lvl="0"/>
            <a:r>
              <a:rPr/>
              <a:t>Severity ranges require external justification (validation studies, profiling, expert elicitation)</a:t>
            </a:r>
          </a:p>
          <a:p>
            <a:pPr lvl="0"/>
            <a:r>
              <a:rPr/>
              <a:t>Decision-threshold defaults are heuristic; analysts set them from study context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steps (cleanTMLE 0.2)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 and MNAR missingness in the DQ stress test</a:t>
            </a:r>
          </a:p>
          <a:p>
            <a:pPr lvl="0"/>
            <a:r>
              <a:rPr/>
              <a:t>Time-window confounders (strike windows, calendar-time shocks)</a:t>
            </a:r>
          </a:p>
          <a:p>
            <a:pPr lvl="0"/>
            <a:r>
              <a:rPr/>
              <a:t>Inter-facility transfer imbalance as a built-in scenario</a:t>
            </a:r>
          </a:p>
          <a:p>
            <a:pPr lvl="0"/>
            <a:r>
              <a:rPr/>
              <a:t>Time-to-event endpoints via composition with </a:t>
            </a:r>
            <a:r>
              <a:rPr>
                <a:latin typeface="Courier"/>
              </a:rPr>
              <a:t>survtmle</a:t>
            </a:r>
            <a:r>
              <a:rPr/>
              <a:t> and </a:t>
            </a:r>
            <a:r>
              <a:rPr>
                <a:latin typeface="Courier"/>
              </a:rPr>
              <a:t>lmtp</a:t>
            </a:r>
          </a:p>
          <a:p>
            <a:pPr lvl="0"/>
            <a:r>
              <a:rPr/>
              <a:t>Reference-paper-driven </a:t>
            </a:r>
            <a:r>
              <a:rPr>
                <a:latin typeface="Courier"/>
              </a:rPr>
              <a:t>data_quality_scenarios.yml</a:t>
            </a:r>
            <a:r>
              <a:rPr/>
              <a:t> ingesting validation-literature parameters and attaching citations to the audit log</a:t>
            </a:r>
          </a:p>
          <a:p>
            <a:pPr lvl="0"/>
            <a:r>
              <a:rPr/>
              <a:t>Bootstrap variance for IPTW and matched TMLE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questions for collaborators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 want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Severity-range calibration</a:t>
            </a:r>
            <a:r>
              <a:rPr/>
              <a:t> — how to elicit and document </a:t>
            </a:r>
            <a:r>
              <a:rPr>
                <a:latin typeface="Courier"/>
              </a:rPr>
              <a:t>(sens, spec)</a:t>
            </a:r>
            <a:r>
              <a:rPr/>
              <a:t>, missingness, and U-shift ranges in a way a reviewer accepts</a:t>
            </a:r>
          </a:p>
          <a:p>
            <a:pPr lvl="0" indent="-342900" marL="342900">
              <a:buAutoNum type="arabicPeriod"/>
            </a:pPr>
            <a:r>
              <a:rPr b="1"/>
              <a:t>Decision-threshold defaults</a:t>
            </a:r>
            <a:r>
              <a:rPr/>
              <a:t> — should they scale with the prespecified estimand magnitude and Type I error budget?</a:t>
            </a:r>
          </a:p>
          <a:p>
            <a:pPr lvl="0" indent="-342900" marL="342900">
              <a:buAutoNum type="arabicPeriod"/>
            </a:pPr>
            <a:r>
              <a:rPr b="1"/>
              <a:t>Role separation</a:t>
            </a:r>
            <a:r>
              <a:rPr/>
              <a:t> — minimum personnel governance that should sit on top of the software workflow for submission-grade studies</a:t>
            </a:r>
          </a:p>
          <a:p>
            <a:pPr lvl="0" indent="-342900" marL="342900">
              <a:buAutoNum type="arabicPeriod"/>
            </a:pPr>
            <a:r>
              <a:rPr b="1"/>
              <a:t>Plasmode faithfulness</a:t>
            </a:r>
            <a:r>
              <a:rPr/>
              <a:t> — is the parametric synthetic-outcome mechanism faithful enough, or do we need richer DGPs (effect modification, time-varying treatment)?</a:t>
            </a:r>
          </a:p>
          <a:p>
            <a:pPr lvl="0" indent="-342900" marL="342900">
              <a:buAutoNum type="arabicPeriod"/>
            </a:pPr>
            <a:r>
              <a:rPr b="1"/>
              <a:t>Negative-control policy</a:t>
            </a:r>
            <a:r>
              <a:rPr/>
              <a:t> — when the NZV filter prunes prespecified NCs, re-elicit before unblinding or accept a narrower panel and document?</a:t>
            </a:r>
          </a:p>
          <a:p>
            <a:pPr lvl="0" indent="-342900" marL="342900">
              <a:buAutoNum type="arabicPeriod"/>
            </a:pPr>
            <a:r>
              <a:rPr b="1"/>
              <a:t>Publication venue</a:t>
            </a:r>
            <a:r>
              <a:rPr/>
              <a:t> — </a:t>
            </a:r>
            <a:r>
              <a:rPr>
                <a:latin typeface="Courier"/>
              </a:rPr>
              <a:t>Epidemiology</a:t>
            </a:r>
            <a:r>
              <a:rPr/>
              <a:t>, </a:t>
            </a:r>
            <a:r>
              <a:rPr>
                <a:latin typeface="Courier"/>
              </a:rPr>
              <a:t>Stat Med</a:t>
            </a:r>
            <a:r>
              <a:rPr/>
              <a:t>, </a:t>
            </a:r>
            <a:r>
              <a:rPr>
                <a:latin typeface="Courier"/>
              </a:rPr>
              <a:t>Biometrics</a:t>
            </a:r>
            <a:r>
              <a:rPr/>
              <a:t>, or an RWE-specific venue?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Package: </a:t>
            </a:r>
            <a:r>
              <a:rPr>
                <a:hlinkClick r:id="rId2"/>
              </a:rPr>
              <a:t>https://github.com/amertens/cleanTMLE</a:t>
            </a:r>
          </a:p>
          <a:p>
            <a:pPr lvl="0"/>
            <a:r>
              <a:rPr/>
              <a:t>Manuscript draft: </a:t>
            </a:r>
            <a:r>
              <a:rPr>
                <a:latin typeface="Courier"/>
              </a:rPr>
              <a:t>reports/manuscript_outcome_blind_dq.qmd</a:t>
            </a:r>
          </a:p>
          <a:p>
            <a:pPr lvl="0"/>
            <a:r>
              <a:rPr/>
              <a:t>Case study: </a:t>
            </a:r>
            <a:r>
              <a:rPr>
                <a:latin typeface="Courier"/>
              </a:rPr>
              <a:t>rescueCo/reports/rescueco_clean_room_case_study.qmd</a:t>
            </a:r>
          </a:p>
          <a:p>
            <a:pPr lvl="0"/>
            <a:r>
              <a:rPr/>
              <a:t>Vignette: </a:t>
            </a:r>
            <a:r>
              <a:rPr>
                <a:latin typeface="Courier"/>
              </a:rPr>
              <a:t>cleanTMLE/vignettes/cleanTMLE-staged-analysis.qmd</a:t>
            </a:r>
          </a:p>
          <a:p>
            <a:pPr lvl="0" indent="0" marL="0">
              <a:buNone/>
            </a:pPr>
            <a:r>
              <a:rPr/>
              <a:t>Thank you. Questions and pushback welcome.</a:t>
            </a:r>
          </a:p>
        </p:txBody>
      </p:sp>
    </p:spTree>
  </p:cSld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cleanTMLE</dc:title>
  <dc:creator>Andrew Mertens</dc:creator>
  <cp:keywords/>
  <dcterms:created xsi:type="dcterms:W3CDTF">2026-05-11T15:47:39Z</dcterms:created>
  <dcterms:modified xsi:type="dcterms:W3CDTF">2026-05-11T15:47:39Z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2026-05-11</vt:lpwstr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California, Berkeley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Software layer for an outcome-blind staged workflow with plasmode DQ stress testing</vt:lpwstr>
  </property>
  <property fmtid="{D5CDD505-2E9C-101B-9397-08002B2CF9AE}" pid="16" name="toc-title">
    <vt:lpwstr>Table of contents</vt:lpwstr>
  </property>
</Properties>
</file>