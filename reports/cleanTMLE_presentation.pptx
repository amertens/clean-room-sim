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mertens/cleanTML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cleanTMLE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Staged, outcome-blind targeted learning with plasmode data-quality stress testing</a:t>
            </a:r>
            <a:br/>
            <a:br/>
            <a:r>
              <a:rPr/>
              <a:t>Andrew Mertens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Real-world evidence (RWE) studies require many analytic decisions before any estimate is produced</a:t>
            </a:r>
          </a:p>
          <a:p>
            <a:pPr lvl="0"/>
            <a:r>
              <a:rPr/>
              <a:t>Target-trial design, identification, estimator choice, and data-fitness review are usually documented in </a:t>
            </a:r>
            <a:r>
              <a:rPr b="1"/>
              <a:t>separate</a:t>
            </a:r>
            <a:r>
              <a:rPr/>
              <a:t> artefacts</a:t>
            </a:r>
          </a:p>
          <a:p>
            <a:pPr lvl="0"/>
            <a:r>
              <a:rPr/>
              <a:t>Reviewers cannot see how the pieces connect</a:t>
            </a:r>
          </a:p>
          <a:p>
            <a:pPr lvl="0"/>
            <a:r>
              <a:rPr b="1"/>
              <a:t>cleanTMLE</a:t>
            </a:r>
            <a:r>
              <a:rPr/>
              <a:t> is a small R package that turns the prespecified decisions into a single reproducible record, and adds a quantitative stress test for data-quality threats before outcome access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 will cover (≈30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Motivation: prespecification + fit-for-purpose data in RWE</a:t>
            </a:r>
          </a:p>
          <a:p>
            <a:pPr lvl="0" indent="-342900" marL="342900">
              <a:buAutoNum type="arabicPeriod"/>
            </a:pPr>
            <a:r>
              <a:rPr/>
              <a:t>The causal roadmap, and where the package sits</a:t>
            </a:r>
          </a:p>
          <a:p>
            <a:pPr lvl="0" indent="-342900" marL="342900">
              <a:buAutoNum type="arabicPeriod"/>
            </a:pPr>
            <a:r>
              <a:rPr/>
              <a:t>Outcome-blind staged workflow</a:t>
            </a:r>
          </a:p>
          <a:p>
            <a:pPr lvl="0" indent="-342900" marL="342900">
              <a:buAutoNum type="arabicPeriod"/>
            </a:pPr>
            <a:r>
              <a:rPr/>
              <a:t>The DQ stress test</a:t>
            </a:r>
          </a:p>
          <a:p>
            <a:pPr lvl="0" indent="-342900" marL="342900">
              <a:buAutoNum type="arabicPeriod"/>
            </a:pPr>
            <a:r>
              <a:rPr/>
              <a:t>Simulation study</a:t>
            </a:r>
          </a:p>
          <a:p>
            <a:pPr lvl="0" indent="-342900" marL="342900">
              <a:buAutoNum type="arabicPeriod"/>
            </a:pPr>
            <a:r>
              <a:rPr/>
              <a:t>Rescue.Co case study (Kenya Trauma Registry)</a:t>
            </a:r>
          </a:p>
          <a:p>
            <a:pPr lvl="0" indent="-342900" marL="342900">
              <a:buAutoNum type="arabicPeriod"/>
            </a:pPr>
            <a:r>
              <a:rPr/>
              <a:t>What is genuinely new, what is not</a:t>
            </a:r>
          </a:p>
          <a:p>
            <a:pPr lvl="0" indent="-342900" marL="342900">
              <a:buAutoNum type="arabicPeriod"/>
            </a:pPr>
            <a:r>
              <a:rPr/>
              <a:t>Limitations and the 0.2 roadmap</a:t>
            </a:r>
          </a:p>
          <a:p>
            <a:pPr lvl="0" indent="-342900" marL="342900">
              <a:buAutoNum type="arabicPeriod"/>
            </a:pPr>
            <a:r>
              <a:rPr/>
              <a:t>Open questions for collaborators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Motivation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arguments, reported separately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 typical RWE study:</a:t>
            </a:r>
          </a:p>
          <a:p>
            <a:pPr lvl="0"/>
            <a:r>
              <a:rPr/>
              <a:t>The </a:t>
            </a:r>
            <a:r>
              <a:rPr b="1"/>
              <a:t>estimator-selection</a:t>
            </a:r>
            <a:r>
              <a:rPr/>
              <a:t> argument is increasingly developed with outcome-blind plasmode simulation (Franklin 2014; Schuler 2017; Dang 2023; Schreck 2024)</a:t>
            </a:r>
          </a:p>
          <a:p>
            <a:pPr lvl="0"/>
            <a:r>
              <a:rPr/>
              <a:t>The </a:t>
            </a:r>
            <a:r>
              <a:rPr b="1"/>
              <a:t>fit-for-purpose</a:t>
            </a:r>
            <a:r>
              <a:rPr/>
              <a:t> argument is documented qualitatively through SPIFD2, HARPER, TARGET, START-RWE checklists</a:t>
            </a:r>
          </a:p>
          <a:p>
            <a:pPr lvl="0"/>
            <a:r>
              <a:rPr/>
              <a:t>The simulation is numeric; the fit-for-purpose argument is prose</a:t>
            </a:r>
          </a:p>
          <a:p>
            <a:pPr lvl="0" indent="0" marL="0">
              <a:buNone/>
            </a:pPr>
            <a:r>
              <a:rPr/>
              <a:t>A candidate estimator that wins the simulation can still fail under realistic measurement error, missingness, or unmeasured confounding.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quantitative bridge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plasmode loop is under the analyst’s control. We can extend it to ask:</a:t>
            </a:r>
          </a:p>
          <a:p>
            <a:pPr lvl="0" indent="0" marL="1270000">
              <a:buNone/>
            </a:pPr>
            <a:r>
              <a:rPr sz="2000" i="1"/>
              <a:t>“Which candidate maintains acceptable bias, RMSE, and coverage across the plausible range of each threat documented in the fit-for-purpose review?”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data-quality (DQ) stress test</a:t>
            </a:r>
            <a:r>
              <a:rPr/>
              <a:t>: a pre-outcome robustness screen, not a substitute for variable validation or for post-unblinding sensitivity analysis.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outcome-blind means here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Decisions about cohort, candidate estimators, simulation scenarios, decision thresholds, and primary-estimator selection are made </a:t>
                </a:r>
                <a:r>
                  <a:rPr b="1"/>
                  <a:t>without inspecting the observed treatment–outcome association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Allowed: baseline covariates, treatment assignment, missingness indicators, synthetic outcomes, and the marginal mean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 (used internally for the plasmode generator).</a:t>
                </a:r>
              </a:p>
              <a:p>
                <a:pPr lvl="0" indent="0" marL="0">
                  <a:buNone/>
                </a:pPr>
                <a:r>
                  <a:rPr/>
                  <a:t>Not allowed before the decision point: the observed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Y</m:t>
                    </m:r>
                  </m:oMath>
                </a14:m>
                <a:r>
                  <a:rPr/>
                  <a:t> relationship.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causal roadmap and where the package sits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Six logically ordered activities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Causal question and target trial</a:t>
            </a:r>
          </a:p>
          <a:p>
            <a:pPr lvl="0" indent="-342900" marL="342900">
              <a:buAutoNum type="arabicPeriod"/>
            </a:pPr>
            <a:r>
              <a:rPr/>
              <a:t>Observed data and source characterisation</a:t>
            </a:r>
          </a:p>
          <a:p>
            <a:pPr lvl="0" indent="-342900" marL="342900">
              <a:buAutoNum type="arabicPeriod"/>
            </a:pPr>
            <a:r>
              <a:rPr/>
              <a:t>Identification assumptions</a:t>
            </a:r>
          </a:p>
          <a:p>
            <a:pPr lvl="0" indent="-342900" marL="342900">
              <a:buAutoNum type="arabicPeriod"/>
            </a:pPr>
            <a:r>
              <a:rPr/>
              <a:t>Statistical estimand</a:t>
            </a:r>
          </a:p>
          <a:p>
            <a:pPr lvl="0" indent="-342900" marL="342900">
              <a:buAutoNum type="arabicPeriod"/>
            </a:pPr>
            <a:r>
              <a:rPr b="1"/>
              <a:t>Estimator selection (locked)</a:t>
            </a:r>
          </a:p>
          <a:p>
            <a:pPr lvl="0" indent="-342900" marL="342900">
              <a:buAutoNum type="arabicPeriod"/>
            </a:pPr>
            <a:r>
              <a:rPr b="1"/>
              <a:t>Pre-outcome diagnostics and decision</a:t>
            </a:r>
            <a:r>
              <a:rPr/>
              <a:t> → interpretation and post-outcome sensitivity</a:t>
            </a:r>
          </a:p>
          <a:p>
            <a:pPr lvl="0" indent="0" marL="0">
              <a:buNone/>
            </a:pPr>
            <a:r>
              <a:rPr/>
              <a:t>cleanTMLE operates in steps </a:t>
            </a:r>
            <a:r>
              <a:rPr b="1"/>
              <a:t>5</a:t>
            </a:r>
            <a:r>
              <a:rPr/>
              <a:t> and the pre-outcome portion of </a:t>
            </a:r>
            <a:r>
              <a:rPr b="1"/>
              <a:t>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Steps 1–4 remain external study-level work, supported by target-trial templates and fit-for-purpose checklists.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Governance is a stack, not a single layer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13300"/>
                <a:gridCol w="3416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Provided by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Protocol, estimand, target trial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Investigator + sponsor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Source-data audit, phenotype validation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custodian + external studies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 separation, access controls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Institution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Analysis lock, audit and decision logs, pre-outcome decision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cleanTMLE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Locked primary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Analyst (under lock)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Post-outcome sensitivity analyses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Analyst + reviewer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Outcome-blind staged workflow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Stage 1</a:t>
            </a:r>
            <a:r>
              <a:rPr/>
              <a:t> — cohort and covariates locked; outcome not loaded</a:t>
            </a:r>
          </a:p>
          <a:p>
            <a:pPr lvl="0"/>
            <a:r>
              <a:rPr b="1"/>
              <a:t>Stage 2a</a:t>
            </a:r>
            <a:r>
              <a:rPr/>
              <a:t> — propensity-score and design diagnostics; weights, overlap, SMDs</a:t>
            </a:r>
          </a:p>
          <a:p>
            <a:pPr lvl="0"/>
            <a:r>
              <a:rPr b="1"/>
              <a:t>Stage 2b</a:t>
            </a:r>
            <a:r>
              <a:rPr/>
              <a:t> — plasmode candidate selection: synthetic outcomes, bias / RMSE / coverage across candidates</a:t>
            </a:r>
          </a:p>
          <a:p>
            <a:pPr lvl="0"/>
            <a:r>
              <a:rPr b="1"/>
              <a:t>Stage 3</a:t>
            </a:r>
            <a:r>
              <a:rPr/>
              <a:t> — DQ stress test: each candidate evaluated under prespecified data-quality threats</a:t>
            </a:r>
          </a:p>
          <a:p>
            <a:pPr lvl="0"/>
            <a:r>
              <a:rPr b="1"/>
              <a:t>Pre-outcome decision</a:t>
            </a:r>
            <a:r>
              <a:rPr/>
              <a:t> — GO / FLAG / STOP from the prespecified rule</a:t>
            </a:r>
          </a:p>
          <a:p>
            <a:pPr lvl="0"/>
            <a:r>
              <a:rPr b="1"/>
              <a:t>Stage 4</a:t>
            </a:r>
            <a:r>
              <a:rPr/>
              <a:t> — locked primary analysis; at-outcome diagnostics; post-outcome sensitivity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cleanTMLE adds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fingerprinted </a:t>
            </a:r>
            <a:r>
              <a:rPr b="1"/>
              <a:t>analysis-lock object</a:t>
            </a:r>
            <a:r>
              <a:rPr/>
              <a:t> (sha256 over the lock specification)</a:t>
            </a:r>
          </a:p>
          <a:p>
            <a:pPr lvl="0"/>
            <a:r>
              <a:rPr/>
              <a:t>Serialisable </a:t>
            </a:r>
            <a:r>
              <a:rPr b="1"/>
              <a:t>audit trail</a:t>
            </a:r>
            <a:r>
              <a:rPr/>
              <a:t> and </a:t>
            </a:r>
            <a:r>
              <a:rPr b="1"/>
              <a:t>decision log</a:t>
            </a:r>
          </a:p>
          <a:p>
            <a:pPr lvl="0"/>
            <a:r>
              <a:rPr/>
              <a:t>A </a:t>
            </a:r>
            <a:r>
              <a:rPr b="1"/>
              <a:t>modular TMLE API</a:t>
            </a:r>
            <a:r>
              <a:rPr/>
              <a:t>: fit treatment mechanism, fit outcome mechanism, target, extract</a:t>
            </a:r>
          </a:p>
          <a:p>
            <a:pPr lvl="0"/>
            <a:r>
              <a:rPr/>
              <a:t>An outcome-blind </a:t>
            </a:r>
            <a:r>
              <a:rPr b="1"/>
              <a:t>plasmode candidate selector</a:t>
            </a:r>
          </a:p>
          <a:p>
            <a:pPr lvl="0"/>
            <a:r>
              <a:rPr/>
              <a:t>A </a:t>
            </a:r>
            <a:r>
              <a:rPr b="1"/>
              <a:t>DQ stress test</a:t>
            </a:r>
            <a:r>
              <a:rPr/>
              <a:t> (</a:t>
            </a:r>
            <a:r>
              <a:rPr>
                <a:latin typeface="Courier"/>
              </a:rPr>
              <a:t>run_plasmode_dq_stress()</a:t>
            </a:r>
            <a:r>
              <a:rPr/>
              <a:t>) with four threat scenarios</a:t>
            </a:r>
          </a:p>
          <a:p>
            <a:pPr lvl="0"/>
            <a:r>
              <a:rPr/>
              <a:t>A </a:t>
            </a:r>
            <a:r>
              <a:rPr b="1"/>
              <a:t>pre-outcome decision rule</a:t>
            </a:r>
            <a:r>
              <a:rPr/>
              <a:t> classifying GO / FLAG / STOP</a:t>
            </a:r>
          </a:p>
          <a:p>
            <a:pPr lvl="0"/>
            <a:r>
              <a:rPr/>
              <a:t>IPW, G-computation, AIPW, IPCW-TMLE, matched TMLE — all calling an internal outcome-access check until the decision authorises Stage 4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does not replace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Target-trial design</a:t>
            </a:r>
          </a:p>
          <a:p>
            <a:pPr lvl="0"/>
            <a:r>
              <a:rPr/>
              <a:t>Source-data audit, phenotype validation, linkage assessment</a:t>
            </a:r>
          </a:p>
          <a:p>
            <a:pPr lvl="0"/>
            <a:r>
              <a:rPr/>
              <a:t>Independent personnel governance and role separation</a:t>
            </a:r>
          </a:p>
          <a:p>
            <a:pPr lvl="0"/>
            <a:r>
              <a:rPr/>
              <a:t>Post-outcome quantitative bias analysis (E-value, QBA, causal-gap)</a:t>
            </a:r>
          </a:p>
          <a:p>
            <a:pPr lvl="0"/>
            <a:r>
              <a:rPr/>
              <a:t>The proprietary </a:t>
            </a:r>
            <a:r>
              <a:rPr>
                <a:latin typeface="Courier"/>
              </a:rPr>
              <a:t>causalRisk</a:t>
            </a:r>
            <a:r>
              <a:rPr/>
              <a:t> package — alternative implementation of related cumulative-risk estimators; </a:t>
            </a:r>
            <a:r>
              <a:rPr b="1"/>
              <a:t>no shared code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DQ stress test</a:t>
            </a:r>
          </a:p>
        </p:txBody>
      </p:sp>
    </p:spTree>
  </p:cSld>
</p:sld>
</file>

<file path=ppt/slides/slide1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Four prespecified threats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438400" /><a:gridCol w="3581400" /><a:gridCol w="2197100" /></a:tblGrid><a:tr h="0"><a:tc><a:txBody><a:bodyPr /><a:lstStyle /><a:p><a:pPr lvl="0" indent="0" marL="0"><a:buNone /></a:pPr><a:r><a:rPr /><a:t>Threat</a:t></a:r></a:p></a:txBody><a:tcPr /></a:tc><a:tc><a:txBody><a:bodyPr /><a:lstStyle /><a:p><a:pPr lvl="0" indent="0" marL="0"><a:buNone /></a:pPr><a:r><a:rPr /><a:t>Mechanism</a:t></a:r></a:p></a:txBody><a:tcPr /></a:tc><a:tc><a:txBody><a:bodyPr /><a:lstStyle /><a:p><a:pPr lvl="0" indent="0" marL="0"><a:buNone /></a:pPr><a:r><a:rPr /><a:t>Severity parameters</a:t></a:r></a:p></a:txBody><a:tcPr /></a:tc></a:tr><a:tr h="0"><a:tc><a:txBody><a:bodyPr /><a:lstStyle /><a:p><a:pPr lvl="0" indent="0" marL="0"><a:buNone /></a:pPr><a:r><a:rPr /><a:t>Covariate missingness</a:t></a:r></a:p></a:txBody></a:tc><a:tc><a:txBody><a:bodyPr /><a:lstStyle /><a:p><a:pPr lvl="0" indent="0" marL="0"><a:buNone /></a:pPr><a:r><a:rPr /><a:t>MCAR on a covariate subset, median impute</a:t></a:r></a:p></a:txBody></a:tc><a:tc><a:txBody><a:bodyPr /><a:lstStyle /><a:p><a:pPr lvl="0" indent="0" marL="0"><a:buNone /></a:pPr><a:r><a:rPr /><a:t>proportion missing</a:t></a:r></a:p></a:txBody></a:tc></a:tr><a:tr h="0"><a:tc><a:txBody><a:bodyPr /><a:lstStyle /><a:p><a:pPr lvl="0" indent="0" marL="0"><a:buNone /></a:pPr><a:r><a:rPr /><a:t>Exposure misclassification</a:t></a:r></a:p></a:txBody></a:tc><a:tc><a:txBody><a:bodyPr /><a:lstStyle /><a:p><a:pPr lvl="0" indent="0" marL="0"><a:buNone /></a:pPr><a:r><a:rPr /><a:t>Flip A with given (sens, spec)</a:t></a:r></a:p></a:txBody></a:tc><a:tc><a:txBody><a:bodyPr /><a:lstStyle /><a:p><a:pPr lvl="0" indent="0" marL="0"><a:buNone /></a:pPr><a:r><a:rPr /><a:t>(sens, spec) pairs</a:t></a:r></a:p></a:txBody></a:tc></a:tr><a:tr h="0"><a:tc><a:txBody><a:bodyPr /><a:lstStyle /><a:p><a:pPr lvl="0" indent="0" marL="0"><a:buNone /></a:pPr><a:r><a:rPr /><a:t>Outcome misclassification</a:t></a:r></a:p></a:txBody></a:tc><a:tc><a:txBody><a:bodyPr /><a:lstStyle /><a:p><a:pPr lvl="0" indent="0" marL="0"><a:buNone /></a:pPr><a:r><a:rPr /><a:t>Flip Y with given (sens, spec), optional differential</a:t></a:r></a:p></a:txBody></a:tc><a:tc><a:txBody><a:bodyPr /><a:lstStyle /><a:p><a:pPr lvl="0" indent="0" marL="0"><a:buNone /></a:pPr><a:r><a:rPr /><a:t>(sens, spec) pairs</a:t></a:r></a:p></a:txBody></a:tc></a:tr><a:tr h="0"><a:tc><a:txBody><a:bodyPr /><a:lstStyle /><a:p><a:pPr lvl="0" indent="0" marL="0"><a:buNone /></a:pPr><a:r><a:rPr /><a:t>Unmeasured confounding</a:t></a:r></a:p></a:txBody></a:tc><a:tc><a:txBody><a:bodyPr /><a:lstStyle /><a:p><a:pPr lvl="0" indent="0" marL="0"><a:buNone /></a:pPr><a:r><a:rPr /><a:t>Latent U shifts both A and Y</a:t></a:r></a:p></a:txBody></a:tc><a:tc><a:txBody><a:bodyPr /><a:lstStyle /><a:p><a:pPr lvl="0" indent="0" marL="0"><a:buNone /></a:pPr><a14:m><m:oMath xmlns:m="http://schemas.openxmlformats.org/officeDocument/2006/math"><m:sSub><m:e><m:r><m:t>β</m:t></m:r></m:e><m:sub><m:r><m:t>U</m:t></m:r><m:r><m:t>A</m:t></m:r></m:sub></m:sSub></m:oMath></a14:m><a:r><a:rPr /><a:t>, </a:t></a:r><a14:m><m:oMath xmlns:m="http://schemas.openxmlformats.org/officeDocument/2006/math"><m:sSub><m:e><m:r><m:t>β</m:t></m:r></m:e><m:sub><m:r><m:t>U</m:t></m:r><m:r><m:t>Y</m:t></m:r></m:sub></m:sSub></m:oMath></a14:m></a:p></a:txBody></a:tc></a:tr></a:tbl></a:graphicData></a:graphic></p:graphicFrame></p:spTree></p:cSld>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cell produces the same triple — bias, RMSE, coverage — as the baseline plasmode, on the same scale.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severity ranges are chosen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External validation studies (PPV, sensitivity from chart-review studies)</a:t>
            </a:r>
          </a:p>
          <a:p>
            <a:pPr lvl="0"/>
            <a:r>
              <a:rPr/>
              <a:t>Source-specific data profiling</a:t>
            </a:r>
          </a:p>
          <a:p>
            <a:pPr lvl="0"/>
            <a:r>
              <a:rPr/>
              <a:t>Expert elicitation, with the elicitor and rationale logged</a:t>
            </a:r>
          </a:p>
          <a:p>
            <a:pPr lvl="0" indent="0" marL="0">
              <a:buNone/>
            </a:pPr>
            <a:r>
              <a:rPr/>
              <a:t>The package records the values in use as part of the lock fingerprint, so a reviewer can see what numerical assumptions drove the decision.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test does </a:t>
            </a:r>
            <a:r>
              <a:rPr i="1"/>
              <a:t>not</a:t>
            </a:r>
            <a:r>
              <a:rPr/>
              <a:t> assess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provenance or linkage accuracy</a:t>
            </a:r>
          </a:p>
          <a:p>
            <a:pPr lvl="0"/>
            <a:r>
              <a:rPr/>
              <a:t>Phenotype validity for a specific endpoint</a:t>
            </a:r>
          </a:p>
          <a:p>
            <a:pPr lvl="0"/>
            <a:r>
              <a:rPr/>
              <a:t>Representativeness of the source</a:t>
            </a:r>
          </a:p>
          <a:p>
            <a:pPr lvl="0"/>
            <a:r>
              <a:rPr/>
              <a:t>Regulatory acceptability of the data source</a:t>
            </a:r>
          </a:p>
          <a:p>
            <a:pPr lvl="0" indent="0" marL="0">
              <a:buNone/>
            </a:pPr>
            <a:r>
              <a:rPr/>
              <a:t>Those remain study-level evaluations. The DQ stress test is a quantitative supplement, not a substitute.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Simulation study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  <a:r>
                  <a:rPr/>
                  <a:t> observations per replicate, 200 replicates per scenario</a:t>
                </a:r>
              </a:p>
              <a:p>
                <a:pPr lvl="0"/>
                <a:r>
                  <a:rPr/>
                  <a:t>Six estimators: Crude, IPTW, Match, G-comp, AIPW, TMLE, CV-TMLE</a:t>
                </a:r>
              </a:p>
              <a:p>
                <a:pPr lvl="0"/>
                <a:r>
                  <a:rPr/>
                  <a:t>Three Monte Carlo scenarios:</a:t>
                </a:r>
              </a:p>
              <a:p>
                <a:pPr lvl="1"/>
                <a:r>
                  <a:rPr b="1"/>
                  <a:t>A</a:t>
                </a:r>
                <a:r>
                  <a:rPr/>
                  <a:t>: good overlap (textbook benchmark)</a:t>
                </a:r>
              </a:p>
              <a:p>
                <a:pPr lvl="1"/>
                <a:r>
                  <a:rPr b="1"/>
                  <a:t>B</a:t>
                </a:r>
                <a:r>
                  <a:rPr/>
                  <a:t>: marginal overlap</a:t>
                </a:r>
              </a:p>
              <a:p>
                <a:pPr lvl="1"/>
                <a:r>
                  <a:rPr b="1"/>
                  <a:t>C</a:t>
                </a:r>
                <a:r>
                  <a:rPr/>
                  <a:t>: unmeasured confounding (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 shifts both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)</a:t>
                </a:r>
              </a:p>
              <a:p>
                <a:pPr lvl="0"/>
                <a:r>
                  <a:rPr/>
                  <a:t>For each scenario, the full DQ stress sweep at </a:t>
                </a:r>
                <a14:m>
                  <m:oMath xmlns:m="http://schemas.openxmlformats.org/officeDocument/2006/math">
                    <m:sSub>
                      <m:e>
                        <m:r>
                          <m:t>n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reps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200</m:t>
                    </m:r>
                  </m:oMath>
                </a14:m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A — good overlap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All adjusted estimators recover the truth</a:t>
            </a:r>
          </a:p>
          <a:p>
            <a:pPr lvl="0"/>
            <a:r>
              <a:rPr/>
              <a:t>Bias well under the prespecified 0.02 threshold</a:t>
            </a:r>
          </a:p>
          <a:p>
            <a:pPr lvl="0"/>
            <a:r>
              <a:rPr/>
              <a:t>Coverage at nominal 95%</a:t>
            </a:r>
          </a:p>
          <a:p>
            <a:pPr lvl="0"/>
            <a:r>
              <a:rPr/>
              <a:t>Crude estimator has substantial residual confounding; CIs do not cover at 95%</a:t>
            </a:r>
          </a:p>
          <a:p>
            <a:pPr lvl="0"/>
            <a:r>
              <a:rPr b="1"/>
              <a:t>Decision: GO</a:t>
            </a:r>
            <a:r>
              <a:rPr/>
              <a:t> — textbook benchmark behaviour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B — marginal overlap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Crude shifts further from truth</a:t>
            </a:r>
          </a:p>
          <a:p>
            <a:pPr lvl="0"/>
            <a:r>
              <a:rPr/>
              <a:t>IPTW shows wider CIs reflecting heavier weights; SE-to-SD ratio above one</a:t>
            </a:r>
          </a:p>
          <a:p>
            <a:pPr lvl="0"/>
            <a:r>
              <a:rPr/>
              <a:t>TMLE and CV-TMLE hold bias small relative to empirical SD</a:t>
            </a:r>
          </a:p>
          <a:p>
            <a:pPr lvl="0"/>
            <a:r>
              <a:rPr/>
              <a:t>Matched TMLE shows conservative SE (ratio ≈ 2): the post-match TMLE step ignores the matching draw</a:t>
            </a:r>
          </a:p>
          <a:p>
            <a:pPr lvl="0"/>
            <a:r>
              <a:rPr/>
              <a:t>Plasmode-selected specification adapts truncation level upward</a:t>
            </a:r>
          </a:p>
          <a:p>
            <a:pPr lvl="0"/>
            <a:r>
              <a:rPr b="1"/>
              <a:t>Decision: GO with FLAG</a:t>
            </a:r>
            <a:r>
              <a:rPr/>
              <a:t> on IPTW SE calibration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C — unmeasured confounding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Every estimator biased in the same direction (no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-only adjustment can remove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)</a:t>
                </a:r>
              </a:p>
              <a:p>
                <a:pPr lvl="0"/>
                <a:r>
                  <a:rPr/>
                  <a:t>Bias smallest for TMLE, largest for crude — difference of degree, not of kind</a:t>
                </a:r>
              </a:p>
              <a:p>
                <a:pPr lvl="0"/>
                <a:r>
                  <a:rPr/>
                  <a:t>Baseline plasmode TMLE coverage at the lower edge of the prespecified range</a:t>
                </a:r>
              </a:p>
              <a:p>
                <a:pPr lvl="0"/>
                <a:r>
                  <a:rPr/>
                  <a:t>The U-shift DQ row pushes the absolute bias estimate above </a:t>
                </a:r>
                <a:r>
                  <a:rPr>
                    <a:latin typeface="Courier"/>
                  </a:rPr>
                  <a:t>max_abs_bias</a:t>
                </a:r>
              </a:p>
              <a:p>
                <a:pPr lvl="0"/>
                <a:r>
                  <a:rPr b="1"/>
                  <a:t>Decision: STOP</a:t>
                </a:r>
                <a:r>
                  <a:rPr/>
                  <a:t> — the staged workflow declines to run the primary analysis</a:t>
                </a:r>
              </a:p>
              <a:p>
                <a:pPr lvl="0" indent="0" marL="0">
                  <a:buNone/>
                </a:pPr>
                <a:r>
                  <a:rPr/>
                  <a:t>The DQ supplement is what makes the failure unambiguous.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DQ degradation gradient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qualitatively different profiles:</a:t>
            </a:r>
          </a:p>
          <a:p>
            <a:pPr lvl="0"/>
            <a:r>
              <a:rPr b="1"/>
              <a:t>Covariate missingness</a:t>
            </a:r>
            <a:r>
              <a:rPr/>
              <a:t>: flat gradient (median imputation under MCAR is unbiased by construction — confirms no harm, but a weak test)</a:t>
            </a:r>
          </a:p>
          <a:p>
            <a:pPr lvl="0"/>
            <a:r>
              <a:rPr b="1"/>
              <a:t>Exposure misclassification</a:t>
            </a:r>
            <a:r>
              <a:rPr/>
              <a:t>: bias rises toward the null as (sens, spec) worsen; coverage of the pre-misclassification estimand drops</a:t>
            </a:r>
          </a:p>
          <a:p>
            <a:pPr lvl="0"/>
            <a:r>
              <a:rPr b="1"/>
              <a:t>Outcome misclassification (0.90, 0.95)</a:t>
            </a:r>
            <a:r>
              <a:rPr/>
              <a:t>: largest bias of the three measurement threats, especially when differential</a:t>
            </a:r>
          </a:p>
          <a:p>
            <a:pPr lvl="0"/>
            <a:r>
              <a:rPr b="1"/>
              <a:t>Unmeasured confounding</a:t>
            </a:r>
            <a:r>
              <a:rPr/>
              <a:t>: largest degradation overall; the only threat that pushes RMSE ratio above 1.5</a:t>
            </a:r>
          </a:p>
          <a:p>
            <a:pPr lvl="0" indent="0" marL="0">
              <a:buNone/>
            </a:pPr>
            <a:r>
              <a:rPr/>
              <a:t>The DQ test is most informative when the threat targets identification or measurement validity rather than ordinary estimator variance.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Rescue.Co (Kenya Trauma Registry)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 and question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Rescue.Co operates motorcycle-based trauma transport in Nairobi, Kenya</a:t>
                </a:r>
              </a:p>
              <a:p>
                <a:pPr lvl="0"/>
                <a:r>
                  <a:rPr/>
                  <a:t>Question: does Rescue.Co transport (vs. self-/other-arranged) improve 6-month functional outcome?</a:t>
                </a:r>
              </a:p>
              <a:p>
                <a:pPr lvl="0"/>
                <a:r>
                  <a:rPr/>
                  <a:t>Outcome: GOSE &gt; 4 at 6 months (good functional outcome)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,</m:t>
                    </m:r>
                    <m:r>
                      <m:t>693</m:t>
                    </m:r>
                  </m:oMath>
                </a14:m>
                <a:r>
                  <a:rPr/>
                  <a:t> eligible; </a:t>
                </a:r>
                <a:r>
                  <a:rPr b="1"/>
                  <a:t>24.6% outcome missingness</a:t>
                </a:r>
              </a:p>
              <a:p>
                <a:pPr lvl="0"/>
                <a:r>
                  <a:rPr/>
                  <a:t>A workflow demonstration, not a transport-effectiveness claim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Pre-outcome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Lock: 18 baseline covariates, IPCW for missingness, six prespecified estimators</a:t>
            </a:r>
          </a:p>
          <a:p>
            <a:pPr lvl="0"/>
            <a:r>
              <a:rPr/>
              <a:t>Stage 2a: PS scores in [0.21, 0.81]; SMDs balanced after weighting; ESS retention 78%</a:t>
            </a:r>
          </a:p>
          <a:p>
            <a:pPr lvl="0"/>
            <a:r>
              <a:rPr/>
              <a:t>Stage 2b plasmode: 50 replicates; bias &lt; 0.001; coverage 0.94</a:t>
            </a:r>
          </a:p>
          <a:p>
            <a:pPr lvl="0"/>
            <a:r>
              <a:rPr/>
              <a:t>Stage 3 DQ stress test: minimax rule selects </a:t>
            </a:r>
            <a:r>
              <a:rPr>
                <a:latin typeface="Courier"/>
              </a:rPr>
              <a:t>glm_t01</a:t>
            </a:r>
          </a:p>
          <a:p>
            <a:pPr lvl="0"/>
            <a:r>
              <a:rPr/>
              <a:t>Negative controls: 2 of 5 prespecified NCs surviving NZV filter (chronic hypertension, household urban) both pass — narrower NC panel than the SAP originally specified</a:t>
            </a:r>
          </a:p>
          <a:p>
            <a:pPr lvl="0"/>
            <a:r>
              <a:rPr b="1"/>
              <a:t>Decision: PROCEED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estimates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4200"/>
                <a:gridCol w="3556000"/>
                <a:gridCol w="558800"/>
                <a:gridCol w="723900"/>
                <a:gridCol w="1536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Target population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Crude (unadjusted)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Complete-outcome subset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(0.003, 0.071)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 matching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 subset (overlap)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(−0.020, 0.074)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IPTW (stabilised)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eligible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1,693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(0.002, 0.071)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Full-cohort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eligible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1,693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(−0.001, 0.062)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Matched-cohort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 subset (overlap)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(−0.015, 0.067)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IPCW-weighted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cohort under censoring model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(−0.000, 0.066)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Six estimators agree on direction; primary TMLE 95% CI crosses zero.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case study tells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Six estimators agree on direction (RD between 0.026 and 0.037 favouring Rescue.Co)</a:t>
            </a:r>
          </a:p>
          <a:p>
            <a:pPr lvl="0"/>
            <a:r>
              <a:rPr/>
              <a:t>The prespecified primary TMLE 95% CI crosses zero</a:t>
            </a:r>
          </a:p>
          <a:p>
            <a:pPr lvl="0"/>
            <a:r>
              <a:rPr/>
              <a:t>An additive bias of 0.0012 would push the lower CI bound across zero (a weak sensitivity, not a full QBA)</a:t>
            </a:r>
          </a:p>
          <a:p>
            <a:pPr lvl="0"/>
            <a:r>
              <a:rPr/>
              <a:t>The audit log captures every analytic decision, including the three NC drops at NZV filtering</a:t>
            </a:r>
          </a:p>
          <a:p>
            <a:pPr lvl="0"/>
            <a:r>
              <a:rPr/>
              <a:t>This is a </a:t>
            </a:r>
            <a:r>
              <a:rPr b="1"/>
              <a:t>workflow demonstration</a:t>
            </a:r>
            <a:r>
              <a:rPr/>
              <a:t>; cleanTMLE does not establish causal validity, validate the data source, or prove that Rescue.Co transport is effective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genuinely new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Plasmode loop extended to robustness screening</a:t>
            </a:r>
            <a:r>
              <a:rPr/>
              <a:t>: each candidate produces a degradation gradient on the same bias/RMSE/coverage scale as the baseline, so the same decision rule applies uniformly</a:t>
            </a:r>
          </a:p>
          <a:p>
            <a:pPr lvl="0"/>
            <a:r>
              <a:rPr b="1"/>
              <a:t>Lock + audit + decision logs as code artefacts</a:t>
            </a:r>
            <a:r>
              <a:rPr/>
              <a:t>: a fingerprinted record an external reviewer can reconstruct</a:t>
            </a:r>
          </a:p>
          <a:p>
            <a:pPr lvl="0"/>
            <a:r>
              <a:rPr b="1"/>
              <a:t>A modular TMLE API</a:t>
            </a:r>
            <a:r>
              <a:rPr/>
              <a:t>: treatment fit, outcome fit, target, extract — each step callable at the right stage of the workflow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not new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Targeted learning (van der Laan, Petersen, Gruber, Schuler, …)</a:t>
            </a:r>
          </a:p>
          <a:p>
            <a:pPr lvl="0"/>
            <a:r>
              <a:rPr/>
              <a:t>Plasmode simulation for candidate selection (Franklin 2014; Schuler 2017)</a:t>
            </a:r>
          </a:p>
          <a:p>
            <a:pPr lvl="0"/>
            <a:r>
              <a:rPr/>
              <a:t>Outcome blinding as a governance idea (Muntner 2024; Kent 2026)</a:t>
            </a:r>
          </a:p>
          <a:p>
            <a:pPr lvl="0"/>
            <a:r>
              <a:rPr/>
              <a:t>Quantitative bias analysis (Lash 2014) — distinct from this pre-outcome screen</a:t>
            </a:r>
          </a:p>
          <a:p>
            <a:pPr lvl="0" indent="0" marL="0">
              <a:buNone/>
            </a:pPr>
            <a:r>
              <a:rPr/>
              <a:t>cleanTMLE is mostly </a:t>
            </a:r>
            <a:r>
              <a:rPr b="1"/>
              <a:t>operational glue</a:t>
            </a:r>
            <a:r>
              <a:rPr/>
              <a:t> that pulls these together into a reproducible record.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v0.1 scope: binary point exposure, binary outcome, marginal RD, MCAR outcome missingness handled by IPCW</a:t>
            </a:r>
          </a:p>
          <a:p>
            <a:pPr lvl="0"/>
            <a:r>
              <a:rPr/>
              <a:t>Out of scope (yet): hazard ratios, time-varying treatments, competing risks, multinomial exposures, MAR / MNAR missingness, effect modification in the plasmode generator</a:t>
            </a:r>
          </a:p>
          <a:p>
            <a:pPr lvl="0"/>
            <a:r>
              <a:rPr/>
              <a:t>DQ covariate-missingness mechanism is MCAR-only; MAR / MNAR variants are on the roadmap</a:t>
            </a:r>
          </a:p>
          <a:p>
            <a:pPr lvl="0"/>
            <a:r>
              <a:rPr/>
              <a:t>Gate-threshold defaults are heuristic, not derived from a regulatory specification — analysts set them from study context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steps (cleanTMLE 0.2)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 and MNAR missingness in the DQ stress test</a:t>
            </a:r>
          </a:p>
          <a:p>
            <a:pPr lvl="0"/>
            <a:r>
              <a:rPr/>
              <a:t>Time-window confounders (strike windows, calendar-time shocks)</a:t>
            </a:r>
          </a:p>
          <a:p>
            <a:pPr lvl="0"/>
            <a:r>
              <a:rPr/>
              <a:t>Inter-facility transfer imbalance as a built-in scenario</a:t>
            </a:r>
          </a:p>
          <a:p>
            <a:pPr lvl="0"/>
            <a:r>
              <a:rPr/>
              <a:t>Time-to-event endpoints via composition with </a:t>
            </a:r>
            <a:r>
              <a:rPr>
                <a:latin typeface="Courier"/>
              </a:rPr>
              <a:t>survtmle</a:t>
            </a:r>
            <a:r>
              <a:rPr/>
              <a:t> and </a:t>
            </a:r>
            <a:r>
              <a:rPr>
                <a:latin typeface="Courier"/>
              </a:rPr>
              <a:t>lmtp</a:t>
            </a:r>
          </a:p>
          <a:p>
            <a:pPr lvl="0"/>
            <a:r>
              <a:rPr/>
              <a:t>A reference-paper-driven </a:t>
            </a:r>
            <a:r>
              <a:rPr>
                <a:latin typeface="Courier"/>
              </a:rPr>
              <a:t>data_quality_scenarios.yml</a:t>
            </a:r>
            <a:r>
              <a:rPr/>
              <a:t> reader that ingests validation-literature parameters (PPV, sens, claims-accuracy ranges) and attaches citations to the audit log</a:t>
            </a:r>
          </a:p>
          <a:p>
            <a:pPr lvl="0"/>
            <a:r>
              <a:rPr/>
              <a:t>Bootstrap variance for IPTW and matched TMLE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questions for collaborators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 want input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Severity-range calibration</a:t>
            </a:r>
            <a:r>
              <a:rPr/>
              <a:t>: how should we elicit and document </a:t>
            </a:r>
            <a:r>
              <a:rPr>
                <a:latin typeface="Courier"/>
              </a:rPr>
              <a:t>(sens, spec)</a:t>
            </a:r>
            <a:r>
              <a:rPr/>
              <a:t>, missingness, and U-shift ranges for a new study? What standard would a reviewer accept?</a:t>
            </a:r>
          </a:p>
          <a:p>
            <a:pPr lvl="0" indent="-342900" marL="342900">
              <a:buAutoNum type="arabicPeriod"/>
            </a:pPr>
            <a:r>
              <a:rPr b="1"/>
              <a:t>Decision-threshold defaults</a:t>
            </a:r>
            <a:r>
              <a:rPr/>
              <a:t>: are </a:t>
            </a:r>
            <a:r>
              <a:rPr>
                <a:latin typeface="Courier"/>
              </a:rPr>
              <a:t>max_abs_bias = 0.01</a:t>
            </a:r>
            <a:r>
              <a:rPr/>
              <a:t>, </a:t>
            </a:r>
            <a:r>
              <a:rPr>
                <a:latin typeface="Courier"/>
              </a:rPr>
              <a:t>min_coverage = 0.90</a:t>
            </a:r>
            <a:r>
              <a:rPr/>
              <a:t>, </a:t>
            </a:r>
            <a:r>
              <a:rPr>
                <a:latin typeface="Courier"/>
              </a:rPr>
              <a:t>SE-band = (0.8, 1.2)</a:t>
            </a:r>
            <a:r>
              <a:rPr/>
              <a:t> reasonable, or should they scale with the prespecified estimand magnitude and Type I error budget?</a:t>
            </a:r>
          </a:p>
          <a:p>
            <a:pPr lvl="0" indent="-342900" marL="342900">
              <a:buAutoNum type="arabicPeriod"/>
            </a:pPr>
            <a:r>
              <a:rPr b="1"/>
              <a:t>Negative-control panels</a:t>
            </a:r>
            <a:r>
              <a:rPr/>
              <a:t>: when the NZV filter prunes the prespecified NCs, what is the right policy — re-elicit before unblinding, or accept a narrower panel and document?</a:t>
            </a:r>
          </a:p>
          <a:p>
            <a:pPr lvl="0" indent="-342900" marL="342900">
              <a:buAutoNum type="arabicPeriod"/>
            </a:pPr>
            <a:r>
              <a:rPr b="1"/>
              <a:t>Personnel governance</a:t>
            </a:r>
            <a:r>
              <a:rPr/>
              <a:t>: for submission-grade studies, what minimum role separation should sit on top of the software workflow?</a:t>
            </a:r>
          </a:p>
          <a:p>
            <a:pPr lvl="0" indent="-342900" marL="342900">
              <a:buAutoNum type="arabicPeriod"/>
            </a:pPr>
            <a:r>
              <a:rPr b="1"/>
              <a:t>Plasmode faithfulness</a:t>
            </a:r>
            <a:r>
              <a:rPr/>
              <a:t>: is the parametric synthetic-outcome mechanism faithful enough for decision-making, or do we need richer DGPs (effect modification, time-varying treatment)?</a:t>
            </a:r>
          </a:p>
          <a:p>
            <a:pPr lvl="0" indent="-342900" marL="342900">
              <a:buAutoNum type="arabicPeriod"/>
            </a:pPr>
            <a:r>
              <a:rPr b="1"/>
              <a:t>Where to publish</a:t>
            </a:r>
            <a:r>
              <a:rPr/>
              <a:t>: methods/tutorial paper venue — </a:t>
            </a:r>
            <a:r>
              <a:rPr>
                <a:latin typeface="Courier"/>
              </a:rPr>
              <a:t>Epidemiology</a:t>
            </a:r>
            <a:r>
              <a:rPr/>
              <a:t>, </a:t>
            </a:r>
            <a:r>
              <a:rPr>
                <a:latin typeface="Courier"/>
              </a:rPr>
              <a:t>Stat Med</a:t>
            </a:r>
            <a:r>
              <a:rPr/>
              <a:t>, </a:t>
            </a:r>
            <a:r>
              <a:rPr>
                <a:latin typeface="Courier"/>
              </a:rPr>
              <a:t>Biometrics</a:t>
            </a:r>
            <a:r>
              <a:rPr/>
              <a:t>, or an RWE-specific venue (</a:t>
            </a:r>
            <a:r>
              <a:rPr>
                <a:latin typeface="Courier"/>
              </a:rPr>
              <a:t>Pharmacoepi DS</a:t>
            </a:r>
            <a:r>
              <a:rPr/>
              <a:t>, </a:t>
            </a:r>
            <a:r>
              <a:rPr>
                <a:latin typeface="Courier"/>
              </a:rPr>
              <a:t>Drug Safety</a:t>
            </a:r>
            <a:r>
              <a:rPr/>
              <a:t>)?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Package: </a:t>
            </a:r>
            <a:r>
              <a:rPr>
                <a:hlinkClick r:id="rId2"/>
              </a:rPr>
              <a:t>https://github.com/amertens/cleanTMLE</a:t>
            </a:r>
          </a:p>
          <a:p>
            <a:pPr lvl="0"/>
            <a:r>
              <a:rPr/>
              <a:t>Manuscript draft: </a:t>
            </a:r>
            <a:r>
              <a:rPr>
                <a:latin typeface="Courier"/>
              </a:rPr>
              <a:t>reports/manuscript_outcome_blind_dq.qmd</a:t>
            </a:r>
          </a:p>
          <a:p>
            <a:pPr lvl="0"/>
            <a:r>
              <a:rPr/>
              <a:t>Case study: </a:t>
            </a:r>
            <a:r>
              <a:rPr>
                <a:latin typeface="Courier"/>
              </a:rPr>
              <a:t>rescueCo/reports/rescueco_clean_room_case_study.qmd</a:t>
            </a:r>
          </a:p>
          <a:p>
            <a:pPr lvl="0"/>
            <a:r>
              <a:rPr/>
              <a:t>Vignette: </a:t>
            </a:r>
            <a:r>
              <a:rPr>
                <a:latin typeface="Courier"/>
              </a:rPr>
              <a:t>cleanTMLE/vignettes/cleanTMLE-staged-analysis.qmd</a:t>
            </a:r>
          </a:p>
          <a:p>
            <a:pPr lvl="0" indent="0" marL="0">
              <a:buNone/>
            </a:pPr>
            <a:r>
              <a:rPr/>
              <a:t>Thank you. Questions and pushback welcome.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cleanTMLE</dc:title>
  <dc:creator>Andrew Mertens</dc:creator>
  <cp:keywords/>
  <dcterms:created xsi:type="dcterms:W3CDTF">2026-05-11T03:50:14Z</dcterms:created>
  <dcterms:modified xsi:type="dcterms:W3CDTF">2026-05-11T03:50:14Z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2026-05-10</vt:lpwstr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University of California, Berkeley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Staged, outcome-blind targeted learning with plasmode data-quality stress testing</vt:lpwstr>
  </property>
  <property fmtid="{D5CDD505-2E9C-101B-9397-08002B2CF9AE}" pid="16" name="toc-title">
    <vt:lpwstr>Table of contents</vt:lpwstr>
  </property>
</Properties>
</file>