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4" Type="http://schemas.openxmlformats.org/officeDocument/2006/relationships/viewProps" Target="viewProps.xml" /><Relationship Id="rId63" Type="http://schemas.openxmlformats.org/officeDocument/2006/relationships/presProps" Target="presProps.xml" /><Relationship Id="rId1" Type="http://schemas.openxmlformats.org/officeDocument/2006/relationships/slideMaster" Target="slideMasters/slideMaster1.xml" /><Relationship Id="rId66" Type="http://schemas.openxmlformats.org/officeDocument/2006/relationships/tableStyles" Target="tableStyles.xml" /><Relationship Id="rId6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21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050">
                <a:solidFill>
                  <a:schemeClr val="tx1">
                    <a:tint val="75000"/>
                  </a:schemeClr>
                </a:solidFill>
              </a:defRPr>
            </a:lvl1pPr>
            <a:lvl2pPr marL="342900" indent="0">
              <a:buNone/>
              <a:defRPr sz="944">
                <a:solidFill>
                  <a:schemeClr val="tx1">
                    <a:tint val="75000"/>
                  </a:schemeClr>
                </a:solidFill>
              </a:defRPr>
            </a:lvl2pPr>
            <a:lvl3pPr marL="685800" indent="0">
              <a:buNone/>
              <a:defRPr sz="840">
                <a:solidFill>
                  <a:schemeClr val="tx1">
                    <a:tint val="75000"/>
                  </a:schemeClr>
                </a:solidFill>
              </a:defRPr>
            </a:lvl3pPr>
            <a:lvl4pPr marL="1028700" indent="0">
              <a:buNone/>
              <a:defRPr sz="800">
                <a:solidFill>
                  <a:schemeClr val="tx1">
                    <a:tint val="75000"/>
                  </a:schemeClr>
                </a:solidFill>
              </a:defRPr>
            </a:lvl4pPr>
            <a:lvl5pPr marL="1371600" indent="0">
              <a:buNone/>
              <a:defRPr sz="800">
                <a:solidFill>
                  <a:schemeClr val="tx1">
                    <a:tint val="75000"/>
                  </a:schemeClr>
                </a:solidFill>
              </a:defRPr>
            </a:lvl5pPr>
            <a:lvl6pPr marL="1714500" indent="0">
              <a:buNone/>
              <a:defRPr sz="800">
                <a:solidFill>
                  <a:schemeClr val="tx1">
                    <a:tint val="75000"/>
                  </a:schemeClr>
                </a:solidFill>
              </a:defRPr>
            </a:lvl6pPr>
            <a:lvl7pPr marL="2057400" indent="0">
              <a:buNone/>
              <a:defRPr sz="800">
                <a:solidFill>
                  <a:schemeClr val="tx1">
                    <a:tint val="75000"/>
                  </a:schemeClr>
                </a:solidFill>
              </a:defRPr>
            </a:lvl7pPr>
            <a:lvl8pPr marL="2400300" indent="0">
              <a:buNone/>
              <a:defRPr sz="800">
                <a:solidFill>
                  <a:schemeClr val="tx1">
                    <a:tint val="75000"/>
                  </a:schemeClr>
                </a:solidFill>
              </a:defRPr>
            </a:lvl8pPr>
            <a:lvl9pPr marL="2743200" indent="0">
              <a:buNone/>
              <a:defRPr sz="8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470"/>
            </a:lvl1pPr>
            <a:lvl2pPr>
              <a:defRPr sz="1260"/>
            </a:lvl2pPr>
            <a:lvl3pPr>
              <a:defRPr sz="1050"/>
            </a:lvl3pPr>
            <a:lvl4pPr>
              <a:defRPr sz="944"/>
            </a:lvl4pPr>
            <a:lvl5pPr>
              <a:defRPr sz="944"/>
            </a:lvl5pPr>
            <a:lvl6pPr>
              <a:defRPr sz="944"/>
            </a:lvl6pPr>
            <a:lvl7pPr>
              <a:defRPr sz="944"/>
            </a:lvl7pPr>
            <a:lvl8pPr>
              <a:defRPr sz="944"/>
            </a:lvl8pPr>
            <a:lvl9pPr>
              <a:defRPr sz="94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470"/>
            </a:lvl1pPr>
            <a:lvl2pPr>
              <a:defRPr sz="1260"/>
            </a:lvl2pPr>
            <a:lvl3pPr>
              <a:defRPr sz="1050"/>
            </a:lvl3pPr>
            <a:lvl4pPr>
              <a:defRPr sz="944"/>
            </a:lvl4pPr>
            <a:lvl5pPr>
              <a:defRPr sz="944"/>
            </a:lvl5pPr>
            <a:lvl6pPr>
              <a:defRPr sz="944"/>
            </a:lvl6pPr>
            <a:lvl7pPr>
              <a:defRPr sz="944"/>
            </a:lvl7pPr>
            <a:lvl8pPr>
              <a:defRPr sz="944"/>
            </a:lvl8pPr>
            <a:lvl9pPr>
              <a:defRPr sz="94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260" b="1"/>
            </a:lvl1pPr>
            <a:lvl2pPr marL="342900" indent="0">
              <a:buNone/>
              <a:defRPr sz="1050" b="1"/>
            </a:lvl2pPr>
            <a:lvl3pPr marL="685800" indent="0">
              <a:buNone/>
              <a:defRPr sz="944" b="1"/>
            </a:lvl3pPr>
            <a:lvl4pPr marL="1028700" indent="0">
              <a:buNone/>
              <a:defRPr sz="840" b="1"/>
            </a:lvl4pPr>
            <a:lvl5pPr marL="1371600" indent="0">
              <a:buNone/>
              <a:defRPr sz="840" b="1"/>
            </a:lvl5pPr>
            <a:lvl6pPr marL="1714500" indent="0">
              <a:buNone/>
              <a:defRPr sz="840" b="1"/>
            </a:lvl6pPr>
            <a:lvl7pPr marL="2057400" indent="0">
              <a:buNone/>
              <a:defRPr sz="840" b="1"/>
            </a:lvl7pPr>
            <a:lvl8pPr marL="2400300" indent="0">
              <a:buNone/>
              <a:defRPr sz="840" b="1"/>
            </a:lvl8pPr>
            <a:lvl9pPr marL="2743200" indent="0">
              <a:buNone/>
              <a:defRPr sz="84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260"/>
            </a:lvl1pPr>
            <a:lvl2pPr>
              <a:defRPr sz="1050"/>
            </a:lvl2pPr>
            <a:lvl3pPr>
              <a:defRPr sz="944"/>
            </a:lvl3pPr>
            <a:lvl4pPr>
              <a:defRPr sz="840"/>
            </a:lvl4pPr>
            <a:lvl5pPr>
              <a:defRPr sz="840"/>
            </a:lvl5pPr>
            <a:lvl6pPr>
              <a:defRPr sz="840"/>
            </a:lvl6pPr>
            <a:lvl7pPr>
              <a:defRPr sz="840"/>
            </a:lvl7pPr>
            <a:lvl8pPr>
              <a:defRPr sz="840"/>
            </a:lvl8pPr>
            <a:lvl9pPr>
              <a:defRPr sz="8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260" b="1"/>
            </a:lvl1pPr>
            <a:lvl2pPr marL="342900" indent="0">
              <a:buNone/>
              <a:defRPr sz="1050" b="1"/>
            </a:lvl2pPr>
            <a:lvl3pPr marL="685800" indent="0">
              <a:buNone/>
              <a:defRPr sz="944" b="1"/>
            </a:lvl3pPr>
            <a:lvl4pPr marL="1028700" indent="0">
              <a:buNone/>
              <a:defRPr sz="840" b="1"/>
            </a:lvl4pPr>
            <a:lvl5pPr marL="1371600" indent="0">
              <a:buNone/>
              <a:defRPr sz="840" b="1"/>
            </a:lvl5pPr>
            <a:lvl6pPr marL="1714500" indent="0">
              <a:buNone/>
              <a:defRPr sz="840" b="1"/>
            </a:lvl6pPr>
            <a:lvl7pPr marL="2057400" indent="0">
              <a:buNone/>
              <a:defRPr sz="840" b="1"/>
            </a:lvl7pPr>
            <a:lvl8pPr marL="2400300" indent="0">
              <a:buNone/>
              <a:defRPr sz="840" b="1"/>
            </a:lvl8pPr>
            <a:lvl9pPr marL="2743200" indent="0">
              <a:buNone/>
              <a:defRPr sz="84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260"/>
            </a:lvl1pPr>
            <a:lvl2pPr>
              <a:defRPr sz="1050"/>
            </a:lvl2pPr>
            <a:lvl3pPr>
              <a:defRPr sz="944"/>
            </a:lvl3pPr>
            <a:lvl4pPr>
              <a:defRPr sz="840"/>
            </a:lvl4pPr>
            <a:lvl5pPr>
              <a:defRPr sz="840"/>
            </a:lvl5pPr>
            <a:lvl6pPr>
              <a:defRPr sz="840"/>
            </a:lvl6pPr>
            <a:lvl7pPr>
              <a:defRPr sz="840"/>
            </a:lvl7pPr>
            <a:lvl8pPr>
              <a:defRPr sz="840"/>
            </a:lvl8pPr>
            <a:lvl9pPr>
              <a:defRPr sz="8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0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680"/>
            </a:lvl1pPr>
            <a:lvl2pPr>
              <a:defRPr sz="1470"/>
            </a:lvl2pPr>
            <a:lvl3pPr>
              <a:defRPr sz="126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800"/>
            </a:lvl1pPr>
            <a:lvl2pPr marL="342900" indent="0">
              <a:buNone/>
              <a:defRPr sz="800"/>
            </a:lvl2pPr>
            <a:lvl3pPr marL="685800" indent="0">
              <a:buNone/>
              <a:defRPr sz="800"/>
            </a:lvl3pPr>
            <a:lvl4pPr marL="1028700" indent="0">
              <a:buNone/>
              <a:defRPr sz="800"/>
            </a:lvl4pPr>
            <a:lvl5pPr marL="1371600" indent="0">
              <a:buNone/>
              <a:defRPr sz="800"/>
            </a:lvl5pPr>
            <a:lvl6pPr marL="1714500" indent="0">
              <a:buNone/>
              <a:defRPr sz="800"/>
            </a:lvl6pPr>
            <a:lvl7pPr marL="2057400" indent="0">
              <a:buNone/>
              <a:defRPr sz="800"/>
            </a:lvl7pPr>
            <a:lvl8pPr marL="2400300" indent="0">
              <a:buNone/>
              <a:defRPr sz="800"/>
            </a:lvl8pPr>
            <a:lvl9pPr marL="2743200" indent="0">
              <a:buNone/>
              <a:defRPr sz="8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0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680"/>
            </a:lvl1pPr>
            <a:lvl2pPr marL="342900" indent="0">
              <a:buNone/>
              <a:defRPr sz="1470"/>
            </a:lvl2pPr>
            <a:lvl3pPr marL="685800" indent="0">
              <a:buNone/>
              <a:defRPr sz="126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800"/>
            </a:lvl1pPr>
            <a:lvl2pPr marL="342900" indent="0">
              <a:buNone/>
              <a:defRPr sz="800"/>
            </a:lvl2pPr>
            <a:lvl3pPr marL="685800" indent="0">
              <a:buNone/>
              <a:defRPr sz="800"/>
            </a:lvl3pPr>
            <a:lvl4pPr marL="1028700" indent="0">
              <a:buNone/>
              <a:defRPr sz="800"/>
            </a:lvl4pPr>
            <a:lvl5pPr marL="1371600" indent="0">
              <a:buNone/>
              <a:defRPr sz="800"/>
            </a:lvl5pPr>
            <a:lvl6pPr marL="1714500" indent="0">
              <a:buNone/>
              <a:defRPr sz="800"/>
            </a:lvl6pPr>
            <a:lvl7pPr marL="2057400" indent="0">
              <a:buNone/>
              <a:defRPr sz="800"/>
            </a:lvl7pPr>
            <a:lvl8pPr marL="2400300" indent="0">
              <a:buNone/>
              <a:defRPr sz="800"/>
            </a:lvl8pPr>
            <a:lvl9pPr marL="2743200" indent="0">
              <a:buNone/>
              <a:defRPr sz="8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8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8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8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31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68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47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26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0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0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0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0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0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050">
          <a:solidFill>
            <a:schemeClr val="tx1"/>
          </a:solidFill>
          <a:latin typeface="+mn-lt"/>
          <a:ea typeface="+mn-ea"/>
          <a:cs typeface="+mn-cs"/>
        </a:defRPr>
      </a:lvl9pPr>
    </p:bodyStyle>
    <p:otherStyle>
      <a:defPPr>
        <a:defRPr lang="en-US"/>
      </a:defPPr>
      <a:lvl1pPr algn="l" defTabSz="342900" eaLnBrk="1" hangingPunct="1" latinLnBrk="0" marL="0" rtl="0">
        <a:defRPr kern="1200" sz="944">
          <a:solidFill>
            <a:schemeClr val="tx1"/>
          </a:solidFill>
          <a:latin typeface="+mn-lt"/>
          <a:ea typeface="+mn-ea"/>
          <a:cs typeface="+mn-cs"/>
        </a:defRPr>
      </a:lvl1pPr>
      <a:lvl2pPr algn="l" defTabSz="342900" eaLnBrk="1" hangingPunct="1" latinLnBrk="0" marL="342900" rtl="0">
        <a:defRPr kern="1200" sz="944">
          <a:solidFill>
            <a:schemeClr val="tx1"/>
          </a:solidFill>
          <a:latin typeface="+mn-lt"/>
          <a:ea typeface="+mn-ea"/>
          <a:cs typeface="+mn-cs"/>
        </a:defRPr>
      </a:lvl2pPr>
      <a:lvl3pPr algn="l" defTabSz="342900" eaLnBrk="1" hangingPunct="1" latinLnBrk="0" marL="685800" rtl="0">
        <a:defRPr kern="1200" sz="944">
          <a:solidFill>
            <a:schemeClr val="tx1"/>
          </a:solidFill>
          <a:latin typeface="+mn-lt"/>
          <a:ea typeface="+mn-ea"/>
          <a:cs typeface="+mn-cs"/>
        </a:defRPr>
      </a:lvl3pPr>
      <a:lvl4pPr algn="l" defTabSz="342900" eaLnBrk="1" hangingPunct="1" latinLnBrk="0" marL="1028700" rtl="0">
        <a:defRPr kern="1200" sz="944">
          <a:solidFill>
            <a:schemeClr val="tx1"/>
          </a:solidFill>
          <a:latin typeface="+mn-lt"/>
          <a:ea typeface="+mn-ea"/>
          <a:cs typeface="+mn-cs"/>
        </a:defRPr>
      </a:lvl4pPr>
      <a:lvl5pPr algn="l" defTabSz="342900" eaLnBrk="1" hangingPunct="1" latinLnBrk="0" marL="1371600" rtl="0">
        <a:defRPr kern="1200" sz="944">
          <a:solidFill>
            <a:schemeClr val="tx1"/>
          </a:solidFill>
          <a:latin typeface="+mn-lt"/>
          <a:ea typeface="+mn-ea"/>
          <a:cs typeface="+mn-cs"/>
        </a:defRPr>
      </a:lvl5pPr>
      <a:lvl6pPr algn="l" defTabSz="342900" eaLnBrk="1" hangingPunct="1" latinLnBrk="0" marL="1714500" rtl="0">
        <a:defRPr kern="1200" sz="944">
          <a:solidFill>
            <a:schemeClr val="tx1"/>
          </a:solidFill>
          <a:latin typeface="+mn-lt"/>
          <a:ea typeface="+mn-ea"/>
          <a:cs typeface="+mn-cs"/>
        </a:defRPr>
      </a:lvl6pPr>
      <a:lvl7pPr algn="l" defTabSz="342900" eaLnBrk="1" hangingPunct="1" latinLnBrk="0" marL="2057400" rtl="0">
        <a:defRPr kern="1200" sz="944">
          <a:solidFill>
            <a:schemeClr val="tx1"/>
          </a:solidFill>
          <a:latin typeface="+mn-lt"/>
          <a:ea typeface="+mn-ea"/>
          <a:cs typeface="+mn-cs"/>
        </a:defRPr>
      </a:lvl7pPr>
      <a:lvl8pPr algn="l" defTabSz="342900" eaLnBrk="1" hangingPunct="1" latinLnBrk="0" marL="2400300" rtl="0">
        <a:defRPr kern="1200" sz="944">
          <a:solidFill>
            <a:schemeClr val="tx1"/>
          </a:solidFill>
          <a:latin typeface="+mn-lt"/>
          <a:ea typeface="+mn-ea"/>
          <a:cs typeface="+mn-cs"/>
        </a:defRPr>
      </a:lvl8pPr>
      <a:lvl9pPr algn="l" defTabSz="342900" eaLnBrk="1" hangingPunct="1" latinLnBrk="0" marL="2743200" rtl="0">
        <a:defRPr kern="1200" sz="944">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amertens/cleanTMLE"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5.png" /><Relationship Id="rId2"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7.png" /><Relationship Id="rId2" Type="http://schemas.openxmlformats.org/officeDocument/2006/relationships/image" Target="../media/image16.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18.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0.png" /><Relationship Id="rId2" Type="http://schemas.openxmlformats.org/officeDocument/2006/relationships/image" Target="../media/image19.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cleanTMLE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Deciding the estimand before outcomes</a:t>
            </a:r>
            <a:br/>
            <a:br/>
            <a:r>
              <a:rPr/>
              <a:t>Andrew Mertens</a:t>
            </a:r>
          </a:p>
        </p:txBody>
      </p:sp>
      <p:sp>
        <p:nvSpPr>
          <p:cNvPr id="4" name="Date Placeholder 3"/>
          <p:cNvSpPr>
            <a:spLocks noGrp="1"/>
          </p:cNvSpPr>
          <p:nvPr>
            <p:ph idx="10" sz="half" type="dt"/>
          </p:nvPr>
        </p:nvSpPr>
        <p:spPr/>
        <p:txBody>
          <a:bodyPr/>
          <a:lstStyle/>
          <a:p>
            <a:pPr lvl="0" indent="0" marL="0">
              <a:buNone/>
            </a:pPr>
            <a:r>
              <a:rPr/>
              <a:t>2026-09-14</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problems with observational comparisons</a:t>
            </a:r>
          </a:p>
        </p:txBody>
      </p:sp>
      <p:sp>
        <p:nvSpPr>
          <p:cNvPr id="3" name="Content Placeholder 2"/>
          <p:cNvSpPr>
            <a:spLocks noGrp="1"/>
          </p:cNvSpPr>
          <p:nvPr>
            <p:ph idx="1"/>
          </p:nvPr>
        </p:nvSpPr>
        <p:spPr/>
        <p:txBody>
          <a:bodyPr/>
          <a:lstStyle/>
          <a:p>
            <a:pPr lvl="0"/>
            <a:r>
              <a:rPr/>
              <a:t>Problem 1: the analyst can see how each modelling choice changes the estimate, and picks accordingly.</a:t>
            </a:r>
          </a:p>
          <a:p>
            <a:pPr lvl="0"/>
            <a:r>
              <a:rPr/>
              <a:t>Problem 2: some comparisons cannot be estimated from the data at all, but the software still returns a number and a confidence interval.</a:t>
            </a:r>
          </a:p>
          <a:p>
            <a:pPr lvl="0" indent="0" marL="0">
              <a:buNone/>
            </a:pPr>
            <a:r>
              <a:rPr/>
              <a:t>A clean-room design deals with problem 1. cleanTMLE also deals with problem 2, and does it before anyone sees the outcome.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This talk</a:t>
            </a:r>
          </a:p>
        </p:txBody>
      </p:sp>
      <p:sp>
        <p:nvSpPr>
          <p:cNvPr id="3" name="Content Placeholder 2"/>
          <p:cNvSpPr>
            <a:spLocks noGrp="1"/>
          </p:cNvSpPr>
          <p:nvPr>
            <p:ph idx="1"/>
          </p:nvPr>
        </p:nvSpPr>
        <p:spPr/>
        <p:txBody>
          <a:bodyPr/>
          <a:lstStyle/>
          <a:p>
            <a:pPr lvl="0" indent="-342900" marL="342900">
              <a:buAutoNum type="arabicPeriod"/>
            </a:pPr>
            <a:r>
              <a:rPr/>
              <a:t>Why this matters, with one of our own analyses as the cautionary example</a:t>
            </a:r>
          </a:p>
          <a:p>
            <a:pPr lvl="0" indent="-342900" marL="342900">
              <a:buAutoNum type="arabicPeriod"/>
            </a:pPr>
            <a:r>
              <a:rPr/>
              <a:t>How the package works: a walkthrough on simulated data</a:t>
            </a:r>
          </a:p>
          <a:p>
            <a:pPr lvl="0" indent="-342900" marL="342900">
              <a:buAutoNum type="arabicPeriod"/>
            </a:pPr>
            <a:r>
              <a:rPr/>
              <a:t>What the simulation study showed</a:t>
            </a:r>
          </a:p>
          <a:p>
            <a:pPr lvl="0" indent="-342900" marL="342900">
              <a:buAutoNum type="arabicPeriod"/>
            </a:pPr>
            <a:r>
              <a:rPr/>
              <a:t>The Rescue.Co ambulance study in Nairobi</a:t>
            </a:r>
          </a:p>
          <a:p>
            <a:pPr lvl="0" indent="-342900" marL="342900">
              <a:buAutoNum type="arabicPeriod"/>
            </a:pPr>
            <a:r>
              <a:rPr/>
              <a:t>How this compares with existing tools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1. Why this matters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1: choices made after seeing the outcome</a:t>
            </a:r>
          </a:p>
        </p:txBody>
      </p:sp>
      <p:sp>
        <p:nvSpPr>
          <p:cNvPr id="3" name="Content Placeholder 2"/>
          <p:cNvSpPr>
            <a:spLocks noGrp="1"/>
          </p:cNvSpPr>
          <p:nvPr>
            <p:ph idx="1"/>
          </p:nvPr>
        </p:nvSpPr>
        <p:spPr/>
        <p:txBody>
          <a:bodyPr/>
          <a:lstStyle/>
          <a:p>
            <a:pPr lvl="0"/>
            <a:r>
              <a:rPr/>
              <a:t>No analysis plan covers every decision. Cells turn out sparse, a model fails to converge, a variable is missing more often than expected.</a:t>
            </a:r>
          </a:p>
          <a:p>
            <a:pPr lvl="0"/>
            <a:r>
              <a:rPr/>
              <a:t>If the analyst makes those decisions after looking at the treatment-outcome association, the analysis is no longer prespecified, whatever the plan said.</a:t>
            </a:r>
          </a:p>
          <a:p>
            <a:pPr lvl="0"/>
            <a:r>
              <a:rPr/>
              <a:t>Muntner et al. (2024) propose a fix: one team builds the cohort and runs the diagnostics without access to the outcome, and a second team does the estimation.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2: the comparison cannot be estimated</a:t>
            </a:r>
          </a:p>
        </p:txBody>
      </p:sp>
      <p:sp>
        <p:nvSpPr>
          <p:cNvPr id="3" name="Content Placeholder 2"/>
          <p:cNvSpPr>
            <a:spLocks noGrp="1"/>
          </p:cNvSpPr>
          <p:nvPr>
            <p:ph idx="1"/>
          </p:nvPr>
        </p:nvSpPr>
        <p:spPr/>
        <p:txBody>
          <a:bodyPr/>
          <a:lstStyle/>
          <a:p>
            <a:pPr lvl="0"/>
            <a:r>
              <a:rPr/>
              <a:t>The average treatment effect compares everyone treated with everyone untreated. That only makes sense if every kind of patient could plausibly have ended up in either group.</a:t>
            </a:r>
          </a:p>
          <a:p>
            <a:pPr lvl="0"/>
            <a:r>
              <a:rPr/>
              <a:t>If a whole group of patients almost never gets one of the treatments, the estimator does not stop. It extrapolates into that group and reports a number.</a:t>
            </a:r>
          </a:p>
          <a:p>
            <a:pPr lvl="0"/>
            <a:r>
              <a:rPr/>
              <a:t>Truncating the weights makes the interval narrower. It does not add any information about those patients.</a:t>
            </a:r>
          </a:p>
          <a:p>
            <a:pPr lvl="0"/>
            <a:r>
              <a:rPr/>
              <a:t>Blinding does not help with this. A blinded team can still commit to a question the data cannot answer.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This happened to us</a:t>
            </a:r>
          </a:p>
        </p:txBody>
      </p:sp>
      <p:sp>
        <p:nvSpPr>
          <p:cNvPr id="3" name="Content Placeholder 2"/>
          <p:cNvSpPr>
            <a:spLocks noGrp="1"/>
          </p:cNvSpPr>
          <p:nvPr>
            <p:ph idx="1" sz="half"/>
          </p:nvPr>
        </p:nvSpPr>
        <p:spPr/>
        <p:txBody>
          <a:bodyPr/>
          <a:lstStyle/>
          <a:p>
            <a:pPr lvl="0" indent="0" marL="0">
              <a:buNone/>
            </a:pPr>
            <a:r>
              <a:rPr b="1"/>
              <a:t>Adjusted estimate, effect on time to ambulance arrival</a:t>
            </a:r>
          </a:p>
          <a:p>
            <a:pPr lvl="0" indent="0" marL="0">
              <a:buNone/>
            </a:pPr>
            <a:r>
              <a:rPr b="1"/>
              <a:t>+14,637 minutes</a:t>
            </a:r>
          </a:p>
          <a:p>
            <a:pPr lvl="0" indent="0" marL="0">
              <a:buNone/>
            </a:pPr>
            <a:r>
              <a:rPr/>
              <a:t>with a narrow confidence interval</a:t>
            </a:r>
          </a:p>
        </p:txBody>
      </p:sp>
      <p:sp>
        <p:nvSpPr>
          <p:cNvPr id="4" name="Content Placeholder 3"/>
          <p:cNvSpPr>
            <a:spLocks noGrp="1"/>
          </p:cNvSpPr>
          <p:nvPr>
            <p:ph idx="2" sz="half"/>
          </p:nvPr>
        </p:nvSpPr>
        <p:spPr/>
        <p:txBody>
          <a:bodyPr/>
          <a:lstStyle/>
          <a:p>
            <a:pPr lvl="0" indent="0" marL="0">
              <a:buNone/>
            </a:pPr>
            <a:r>
              <a:rPr b="1"/>
              <a:t>Crude difference</a:t>
            </a:r>
          </a:p>
          <a:p>
            <a:pPr lvl="0" indent="0" marL="0">
              <a:buNone/>
            </a:pPr>
            <a:r>
              <a:rPr b="1"/>
              <a:t>about 7 hours faster</a:t>
            </a:r>
          </a:p>
          <a:p>
            <a:pPr lvl="0" indent="0" marL="0">
              <a:buNone/>
            </a:pPr>
            <a:r>
              <a:rPr/>
              <a:t>Same cohort. A large group of patients almost never used the service we were studying. Nothing in the model output pointed to a problem.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blind phase should establish</a:t>
            </a:r>
          </a:p>
        </p:txBody>
      </p:sp>
      <p:sp>
        <p:nvSpPr>
          <p:cNvPr id="3" name="Content Placeholder 2"/>
          <p:cNvSpPr>
            <a:spLocks noGrp="1"/>
          </p:cNvSpPr>
          <p:nvPr>
            <p:ph idx="1"/>
          </p:nvPr>
        </p:nvSpPr>
        <p:spPr/>
        <p:txBody>
          <a:bodyPr/>
          <a:lstStyle/>
          <a:p>
            <a:pPr lvl="0" indent="-342900" marL="342900">
              <a:buAutoNum type="arabicPeriod"/>
            </a:pPr>
            <a:r>
              <a:rPr/>
              <a:t>The cohort, treatment, outcome, and follow-up window were fixed in advance.</a:t>
            </a:r>
          </a:p>
          <a:p>
            <a:pPr lvl="0" indent="-342900" marL="342900">
              <a:buAutoNum type="arabicPeriod"/>
            </a:pPr>
            <a:r>
              <a:rPr/>
              <a:t>The planned comparison can be estimated. If not, which nearby estimand can be.</a:t>
            </a:r>
          </a:p>
          <a:p>
            <a:pPr lvl="0" indent="-342900" marL="342900">
              <a:buAutoNum type="arabicPeriod"/>
            </a:pPr>
            <a:r>
              <a:rPr/>
              <a:t>The estimator was chosen in advance and tested against realistic data problems.</a:t>
            </a:r>
          </a:p>
          <a:p>
            <a:pPr lvl="0" indent="-342900" marL="342900">
              <a:buAutoNum type="arabicPeriod"/>
            </a:pPr>
            <a:r>
              <a:rPr/>
              <a:t>If the estimand changed, it changed by a rule written down beforehand, and the change is logged.</a:t>
            </a:r>
          </a:p>
          <a:p>
            <a:pPr lvl="0" indent="0" marL="0">
              <a:buNone/>
            </a:pPr>
            <a:r>
              <a:rPr>
                <a:latin typeface="Courier"/>
              </a:rPr>
              <a:t>design_report()</a:t>
            </a:r>
            <a:r>
              <a:rPr/>
              <a:t> collects the evidence for all four into one document for the review team.</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2. How the package works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package: sixteen functions, one lock object</a:t>
            </a:r>
          </a:p>
        </p:txBody>
      </p:sp>
      <p:sp>
        <p:nvSpPr>
          <p:cNvPr id="4" name="Text Placeholder 3"/>
          <p:cNvSpPr>
            <a:spLocks noGrp="1"/>
          </p:cNvSpPr>
          <p:nvPr>
            <p:ph idx="2" sz="half" type="body"/>
          </p:nvPr>
        </p:nvSpPr>
        <p:spPr/>
        <p:txBody>
          <a:bodyPr/>
          <a:lstStyle/>
          <a:p>
            <a:pPr lvl="0" indent="0" marL="0">
              <a:buNone/>
            </a:pPr>
            <a:r>
              <a:rPr/>
              <a:t>Each function takes the lock as its input. Only the functions in the last box read the outcome. The next slides run through this on a simulated dataset.</a:t>
            </a:r>
          </a:p>
          <a:p>
            <a:pPr lvl="0" indent="0" marL="0">
              <a:buNone/>
            </a:pPr>
          </a:p>
        </p:txBody>
      </p:sp>
      <p:pic>
        <p:nvPicPr>
          <p:cNvPr descr="cleanTMLE_presentation_files\figure-pptx\mermaid-figure-1.png" id="0" name="Picture 1"/>
          <p:cNvPicPr>
            <a:picLocks noGrp="1" noChangeAspect="1"/>
          </p:cNvPicPr>
          <p:nvPr/>
        </p:nvPicPr>
        <p:blipFill>
          <a:blip r:embed="rId2"/>
          <a:stretch>
            <a:fillRect/>
          </a:stretch>
        </p:blipFill>
        <p:spPr bwMode="auto">
          <a:xfrm>
            <a:off x="3568700" y="2120900"/>
            <a:ext cx="5105400" cy="5461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 create the lock</a:t>
            </a:r>
          </a:p>
        </p:txBody>
      </p:sp>
      <p:sp>
        <p:nvSpPr>
          <p:cNvPr id="3" name="Content Placeholder 2"/>
          <p:cNvSpPr>
            <a:spLocks noGrp="1"/>
          </p:cNvSpPr>
          <p:nvPr>
            <p:ph idx="1"/>
          </p:nvPr>
        </p:nvSpPr>
        <p:spPr/>
        <p:txBody>
          <a:bodyPr/>
          <a:lstStyle/>
          <a:p>
            <a:pPr lvl="0" indent="0" marL="0">
              <a:buNone/>
            </a:pPr>
            <a:r>
              <a:rPr/>
              <a:t>The lock holds the data, the variable roles, the decision thresholds, and a hash of all of it. The outcome column is kept in a separate store that only the estimation functions can read.</a:t>
            </a:r>
          </a:p>
          <a:p>
            <a:pPr lvl="0" indent="0">
              <a:buNone/>
            </a:pPr>
            <a:r>
              <a:rPr>
                <a:solidFill>
                  <a:srgbClr val="003B4F"/>
                </a:solidFill>
                <a:latin typeface="Courier"/>
              </a:rPr>
              <a:t>dat  &lt;- </a:t>
            </a:r>
            <a:r>
              <a:rPr>
                <a:solidFill>
                  <a:srgbClr val="4758AB"/>
                </a:solidFill>
                <a:latin typeface="Courier"/>
              </a:rPr>
              <a:t>sim_func1</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a:t>
            </a:r>
            <a:br/>
            <a:r>
              <a:rPr>
                <a:solidFill>
                  <a:srgbClr val="003B4F"/>
                </a:solidFill>
                <a:latin typeface="Courier"/>
              </a:rPr>
              <a:t>lock &lt;- </a:t>
            </a:r>
            <a:r>
              <a:rPr>
                <a:solidFill>
                  <a:srgbClr val="4758AB"/>
                </a:solidFill>
                <a:latin typeface="Courier"/>
              </a:rPr>
              <a:t>create_analysis_lock</a:t>
            </a:r>
            <a:r>
              <a:rPr>
                <a:solidFill>
                  <a:srgbClr val="003B4F"/>
                </a:solidFill>
                <a:latin typeface="Courier"/>
              </a:rPr>
              <a:t>(</a:t>
            </a:r>
            <a:br/>
            <a:r>
              <a:rPr>
                <a:solidFill>
                  <a:srgbClr val="003B4F"/>
                </a:solidFill>
                <a:latin typeface="Courier"/>
              </a:rPr>
              <a:t>  dat, </a:t>
            </a:r>
            <a:r>
              <a:rPr>
                <a:solidFill>
                  <a:srgbClr val="20794D"/>
                </a:solidFill>
                <a:latin typeface="Courier"/>
              </a:rPr>
              <a:t>"treatment"</a:t>
            </a:r>
            <a:r>
              <a:rPr>
                <a:solidFill>
                  <a:srgbClr val="003B4F"/>
                </a:solidFill>
                <a:latin typeface="Courier"/>
              </a:rPr>
              <a:t>, </a:t>
            </a:r>
            <a:r>
              <a:rPr>
                <a:solidFill>
                  <a:srgbClr val="20794D"/>
                </a:solidFill>
                <a:latin typeface="Courier"/>
              </a:rPr>
              <a:t>"event_24"</a:t>
            </a:r>
            <a:r>
              <a:rPr>
                <a:solidFill>
                  <a:srgbClr val="003B4F"/>
                </a:solidFill>
                <a:latin typeface="Courier"/>
              </a:rPr>
              <a:t>,</a:t>
            </a:r>
            <a:br/>
            <a:r>
              <a:rPr>
                <a:solidFill>
                  <a:srgbClr val="003B4F"/>
                </a:solidFill>
                <a:latin typeface="Courier"/>
              </a:rPr>
              <a:t>  </a:t>
            </a:r>
            <a:r>
              <a:rPr>
                <a:solidFill>
                  <a:srgbClr val="657422"/>
                </a:solidFill>
                <a:latin typeface="Courier"/>
              </a:rPr>
              <a:t>covariates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"age"</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"biomarker"</a:t>
            </a:r>
            <a:r>
              <a:rPr>
                <a:solidFill>
                  <a:srgbClr val="003B4F"/>
                </a:solidFill>
                <a:latin typeface="Courier"/>
              </a:rPr>
              <a:t>, </a:t>
            </a:r>
            <a:r>
              <a:rPr>
                <a:solidFill>
                  <a:srgbClr val="20794D"/>
                </a:solidFill>
                <a:latin typeface="Courier"/>
              </a:rPr>
              <a:t>"comorbidity"</a:t>
            </a:r>
            <a:r>
              <a:rPr>
                <a:solidFill>
                  <a:srgbClr val="003B4F"/>
                </a:solidFill>
                <a:latin typeface="Courier"/>
              </a:rPr>
              <a:t>),</a:t>
            </a:r>
            <a:br/>
            <a:r>
              <a:rPr>
                <a:solidFill>
                  <a:srgbClr val="003B4F"/>
                </a:solidFill>
                <a:latin typeface="Courier"/>
              </a:rPr>
              <a:t>  </a:t>
            </a:r>
            <a:r>
              <a:rPr>
                <a:solidFill>
                  <a:srgbClr val="657422"/>
                </a:solidFill>
                <a:latin typeface="Courier"/>
              </a:rPr>
              <a:t>negative_controls =</a:t>
            </a:r>
            <a:r>
              <a:rPr>
                <a:solidFill>
                  <a:srgbClr val="003B4F"/>
                </a:solidFill>
                <a:latin typeface="Courier"/>
              </a:rPr>
              <a:t> </a:t>
            </a:r>
            <a:r>
              <a:rPr>
                <a:solidFill>
                  <a:srgbClr val="20794D"/>
                </a:solidFill>
                <a:latin typeface="Courier"/>
              </a:rPr>
              <a:t>"nc_outcome"</a:t>
            </a:r>
            <a:r>
              <a:rPr>
                <a:solidFill>
                  <a:srgbClr val="003B4F"/>
                </a:solidFill>
                <a:latin typeface="Courier"/>
              </a:rPr>
              <a:t>,</a:t>
            </a:r>
            <a:br/>
            <a:r>
              <a:rPr>
                <a:solidFill>
                  <a:srgbClr val="003B4F"/>
                </a:solidFill>
                <a:latin typeface="Courier"/>
              </a:rPr>
              <a:t>  </a:t>
            </a:r>
            <a:r>
              <a:rPr>
                <a:solidFill>
                  <a:srgbClr val="657422"/>
                </a:solidFill>
                <a:latin typeface="Courier"/>
              </a:rPr>
              <a:t>dq_thresholds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max_abs_bias =</a:t>
            </a:r>
            <a:r>
              <a:rPr>
                <a:solidFill>
                  <a:srgbClr val="003B4F"/>
                </a:solidFill>
                <a:latin typeface="Courier"/>
              </a:rPr>
              <a:t> </a:t>
            </a:r>
            <a:r>
              <a:rPr>
                <a:solidFill>
                  <a:srgbClr val="AD0000"/>
                </a:solidFill>
                <a:latin typeface="Courier"/>
              </a:rPr>
              <a:t>0.02</a:t>
            </a:r>
            <a:r>
              <a:rPr>
                <a:solidFill>
                  <a:srgbClr val="003B4F"/>
                </a:solidFill>
                <a:latin typeface="Courier"/>
              </a:rPr>
              <a:t>,</a:t>
            </a:r>
            <a:br/>
            <a:r>
              <a:rPr>
                <a:solidFill>
                  <a:srgbClr val="003B4F"/>
                </a:solidFill>
                <a:latin typeface="Courier"/>
              </a:rPr>
              <a:t>                       </a:t>
            </a:r>
            <a:r>
              <a:rPr>
                <a:solidFill>
                  <a:srgbClr val="657422"/>
                </a:solidFill>
                <a:latin typeface="Courier"/>
              </a:rPr>
              <a:t>min_coverage =</a:t>
            </a:r>
            <a:r>
              <a:rPr>
                <a:solidFill>
                  <a:srgbClr val="003B4F"/>
                </a:solidFill>
                <a:latin typeface="Courier"/>
              </a:rPr>
              <a:t> </a:t>
            </a:r>
            <a:r>
              <a:rPr>
                <a:solidFill>
                  <a:srgbClr val="AD0000"/>
                </a:solidFill>
                <a:latin typeface="Courier"/>
              </a:rPr>
              <a:t>0.90</a:t>
            </a:r>
            <a:r>
              <a:rPr>
                <a:solidFill>
                  <a:srgbClr val="003B4F"/>
                </a:solidFill>
                <a:latin typeface="Courier"/>
              </a:rPr>
              <a:t>, </a:t>
            </a:r>
            <a:r>
              <a:rPr>
                <a:solidFill>
                  <a:srgbClr val="657422"/>
                </a:solidFill>
                <a:latin typeface="Courier"/>
              </a:rPr>
              <a:t>max_rmse_ratio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003B4F"/>
                </a:solidFill>
                <a:latin typeface="Courier"/>
              </a:rPr>
              <a:t>  </a:t>
            </a:r>
            <a:r>
              <a:rPr>
                <a:solidFill>
                  <a:srgbClr val="657422"/>
                </a:solidFill>
                <a:latin typeface="Courier"/>
              </a:rPr>
              <a:t>nc_criteria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null_band =</a:t>
            </a:r>
            <a:r>
              <a:rPr>
                <a:solidFill>
                  <a:srgbClr val="003B4F"/>
                </a:solidFill>
                <a:latin typeface="Courier"/>
              </a:rPr>
              <a:t> </a:t>
            </a:r>
            <a:r>
              <a:rPr>
                <a:solidFill>
                  <a:srgbClr val="AD0000"/>
                </a:solidFill>
                <a:latin typeface="Courier"/>
              </a:rPr>
              <a:t>0.02</a:t>
            </a:r>
            <a:r>
              <a:rPr>
                <a:solidFill>
                  <a:srgbClr val="003B4F"/>
                </a:solidFill>
                <a:latin typeface="Courier"/>
              </a:rPr>
              <a:t>),</a:t>
            </a:r>
            <a:b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 </a:t>
            </a:r>
            <a:r>
              <a:rPr>
                <a:solidFill>
                  <a:srgbClr val="657422"/>
                </a:solidFill>
                <a:latin typeface="Courier"/>
              </a:rPr>
              <a:t>enforce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lock &lt;- </a:t>
            </a:r>
            <a:r>
              <a:rPr>
                <a:solidFill>
                  <a:srgbClr val="4758AB"/>
                </a:solidFill>
                <a:latin typeface="Courier"/>
              </a:rPr>
              <a:t>declare_estimand_ladder</a:t>
            </a:r>
            <a:r>
              <a:rPr>
                <a:solidFill>
                  <a:srgbClr val="003B4F"/>
                </a:solidFill>
                <a:latin typeface="Courier"/>
              </a:rPr>
              <a:t>(lock, </a:t>
            </a:r>
            <a:r>
              <a:rPr>
                <a:solidFill>
                  <a:srgbClr val="657422"/>
                </a:solidFill>
                <a:latin typeface="Courier"/>
              </a:rPr>
              <a:t>primary =</a:t>
            </a:r>
            <a:r>
              <a:rPr>
                <a:solidFill>
                  <a:srgbClr val="003B4F"/>
                </a:solidFill>
                <a:latin typeface="Courier"/>
              </a:rPr>
              <a:t> </a:t>
            </a:r>
            <a:r>
              <a:rPr>
                <a:solidFill>
                  <a:srgbClr val="20794D"/>
                </a:solidFill>
                <a:latin typeface="Courier"/>
              </a:rPr>
              <a:t>"ATE"</a:t>
            </a:r>
            <a:r>
              <a:rPr>
                <a:solidFill>
                  <a:srgbClr val="003B4F"/>
                </a:solidFill>
                <a:latin typeface="Courier"/>
              </a:rPr>
              <a:t>,</a:t>
            </a:r>
            <a:br/>
            <a:r>
              <a:rPr>
                <a:solidFill>
                  <a:srgbClr val="003B4F"/>
                </a:solidFill>
                <a:latin typeface="Courier"/>
              </a:rPr>
              <a:t>          </a:t>
            </a:r>
            <a:r>
              <a:rPr>
                <a:solidFill>
                  <a:srgbClr val="657422"/>
                </a:solidFill>
                <a:latin typeface="Courier"/>
              </a:rPr>
              <a:t>fallbacks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"trimmed_ATE"</a:t>
            </a:r>
            <a:r>
              <a:rPr>
                <a:solidFill>
                  <a:srgbClr val="003B4F"/>
                </a:solidFill>
                <a:latin typeface="Courier"/>
              </a:rPr>
              <a:t>, </a:t>
            </a:r>
            <a:r>
              <a:rPr>
                <a:solidFill>
                  <a:srgbClr val="20794D"/>
                </a:solidFill>
                <a:latin typeface="Courier"/>
              </a:rPr>
              <a:t>"ATT"</a:t>
            </a:r>
            <a:r>
              <a:rPr>
                <a:solidFill>
                  <a:srgbClr val="003B4F"/>
                </a:solidFill>
                <a:latin typeface="Courier"/>
              </a:rPr>
              <a:t>), </a:t>
            </a:r>
            <a:r>
              <a:rPr>
                <a:solidFill>
                  <a:srgbClr val="657422"/>
                </a:solidFill>
                <a:latin typeface="Courier"/>
              </a:rPr>
              <a:t>trigger =</a:t>
            </a:r>
            <a:r>
              <a:rPr>
                <a:solidFill>
                  <a:srgbClr val="003B4F"/>
                </a:solidFill>
                <a:latin typeface="Courier"/>
              </a:rPr>
              <a:t> </a:t>
            </a:r>
            <a:r>
              <a:rPr>
                <a:solidFill>
                  <a:srgbClr val="20794D"/>
                </a:solidFill>
                <a:latin typeface="Courier"/>
              </a:rPr>
              <a:t>"SEVERE"</a:t>
            </a:r>
            <a:r>
              <a:rPr>
                <a:solidFill>
                  <a:srgbClr val="003B4F"/>
                </a:solidFill>
                <a:latin typeface="Courier"/>
              </a:rPr>
              <a: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Step 2: check overlap</a:t>
            </a:r>
          </a:p>
        </p:txBody>
      </p:sp>
      <p:sp>
        <p:nvSpPr>
          <p:cNvPr id="4" name="Text Placeholder 3"/>
          <p:cNvSpPr>
            <a:spLocks noGrp="1"/>
          </p:cNvSpPr>
          <p:nvPr>
            <p:ph idx="2" sz="half" type="body"/>
          </p:nvPr>
        </p:nvSpPr>
        <p:spPr/>
        <p:txBody>
          <a:bodyPr/>
          <a:lstStyle/>
          <a:p>
            <a:pPr lvl="0" indent="0" marL="0">
              <a:buNone/>
            </a:pPr>
            <a:r>
              <a:rPr>
                <a:latin typeface="Courier"/>
              </a:rPr>
              <a:t>assess_support()</a:t>
            </a:r>
            <a:r>
              <a:rPr/>
              <a:t> grades the overlap in the fitted propensity score as PASS, FLAG, SEVERE, or FAIL.</a:t>
            </a:r>
          </a:p>
          <a:p>
            <a:pPr lvl="0" indent="0">
              <a:buNone/>
            </a:pPr>
            <a:r>
              <a:rPr>
                <a:solidFill>
                  <a:srgbClr val="003B4F"/>
                </a:solidFill>
                <a:latin typeface="Courier"/>
              </a:rPr>
              <a:t>ps  &lt;- </a:t>
            </a:r>
            <a:r>
              <a:rPr>
                <a:solidFill>
                  <a:srgbClr val="4758AB"/>
                </a:solidFill>
                <a:latin typeface="Courier"/>
              </a:rPr>
              <a:t>fit_ps</a:t>
            </a:r>
            <a:r>
              <a:rPr>
                <a:solidFill>
                  <a:srgbClr val="003B4F"/>
                </a:solidFill>
                <a:latin typeface="Courier"/>
              </a:rPr>
              <a:t>(lock, </a:t>
            </a:r>
            <a:r>
              <a:rPr>
                <a:solidFill>
                  <a:srgbClr val="657422"/>
                </a:solidFill>
                <a:latin typeface="Courier"/>
              </a:rPr>
              <a:t>method =</a:t>
            </a:r>
            <a:r>
              <a:rPr>
                <a:solidFill>
                  <a:srgbClr val="003B4F"/>
                </a:solidFill>
                <a:latin typeface="Courier"/>
              </a:rPr>
              <a:t> </a:t>
            </a:r>
            <a:r>
              <a:rPr>
                <a:solidFill>
                  <a:srgbClr val="20794D"/>
                </a:solidFill>
                <a:latin typeface="Courier"/>
              </a:rPr>
              <a:t>"glm"</a:t>
            </a:r>
            <a:r>
              <a:rPr>
                <a:solidFill>
                  <a:srgbClr val="003B4F"/>
                </a:solidFill>
                <a:latin typeface="Courier"/>
              </a:rPr>
              <a:t>)</a:t>
            </a:r>
            <a:br/>
            <a:r>
              <a:rPr>
                <a:solidFill>
                  <a:srgbClr val="003B4F"/>
                </a:solidFill>
                <a:latin typeface="Courier"/>
              </a:rPr>
              <a:t>sup &lt;- </a:t>
            </a:r>
            <a:r>
              <a:rPr>
                <a:solidFill>
                  <a:srgbClr val="4758AB"/>
                </a:solidFill>
                <a:latin typeface="Courier"/>
              </a:rPr>
              <a:t>assess_support</a:t>
            </a:r>
            <a:r>
              <a:rPr>
                <a:solidFill>
                  <a:srgbClr val="003B4F"/>
                </a:solidFill>
                <a:latin typeface="Courier"/>
              </a:rPr>
              <a:t>(ps)</a:t>
            </a:r>
            <a:br/>
            <a:r>
              <a:rPr>
                <a:solidFill>
                  <a:srgbClr val="003B4F"/>
                </a:solidFill>
                <a:latin typeface="Courier"/>
              </a:rPr>
              <a:t>fea &lt;- </a:t>
            </a:r>
            <a:r>
              <a:rPr>
                <a:solidFill>
                  <a:srgbClr val="4758AB"/>
                </a:solidFill>
                <a:latin typeface="Courier"/>
              </a:rPr>
              <a:t>estimand_feasibility</a:t>
            </a:r>
            <a:r>
              <a:rPr>
                <a:solidFill>
                  <a:srgbClr val="003B4F"/>
                </a:solidFill>
                <a:latin typeface="Courier"/>
              </a:rPr>
              <a:t>(ps)</a:t>
            </a:r>
          </a:p>
        </p:txBody>
      </p:sp>
      <p:pic>
        <p:nvPicPr>
          <p:cNvPr descr="cleanTMLE_presentation_files/figure-pptx/wt-support-fig-1.png" id="0" name="Picture 1"/>
          <p:cNvPicPr>
            <a:picLocks noGrp="1" noChangeAspect="1"/>
          </p:cNvPicPr>
          <p:nvPr/>
        </p:nvPicPr>
        <p:blipFill>
          <a:blip r:embed="rId2"/>
          <a:stretch>
            <a:fillRect/>
          </a:stretch>
        </p:blipFill>
        <p:spPr bwMode="auto">
          <a:xfrm>
            <a:off x="3568700" y="1320800"/>
            <a:ext cx="5105400" cy="2146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2, continued: which estimands are feasible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lgn="l">
                        <a:buNone/>
                      </a:pPr>
                      <a:r>
                        <a:rPr/>
                        <a:t>estimand</a:t>
                      </a:r>
                    </a:p>
                  </a:txBody>
                  <a:tcPr/>
                </a:tc>
                <a:tc>
                  <a:txBody>
                    <a:bodyPr/>
                    <a:lstStyle/>
                    <a:p>
                      <a:pPr lvl="0" indent="0" marL="0" algn="r">
                        <a:buNone/>
                      </a:pPr>
                      <a:r>
                        <a:rPr/>
                        <a:t>max_weight</a:t>
                      </a:r>
                    </a:p>
                  </a:txBody>
                  <a:tcPr/>
                </a:tc>
                <a:tc>
                  <a:txBody>
                    <a:bodyPr/>
                    <a:lstStyle/>
                    <a:p>
                      <a:pPr lvl="0" indent="0" marL="0" algn="r">
                        <a:buNone/>
                      </a:pPr>
                      <a:r>
                        <a:rPr/>
                        <a:t>ess_treated</a:t>
                      </a:r>
                    </a:p>
                  </a:txBody>
                  <a:tcPr/>
                </a:tc>
                <a:tc>
                  <a:txBody>
                    <a:bodyPr/>
                    <a:lstStyle/>
                    <a:p>
                      <a:pPr lvl="0" indent="0" marL="0" algn="l">
                        <a:buNone/>
                      </a:pPr>
                      <a:r>
                        <a:rPr/>
                        <a:t>verdict</a:t>
                      </a:r>
                    </a:p>
                  </a:txBody>
                  <a:tcPr/>
                </a:tc>
              </a:tr>
              <a:tr h="0">
                <a:tc>
                  <a:txBody>
                    <a:bodyPr/>
                    <a:lstStyle/>
                    <a:p>
                      <a:pPr lvl="0" indent="0" marL="0" algn="l">
                        <a:buNone/>
                      </a:pPr>
                      <a:r>
                        <a:rPr/>
                        <a:t>ATE</a:t>
                      </a:r>
                    </a:p>
                  </a:txBody>
                </a:tc>
                <a:tc>
                  <a:txBody>
                    <a:bodyPr/>
                    <a:lstStyle/>
                    <a:p>
                      <a:pPr lvl="0" indent="0" marL="0" algn="r">
                        <a:buNone/>
                      </a:pPr>
                      <a:r>
                        <a:rPr/>
                        <a:t>7.4</a:t>
                      </a:r>
                    </a:p>
                  </a:txBody>
                </a:tc>
                <a:tc>
                  <a:txBody>
                    <a:bodyPr/>
                    <a:lstStyle/>
                    <a:p>
                      <a:pPr lvl="0" indent="0" marL="0" algn="r">
                        <a:buNone/>
                      </a:pPr>
                      <a:r>
                        <a:rPr/>
                        <a:t>493.8</a:t>
                      </a:r>
                    </a:p>
                  </a:txBody>
                </a:tc>
                <a:tc>
                  <a:txBody>
                    <a:bodyPr/>
                    <a:lstStyle/>
                    <a:p>
                      <a:pPr lvl="0" indent="0" marL="0" algn="l">
                        <a:buNone/>
                      </a:pPr>
                      <a:r>
                        <a:rPr/>
                        <a:t>PASS</a:t>
                      </a:r>
                    </a:p>
                  </a:txBody>
                </a:tc>
              </a:tr>
              <a:tr h="0">
                <a:tc>
                  <a:txBody>
                    <a:bodyPr/>
                    <a:lstStyle/>
                    <a:p>
                      <a:pPr lvl="0" indent="0" marL="0" algn="l">
                        <a:buNone/>
                      </a:pPr>
                      <a:r>
                        <a:rPr/>
                        <a:t>trimmed_ATE [0.05, 0.95]</a:t>
                      </a:r>
                    </a:p>
                  </a:txBody>
                </a:tc>
                <a:tc>
                  <a:txBody>
                    <a:bodyPr/>
                    <a:lstStyle/>
                    <a:p>
                      <a:pPr lvl="0" indent="0" marL="0" algn="r">
                        <a:buNone/>
                      </a:pPr>
                      <a:r>
                        <a:rPr/>
                        <a:t>7.4</a:t>
                      </a:r>
                    </a:p>
                  </a:txBody>
                </a:tc>
                <a:tc>
                  <a:txBody>
                    <a:bodyPr/>
                    <a:lstStyle/>
                    <a:p>
                      <a:pPr lvl="0" indent="0" marL="0" algn="r">
                        <a:buNone/>
                      </a:pPr>
                      <a:r>
                        <a:rPr/>
                        <a:t>493.8</a:t>
                      </a:r>
                    </a:p>
                  </a:txBody>
                </a:tc>
                <a:tc>
                  <a:txBody>
                    <a:bodyPr/>
                    <a:lstStyle/>
                    <a:p>
                      <a:pPr lvl="0" indent="0" marL="0" algn="l">
                        <a:buNone/>
                      </a:pPr>
                      <a:r>
                        <a:rPr/>
                        <a:t>PASS</a:t>
                      </a:r>
                    </a:p>
                  </a:txBody>
                </a:tc>
              </a:tr>
              <a:tr h="0">
                <a:tc>
                  <a:txBody>
                    <a:bodyPr/>
                    <a:lstStyle/>
                    <a:p>
                      <a:pPr lvl="0" indent="0" marL="0" algn="l">
                        <a:buNone/>
                      </a:pPr>
                      <a:r>
                        <a:rPr/>
                        <a:t>trimmed_ATE [0.10, 0.90]</a:t>
                      </a:r>
                    </a:p>
                  </a:txBody>
                </a:tc>
                <a:tc>
                  <a:txBody>
                    <a:bodyPr/>
                    <a:lstStyle/>
                    <a:p>
                      <a:pPr lvl="0" indent="0" marL="0" algn="r">
                        <a:buNone/>
                      </a:pPr>
                      <a:r>
                        <a:rPr/>
                        <a:t>7.4</a:t>
                      </a:r>
                    </a:p>
                  </a:txBody>
                </a:tc>
                <a:tc>
                  <a:txBody>
                    <a:bodyPr/>
                    <a:lstStyle/>
                    <a:p>
                      <a:pPr lvl="0" indent="0" marL="0" algn="r">
                        <a:buNone/>
                      </a:pPr>
                      <a:r>
                        <a:rPr/>
                        <a:t>492.2</a:t>
                      </a:r>
                    </a:p>
                  </a:txBody>
                </a:tc>
                <a:tc>
                  <a:txBody>
                    <a:bodyPr/>
                    <a:lstStyle/>
                    <a:p>
                      <a:pPr lvl="0" indent="0" marL="0" algn="l">
                        <a:buNone/>
                      </a:pPr>
                      <a:r>
                        <a:rPr/>
                        <a:t>PASS</a:t>
                      </a:r>
                    </a:p>
                  </a:txBody>
                </a:tc>
              </a:tr>
              <a:tr h="0">
                <a:tc>
                  <a:txBody>
                    <a:bodyPr/>
                    <a:lstStyle/>
                    <a:p>
                      <a:pPr lvl="0" indent="0" marL="0" algn="l">
                        <a:buNone/>
                      </a:pPr>
                      <a:r>
                        <a:rPr/>
                        <a:t>ATT</a:t>
                      </a:r>
                    </a:p>
                  </a:txBody>
                </a:tc>
                <a:tc>
                  <a:txBody>
                    <a:bodyPr/>
                    <a:lstStyle/>
                    <a:p>
                      <a:pPr lvl="0" indent="0" marL="0" algn="r">
                        <a:buNone/>
                      </a:pPr>
                      <a:r>
                        <a:rPr/>
                        <a:t>6.4</a:t>
                      </a:r>
                    </a:p>
                  </a:txBody>
                </a:tc>
                <a:tc>
                  <a:txBody>
                    <a:bodyPr/>
                    <a:lstStyle/>
                    <a:p>
                      <a:pPr lvl="0" indent="0" marL="0" algn="r">
                        <a:buNone/>
                      </a:pPr>
                      <a:r>
                        <a:rPr/>
                        <a:t>535.0</a:t>
                      </a:r>
                    </a:p>
                  </a:txBody>
                </a:tc>
                <a:tc>
                  <a:txBody>
                    <a:bodyPr/>
                    <a:lstStyle/>
                    <a:p>
                      <a:pPr lvl="0" indent="0" marL="0" algn="l">
                        <a:buNone/>
                      </a:pPr>
                      <a:r>
                        <a:rPr/>
                        <a:t>PASS</a:t>
                      </a:r>
                    </a:p>
                  </a:txBody>
                </a:tc>
              </a:tr>
              <a:tr h="0">
                <a:tc>
                  <a:txBody>
                    <a:bodyPr/>
                    <a:lstStyle/>
                    <a:p>
                      <a:pPr lvl="0" indent="0" marL="0" algn="l">
                        <a:buNone/>
                      </a:pPr>
                      <a:r>
                        <a:rPr/>
                        <a:t>ATC</a:t>
                      </a:r>
                    </a:p>
                  </a:txBody>
                </a:tc>
                <a:tc>
                  <a:txBody>
                    <a:bodyPr/>
                    <a:lstStyle/>
                    <a:p>
                      <a:pPr lvl="0" indent="0" marL="0" algn="r">
                        <a:buNone/>
                      </a:pPr>
                      <a:r>
                        <a:rPr/>
                        <a:t>3.3</a:t>
                      </a:r>
                    </a:p>
                  </a:txBody>
                </a:tc>
                <a:tc>
                  <a:txBody>
                    <a:bodyPr/>
                    <a:lstStyle/>
                    <a:p>
                      <a:pPr lvl="0" indent="0" marL="0" algn="r">
                        <a:buNone/>
                      </a:pPr>
                      <a:r>
                        <a:rPr/>
                        <a:t>385.7</a:t>
                      </a:r>
                    </a:p>
                  </a:txBody>
                </a:tc>
                <a:tc>
                  <a:txBody>
                    <a:bodyPr/>
                    <a:lstStyle/>
                    <a:p>
                      <a:pPr lvl="0" indent="0" marL="0" algn="l">
                        <a:buNone/>
                      </a:pPr>
                      <a:r>
                        <a:rPr/>
                        <a:t>PASS</a:t>
                      </a:r>
                    </a:p>
                  </a:txBody>
                </a:tc>
              </a:tr>
              <a:tr h="0">
                <a:tc>
                  <a:txBody>
                    <a:bodyPr/>
                    <a:lstStyle/>
                    <a:p>
                      <a:pPr lvl="0" indent="0" marL="0" algn="l">
                        <a:buNone/>
                      </a:pPr>
                      <a:r>
                        <a:rPr/>
                        <a:t>ATO</a:t>
                      </a:r>
                    </a:p>
                  </a:txBody>
                </a:tc>
                <a:tc>
                  <a:txBody>
                    <a:bodyPr/>
                    <a:lstStyle/>
                    <a:p>
                      <a:pPr lvl="0" indent="0" marL="0" algn="r">
                        <a:buNone/>
                      </a:pPr>
                      <a:r>
                        <a:rPr/>
                        <a:t>0.9</a:t>
                      </a:r>
                    </a:p>
                  </a:txBody>
                </a:tc>
                <a:tc>
                  <a:txBody>
                    <a:bodyPr/>
                    <a:lstStyle/>
                    <a:p>
                      <a:pPr lvl="0" indent="0" marL="0" algn="r">
                        <a:buNone/>
                      </a:pPr>
                      <a:r>
                        <a:rPr/>
                        <a:t>484.6</a:t>
                      </a:r>
                    </a:p>
                  </a:txBody>
                </a:tc>
                <a:tc>
                  <a:txBody>
                    <a:bodyPr/>
                    <a:lstStyle/>
                    <a:p>
                      <a:pPr lvl="0" indent="0" marL="0" algn="l">
                        <a:buNone/>
                      </a:pPr>
                      <a:r>
                        <a:rPr/>
                        <a:t>PASS</a:t>
                      </a:r>
                    </a:p>
                  </a:txBody>
                </a:tc>
              </a:tr>
              <a:tr h="0">
                <a:tc>
                  <a:txBody>
                    <a:bodyPr/>
                    <a:lstStyle/>
                    <a:p>
                      <a:pPr lvl="0" indent="0" marL="0" algn="l">
                        <a:buNone/>
                      </a:pPr>
                      <a:r>
                        <a:rPr/>
                        <a:t>matched_ATT</a:t>
                      </a:r>
                    </a:p>
                  </a:txBody>
                </a:tc>
                <a:tc>
                  <a:txBody>
                    <a:bodyPr/>
                    <a:lstStyle/>
                    <a:p>
                      <a:pPr lvl="0" indent="0" marL="0" algn="r">
                        <a:buNone/>
                      </a:pPr>
                      <a:r>
                        <a:rPr/>
                        <a:t>1.0</a:t>
                      </a:r>
                    </a:p>
                  </a:txBody>
                </a:tc>
                <a:tc>
                  <a:txBody>
                    <a:bodyPr/>
                    <a:lstStyle/>
                    <a:p>
                      <a:pPr lvl="0" indent="0" marL="0" algn="r">
                        <a:buNone/>
                      </a:pPr>
                      <a:r>
                        <a:rPr/>
                        <a:t>418.0</a:t>
                      </a:r>
                    </a:p>
                  </a:txBody>
                </a:tc>
                <a:tc>
                  <a:txBody>
                    <a:bodyPr/>
                    <a:lstStyle/>
                    <a:p>
                      <a:pPr lvl="0" indent="0" marL="0" algn="l">
                        <a:buNone/>
                      </a:pPr>
                      <a:r>
                        <a:rPr/>
                        <a:t>PASS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Step 3: stress-test the candidate estimators</a:t>
            </a:r>
          </a:p>
        </p:txBody>
      </p:sp>
      <p:sp>
        <p:nvSpPr>
          <p:cNvPr id="4" name="Text Placeholder 3"/>
          <p:cNvSpPr>
            <a:spLocks noGrp="1"/>
          </p:cNvSpPr>
          <p:nvPr>
            <p:ph idx="2" sz="half" type="body"/>
          </p:nvPr>
        </p:nvSpPr>
        <p:spPr/>
        <p:txBody>
          <a:bodyPr/>
          <a:lstStyle/>
          <a:p>
            <a:pPr lvl="0" indent="0" marL="0">
              <a:buNone/>
            </a:pPr>
            <a:r>
              <a:rPr/>
              <a:t>Each candidate is fitted to simulated datasets with the declared data problems applied. The plot shows absolute bias against severity.</a:t>
            </a:r>
          </a:p>
          <a:p>
            <a:pPr lvl="0" indent="0">
              <a:buNone/>
            </a:pPr>
            <a:r>
              <a:rPr>
                <a:solidFill>
                  <a:srgbClr val="003B4F"/>
                </a:solidFill>
                <a:latin typeface="Courier"/>
              </a:rPr>
              <a:t>cands &lt;- </a:t>
            </a:r>
            <a:r>
              <a:rPr>
                <a:solidFill>
                  <a:srgbClr val="4758AB"/>
                </a:solidFill>
                <a:latin typeface="Courier"/>
              </a:rPr>
              <a:t>define_candidates</a:t>
            </a:r>
            <a:r>
              <a:rPr>
                <a:solidFill>
                  <a:srgbClr val="003B4F"/>
                </a:solidFill>
                <a:latin typeface="Courier"/>
              </a:rPr>
              <a:t>(</a:t>
            </a:r>
            <a:r>
              <a:rPr>
                <a:solidFill>
                  <a:srgbClr val="657422"/>
                </a:solidFill>
                <a:latin typeface="Courier"/>
              </a:rPr>
              <a:t>grid =</a:t>
            </a:r>
            <a:r>
              <a:rPr>
                <a:solidFill>
                  <a:srgbClr val="003B4F"/>
                </a:solidFill>
                <a:latin typeface="Courier"/>
              </a:rPr>
              <a: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657422"/>
                </a:solidFill>
                <a:latin typeface="Courier"/>
              </a:rPr>
              <a:t>truncations =</a:t>
            </a:r>
            <a:r>
              <a:rPr>
                <a:solidFill>
                  <a:srgbClr val="003B4F"/>
                </a:solidFill>
                <a:latin typeface="Courier"/>
              </a:rPr>
              <a:t> </a:t>
            </a:r>
            <a:r>
              <a:rPr>
                <a:solidFill>
                  <a:srgbClr val="AD0000"/>
                </a:solidFill>
                <a:latin typeface="Courier"/>
              </a:rPr>
              <a:t>0.01</a:t>
            </a:r>
            <a:r>
              <a:rPr>
                <a:solidFill>
                  <a:srgbClr val="003B4F"/>
                </a:solidFill>
                <a:latin typeface="Courier"/>
              </a:rPr>
              <a:t>,</a:t>
            </a:r>
            <a:br/>
            <a:r>
              <a:rPr>
                <a:solidFill>
                  <a:srgbClr val="003B4F"/>
                </a:solidFill>
                <a:latin typeface="Courier"/>
              </a:rPr>
              <a:t>  </a:t>
            </a:r>
            <a:r>
              <a:rPr>
                <a:solidFill>
                  <a:srgbClr val="657422"/>
                </a:solidFill>
                <a:latin typeface="Courier"/>
              </a:rPr>
              <a:t>libraries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glm =</a:t>
            </a:r>
            <a:r>
              <a:rPr>
                <a:solidFill>
                  <a:srgbClr val="003B4F"/>
                </a:solidFill>
                <a:latin typeface="Courier"/>
              </a:rPr>
              <a:t> </a:t>
            </a:r>
            <a:r>
              <a:rPr>
                <a:solidFill>
                  <a:srgbClr val="20794D"/>
                </a:solidFill>
                <a:latin typeface="Courier"/>
              </a:rPr>
              <a:t>"SL.glm"</a:t>
            </a:r>
            <a:r>
              <a:rPr>
                <a:solidFill>
                  <a:srgbClr val="003B4F"/>
                </a:solidFill>
                <a:latin typeface="Courier"/>
              </a:rPr>
              <a:t>, </a:t>
            </a:r>
            <a:r>
              <a:rPr>
                <a:solidFill>
                  <a:srgbClr val="657422"/>
                </a:solidFill>
                <a:latin typeface="Courier"/>
              </a:rPr>
              <a:t>glm_mean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"SL.glm"</a:t>
            </a:r>
            <a:r>
              <a:rPr>
                <a:solidFill>
                  <a:srgbClr val="003B4F"/>
                </a:solidFill>
                <a:latin typeface="Courier"/>
              </a:rPr>
              <a:t>, </a:t>
            </a:r>
            <a:r>
              <a:rPr>
                <a:solidFill>
                  <a:srgbClr val="20794D"/>
                </a:solidFill>
                <a:latin typeface="Courier"/>
              </a:rPr>
              <a:t>"SL.mean"</a:t>
            </a:r>
            <a:r>
              <a:rPr>
                <a:solidFill>
                  <a:srgbClr val="003B4F"/>
                </a:solidFill>
                <a:latin typeface="Courier"/>
              </a:rPr>
              <a:t>))))</a:t>
            </a:r>
            <a:br/>
            <a:r>
              <a:rPr>
                <a:solidFill>
                  <a:srgbClr val="003B4F"/>
                </a:solidFill>
                <a:latin typeface="Courier"/>
              </a:rPr>
              <a:t>st &lt;- </a:t>
            </a:r>
            <a:r>
              <a:rPr>
                <a:solidFill>
                  <a:srgbClr val="4758AB"/>
                </a:solidFill>
                <a:latin typeface="Courier"/>
              </a:rPr>
              <a:t>stress_test</a:t>
            </a:r>
            <a:r>
              <a:rPr>
                <a:solidFill>
                  <a:srgbClr val="003B4F"/>
                </a:solidFill>
                <a:latin typeface="Courier"/>
              </a:rPr>
              <a:t>(lock, cands, </a:t>
            </a:r>
            <a:r>
              <a:rPr>
                <a:solidFill>
                  <a:srgbClr val="657422"/>
                </a:solidFill>
                <a:latin typeface="Courier"/>
              </a:rPr>
              <a:t>reps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verbose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threats =</a:t>
            </a:r>
            <a:r>
              <a:rPr>
                <a:solidFill>
                  <a:srgbClr val="003B4F"/>
                </a:solidFill>
                <a:latin typeface="Courier"/>
              </a:rPr>
              <a: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657422"/>
                </a:solidFill>
                <a:latin typeface="Courier"/>
              </a:rPr>
              <a:t>covariate_missingness_mnar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fractions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AD0000"/>
                </a:solidFill>
                <a:latin typeface="Courier"/>
              </a:rPr>
              <a:t>0.3</a:t>
            </a:r>
            <a:r>
              <a:rPr>
                <a:solidFill>
                  <a:srgbClr val="003B4F"/>
                </a:solidFill>
                <a:latin typeface="Courier"/>
              </a:rPr>
              <a:t>)),</a:t>
            </a:r>
            <a:br/>
            <a:r>
              <a:rPr>
                <a:solidFill>
                  <a:srgbClr val="003B4F"/>
                </a:solidFill>
                <a:latin typeface="Courier"/>
              </a:rPr>
              <a:t>    </a:t>
            </a:r>
            <a:r>
              <a:rPr>
                <a:solidFill>
                  <a:srgbClr val="657422"/>
                </a:solidFill>
                <a:latin typeface="Courier"/>
              </a:rPr>
              <a:t>unmeasured_confounding =</a:t>
            </a:r>
            <a:r>
              <a:rPr>
                <a:solidFill>
                  <a:srgbClr val="003B4F"/>
                </a:solidFill>
                <a:latin typeface="Courier"/>
              </a:rPr>
              <a: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657422"/>
                </a:solidFill>
                <a:latin typeface="Courier"/>
              </a:rPr>
              <a:t>U_prevalence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U_treatment_OR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U_outcome_OR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p>
        </p:txBody>
      </p:sp>
      <p:pic>
        <p:nvPicPr>
          <p:cNvPr descr="cleanTMLE_presentation_files/figure-pptx/wt-stress-fig-1.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Step 3, continued: pick a candidate by the prespecified rule</a:t>
            </a:r>
          </a:p>
        </p:txBody>
      </p:sp>
      <p:sp>
        <p:nvSpPr>
          <p:cNvPr id="4" name="Text Placeholder 3"/>
          <p:cNvSpPr>
            <a:spLocks noGrp="1"/>
          </p:cNvSpPr>
          <p:nvPr>
            <p:ph idx="2" sz="half" type="body"/>
          </p:nvPr>
        </p:nvSpPr>
        <p:spPr/>
        <p:txBody>
          <a:bodyPr/>
          <a:lstStyle/>
          <a:p>
            <a:pPr lvl="0" indent="0">
              <a:buNone/>
            </a:pPr>
            <a:r>
              <a:rPr>
                <a:solidFill>
                  <a:srgbClr val="003B4F"/>
                </a:solidFill>
                <a:latin typeface="Courier"/>
              </a:rPr>
              <a:t>best &lt;- </a:t>
            </a:r>
            <a:r>
              <a:rPr>
                <a:solidFill>
                  <a:srgbClr val="4758AB"/>
                </a:solidFill>
                <a:latin typeface="Courier"/>
              </a:rPr>
              <a:t>select_candidate</a:t>
            </a:r>
            <a:r>
              <a:rPr>
                <a:solidFill>
                  <a:srgbClr val="003B4F"/>
                </a:solidFill>
                <a:latin typeface="Courier"/>
              </a:rPr>
              <a:t>(st, </a:t>
            </a:r>
            <a:r>
              <a:rPr>
                <a:solidFill>
                  <a:srgbClr val="657422"/>
                </a:solidFill>
                <a:latin typeface="Courier"/>
              </a:rPr>
              <a:t>rule =</a:t>
            </a:r>
            <a:r>
              <a:rPr>
                <a:solidFill>
                  <a:srgbClr val="003B4F"/>
                </a:solidFill>
                <a:latin typeface="Courier"/>
              </a:rPr>
              <a:t> </a:t>
            </a:r>
            <a:r>
              <a:rPr>
                <a:solidFill>
                  <a:srgbClr val="20794D"/>
                </a:solidFill>
                <a:latin typeface="Courier"/>
              </a:rPr>
              <a:t>"min_max_rmse"</a:t>
            </a:r>
            <a:r>
              <a:rPr>
                <a:solidFill>
                  <a:srgbClr val="003B4F"/>
                </a:solidFill>
                <a:latin typeface="Courier"/>
              </a:rPr>
              <a:t>)</a:t>
            </a:r>
            <a:br/>
            <a:r>
              <a:rPr>
                <a:solidFill>
                  <a:srgbClr val="003B4F"/>
                </a:solidFill>
                <a:latin typeface="Courier"/>
              </a:rPr>
              <a:t>lock &lt;- </a:t>
            </a:r>
            <a:r>
              <a:rPr>
                <a:solidFill>
                  <a:srgbClr val="4758AB"/>
                </a:solidFill>
                <a:latin typeface="Courier"/>
              </a:rPr>
              <a:t>declare_estimand_ladder</a:t>
            </a:r>
            <a:r>
              <a:rPr>
                <a:solidFill>
                  <a:srgbClr val="003B4F"/>
                </a:solidFill>
                <a:latin typeface="Courier"/>
              </a:rPr>
              <a:t>(lock, </a:t>
            </a:r>
            <a:r>
              <a:rPr>
                <a:solidFill>
                  <a:srgbClr val="657422"/>
                </a:solidFill>
                <a:latin typeface="Courier"/>
              </a:rPr>
              <a:t>primary =</a:t>
            </a:r>
            <a:r>
              <a:rPr>
                <a:solidFill>
                  <a:srgbClr val="003B4F"/>
                </a:solidFill>
                <a:latin typeface="Courier"/>
              </a:rPr>
              <a:t> </a:t>
            </a:r>
            <a:r>
              <a:rPr>
                <a:solidFill>
                  <a:srgbClr val="20794D"/>
                </a:solidFill>
                <a:latin typeface="Courier"/>
              </a:rPr>
              <a:t>"ATE"</a:t>
            </a:r>
            <a:r>
              <a:rPr>
                <a:solidFill>
                  <a:srgbClr val="003B4F"/>
                </a:solidFill>
                <a:latin typeface="Courier"/>
              </a:rPr>
              <a:t>,</a:t>
            </a:r>
            <a:br/>
            <a:r>
              <a:rPr>
                <a:solidFill>
                  <a:srgbClr val="003B4F"/>
                </a:solidFill>
                <a:latin typeface="Courier"/>
              </a:rPr>
              <a:t>          </a:t>
            </a:r>
            <a:r>
              <a:rPr>
                <a:solidFill>
                  <a:srgbClr val="657422"/>
                </a:solidFill>
                <a:latin typeface="Courier"/>
              </a:rPr>
              <a:t>fallbacks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"trimmed_ATE"</a:t>
            </a:r>
            <a:r>
              <a:rPr>
                <a:solidFill>
                  <a:srgbClr val="003B4F"/>
                </a:solidFill>
                <a:latin typeface="Courier"/>
              </a:rPr>
              <a:t>, </a:t>
            </a:r>
            <a:r>
              <a:rPr>
                <a:solidFill>
                  <a:srgbClr val="20794D"/>
                </a:solidFill>
                <a:latin typeface="Courier"/>
              </a:rPr>
              <a:t>"ATT"</a:t>
            </a:r>
            <a:r>
              <a:rPr>
                <a:solidFill>
                  <a:srgbClr val="003B4F"/>
                </a:solidFill>
                <a:latin typeface="Courier"/>
              </a:rPr>
              <a:t>),</a:t>
            </a:r>
            <a:br/>
            <a:r>
              <a:rPr>
                <a:solidFill>
                  <a:srgbClr val="003B4F"/>
                </a:solidFill>
                <a:latin typeface="Courier"/>
              </a:rPr>
              <a:t>          </a:t>
            </a:r>
            <a:r>
              <a:rPr>
                <a:solidFill>
                  <a:srgbClr val="657422"/>
                </a:solidFill>
                <a:latin typeface="Courier"/>
              </a:rPr>
              <a:t>trigger =</a:t>
            </a:r>
            <a:r>
              <a:rPr>
                <a:solidFill>
                  <a:srgbClr val="003B4F"/>
                </a:solidFill>
                <a:latin typeface="Courier"/>
              </a:rPr>
              <a:t> </a:t>
            </a:r>
            <a:r>
              <a:rPr>
                <a:solidFill>
                  <a:srgbClr val="20794D"/>
                </a:solidFill>
                <a:latin typeface="Courier"/>
              </a:rPr>
              <a:t>"SEVERE"</a:t>
            </a:r>
            <a:r>
              <a:rPr>
                <a:solidFill>
                  <a:srgbClr val="003B4F"/>
                </a:solidFill>
                <a:latin typeface="Courier"/>
              </a:rPr>
              <a:t>, </a:t>
            </a:r>
            <a:r>
              <a:rPr>
                <a:solidFill>
                  <a:srgbClr val="657422"/>
                </a:solidFill>
                <a:latin typeface="Courier"/>
              </a:rPr>
              <a:t>candidate =</a:t>
            </a:r>
            <a:r>
              <a:rPr>
                <a:solidFill>
                  <a:srgbClr val="003B4F"/>
                </a:solidFill>
                <a:latin typeface="Courier"/>
              </a:rPr>
              <a:t> best)</a:t>
            </a:r>
          </a:p>
          <a:p>
            <a:pPr lvl="0" indent="0" marL="0">
              <a:buNone/>
            </a:pPr>
            <a:r>
              <a:rPr/>
              <a:t>Selected: tmle_glm_t001. The verdicts come from simulated outcomes and thresholds that were fixed in the lock, so the real treatment effect had no influence on the choice.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l">
                        <a:buNone/>
                      </a:pPr>
                      <a:r>
                        <a:rPr/>
                        <a:t>candidate</a:t>
                      </a:r>
                    </a:p>
                  </a:txBody>
                  <a:tcPr/>
                </a:tc>
                <a:tc>
                  <a:txBody>
                    <a:bodyPr/>
                    <a:lstStyle/>
                    <a:p>
                      <a:pPr lvl="0" indent="0" marL="0" algn="r">
                        <a:buNone/>
                      </a:pPr>
                      <a:r>
                        <a:rPr/>
                        <a:t>worst_abs_bias</a:t>
                      </a:r>
                    </a:p>
                  </a:txBody>
                  <a:tcPr/>
                </a:tc>
                <a:tc>
                  <a:txBody>
                    <a:bodyPr/>
                    <a:lstStyle/>
                    <a:p>
                      <a:pPr lvl="0" indent="0" marL="0" algn="r">
                        <a:buNone/>
                      </a:pPr>
                      <a:r>
                        <a:rPr/>
                        <a:t>worst_coverage</a:t>
                      </a:r>
                    </a:p>
                  </a:txBody>
                  <a:tcPr/>
                </a:tc>
                <a:tc>
                  <a:txBody>
                    <a:bodyPr/>
                    <a:lstStyle/>
                    <a:p>
                      <a:pPr lvl="0" indent="0" marL="0" algn="l">
                        <a:buNone/>
                      </a:pPr>
                      <a:r>
                        <a:rPr/>
                        <a:t>verdict</a:t>
                      </a:r>
                    </a:p>
                  </a:txBody>
                  <a:tcPr/>
                </a:tc>
              </a:tr>
              <a:tr h="0">
                <a:tc>
                  <a:txBody>
                    <a:bodyPr/>
                    <a:lstStyle/>
                    <a:p>
                      <a:pPr lvl="0" indent="0" marL="0" algn="l">
                        <a:buNone/>
                      </a:pPr>
                      <a:r>
                        <a:rPr/>
                        <a:t>tmle_glm_mean_t001</a:t>
                      </a:r>
                    </a:p>
                  </a:txBody>
                </a:tc>
                <a:tc>
                  <a:txBody>
                    <a:bodyPr/>
                    <a:lstStyle/>
                    <a:p>
                      <a:pPr lvl="0" indent="0" marL="0" algn="r">
                        <a:buNone/>
                      </a:pPr>
                      <a:r>
                        <a:rPr/>
                        <a:t>0.039</a:t>
                      </a:r>
                    </a:p>
                  </a:txBody>
                </a:tc>
                <a:tc>
                  <a:txBody>
                    <a:bodyPr/>
                    <a:lstStyle/>
                    <a:p>
                      <a:pPr lvl="0" indent="0" marL="0" algn="r">
                        <a:buNone/>
                      </a:pPr>
                      <a:r>
                        <a:rPr/>
                        <a:t>0.7</a:t>
                      </a:r>
                    </a:p>
                  </a:txBody>
                </a:tc>
                <a:tc>
                  <a:txBody>
                    <a:bodyPr/>
                    <a:lstStyle/>
                    <a:p>
                      <a:pPr lvl="0" indent="0" marL="0" algn="l">
                        <a:buNone/>
                      </a:pPr>
                      <a:r>
                        <a:rPr/>
                        <a:t>STOP</a:t>
                      </a:r>
                    </a:p>
                  </a:txBody>
                </a:tc>
              </a:tr>
              <a:tr h="0">
                <a:tc>
                  <a:txBody>
                    <a:bodyPr/>
                    <a:lstStyle/>
                    <a:p>
                      <a:pPr lvl="0" indent="0" marL="0" algn="l">
                        <a:buNone/>
                      </a:pPr>
                      <a:r>
                        <a:rPr/>
                        <a:t>tmle_glm_t001</a:t>
                      </a:r>
                    </a:p>
                  </a:txBody>
                </a:tc>
                <a:tc>
                  <a:txBody>
                    <a:bodyPr/>
                    <a:lstStyle/>
                    <a:p>
                      <a:pPr lvl="0" indent="0" marL="0" algn="r">
                        <a:buNone/>
                      </a:pPr>
                      <a:r>
                        <a:rPr/>
                        <a:t>0.038</a:t>
                      </a:r>
                    </a:p>
                  </a:txBody>
                </a:tc>
                <a:tc>
                  <a:txBody>
                    <a:bodyPr/>
                    <a:lstStyle/>
                    <a:p>
                      <a:pPr lvl="0" indent="0" marL="0" algn="r">
                        <a:buNone/>
                      </a:pPr>
                      <a:r>
                        <a:rPr/>
                        <a:t>0.7</a:t>
                      </a:r>
                    </a:p>
                  </a:txBody>
                </a:tc>
                <a:tc>
                  <a:txBody>
                    <a:bodyPr/>
                    <a:lstStyle/>
                    <a:p>
                      <a:pPr lvl="0" indent="0" marL="0" algn="l">
                        <a:buNone/>
                      </a:pPr>
                      <a:r>
                        <a:rPr/>
                        <a:t>STOP</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Step 4: sign off and unmask</a:t>
            </a:r>
          </a:p>
        </p:txBody>
      </p:sp>
      <p:sp>
        <p:nvSpPr>
          <p:cNvPr id="4" name="Text Placeholder 3"/>
          <p:cNvSpPr>
            <a:spLocks noGrp="1"/>
          </p:cNvSpPr>
          <p:nvPr>
            <p:ph idx="2" sz="half" type="body"/>
          </p:nvPr>
        </p:nvSpPr>
        <p:spPr/>
        <p:txBody>
          <a:bodyPr/>
          <a:lstStyle/>
          <a:p>
            <a:pPr lvl="0" indent="0" marL="0">
              <a:buNone/>
            </a:pPr>
            <a:r>
              <a:rPr/>
              <a:t>With </a:t>
            </a:r>
            <a:r>
              <a:rPr>
                <a:latin typeface="Courier"/>
              </a:rPr>
              <a:t>enforce = TRUE</a:t>
            </a:r>
            <a:r>
              <a:rPr/>
              <a:t>, the estimation functions refuse to run until someone unmasks the outcome and gives their name. The name goes into the design log.</a:t>
            </a:r>
          </a:p>
          <a:p>
            <a:pPr lvl="0" indent="0">
              <a:buNone/>
            </a:pPr>
            <a:r>
              <a:rPr>
                <a:solidFill>
                  <a:srgbClr val="003B4F"/>
                </a:solidFill>
                <a:latin typeface="Courier"/>
              </a:rPr>
              <a:t>masked &lt;- </a:t>
            </a:r>
            <a:r>
              <a:rPr>
                <a:solidFill>
                  <a:srgbClr val="4758AB"/>
                </a:solidFill>
                <a:latin typeface="Courier"/>
              </a:rPr>
              <a:t>mask_outcome</a:t>
            </a:r>
            <a:r>
              <a:rPr>
                <a:solidFill>
                  <a:srgbClr val="003B4F"/>
                </a:solidFill>
                <a:latin typeface="Courier"/>
              </a:rPr>
              <a:t>(lock)</a:t>
            </a:r>
            <a:br/>
            <a:r>
              <a:rPr>
                <a:solidFill>
                  <a:srgbClr val="003B4F"/>
                </a:solidFill>
                <a:latin typeface="Courier"/>
              </a:rPr>
              <a:t>lock   &lt;- </a:t>
            </a:r>
            <a:r>
              <a:rPr>
                <a:solidFill>
                  <a:srgbClr val="4758AB"/>
                </a:solidFill>
                <a:latin typeface="Courier"/>
              </a:rPr>
              <a:t>unmask_outcome</a:t>
            </a:r>
            <a:r>
              <a:rPr>
                <a:solidFill>
                  <a:srgbClr val="003B4F"/>
                </a:solidFill>
                <a:latin typeface="Courier"/>
              </a:rPr>
              <a:t>(masked, lock,</a:t>
            </a:r>
            <a:br/>
            <a:r>
              <a:rPr>
                <a:solidFill>
                  <a:srgbClr val="003B4F"/>
                </a:solidFill>
                <a:latin typeface="Courier"/>
              </a:rPr>
              <a:t>                         </a:t>
            </a:r>
            <a:r>
              <a:rPr>
                <a:solidFill>
                  <a:srgbClr val="657422"/>
                </a:solidFill>
                <a:latin typeface="Courier"/>
              </a:rPr>
              <a:t>approved_by =</a:t>
            </a:r>
            <a:r>
              <a:rPr>
                <a:solidFill>
                  <a:srgbClr val="003B4F"/>
                </a:solidFill>
                <a:latin typeface="Courier"/>
              </a:rPr>
              <a:t> </a:t>
            </a:r>
            <a:r>
              <a:rPr>
                <a:solidFill>
                  <a:srgbClr val="20794D"/>
                </a:solidFill>
                <a:latin typeface="Courier"/>
              </a:rPr>
              <a:t>"review team"</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stage</a:t>
                      </a:r>
                    </a:p>
                  </a:txBody>
                  <a:tcPr/>
                </a:tc>
                <a:tc>
                  <a:txBody>
                    <a:bodyPr/>
                    <a:lstStyle/>
                    <a:p>
                      <a:pPr lvl="0" indent="0" marL="0" algn="l">
                        <a:buNone/>
                      </a:pPr>
                      <a:r>
                        <a:rPr/>
                        <a:t>decision</a:t>
                      </a:r>
                    </a:p>
                  </a:txBody>
                  <a:tcPr/>
                </a:tc>
                <a:tc>
                  <a:txBody>
                    <a:bodyPr/>
                    <a:lstStyle/>
                    <a:p>
                      <a:pPr lvl="0" indent="0" marL="0" algn="l">
                        <a:buNone/>
                      </a:pPr>
                      <a:r>
                        <a:rPr/>
                        <a:t>decided_by</a:t>
                      </a:r>
                    </a:p>
                  </a:txBody>
                  <a:tcPr/>
                </a:tc>
              </a:tr>
              <a:tr h="0">
                <a:tc>
                  <a:txBody>
                    <a:bodyPr/>
                    <a:lstStyle/>
                    <a:p>
                      <a:pPr lvl="0" indent="0" marL="0" algn="l">
                        <a:buNone/>
                      </a:pPr>
                      <a:r>
                        <a:rPr/>
                        <a:t>estimand_ladder</a:t>
                      </a:r>
                    </a:p>
                  </a:txBody>
                </a:tc>
                <a:tc>
                  <a:txBody>
                    <a:bodyPr/>
                    <a:lstStyle/>
                    <a:p>
                      <a:pPr lvl="0" indent="0" marL="0" algn="l">
                        <a:buNone/>
                      </a:pPr>
                      <a:r>
                        <a:rPr/>
                        <a:t>NA</a:t>
                      </a:r>
                    </a:p>
                  </a:txBody>
                </a:tc>
                <a:tc>
                  <a:txBody>
                    <a:bodyPr/>
                    <a:lstStyle/>
                    <a:p>
                      <a:pPr lvl="0" indent="0" marL="0" algn="l">
                        <a:buNone/>
                      </a:pPr>
                      <a:r>
                        <a:rPr/>
                        <a:t>NA</a:t>
                      </a:r>
                    </a:p>
                  </a:txBody>
                </a:tc>
              </a:tr>
              <a:tr h="0">
                <a:tc>
                  <a:txBody>
                    <a:bodyPr/>
                    <a:lstStyle/>
                    <a:p>
                      <a:pPr lvl="0" indent="0" marL="0" algn="l">
                        <a:buNone/>
                      </a:pPr>
                      <a:r>
                        <a:rPr/>
                        <a:t>estimand_ladder</a:t>
                      </a:r>
                    </a:p>
                  </a:txBody>
                </a:tc>
                <a:tc>
                  <a:txBody>
                    <a:bodyPr/>
                    <a:lstStyle/>
                    <a:p>
                      <a:pPr lvl="0" indent="0" marL="0" algn="l">
                        <a:buNone/>
                      </a:pPr>
                      <a:r>
                        <a:rPr/>
                        <a:t>NA</a:t>
                      </a:r>
                    </a:p>
                  </a:txBody>
                </a:tc>
                <a:tc>
                  <a:txBody>
                    <a:bodyPr/>
                    <a:lstStyle/>
                    <a:p>
                      <a:pPr lvl="0" indent="0" marL="0" algn="l">
                        <a:buNone/>
                      </a:pPr>
                      <a:r>
                        <a:rPr/>
                        <a:t>NA</a:t>
                      </a:r>
                    </a:p>
                  </a:txBody>
                </a:tc>
              </a:tr>
              <a:tr h="0">
                <a:tc>
                  <a:txBody>
                    <a:bodyPr/>
                    <a:lstStyle/>
                    <a:p>
                      <a:pPr lvl="0" indent="0" marL="0" algn="l">
                        <a:buNone/>
                      </a:pPr>
                      <a:r>
                        <a:rPr/>
                        <a:t>Stage 4 (unmasking)</a:t>
                      </a:r>
                    </a:p>
                  </a:txBody>
                </a:tc>
                <a:tc>
                  <a:txBody>
                    <a:bodyPr/>
                    <a:lstStyle/>
                    <a:p>
                      <a:pPr lvl="0" indent="0" marL="0" algn="l">
                        <a:buNone/>
                      </a:pPr>
                      <a:r>
                        <a:rPr/>
                        <a:t>unmask and authorise estimation</a:t>
                      </a:r>
                    </a:p>
                  </a:txBody>
                </a:tc>
                <a:tc>
                  <a:txBody>
                    <a:bodyPr/>
                    <a:lstStyle/>
                    <a:p>
                      <a:pPr lvl="0" indent="0" marL="0" algn="l">
                        <a:buNone/>
                      </a:pPr>
                      <a:r>
                        <a:rPr/>
                        <a:t>review team</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Step 5: estimate</a:t>
            </a:r>
          </a:p>
        </p:txBody>
      </p:sp>
      <p:sp>
        <p:nvSpPr>
          <p:cNvPr id="4" name="Text Placeholder 3"/>
          <p:cNvSpPr>
            <a:spLocks noGrp="1"/>
          </p:cNvSpPr>
          <p:nvPr>
            <p:ph idx="2" sz="half" type="body"/>
          </p:nvPr>
        </p:nvSpPr>
        <p:spPr/>
        <p:txBody>
          <a:bodyPr/>
          <a:lstStyle/>
          <a:p>
            <a:pPr lvl="0" indent="0" marL="0">
              <a:buNone/>
            </a:pPr>
            <a:r>
              <a:rPr>
                <a:latin typeface="Courier"/>
              </a:rPr>
              <a:t>run_estimand_ladder()</a:t>
            </a:r>
            <a:r>
              <a:rPr/>
              <a:t> estimates the primary if it is feasible and every feasible fallback. Each row carries its overlap verdict.</a:t>
            </a:r>
          </a:p>
          <a:p>
            <a:pPr lvl="0" indent="0">
              <a:buNone/>
            </a:pPr>
            <a:r>
              <a:rPr>
                <a:solidFill>
                  <a:srgbClr val="003B4F"/>
                </a:solidFill>
                <a:latin typeface="Courier"/>
              </a:rPr>
              <a:t>fit &lt;- </a:t>
            </a:r>
            <a:r>
              <a:rPr>
                <a:solidFill>
                  <a:srgbClr val="4758AB"/>
                </a:solidFill>
                <a:latin typeface="Courier"/>
              </a:rPr>
              <a:t>run_estimand_ladder</a:t>
            </a:r>
            <a:r>
              <a:rPr>
                <a:solidFill>
                  <a:srgbClr val="003B4F"/>
                </a:solidFill>
                <a:latin typeface="Courier"/>
              </a:rPr>
              <a:t>(lock, ps)</a:t>
            </a:r>
          </a:p>
        </p:txBody>
      </p:sp>
      <p:pic>
        <p:nvPicPr>
          <p:cNvPr descr="cleanTMLE_presentation_files/figure-pptx/wt-estimate-fig-1.png" id="0" name="Picture 1"/>
          <p:cNvPicPr>
            <a:picLocks noGrp="1" noChangeAspect="1"/>
          </p:cNvPicPr>
          <p:nvPr/>
        </p:nvPicPr>
        <p:blipFill>
          <a:blip r:embed="rId2"/>
          <a:stretch>
            <a:fillRect/>
          </a:stretch>
        </p:blipFill>
        <p:spPr bwMode="auto">
          <a:xfrm>
            <a:off x="3568700" y="1485900"/>
            <a:ext cx="5105400" cy="1828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Same propensity score, four estimands, different weights</a:t>
            </a:r>
          </a:p>
        </p:txBody>
      </p:sp>
      <p:pic>
        <p:nvPicPr>
          <p:cNvPr descr="cleanTMLE_presentation_files/figure-pptx/fig-weights-1.png" id="0" name="Picture 1"/>
          <p:cNvPicPr>
            <a:picLocks noGrp="1" noChangeAspect="1"/>
          </p:cNvPicPr>
          <p:nvPr/>
        </p:nvPicPr>
        <p:blipFill>
          <a:blip r:embed="rId2"/>
          <a:stretch>
            <a:fillRect/>
          </a:stretch>
        </p:blipFill>
        <p:spPr bwMode="auto">
          <a:xfrm>
            <a:off x="1384300" y="1193800"/>
            <a:ext cx="637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Figure 1: Implied weights on the protocol contrast, one point per patient, log scale. The ATE needs weights up to 257; the effect among the treated (ATT) is bounded at 5 by the largest propensity; the overlap-weighted ATO never exceeds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estimand ladder</a:t>
            </a:r>
          </a:p>
        </p:txBody>
      </p:sp>
      <p:sp>
        <p:nvSpPr>
          <p:cNvPr id="3" name="Content Placeholder 2"/>
          <p:cNvSpPr>
            <a:spLocks noGrp="1"/>
          </p:cNvSpPr>
          <p:nvPr>
            <p:ph idx="1"/>
          </p:nvPr>
        </p:nvSpPr>
        <p:spPr/>
        <p:txBody>
          <a:bodyPr/>
          <a:lstStyle/>
          <a:p>
            <a:pPr lvl="0"/>
            <a:r>
              <a:rPr/>
              <a:t>Changing the estimand after seeing results is not acceptable. Refusing to change it ever means throwing away studies that could answer a slightly different question.</a:t>
            </a:r>
          </a:p>
          <a:p>
            <a:pPr lvl="0"/>
            <a:r>
              <a:rPr/>
              <a:t>So the rule is written down first: the primary estimand, the fallbacks in order, and the overlap verdict that triggers a move down the list.</a:t>
            </a:r>
          </a:p>
          <a:p>
            <a:pPr lvl="0"/>
            <a:r>
              <a:rPr/>
              <a:t>If the primary is not feasible, the software will not estimate it unless someone gives a reason, and the reason is logged.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support map: simulating without the outcome</a:t>
            </a:r>
          </a:p>
        </p:txBody>
      </p:sp>
      <p:sp>
        <p:nvSpPr>
          <p:cNvPr id="4" name="Text Placeholder 3"/>
          <p:cNvSpPr>
            <a:spLocks noGrp="1"/>
          </p:cNvSpPr>
          <p:nvPr>
            <p:ph idx="2" sz="half" type="body"/>
          </p:nvPr>
        </p:nvSpPr>
        <p:spPr/>
        <p:txBody>
          <a:bodyPr/>
          <a:lstStyle/>
          <a:p>
            <a:pPr lvl="0" indent="0" marL="0">
              <a:buNone/>
            </a:pPr>
            <a:r>
              <a:rPr/>
              <a:t>Resample the covariates, draw treatment from the fitted propensity model, and simulate outcomes from a prespecified set of outcome models. The true effect is known in every simulated dataset, so each estimand’s estimator can be scored.</a:t>
            </a:r>
          </a:p>
        </p:txBody>
      </p:sp>
      <p:pic>
        <p:nvPicPr>
          <p:cNvPr descr="../rescueCo/results/multiarm/fig_supportmap_C1.png" id="0" name="Picture 1"/>
          <p:cNvPicPr>
            <a:picLocks noGrp="1" noChangeAspect="1"/>
          </p:cNvPicPr>
          <p:nvPr/>
        </p:nvPicPr>
        <p:blipFill>
          <a:blip r:embed="rId2"/>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C1: the ATE fails at the mildest surface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treatment is redrawn rather than kept</a:t>
            </a:r>
          </a:p>
        </p:txBody>
      </p:sp>
      <p:sp>
        <p:nvSpPr>
          <p:cNvPr id="3" name="Content Placeholder 2"/>
          <p:cNvSpPr>
            <a:spLocks noGrp="1"/>
          </p:cNvSpPr>
          <p:nvPr>
            <p:ph idx="1"/>
          </p:nvPr>
        </p:nvSpPr>
        <p:spPr/>
        <p:txBody>
          <a:bodyPr/>
          <a:lstStyle/>
          <a:p>
            <a:pPr lvl="0"/>
            <a:r>
              <a:rPr/>
              <a:t>Most plasmode simulations keep each person’s observed treatment and only simulate the outcome.</a:t>
            </a:r>
          </a:p>
          <a:p>
            <a:pPr lvl="0"/>
            <a:r>
              <a:rPr/>
              <a:t>Shaw et al. (2025) showed that this builds a positivity violation into the simulation: a group that was all treated in the real data stays all treated in every simulated dataset.</a:t>
            </a:r>
          </a:p>
          <a:p>
            <a:pPr lvl="0"/>
            <a:r>
              <a:rPr/>
              <a:t>That is a problem here, because the positivity violation is the thing we want to measure. So cleanTMLE draws treatment from the fitted propensity model instead. The case study compares both approaches.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same simulation loop tests the estimator</a:t>
            </a:r>
          </a:p>
        </p:txBody>
      </p:sp>
      <p:sp>
        <p:nvSpPr>
          <p:cNvPr id="4" name="Text Placeholder 3"/>
          <p:cNvSpPr>
            <a:spLocks noGrp="1"/>
          </p:cNvSpPr>
          <p:nvPr>
            <p:ph idx="2" sz="half" type="body"/>
          </p:nvPr>
        </p:nvSpPr>
        <p:spPr/>
        <p:txBody>
          <a:bodyPr/>
          <a:lstStyle/>
          <a:p>
            <a:pPr lvl="0" indent="0" marL="0">
              <a:buNone/>
            </a:pPr>
            <a:r>
              <a:rPr/>
              <a:t>The candidate estimators are re-run under data problems that were declared in advance: missing covariates, misclassified exposure or outcome, poor overlap, and an unmeasured confounder. The selection rule picks the candidate whose worst case is least bad.</a:t>
            </a:r>
          </a:p>
        </p:txBody>
      </p:sp>
      <p:pic>
        <p:nvPicPr>
          <p:cNvPr descr="../rescueCo/results/manuscript_artifacts/fig_dq_gradient.png" id="0" name="Picture 1"/>
          <p:cNvPicPr>
            <a:picLocks noGrp="1" noChangeAspect="1"/>
          </p:cNvPicPr>
          <p:nvPr/>
        </p:nvPicPr>
        <p:blipFill>
          <a:blip r:embed="rId2"/>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Degradation gradient, earlier single-contrast lock</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software can and cannot do</a:t>
            </a:r>
          </a:p>
        </p:txBody>
      </p:sp>
      <p:sp>
        <p:nvSpPr>
          <p:cNvPr id="3" name="Content Placeholder 2"/>
          <p:cNvSpPr>
            <a:spLocks noGrp="1"/>
          </p:cNvSpPr>
          <p:nvPr>
            <p:ph idx="1"/>
          </p:nvPr>
        </p:nvSpPr>
        <p:spPr/>
        <p:txBody>
          <a:bodyPr/>
          <a:lstStyle/>
          <a:p>
            <a:pPr lvl="0" indent="0" marL="0">
              <a:buNone/>
            </a:pPr>
            <a:r>
              <a:rPr/>
              <a:t>Can: keep the outcome out of the design stage, log every decision inside a hashed lock, and flag estimates that contradict the raw data.</a:t>
            </a:r>
          </a:p>
          <a:p>
            <a:pPr lvl="0" indent="0" marL="0">
              <a:buNone/>
            </a:pPr>
            <a:r>
              <a:rPr/>
              <a:t>Cannot: stop someone with raw-data access from looking at the outcome elsewhere, check how variables were measured, or detect a confounder that was never recorded. Those need institutional controls.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3. What the simulations showed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scenarios, six estimators</a:t>
            </a:r>
          </a:p>
        </p:txBody>
      </p:sp>
      <p:sp>
        <p:nvSpPr>
          <p:cNvPr id="3" name="Content Placeholder 2"/>
          <p:cNvSpPr>
            <a:spLocks noGrp="1"/>
          </p:cNvSpPr>
          <p:nvPr>
            <p:ph idx="1"/>
          </p:nvPr>
        </p:nvSpPr>
        <p:spPr/>
        <p:txBody>
          <a:bodyPr/>
          <a:lstStyle/>
          <a:p>
            <a:pPr lvl="0"/>
            <a:r>
              <a:rPr/>
              <a:t>2,000 people per dataset, 200 datasets per scenario.</a:t>
            </a:r>
          </a:p>
          <a:p>
            <a:pPr lvl="0"/>
            <a:r>
              <a:rPr/>
              <a:t>Scenario A: good overlap. B: marginal overlap. C: an unmeasured confounder.</a:t>
            </a:r>
          </a:p>
          <a:p>
            <a:pPr lvl="0"/>
            <a:r>
              <a:rPr/>
              <a:t>Estimators: crude, matching, IPTW, TMLE, cross-validated TMLE, matched TMLE.</a:t>
            </a:r>
          </a:p>
          <a:p>
            <a:pPr lvl="0" indent="0" marL="0">
              <a:buNone/>
            </a:pPr>
            <a:r>
              <a:rPr/>
              <a:t>With good overlap every adjusted estimator recovers the truth. With marginal overlap, bias stays small, but the IPTW and matched-TMLE intervals are too wide because their variance formulas treat the propensity score as known. A bootstrap fixes that, and the workflow flags it before unblinding.</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Same estimators, different workflow</a:t>
            </a:r>
          </a:p>
        </p:txBody>
      </p:sp>
      <p:sp>
        <p:nvSpPr>
          <p:cNvPr id="4" name="Text Placeholder 3"/>
          <p:cNvSpPr>
            <a:spLocks noGrp="1"/>
          </p:cNvSpPr>
          <p:nvPr>
            <p:ph idx="2" sz="half" type="body"/>
          </p:nvPr>
        </p:nvSpPr>
        <p:spPr/>
        <p:txBody>
          <a:bodyPr/>
          <a:lstStyle/>
          <a:p>
            <a:pPr lvl="0" indent="0" marL="0">
              <a:buNone/>
            </a:pPr>
            <a:r>
              <a:rPr/>
              <a:t>In scenario C every estimator is biased in the same direction, TMLE least so. The software did not find the hidden confounder. It stopped because one of the prespecified stress scenarios failed its threshold.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Scenario</a:t>
                      </a:r>
                    </a:p>
                  </a:txBody>
                  <a:tcPr/>
                </a:tc>
                <a:tc>
                  <a:txBody>
                    <a:bodyPr/>
                    <a:lstStyle/>
                    <a:p>
                      <a:pPr lvl="0" indent="0" marL="0">
                        <a:buNone/>
                      </a:pPr>
                      <a:r>
                        <a:rPr/>
                        <a:t>Traditional analyst</a:t>
                      </a:r>
                    </a:p>
                  </a:txBody>
                  <a:tcPr/>
                </a:tc>
                <a:tc>
                  <a:txBody>
                    <a:bodyPr/>
                    <a:lstStyle/>
                    <a:p>
                      <a:pPr lvl="0" indent="0" marL="0">
                        <a:buNone/>
                      </a:pPr>
                      <a:r>
                        <a:rPr/>
                        <a:t>Outcome-blind workflow</a:t>
                      </a:r>
                    </a:p>
                  </a:txBody>
                  <a:tcPr/>
                </a:tc>
              </a:tr>
              <a:tr h="0">
                <a:tc>
                  <a:txBody>
                    <a:bodyPr/>
                    <a:lstStyle/>
                    <a:p>
                      <a:pPr lvl="0" indent="0" marL="0">
                        <a:buNone/>
                      </a:pPr>
                      <a:r>
                        <a:rPr/>
                        <a:t>Good overlap</a:t>
                      </a:r>
                    </a:p>
                  </a:txBody>
                </a:tc>
                <a:tc>
                  <a:txBody>
                    <a:bodyPr/>
                    <a:lstStyle/>
                    <a:p>
                      <a:pPr lvl="0" indent="0" marL="0">
                        <a:buNone/>
                      </a:pPr>
                      <a:r>
                        <a:rPr/>
                        <a:t>Diagnostics look fine; report the result.</a:t>
                      </a:r>
                    </a:p>
                  </a:txBody>
                </a:tc>
                <a:tc>
                  <a:txBody>
                    <a:bodyPr/>
                    <a:lstStyle/>
                    <a:p>
                      <a:pPr lvl="0" indent="0" marL="0">
                        <a:buNone/>
                      </a:pPr>
                      <a:r>
                        <a:rPr/>
                        <a:t>Same, and the simulation confirms the candidates. Proceed.</a:t>
                      </a:r>
                    </a:p>
                  </a:txBody>
                </a:tc>
              </a:tr>
              <a:tr h="0">
                <a:tc>
                  <a:txBody>
                    <a:bodyPr/>
                    <a:lstStyle/>
                    <a:p>
                      <a:pPr lvl="0" indent="0" marL="0">
                        <a:buNone/>
                      </a:pPr>
                      <a:r>
                        <a:rPr/>
                        <a:t>Marginal overlap</a:t>
                      </a:r>
                    </a:p>
                  </a:txBody>
                </a:tc>
                <a:tc>
                  <a:txBody>
                    <a:bodyPr/>
                    <a:lstStyle/>
                    <a:p>
                      <a:pPr lvl="0" indent="0" marL="0">
                        <a:buNone/>
                      </a:pPr>
                      <a:r>
                        <a:rPr/>
                        <a:t>A careful analyst notices and adapts. Many do not.</a:t>
                      </a:r>
                    </a:p>
                  </a:txBody>
                </a:tc>
                <a:tc>
                  <a:txBody>
                    <a:bodyPr/>
                    <a:lstStyle/>
                    <a:p>
                      <a:pPr lvl="0" indent="0" marL="0">
                        <a:buNone/>
                      </a:pPr>
                      <a:r>
                        <a:rPr/>
                        <a:t>The variance problem is measured before unblinding. Proceed with a caveat.</a:t>
                      </a:r>
                    </a:p>
                  </a:txBody>
                </a:tc>
              </a:tr>
              <a:tr h="0">
                <a:tc>
                  <a:txBody>
                    <a:bodyPr/>
                    <a:lstStyle/>
                    <a:p>
                      <a:pPr lvl="0" indent="0" marL="0">
                        <a:buNone/>
                      </a:pPr>
                      <a:r>
                        <a:rPr/>
                        <a:t>Unmeasured confounding</a:t>
                      </a:r>
                    </a:p>
                  </a:txBody>
                </a:tc>
                <a:tc>
                  <a:txBody>
                    <a:bodyPr/>
                    <a:lstStyle/>
                    <a:p>
                      <a:pPr lvl="0" indent="0" marL="0">
                        <a:buNone/>
                      </a:pPr>
                      <a:r>
                        <a:rPr/>
                        <a:t>All adjusted estimates agree with each other; a wrong null result gets published.</a:t>
                      </a:r>
                    </a:p>
                  </a:txBody>
                </a:tc>
                <a:tc>
                  <a:txBody>
                    <a:bodyPr/>
                    <a:lstStyle/>
                    <a:p>
                      <a:pPr lvl="0" indent="0" marL="0">
                        <a:buNone/>
                      </a:pPr>
                      <a:r>
                        <a:rPr/>
                        <a:t>The confounding stress scenario fails the bias threshold. Stop.</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4. Case study: Rescue.Co, Nairobi</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Five contrasts, one registry</a:t>
            </a:r>
          </a:p>
        </p:txBody>
      </p:sp>
      <p:sp>
        <p:nvSpPr>
          <p:cNvPr id="4" name="Text Placeholder 3"/>
          <p:cNvSpPr>
            <a:spLocks noGrp="1"/>
          </p:cNvSpPr>
          <p:nvPr>
            <p:ph idx="2" sz="half" type="body"/>
          </p:nvPr>
        </p:nvSpPr>
        <p:spPr/>
        <p:txBody>
          <a:bodyPr/>
          <a:lstStyle/>
          <a:p>
            <a:pPr lvl="0" indent="0" marL="0">
              <a:buNone/>
            </a:pPr>
            <a:r>
              <a:rPr/>
              <a:t>8,323 trauma patients with a known mode of transport, three Nairobi hospitals, 2018 to 2024. Each contrast gets its own lock on the same cohort, with the same 90 design variables and the same estimand ladder. Outcomes: death within six months, and time to arrival at hospital.</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92200"/>
                <a:gridCol w="1092200"/>
                <a:gridCol w="1460500"/>
                <a:gridCol w="1460500"/>
              </a:tblGrid>
              <a:tr h="0">
                <a:tc>
                  <a:txBody>
                    <a:bodyPr/>
                    <a:lstStyle/>
                    <a:p>
                      <a:pPr lvl="0" indent="0" marL="0">
                        <a:buNone/>
                      </a:pPr>
                      <a:r>
                        <a:rPr/>
                        <a:t>Lock</a:t>
                      </a:r>
                    </a:p>
                  </a:txBody>
                  <a:tcPr/>
                </a:tc>
                <a:tc>
                  <a:txBody>
                    <a:bodyPr/>
                    <a:lstStyle/>
                    <a:p>
                      <a:pPr lvl="0" indent="0" marL="0">
                        <a:buNone/>
                      </a:pPr>
                      <a:r>
                        <a:rPr/>
                        <a:t>Comparison</a:t>
                      </a:r>
                    </a:p>
                  </a:txBody>
                  <a:tcPr/>
                </a:tc>
                <a:tc>
                  <a:txBody>
                    <a:bodyPr/>
                    <a:lstStyle/>
                    <a:p>
                      <a:pPr lvl="0" indent="0" marL="0" algn="r">
                        <a:buNone/>
                      </a:pPr>
                      <a:r>
                        <a:rPr/>
                        <a:t>N</a:t>
                      </a:r>
                    </a:p>
                  </a:txBody>
                  <a:tcPr/>
                </a:tc>
                <a:tc>
                  <a:txBody>
                    <a:bodyPr/>
                    <a:lstStyle/>
                    <a:p>
                      <a:pPr lvl="0" indent="0" marL="0" algn="r">
                        <a:buNone/>
                      </a:pPr>
                      <a:r>
                        <a:rPr/>
                        <a:t>Treated</a:t>
                      </a:r>
                    </a:p>
                  </a:txBody>
                  <a:tcPr/>
                </a:tc>
              </a:tr>
              <a:tr h="0">
                <a:tc>
                  <a:txBody>
                    <a:bodyPr/>
                    <a:lstStyle/>
                    <a:p>
                      <a:pPr lvl="0" indent="0" marL="0">
                        <a:buNone/>
                      </a:pPr>
                      <a:r>
                        <a:rPr/>
                        <a:t>C1</a:t>
                      </a:r>
                    </a:p>
                  </a:txBody>
                </a:tc>
                <a:tc>
                  <a:txBody>
                    <a:bodyPr/>
                    <a:lstStyle/>
                    <a:p>
                      <a:pPr lvl="0" indent="0" marL="0">
                        <a:buNone/>
                      </a:pPr>
                      <a:r>
                        <a:rPr/>
                        <a:t>Rescue.Co vs everyone else (protocol comparator)</a:t>
                      </a:r>
                    </a:p>
                  </a:txBody>
                </a:tc>
                <a:tc>
                  <a:txBody>
                    <a:bodyPr/>
                    <a:lstStyle/>
                    <a:p>
                      <a:pPr lvl="0" indent="0" marL="0" algn="r">
                        <a:buNone/>
                      </a:pPr>
                      <a:r>
                        <a:rPr/>
                        <a:t>8,323</a:t>
                      </a:r>
                    </a:p>
                  </a:txBody>
                </a:tc>
                <a:tc>
                  <a:txBody>
                    <a:bodyPr/>
                    <a:lstStyle/>
                    <a:p>
                      <a:pPr lvl="0" indent="0" marL="0" algn="r">
                        <a:buNone/>
                      </a:pPr>
                      <a:r>
                        <a:rPr/>
                        <a:t>1,039</a:t>
                      </a:r>
                    </a:p>
                  </a:txBody>
                </a:tc>
              </a:tr>
              <a:tr h="0">
                <a:tc>
                  <a:txBody>
                    <a:bodyPr/>
                    <a:lstStyle/>
                    <a:p>
                      <a:pPr lvl="0" indent="0" marL="0">
                        <a:buNone/>
                      </a:pPr>
                      <a:r>
                        <a:rPr/>
                        <a:t>C2</a:t>
                      </a:r>
                    </a:p>
                  </a:txBody>
                </a:tc>
                <a:tc>
                  <a:txBody>
                    <a:bodyPr/>
                    <a:lstStyle/>
                    <a:p>
                      <a:pPr lvl="0" indent="0" marL="0">
                        <a:buNone/>
                      </a:pPr>
                      <a:r>
                        <a:rPr/>
                        <a:t>Rescue.Co vs non-ambulance</a:t>
                      </a:r>
                    </a:p>
                  </a:txBody>
                </a:tc>
                <a:tc>
                  <a:txBody>
                    <a:bodyPr/>
                    <a:lstStyle/>
                    <a:p>
                      <a:pPr lvl="0" indent="0" marL="0" algn="r">
                        <a:buNone/>
                      </a:pPr>
                      <a:r>
                        <a:rPr/>
                        <a:t>7,165</a:t>
                      </a:r>
                    </a:p>
                  </a:txBody>
                </a:tc>
                <a:tc>
                  <a:txBody>
                    <a:bodyPr/>
                    <a:lstStyle/>
                    <a:p>
                      <a:pPr lvl="0" indent="0" marL="0" algn="r">
                        <a:buNone/>
                      </a:pPr>
                      <a:r>
                        <a:rPr/>
                        <a:t>1,039</a:t>
                      </a:r>
                    </a:p>
                  </a:txBody>
                </a:tc>
              </a:tr>
              <a:tr h="0">
                <a:tc>
                  <a:txBody>
                    <a:bodyPr/>
                    <a:lstStyle/>
                    <a:p>
                      <a:pPr lvl="0" indent="0" marL="0">
                        <a:buNone/>
                      </a:pPr>
                      <a:r>
                        <a:rPr/>
                        <a:t>C3</a:t>
                      </a:r>
                    </a:p>
                  </a:txBody>
                </a:tc>
                <a:tc>
                  <a:txBody>
                    <a:bodyPr/>
                    <a:lstStyle/>
                    <a:p>
                      <a:pPr lvl="0" indent="0" marL="0">
                        <a:buNone/>
                      </a:pPr>
                      <a:r>
                        <a:rPr/>
                        <a:t>Any ambulance vs non-ambulance</a:t>
                      </a:r>
                    </a:p>
                  </a:txBody>
                </a:tc>
                <a:tc>
                  <a:txBody>
                    <a:bodyPr/>
                    <a:lstStyle/>
                    <a:p>
                      <a:pPr lvl="0" indent="0" marL="0" algn="r">
                        <a:buNone/>
                      </a:pPr>
                      <a:r>
                        <a:rPr/>
                        <a:t>8,323</a:t>
                      </a:r>
                    </a:p>
                  </a:txBody>
                </a:tc>
                <a:tc>
                  <a:txBody>
                    <a:bodyPr/>
                    <a:lstStyle/>
                    <a:p>
                      <a:pPr lvl="0" indent="0" marL="0" algn="r">
                        <a:buNone/>
                      </a:pPr>
                      <a:r>
                        <a:rPr/>
                        <a:t>2,197</a:t>
                      </a:r>
                    </a:p>
                  </a:txBody>
                </a:tc>
              </a:tr>
              <a:tr h="0">
                <a:tc>
                  <a:txBody>
                    <a:bodyPr/>
                    <a:lstStyle/>
                    <a:p>
                      <a:pPr lvl="0" indent="0" marL="0">
                        <a:buNone/>
                      </a:pPr>
                      <a:r>
                        <a:rPr/>
                        <a:t>C4</a:t>
                      </a:r>
                    </a:p>
                  </a:txBody>
                </a:tc>
                <a:tc>
                  <a:txBody>
                    <a:bodyPr/>
                    <a:lstStyle/>
                    <a:p>
                      <a:pPr lvl="0" indent="0" marL="0">
                        <a:buNone/>
                      </a:pPr>
                      <a:r>
                        <a:rPr/>
                        <a:t>Rescue.Co vs other ambulance, transfers included</a:t>
                      </a:r>
                    </a:p>
                  </a:txBody>
                </a:tc>
                <a:tc>
                  <a:txBody>
                    <a:bodyPr/>
                    <a:lstStyle/>
                    <a:p>
                      <a:pPr lvl="0" indent="0" marL="0" algn="r">
                        <a:buNone/>
                      </a:pPr>
                      <a:r>
                        <a:rPr/>
                        <a:t>2,197</a:t>
                      </a:r>
                    </a:p>
                  </a:txBody>
                </a:tc>
                <a:tc>
                  <a:txBody>
                    <a:bodyPr/>
                    <a:lstStyle/>
                    <a:p>
                      <a:pPr lvl="0" indent="0" marL="0" algn="r">
                        <a:buNone/>
                      </a:pPr>
                      <a:r>
                        <a:rPr/>
                        <a:t>1,039</a:t>
                      </a:r>
                    </a:p>
                  </a:txBody>
                </a:tc>
              </a:tr>
              <a:tr h="0">
                <a:tc>
                  <a:txBody>
                    <a:bodyPr/>
                    <a:lstStyle/>
                    <a:p>
                      <a:pPr lvl="0" indent="0" marL="0">
                        <a:buNone/>
                      </a:pPr>
                      <a:r>
                        <a:rPr/>
                        <a:t>Primary</a:t>
                      </a:r>
                    </a:p>
                  </a:txBody>
                </a:tc>
                <a:tc>
                  <a:txBody>
                    <a:bodyPr/>
                    <a:lstStyle/>
                    <a:p>
                      <a:pPr lvl="0" indent="0" marL="0">
                        <a:buNone/>
                      </a:pPr>
                      <a:r>
                        <a:rPr/>
                        <a:t>Rescue.Co vs other ambulance, transfers and prior care excluded</a:t>
                      </a:r>
                    </a:p>
                  </a:txBody>
                </a:tc>
                <a:tc>
                  <a:txBody>
                    <a:bodyPr/>
                    <a:lstStyle/>
                    <a:p>
                      <a:pPr lvl="0" indent="0" marL="0" algn="r">
                        <a:buNone/>
                      </a:pPr>
                      <a:r>
                        <a:rPr/>
                        <a:t>1,616</a:t>
                      </a:r>
                    </a:p>
                  </a:txBody>
                </a:tc>
                <a:tc>
                  <a:txBody>
                    <a:bodyPr/>
                    <a:lstStyle/>
                    <a:p>
                      <a:pPr lvl="0" indent="0" marL="0" algn="r">
                        <a:buNone/>
                      </a:pPr>
                      <a:r>
                        <a:rPr/>
                        <a:t>1,003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poor overlap looks like</a:t>
            </a:r>
          </a:p>
        </p:txBody>
      </p:sp>
      <p:pic>
        <p:nvPicPr>
          <p:cNvPr descr="../rescueCo/results/multiarm/fig_support_C1.png" id="0" name="Picture 1"/>
          <p:cNvPicPr>
            <a:picLocks noGrp="1" noChangeAspect="1"/>
          </p:cNvPicPr>
          <p:nvPr/>
        </p:nvPicPr>
        <p:blipFill>
          <a:blip r:embed="rId2"/>
          <a:stretch>
            <a:fillRect/>
          </a:stretch>
        </p:blipFill>
        <p:spPr bwMode="auto">
          <a:xfrm>
            <a:off x="457200" y="1422400"/>
            <a:ext cx="4038600" cy="2425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Protocol contrast (C1): SEVERE. Treated above the axis, controls below, the acceptable band shaded.</a:t>
            </a:r>
          </a:p>
        </p:txBody>
      </p:sp>
      <p:pic>
        <p:nvPicPr>
          <p:cNvPr descr="../rescueCo/results/multiarm/fig_support_PRIMARY.png" id="0" name="Picture 1"/>
          <p:cNvPicPr>
            <a:picLocks noGrp="1" noChangeAspect="1"/>
          </p:cNvPicPr>
          <p:nvPr/>
        </p:nvPicPr>
        <p:blipFill>
          <a:blip r:embed="rId3"/>
          <a:stretch>
            <a:fillRect/>
          </a:stretch>
        </p:blipFill>
        <p:spPr bwMode="auto">
          <a:xfrm>
            <a:off x="4648200" y="1422400"/>
            <a:ext cx="4038600" cy="24257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Primary cohort: PASS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support verdicts</a:t>
            </a:r>
          </a:p>
        </p:txBody>
      </p:sp>
      <p:sp>
        <p:nvSpPr>
          <p:cNvPr id="4" name="Text Placeholder 3"/>
          <p:cNvSpPr>
            <a:spLocks noGrp="1"/>
          </p:cNvSpPr>
          <p:nvPr>
            <p:ph idx="2" sz="half" type="body"/>
          </p:nvPr>
        </p:nvSpPr>
        <p:spPr/>
        <p:txBody>
          <a:bodyPr/>
          <a:lstStyle/>
          <a:p>
            <a:pPr lvl="0" indent="0" marL="0">
              <a:buNone/>
            </a:pPr>
            <a:r>
              <a:rPr/>
              <a:t>On the protocol contrast, two-fifths of the sample falls outside the acceptable propensity band. C1 and C2 both trip the SEVERE trigger, before any outcome data are attached.</a:t>
            </a:r>
          </a:p>
        </p:txBody>
      </p:sp>
      <p:pic>
        <p:nvPicPr>
          <p:cNvPr descr="cleanTMLE_presentation_files/figure-pptx/fig-support-1.png" id="0" name="Picture 1"/>
          <p:cNvPicPr>
            <a:picLocks noGrp="1" noChangeAspect="1"/>
          </p:cNvPicPr>
          <p:nvPr/>
        </p:nvPicPr>
        <p:blipFill>
          <a:blip r:embed="rId2"/>
          <a:stretch>
            <a:fillRect/>
          </a:stretch>
        </p:blipFill>
        <p:spPr bwMode="auto">
          <a:xfrm>
            <a:off x="3568700" y="990600"/>
            <a:ext cx="5105400" cy="2311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Share of each contrast outside the propensity band [0.05, 0.95]. Dotted lines mark the verdict thresholds: FLAG above 1%, SEVERE above 25%. Labels give the largest implied ATE weight.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never gets a Rescue.Co ambulance?</a:t>
            </a:r>
          </a:p>
        </p:txBody>
      </p:sp>
      <p:sp>
        <p:nvSpPr>
          <p:cNvPr id="3" name="Content Placeholder 2"/>
          <p:cNvSpPr>
            <a:spLocks noGrp="1"/>
          </p:cNvSpPr>
          <p:nvPr>
            <p:ph idx="1"/>
          </p:nvPr>
        </p:nvSpPr>
        <p:spPr/>
        <p:txBody>
          <a:bodyPr/>
          <a:lstStyle/>
          <a:p>
            <a:pPr lvl="0" indent="0" marL="0">
              <a:buNone/>
            </a:pPr>
            <a:r>
              <a:rPr/>
              <a:t>The tree search identifies the groups behind the C1 overlap problem:</a:t>
            </a:r>
          </a:p>
          <a:p>
            <a:pPr lvl="0"/>
            <a:r>
              <a:rPr/>
              <a:t>injured at a private home: 1,386 patients, 1.4% treated</a:t>
            </a:r>
          </a:p>
          <a:p>
            <a:pPr lvl="0"/>
            <a:r>
              <a:rPr/>
              <a:t>other non-street injury locations: 1,438 patients, 2.5% treated</a:t>
            </a:r>
          </a:p>
          <a:p>
            <a:pPr lvl="0"/>
            <a:r>
              <a:rPr/>
              <a:t>assault victims elsewhere: 1,062 patients, 4.2% treated</a:t>
            </a:r>
          </a:p>
          <a:p>
            <a:pPr lvl="0" indent="0" marL="0">
              <a:buNone/>
            </a:pPr>
            <a:r>
              <a:rPr/>
              <a:t>The data say almost nothing about what would happen if these patients had used Rescue.Co. Trimming to the overlap region removes 3,377 people, nearly all controls. Compared with the patients kept, they are more often injured at home (40% versus 1%), more often assaulted, younger, and further from hospital.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Which estimands survive the C1 fit</a:t>
            </a:r>
          </a:p>
        </p:txBody>
      </p:sp>
      <p:sp>
        <p:nvSpPr>
          <p:cNvPr id="4" name="Text Placeholder 3"/>
          <p:cNvSpPr>
            <a:spLocks noGrp="1"/>
          </p:cNvSpPr>
          <p:nvPr>
            <p:ph idx="2" sz="half" type="body"/>
          </p:nvPr>
        </p:nvSpPr>
        <p:spPr/>
        <p:txBody>
          <a:bodyPr/>
          <a:lstStyle/>
          <a:p>
            <a:pPr lvl="0" indent="0" marL="0">
              <a:buNone/>
            </a:pPr>
            <a:r>
              <a:rPr/>
              <a:t>The data can support an estimate. It is an estimate of a different quantity from the one the protocol named.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Estimand</a:t>
                      </a:r>
                    </a:p>
                  </a:txBody>
                  <a:tcPr/>
                </a:tc>
                <a:tc>
                  <a:txBody>
                    <a:bodyPr/>
                    <a:lstStyle/>
                    <a:p>
                      <a:pPr lvl="0" indent="0" marL="0" algn="r">
                        <a:buNone/>
                      </a:pPr>
                      <a:r>
                        <a:rPr/>
                        <a:t>Max weight</a:t>
                      </a:r>
                    </a:p>
                  </a:txBody>
                  <a:tcPr/>
                </a:tc>
                <a:tc>
                  <a:txBody>
                    <a:bodyPr/>
                    <a:lstStyle/>
                    <a:p>
                      <a:pPr lvl="0" indent="0" marL="0">
                        <a:buNone/>
                      </a:pPr>
                      <a:r>
                        <a:rPr/>
                        <a:t>Verdict</a:t>
                      </a:r>
                    </a:p>
                  </a:txBody>
                  <a:tcPr/>
                </a:tc>
              </a:tr>
              <a:tr h="0">
                <a:tc>
                  <a:txBody>
                    <a:bodyPr/>
                    <a:lstStyle/>
                    <a:p>
                      <a:pPr lvl="0" indent="0" marL="0">
                        <a:buNone/>
                      </a:pPr>
                      <a:r>
                        <a:rPr/>
                        <a:t>ATE</a:t>
                      </a:r>
                    </a:p>
                  </a:txBody>
                </a:tc>
                <a:tc>
                  <a:txBody>
                    <a:bodyPr/>
                    <a:lstStyle/>
                    <a:p>
                      <a:pPr lvl="0" indent="0" marL="0" algn="r">
                        <a:buNone/>
                      </a:pPr>
                      <a:r>
                        <a:rPr/>
                        <a:t>257</a:t>
                      </a:r>
                    </a:p>
                  </a:txBody>
                </a:tc>
                <a:tc>
                  <a:txBody>
                    <a:bodyPr/>
                    <a:lstStyle/>
                    <a:p>
                      <a:pPr lvl="0" indent="0" marL="0">
                        <a:buNone/>
                      </a:pPr>
                      <a:r>
                        <a:rPr/>
                        <a:t>SEVERE, infeasible</a:t>
                      </a:r>
                    </a:p>
                  </a:txBody>
                </a:tc>
              </a:tr>
              <a:tr h="0">
                <a:tc>
                  <a:txBody>
                    <a:bodyPr/>
                    <a:lstStyle/>
                    <a:p>
                      <a:pPr lvl="0" indent="0" marL="0">
                        <a:buNone/>
                      </a:pPr>
                      <a:r>
                        <a:rPr/>
                        <a:t>Trimmed ATE</a:t>
                      </a:r>
                    </a:p>
                  </a:txBody>
                </a:tc>
                <a:tc>
                  <a:txBody>
                    <a:bodyPr/>
                    <a:lstStyle/>
                    <a:p>
                      <a:pPr lvl="0" indent="0" marL="0" algn="r">
                        <a:buNone/>
                      </a:pPr>
                      <a:r>
                        <a:rPr/>
                        <a:t>20</a:t>
                      </a:r>
                    </a:p>
                  </a:txBody>
                </a:tc>
                <a:tc>
                  <a:txBody>
                    <a:bodyPr/>
                    <a:lstStyle/>
                    <a:p>
                      <a:pPr lvl="0" indent="0" marL="0">
                        <a:buNone/>
                      </a:pPr>
                      <a:r>
                        <a:rPr/>
                        <a:t>PASS, population changes</a:t>
                      </a:r>
                    </a:p>
                  </a:txBody>
                </a:tc>
              </a:tr>
              <a:tr h="0">
                <a:tc>
                  <a:txBody>
                    <a:bodyPr/>
                    <a:lstStyle/>
                    <a:p>
                      <a:pPr lvl="0" indent="0" marL="0">
                        <a:buNone/>
                      </a:pPr>
                      <a:r>
                        <a:rPr/>
                        <a:t>ATT</a:t>
                      </a:r>
                    </a:p>
                  </a:txBody>
                </a:tc>
                <a:tc>
                  <a:txBody>
                    <a:bodyPr/>
                    <a:lstStyle/>
                    <a:p>
                      <a:pPr lvl="0" indent="0" marL="0" algn="r">
                        <a:buNone/>
                      </a:pPr>
                      <a:r>
                        <a:rPr/>
                        <a:t>5.0</a:t>
                      </a:r>
                    </a:p>
                  </a:txBody>
                </a:tc>
                <a:tc>
                  <a:txBody>
                    <a:bodyPr/>
                    <a:lstStyle/>
                    <a:p>
                      <a:pPr lvl="0" indent="0" marL="0">
                        <a:buNone/>
                      </a:pPr>
                      <a:r>
                        <a:rPr/>
                        <a:t>PASS</a:t>
                      </a:r>
                    </a:p>
                  </a:txBody>
                </a:tc>
              </a:tr>
              <a:tr h="0">
                <a:tc>
                  <a:txBody>
                    <a:bodyPr/>
                    <a:lstStyle/>
                    <a:p>
                      <a:pPr lvl="0" indent="0" marL="0">
                        <a:buNone/>
                      </a:pPr>
                      <a:r>
                        <a:rPr/>
                        <a:t>ATO</a:t>
                      </a:r>
                    </a:p>
                  </a:txBody>
                </a:tc>
                <a:tc>
                  <a:txBody>
                    <a:bodyPr/>
                    <a:lstStyle/>
                    <a:p>
                      <a:pPr lvl="0" indent="0" marL="0" algn="r">
                        <a:buNone/>
                      </a:pPr>
                      <a:r>
                        <a:rPr/>
                        <a:t>1.0</a:t>
                      </a:r>
                    </a:p>
                  </a:txBody>
                </a:tc>
                <a:tc>
                  <a:txBody>
                    <a:bodyPr/>
                    <a:lstStyle/>
                    <a:p>
                      <a:pPr lvl="0" indent="0" marL="0">
                        <a:buNone/>
                      </a:pPr>
                      <a:r>
                        <a:rPr/>
                        <a:t>PASS</a:t>
                      </a:r>
                    </a:p>
                  </a:txBody>
                </a:tc>
              </a:tr>
              <a:tr h="0">
                <a:tc>
                  <a:txBody>
                    <a:bodyPr/>
                    <a:lstStyle/>
                    <a:p>
                      <a:pPr lvl="0" indent="0" marL="0">
                        <a:buNone/>
                      </a:pPr>
                      <a:r>
                        <a:rPr/>
                        <a:t>Matched ATT</a:t>
                      </a:r>
                    </a:p>
                  </a:txBody>
                </a:tc>
                <a:tc>
                  <a:txBody>
                    <a:bodyPr/>
                    <a:lstStyle/>
                    <a:p>
                      <a:pPr lvl="0" indent="0" marL="0" algn="r">
                        <a:buNone/>
                      </a:pPr>
                      <a:r>
                        <a:rPr/>
                        <a:t>1.0</a:t>
                      </a:r>
                    </a:p>
                  </a:txBody>
                </a:tc>
                <a:tc>
                  <a:txBody>
                    <a:bodyPr/>
                    <a:lstStyle/>
                    <a:p>
                      <a:pPr lvl="0" indent="0" marL="0">
                        <a:buNone/>
                      </a:pPr>
                      <a:r>
                        <a:rPr/>
                        <a:t>PASS, 95% of treated matched</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cohort exclusions removed the confounding</a:t>
            </a:r>
          </a:p>
        </p:txBody>
      </p:sp>
      <p:sp>
        <p:nvSpPr>
          <p:cNvPr id="4" name="Text Placeholder 3"/>
          <p:cNvSpPr>
            <a:spLocks noGrp="1"/>
          </p:cNvSpPr>
          <p:nvPr>
            <p:ph idx="2" sz="half" type="body"/>
          </p:nvPr>
        </p:nvSpPr>
        <p:spPr/>
        <p:txBody>
          <a:bodyPr/>
          <a:lstStyle/>
          <a:p>
            <a:pPr lvl="0" indent="0" marL="0">
              <a:buNone/>
            </a:pPr>
            <a:r>
              <a:rPr/>
              <a:t>Both negative controls show an association in the full cohort and none after the prespecified exclusion of transferred patients. On C1 the urban-household control shows an association at every level of restriction. Two controls were too rare to estimate and are reported as such.</a:t>
            </a:r>
          </a:p>
        </p:txBody>
      </p:sp>
      <p:pic>
        <p:nvPicPr>
          <p:cNvPr descr="cleanTMLE_presentation_files/figure-pptx/fig-nc-1.png" id="0" name="Picture 1"/>
          <p:cNvPicPr>
            <a:picLocks noGrp="1" noChangeAspect="1"/>
          </p:cNvPicPr>
          <p:nvPr/>
        </p:nvPicPr>
        <p:blipFill>
          <a:blip r:embed="rId2"/>
          <a:stretch>
            <a:fillRect/>
          </a:stretch>
        </p:blipFill>
        <p:spPr bwMode="auto">
          <a:xfrm>
            <a:off x="3568700" y="990600"/>
            <a:ext cx="5105400" cy="2311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3: Two socioeconomic negative controls on the transfers-included contrast, refit on each nested cohort. Points are unadjusted risk differences with 95% intervals.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Care-process variables are left out of the adjustment set</a:t>
            </a:r>
          </a:p>
        </p:txBody>
      </p:sp>
      <p:sp>
        <p:nvSpPr>
          <p:cNvPr id="3" name="Content Placeholder 2"/>
          <p:cNvSpPr>
            <a:spLocks noGrp="1"/>
          </p:cNvSpPr>
          <p:nvPr>
            <p:ph idx="1"/>
          </p:nvPr>
        </p:nvSpPr>
        <p:spPr/>
        <p:txBody>
          <a:bodyPr/>
          <a:lstStyle/>
          <a:p>
            <a:pPr lvl="0" indent="0" marL="0">
              <a:buNone/>
            </a:pPr>
            <a:r>
              <a:rPr/>
              <a:t>Whether vital signs were recorded within an hour, and whether blood pressure is missing, both depend on treatment in three of the five contrasts (standardised differences up to 0.34). The mode of transport changes what happens at the hospital.</a:t>
            </a:r>
          </a:p>
          <a:p>
            <a:pPr lvl="0" indent="0" marL="0">
              <a:buNone/>
            </a:pPr>
            <a:r>
              <a:rPr/>
              <a:t>Adjusting for them would introduce collider bias through in-hospital care, so they are excluded, and the check records the reason.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pre-outcome decisions</a:t>
            </a:r>
          </a:p>
        </p:txBody>
      </p:sp>
      <p:sp>
        <p:nvSpPr>
          <p:cNvPr id="4" name="Text Placeholder 3"/>
          <p:cNvSpPr>
            <a:spLocks noGrp="1"/>
          </p:cNvSpPr>
          <p:nvPr>
            <p:ph idx="2" sz="half" type="body"/>
          </p:nvPr>
        </p:nvSpPr>
        <p:spPr/>
        <p:txBody>
          <a:bodyPr/>
          <a:lstStyle/>
          <a:p>
            <a:pPr lvl="0" indent="0" marL="0">
              <a:buNone/>
            </a:pPr>
            <a:r>
              <a:rPr/>
              <a:t>All of these decisions were made before the outcome data were attached.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Contrast</a:t>
                      </a:r>
                    </a:p>
                  </a:txBody>
                  <a:tcPr/>
                </a:tc>
                <a:tc>
                  <a:txBody>
                    <a:bodyPr/>
                    <a:lstStyle/>
                    <a:p>
                      <a:pPr lvl="0" indent="0" marL="0">
                        <a:buNone/>
                      </a:pPr>
                      <a:r>
                        <a:rPr/>
                        <a:t>Recommendation</a:t>
                      </a:r>
                    </a:p>
                  </a:txBody>
                  <a:tcPr/>
                </a:tc>
              </a:tr>
              <a:tr h="0">
                <a:tc>
                  <a:txBody>
                    <a:bodyPr/>
                    <a:lstStyle/>
                    <a:p>
                      <a:pPr lvl="0" indent="0" marL="0">
                        <a:buNone/>
                      </a:pPr>
                      <a:r>
                        <a:rPr/>
                        <a:t>Primary</a:t>
                      </a:r>
                    </a:p>
                  </a:txBody>
                </a:tc>
                <a:tc>
                  <a:txBody>
                    <a:bodyPr/>
                    <a:lstStyle/>
                    <a:p>
                      <a:pPr lvl="0" indent="0" marL="0">
                        <a:buNone/>
                      </a:pPr>
                      <a:r>
                        <a:rPr/>
                        <a:t>Proceed</a:t>
                      </a:r>
                    </a:p>
                  </a:txBody>
                </a:tc>
              </a:tr>
              <a:tr h="0">
                <a:tc>
                  <a:txBody>
                    <a:bodyPr/>
                    <a:lstStyle/>
                    <a:p>
                      <a:pPr lvl="0" indent="0" marL="0">
                        <a:buNone/>
                      </a:pPr>
                      <a:r>
                        <a:rPr/>
                        <a:t>C3, C4</a:t>
                      </a:r>
                    </a:p>
                  </a:txBody>
                </a:tc>
                <a:tc>
                  <a:txBody>
                    <a:bodyPr/>
                    <a:lstStyle/>
                    <a:p>
                      <a:pPr lvl="0" indent="0" marL="0">
                        <a:buNone/>
                      </a:pPr>
                      <a:r>
                        <a:rPr/>
                        <a:t>Proceed, FLAG caveat attached</a:t>
                      </a:r>
                    </a:p>
                  </a:txBody>
                </a:tc>
              </a:tr>
              <a:tr h="0">
                <a:tc>
                  <a:txBody>
                    <a:bodyPr/>
                    <a:lstStyle/>
                    <a:p>
                      <a:pPr lvl="0" indent="0" marL="0">
                        <a:buNone/>
                      </a:pPr>
                      <a:r>
                        <a:rPr/>
                        <a:t>C1, C2</a:t>
                      </a:r>
                    </a:p>
                  </a:txBody>
                </a:tc>
                <a:tc>
                  <a:txBody>
                    <a:bodyPr/>
                    <a:lstStyle/>
                    <a:p>
                      <a:pPr lvl="0" indent="0" marL="0">
                        <a:buNone/>
                      </a:pPr>
                      <a:r>
                        <a:rPr/>
                        <a:t>Proceed with a caveat. The ATE is not supported; the ladder moves to the trimmed ATE, then ATT, then ATO, and the SEVERE verdict is logged as the reason</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Six-month mortality, down the ladder</a:t>
            </a:r>
          </a:p>
        </p:txBody>
      </p:sp>
      <p:sp>
        <p:nvSpPr>
          <p:cNvPr id="4" name="Text Placeholder 3"/>
          <p:cNvSpPr>
            <a:spLocks noGrp="1"/>
          </p:cNvSpPr>
          <p:nvPr>
            <p:ph idx="2" sz="half" type="body"/>
          </p:nvPr>
        </p:nvSpPr>
        <p:spPr/>
        <p:txBody>
          <a:bodyPr/>
          <a:lstStyle/>
          <a:p>
            <a:pPr lvl="0" indent="0" marL="0">
              <a:buNone/>
            </a:pPr>
            <a:r>
              <a:rPr/>
              <a:t>C2 reports no ATE at all. The C1 ATE appears once, as a logged override kept so the two pipelines can be compared. It carries its SEVERE label and a standard error several times larger than the other rows.</a:t>
            </a:r>
          </a:p>
        </p:txBody>
      </p:sp>
      <p:pic>
        <p:nvPicPr>
          <p:cNvPr descr="cleanTMLE_presentation_files/figure-pptx/fig-forest-1.png" id="0" name="Picture 1"/>
          <p:cNvPicPr>
            <a:picLocks noGrp="1" noChangeAspect="1"/>
          </p:cNvPicPr>
          <p:nvPr/>
        </p:nvPicPr>
        <p:blipFill>
          <a:blip r:embed="rId2"/>
          <a:stretch>
            <a:fillRect/>
          </a:stretch>
        </p:blipFill>
        <p:spPr bwMode="auto">
          <a:xfrm>
            <a:off x="3568700" y="990600"/>
            <a:ext cx="5105400" cy="2311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4: Risk differences with 95% intervals, one row per feasible estimand per contrast. Negative favours Rescue.Co.</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Time to arrival, re-analysed</a:t>
            </a:r>
          </a:p>
        </p:txBody>
      </p:sp>
      <p:sp>
        <p:nvSpPr>
          <p:cNvPr id="4" name="Text Placeholder 3"/>
          <p:cNvSpPr>
            <a:spLocks noGrp="1"/>
          </p:cNvSpPr>
          <p:nvPr>
            <p:ph idx="2" sz="half" type="body"/>
          </p:nvPr>
        </p:nvSpPr>
        <p:spPr/>
        <p:txBody>
          <a:bodyPr/>
          <a:lstStyle/>
          <a:p>
            <a:pPr lvl="0" indent="0" marL="0">
              <a:buNone/>
            </a:pPr>
            <a:r>
              <a:rPr/>
              <a:t>This is the outcome that once gave +14,637 minutes. The estimands with bounded weights now agree that Rescue.Co arrives three to four and a half hours sooner. Every row is checked against the raw group means, and that check alone would have caught the original result.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lgn="l">
                        <a:buNone/>
                      </a:pPr>
                      <a:r>
                        <a:rPr/>
                        <a:t>Contrast</a:t>
                      </a:r>
                    </a:p>
                  </a:txBody>
                  <a:tcPr/>
                </a:tc>
                <a:tc>
                  <a:txBody>
                    <a:bodyPr/>
                    <a:lstStyle/>
                    <a:p>
                      <a:pPr lvl="0" indent="0" marL="0" algn="l">
                        <a:buNone/>
                      </a:pPr>
                      <a:r>
                        <a:rPr/>
                        <a:t>Estimand</a:t>
                      </a:r>
                    </a:p>
                  </a:txBody>
                  <a:tcPr/>
                </a:tc>
                <a:tc>
                  <a:txBody>
                    <a:bodyPr/>
                    <a:lstStyle/>
                    <a:p>
                      <a:pPr lvl="0" indent="0" marL="0" algn="l">
                        <a:buNone/>
                      </a:pPr>
                      <a:r>
                        <a:rPr/>
                        <a:t>Minutes</a:t>
                      </a:r>
                    </a:p>
                  </a:txBody>
                  <a:tcPr/>
                </a:tc>
                <a:tc>
                  <a:txBody>
                    <a:bodyPr/>
                    <a:lstStyle/>
                    <a:p>
                      <a:pPr lvl="0" indent="0" marL="0" algn="l">
                        <a:buNone/>
                      </a:pPr>
                      <a:r>
                        <a:rPr/>
                        <a:t>CI lower</a:t>
                      </a:r>
                    </a:p>
                  </a:txBody>
                  <a:tcPr/>
                </a:tc>
                <a:tc>
                  <a:txBody>
                    <a:bodyPr/>
                    <a:lstStyle/>
                    <a:p>
                      <a:pPr lvl="0" indent="0" marL="0" algn="l">
                        <a:buNone/>
                      </a:pPr>
                      <a:r>
                        <a:rPr/>
                        <a:t>CI upper</a:t>
                      </a:r>
                    </a:p>
                  </a:txBody>
                  <a:tcPr/>
                </a:tc>
                <a:tc>
                  <a:txBody>
                    <a:bodyPr/>
                    <a:lstStyle/>
                    <a:p>
                      <a:pPr lvl="0" indent="0" marL="0" algn="l">
                        <a:buNone/>
                      </a:pPr>
                      <a:r>
                        <a:rPr/>
                        <a:t>Flagged</a:t>
                      </a:r>
                    </a:p>
                  </a:txBody>
                  <a:tcPr/>
                </a:tc>
              </a:tr>
              <a:tr h="0">
                <a:tc>
                  <a:txBody>
                    <a:bodyPr/>
                    <a:lstStyle/>
                    <a:p>
                      <a:pPr lvl="0" indent="0" marL="0" algn="l">
                        <a:buNone/>
                      </a:pPr>
                      <a:r>
                        <a:rPr/>
                        <a:t>C1</a:t>
                      </a:r>
                    </a:p>
                  </a:txBody>
                </a:tc>
                <a:tc>
                  <a:txBody>
                    <a:bodyPr/>
                    <a:lstStyle/>
                    <a:p>
                      <a:pPr lvl="0" indent="0" marL="0" algn="l">
                        <a:buNone/>
                      </a:pPr>
                      <a:r>
                        <a:rPr/>
                        <a:t>ATE</a:t>
                      </a:r>
                    </a:p>
                  </a:txBody>
                </a:tc>
                <a:tc>
                  <a:txBody>
                    <a:bodyPr/>
                    <a:lstStyle/>
                    <a:p>
                      <a:pPr lvl="0" indent="0" marL="0" algn="l">
                        <a:buNone/>
                      </a:pPr>
                      <a:r>
                        <a:rPr/>
                        <a:t>-183.5</a:t>
                      </a:r>
                    </a:p>
                  </a:txBody>
                </a:tc>
                <a:tc>
                  <a:txBody>
                    <a:bodyPr/>
                    <a:lstStyle/>
                    <a:p>
                      <a:pPr lvl="0" indent="0" marL="0" algn="l">
                        <a:buNone/>
                      </a:pPr>
                      <a:r>
                        <a:rPr/>
                        <a:t>-400.4</a:t>
                      </a:r>
                    </a:p>
                  </a:txBody>
                </a:tc>
                <a:tc>
                  <a:txBody>
                    <a:bodyPr/>
                    <a:lstStyle/>
                    <a:p>
                      <a:pPr lvl="0" indent="0" marL="0" algn="l">
                        <a:buNone/>
                      </a:pPr>
                      <a:r>
                        <a:rPr/>
                        <a:t>33.5</a:t>
                      </a:r>
                    </a:p>
                  </a:txBody>
                </a:tc>
                <a:tc>
                  <a:txBody>
                    <a:bodyPr/>
                    <a:lstStyle/>
                    <a:p>
                      <a:pPr lvl="0" indent="0" marL="0" algn="l">
                        <a:buNone/>
                      </a:pPr>
                      <a:r>
                        <a:rPr/>
                        <a:t>FALSE</a:t>
                      </a:r>
                    </a:p>
                  </a:txBody>
                </a:tc>
              </a:tr>
              <a:tr h="0">
                <a:tc>
                  <a:txBody>
                    <a:bodyPr/>
                    <a:lstStyle/>
                    <a:p>
                      <a:pPr lvl="0" indent="0" marL="0" algn="l">
                        <a:buNone/>
                      </a:pPr>
                      <a:r>
                        <a:rPr/>
                        <a:t>C1</a:t>
                      </a:r>
                    </a:p>
                  </a:txBody>
                </a:tc>
                <a:tc>
                  <a:txBody>
                    <a:bodyPr/>
                    <a:lstStyle/>
                    <a:p>
                      <a:pPr lvl="0" indent="0" marL="0" algn="l">
                        <a:buNone/>
                      </a:pPr>
                      <a:r>
                        <a:rPr/>
                        <a:t>trimmed_ATE</a:t>
                      </a:r>
                    </a:p>
                  </a:txBody>
                </a:tc>
                <a:tc>
                  <a:txBody>
                    <a:bodyPr/>
                    <a:lstStyle/>
                    <a:p>
                      <a:pPr lvl="0" indent="0" marL="0" algn="l">
                        <a:buNone/>
                      </a:pPr>
                      <a:r>
                        <a:rPr/>
                        <a:t>-270.4</a:t>
                      </a:r>
                    </a:p>
                  </a:txBody>
                </a:tc>
                <a:tc>
                  <a:txBody>
                    <a:bodyPr/>
                    <a:lstStyle/>
                    <a:p>
                      <a:pPr lvl="0" indent="0" marL="0" algn="l">
                        <a:buNone/>
                      </a:pPr>
                      <a:r>
                        <a:rPr/>
                        <a:t>-313.4</a:t>
                      </a:r>
                    </a:p>
                  </a:txBody>
                </a:tc>
                <a:tc>
                  <a:txBody>
                    <a:bodyPr/>
                    <a:lstStyle/>
                    <a:p>
                      <a:pPr lvl="0" indent="0" marL="0" algn="l">
                        <a:buNone/>
                      </a:pPr>
                      <a:r>
                        <a:rPr/>
                        <a:t>-227.4</a:t>
                      </a:r>
                    </a:p>
                  </a:txBody>
                </a:tc>
                <a:tc>
                  <a:txBody>
                    <a:bodyPr/>
                    <a:lstStyle/>
                    <a:p>
                      <a:pPr lvl="0" indent="0" marL="0" algn="l">
                        <a:buNone/>
                      </a:pPr>
                      <a:r>
                        <a:rPr/>
                        <a:t>FALSE</a:t>
                      </a:r>
                    </a:p>
                  </a:txBody>
                </a:tc>
              </a:tr>
              <a:tr h="0">
                <a:tc>
                  <a:txBody>
                    <a:bodyPr/>
                    <a:lstStyle/>
                    <a:p>
                      <a:pPr lvl="0" indent="0" marL="0" algn="l">
                        <a:buNone/>
                      </a:pPr>
                      <a:r>
                        <a:rPr/>
                        <a:t>C1</a:t>
                      </a:r>
                    </a:p>
                  </a:txBody>
                </a:tc>
                <a:tc>
                  <a:txBody>
                    <a:bodyPr/>
                    <a:lstStyle/>
                    <a:p>
                      <a:pPr lvl="0" indent="0" marL="0" algn="l">
                        <a:buNone/>
                      </a:pPr>
                      <a:r>
                        <a:rPr/>
                        <a:t>ATT</a:t>
                      </a:r>
                    </a:p>
                  </a:txBody>
                </a:tc>
                <a:tc>
                  <a:txBody>
                    <a:bodyPr/>
                    <a:lstStyle/>
                    <a:p>
                      <a:pPr lvl="0" indent="0" marL="0" algn="l">
                        <a:buNone/>
                      </a:pPr>
                      <a:r>
                        <a:rPr/>
                        <a:t>-219.0</a:t>
                      </a:r>
                    </a:p>
                  </a:txBody>
                </a:tc>
                <a:tc>
                  <a:txBody>
                    <a:bodyPr/>
                    <a:lstStyle/>
                    <a:p>
                      <a:pPr lvl="0" indent="0" marL="0" algn="l">
                        <a:buNone/>
                      </a:pPr>
                      <a:r>
                        <a:rPr/>
                        <a:t>-268.1</a:t>
                      </a:r>
                    </a:p>
                  </a:txBody>
                </a:tc>
                <a:tc>
                  <a:txBody>
                    <a:bodyPr/>
                    <a:lstStyle/>
                    <a:p>
                      <a:pPr lvl="0" indent="0" marL="0" algn="l">
                        <a:buNone/>
                      </a:pPr>
                      <a:r>
                        <a:rPr/>
                        <a:t>-170.0</a:t>
                      </a:r>
                    </a:p>
                  </a:txBody>
                </a:tc>
                <a:tc>
                  <a:txBody>
                    <a:bodyPr/>
                    <a:lstStyle/>
                    <a:p>
                      <a:pPr lvl="0" indent="0" marL="0" algn="l">
                        <a:buNone/>
                      </a:pPr>
                      <a:r>
                        <a:rPr/>
                        <a:t>FALSE</a:t>
                      </a:r>
                    </a:p>
                  </a:txBody>
                </a:tc>
              </a:tr>
              <a:tr h="0">
                <a:tc>
                  <a:txBody>
                    <a:bodyPr/>
                    <a:lstStyle/>
                    <a:p>
                      <a:pPr lvl="0" indent="0" marL="0" algn="l">
                        <a:buNone/>
                      </a:pPr>
                      <a:r>
                        <a:rPr/>
                        <a:t>C1</a:t>
                      </a:r>
                    </a:p>
                  </a:txBody>
                </a:tc>
                <a:tc>
                  <a:txBody>
                    <a:bodyPr/>
                    <a:lstStyle/>
                    <a:p>
                      <a:pPr lvl="0" indent="0" marL="0" algn="l">
                        <a:buNone/>
                      </a:pPr>
                      <a:r>
                        <a:rPr/>
                        <a:t>ATO</a:t>
                      </a:r>
                    </a:p>
                  </a:txBody>
                </a:tc>
                <a:tc>
                  <a:txBody>
                    <a:bodyPr/>
                    <a:lstStyle/>
                    <a:p>
                      <a:pPr lvl="0" indent="0" marL="0" algn="l">
                        <a:buNone/>
                      </a:pPr>
                      <a:r>
                        <a:rPr/>
                        <a:t>-198.8</a:t>
                      </a:r>
                    </a:p>
                  </a:txBody>
                </a:tc>
                <a:tc>
                  <a:txBody>
                    <a:bodyPr/>
                    <a:lstStyle/>
                    <a:p>
                      <a:pPr lvl="0" indent="0" marL="0" algn="l">
                        <a:buNone/>
                      </a:pPr>
                      <a:r>
                        <a:rPr/>
                        <a:t>-255.3</a:t>
                      </a:r>
                    </a:p>
                  </a:txBody>
                </a:tc>
                <a:tc>
                  <a:txBody>
                    <a:bodyPr/>
                    <a:lstStyle/>
                    <a:p>
                      <a:pPr lvl="0" indent="0" marL="0" algn="l">
                        <a:buNone/>
                      </a:pPr>
                      <a:r>
                        <a:rPr/>
                        <a:t>-142.3</a:t>
                      </a:r>
                    </a:p>
                  </a:txBody>
                </a:tc>
                <a:tc>
                  <a:txBody>
                    <a:bodyPr/>
                    <a:lstStyle/>
                    <a:p>
                      <a:pPr lvl="0" indent="0" marL="0" algn="l">
                        <a:buNone/>
                      </a:pPr>
                      <a:r>
                        <a:rPr/>
                        <a:t>FALSE</a:t>
                      </a:r>
                    </a:p>
                  </a:txBody>
                </a:tc>
              </a:tr>
              <a:tr h="0">
                <a:tc>
                  <a:txBody>
                    <a:bodyPr/>
                    <a:lstStyle/>
                    <a:p>
                      <a:pPr lvl="0" indent="0" marL="0" algn="l">
                        <a:buNone/>
                      </a:pPr>
                      <a:r>
                        <a:rPr/>
                        <a:t>C2</a:t>
                      </a:r>
                    </a:p>
                  </a:txBody>
                </a:tc>
                <a:tc>
                  <a:txBody>
                    <a:bodyPr/>
                    <a:lstStyle/>
                    <a:p>
                      <a:pPr lvl="0" indent="0" marL="0" algn="l">
                        <a:buNone/>
                      </a:pPr>
                      <a:r>
                        <a:rPr/>
                        <a:t>trimmed_ATE</a:t>
                      </a:r>
                    </a:p>
                  </a:txBody>
                </a:tc>
                <a:tc>
                  <a:txBody>
                    <a:bodyPr/>
                    <a:lstStyle/>
                    <a:p>
                      <a:pPr lvl="0" indent="0" marL="0" algn="l">
                        <a:buNone/>
                      </a:pPr>
                      <a:r>
                        <a:rPr/>
                        <a:t>-278.8</a:t>
                      </a:r>
                    </a:p>
                  </a:txBody>
                </a:tc>
                <a:tc>
                  <a:txBody>
                    <a:bodyPr/>
                    <a:lstStyle/>
                    <a:p>
                      <a:pPr lvl="0" indent="0" marL="0" algn="l">
                        <a:buNone/>
                      </a:pPr>
                      <a:r>
                        <a:rPr/>
                        <a:t>-346.7</a:t>
                      </a:r>
                    </a:p>
                  </a:txBody>
                </a:tc>
                <a:tc>
                  <a:txBody>
                    <a:bodyPr/>
                    <a:lstStyle/>
                    <a:p>
                      <a:pPr lvl="0" indent="0" marL="0" algn="l">
                        <a:buNone/>
                      </a:pPr>
                      <a:r>
                        <a:rPr/>
                        <a:t>-210.8</a:t>
                      </a:r>
                    </a:p>
                  </a:txBody>
                </a:tc>
                <a:tc>
                  <a:txBody>
                    <a:bodyPr/>
                    <a:lstStyle/>
                    <a:p>
                      <a:pPr lvl="0" indent="0" marL="0" algn="l">
                        <a:buNone/>
                      </a:pPr>
                      <a:r>
                        <a:rPr/>
                        <a:t>FALSE</a:t>
                      </a:r>
                    </a:p>
                  </a:txBody>
                </a:tc>
              </a:tr>
              <a:tr h="0">
                <a:tc>
                  <a:txBody>
                    <a:bodyPr/>
                    <a:lstStyle/>
                    <a:p>
                      <a:pPr lvl="0" indent="0" marL="0" algn="l">
                        <a:buNone/>
                      </a:pPr>
                      <a:r>
                        <a:rPr/>
                        <a:t>C2</a:t>
                      </a:r>
                    </a:p>
                  </a:txBody>
                </a:tc>
                <a:tc>
                  <a:txBody>
                    <a:bodyPr/>
                    <a:lstStyle/>
                    <a:p>
                      <a:pPr lvl="0" indent="0" marL="0" algn="l">
                        <a:buNone/>
                      </a:pPr>
                      <a:r>
                        <a:rPr/>
                        <a:t>ATT</a:t>
                      </a:r>
                    </a:p>
                  </a:txBody>
                </a:tc>
                <a:tc>
                  <a:txBody>
                    <a:bodyPr/>
                    <a:lstStyle/>
                    <a:p>
                      <a:pPr lvl="0" indent="0" marL="0" algn="l">
                        <a:buNone/>
                      </a:pPr>
                      <a:r>
                        <a:rPr/>
                        <a:t>-272.4</a:t>
                      </a:r>
                    </a:p>
                  </a:txBody>
                </a:tc>
                <a:tc>
                  <a:txBody>
                    <a:bodyPr/>
                    <a:lstStyle/>
                    <a:p>
                      <a:pPr lvl="0" indent="0" marL="0" algn="l">
                        <a:buNone/>
                      </a:pPr>
                      <a:r>
                        <a:rPr/>
                        <a:t>-328.8</a:t>
                      </a:r>
                    </a:p>
                  </a:txBody>
                </a:tc>
                <a:tc>
                  <a:txBody>
                    <a:bodyPr/>
                    <a:lstStyle/>
                    <a:p>
                      <a:pPr lvl="0" indent="0" marL="0" algn="l">
                        <a:buNone/>
                      </a:pPr>
                      <a:r>
                        <a:rPr/>
                        <a:t>-215.9</a:t>
                      </a:r>
                    </a:p>
                  </a:txBody>
                </a:tc>
                <a:tc>
                  <a:txBody>
                    <a:bodyPr/>
                    <a:lstStyle/>
                    <a:p>
                      <a:pPr lvl="0" indent="0" marL="0" algn="l">
                        <a:buNone/>
                      </a:pPr>
                      <a:r>
                        <a:rPr/>
                        <a:t>FALSE</a:t>
                      </a:r>
                    </a:p>
                  </a:txBody>
                </a:tc>
              </a:tr>
              <a:tr h="0">
                <a:tc>
                  <a:txBody>
                    <a:bodyPr/>
                    <a:lstStyle/>
                    <a:p>
                      <a:pPr lvl="0" indent="0" marL="0" algn="l">
                        <a:buNone/>
                      </a:pPr>
                      <a:r>
                        <a:rPr/>
                        <a:t>C2</a:t>
                      </a:r>
                    </a:p>
                  </a:txBody>
                </a:tc>
                <a:tc>
                  <a:txBody>
                    <a:bodyPr/>
                    <a:lstStyle/>
                    <a:p>
                      <a:pPr lvl="0" indent="0" marL="0" algn="l">
                        <a:buNone/>
                      </a:pPr>
                      <a:r>
                        <a:rPr/>
                        <a:t>ATO</a:t>
                      </a:r>
                    </a:p>
                  </a:txBody>
                </a:tc>
                <a:tc>
                  <a:txBody>
                    <a:bodyPr/>
                    <a:lstStyle/>
                    <a:p>
                      <a:pPr lvl="0" indent="0" marL="0" algn="l">
                        <a:buNone/>
                      </a:pPr>
                      <a:r>
                        <a:rPr/>
                        <a:t>-250.1</a:t>
                      </a:r>
                    </a:p>
                  </a:txBody>
                </a:tc>
                <a:tc>
                  <a:txBody>
                    <a:bodyPr/>
                    <a:lstStyle/>
                    <a:p>
                      <a:pPr lvl="0" indent="0" marL="0" algn="l">
                        <a:buNone/>
                      </a:pPr>
                      <a:r>
                        <a:rPr/>
                        <a:t>-315.5</a:t>
                      </a:r>
                    </a:p>
                  </a:txBody>
                </a:tc>
                <a:tc>
                  <a:txBody>
                    <a:bodyPr/>
                    <a:lstStyle/>
                    <a:p>
                      <a:pPr lvl="0" indent="0" marL="0" algn="l">
                        <a:buNone/>
                      </a:pPr>
                      <a:r>
                        <a:rPr/>
                        <a:t>-184.7</a:t>
                      </a:r>
                    </a:p>
                  </a:txBody>
                </a:tc>
                <a:tc>
                  <a:txBody>
                    <a:bodyPr/>
                    <a:lstStyle/>
                    <a:p>
                      <a:pPr lvl="0" indent="0" marL="0" algn="l">
                        <a:buNone/>
                      </a:pPr>
                      <a:r>
                        <a:rPr/>
                        <a:t>FALSE</a:t>
                      </a:r>
                    </a:p>
                  </a:txBody>
                </a:tc>
              </a:tr>
              <a:tr h="0">
                <a:tc>
                  <a:txBody>
                    <a:bodyPr/>
                    <a:lstStyle/>
                    <a:p>
                      <a:pPr lvl="0" indent="0" marL="0" algn="l">
                        <a:buNone/>
                      </a:pPr>
                      <a:r>
                        <a:rPr/>
                        <a:t>C3</a:t>
                      </a:r>
                    </a:p>
                  </a:txBody>
                </a:tc>
                <a:tc>
                  <a:txBody>
                    <a:bodyPr/>
                    <a:lstStyle/>
                    <a:p>
                      <a:pPr lvl="0" indent="0" marL="0" algn="l">
                        <a:buNone/>
                      </a:pPr>
                      <a:r>
                        <a:rPr/>
                        <a:t>ATE</a:t>
                      </a:r>
                    </a:p>
                  </a:txBody>
                </a:tc>
                <a:tc>
                  <a:txBody>
                    <a:bodyPr/>
                    <a:lstStyle/>
                    <a:p>
                      <a:pPr lvl="0" indent="0" marL="0" algn="l">
                        <a:buNone/>
                      </a:pPr>
                      <a:r>
                        <a:rPr/>
                        <a:t>-244.8</a:t>
                      </a:r>
                    </a:p>
                  </a:txBody>
                </a:tc>
                <a:tc>
                  <a:txBody>
                    <a:bodyPr/>
                    <a:lstStyle/>
                    <a:p>
                      <a:pPr lvl="0" indent="0" marL="0" algn="l">
                        <a:buNone/>
                      </a:pPr>
                      <a:r>
                        <a:rPr/>
                        <a:t>-320.5</a:t>
                      </a:r>
                    </a:p>
                  </a:txBody>
                </a:tc>
                <a:tc>
                  <a:txBody>
                    <a:bodyPr/>
                    <a:lstStyle/>
                    <a:p>
                      <a:pPr lvl="0" indent="0" marL="0" algn="l">
                        <a:buNone/>
                      </a:pPr>
                      <a:r>
                        <a:rPr/>
                        <a:t>-169.1</a:t>
                      </a:r>
                    </a:p>
                  </a:txBody>
                </a:tc>
                <a:tc>
                  <a:txBody>
                    <a:bodyPr/>
                    <a:lstStyle/>
                    <a:p>
                      <a:pPr lvl="0" indent="0" marL="0" algn="l">
                        <a:buNone/>
                      </a:pPr>
                      <a:r>
                        <a:rPr/>
                        <a:t>FALSE</a:t>
                      </a:r>
                    </a:p>
                  </a:txBody>
                </a:tc>
              </a:tr>
              <a:tr h="0">
                <a:tc>
                  <a:txBody>
                    <a:bodyPr/>
                    <a:lstStyle/>
                    <a:p>
                      <a:pPr lvl="0" indent="0" marL="0" algn="l">
                        <a:buNone/>
                      </a:pPr>
                      <a:r>
                        <a:rPr/>
                        <a:t>C3</a:t>
                      </a:r>
                    </a:p>
                  </a:txBody>
                </a:tc>
                <a:tc>
                  <a:txBody>
                    <a:bodyPr/>
                    <a:lstStyle/>
                    <a:p>
                      <a:pPr lvl="0" indent="0" marL="0" algn="l">
                        <a:buNone/>
                      </a:pPr>
                      <a:r>
                        <a:rPr/>
                        <a:t>trimmed_ATE</a:t>
                      </a:r>
                    </a:p>
                  </a:txBody>
                </a:tc>
                <a:tc>
                  <a:txBody>
                    <a:bodyPr/>
                    <a:lstStyle/>
                    <a:p>
                      <a:pPr lvl="0" indent="0" marL="0" algn="l">
                        <a:buNone/>
                      </a:pPr>
                      <a:r>
                        <a:rPr/>
                        <a:t>-242.1</a:t>
                      </a:r>
                    </a:p>
                  </a:txBody>
                </a:tc>
                <a:tc>
                  <a:txBody>
                    <a:bodyPr/>
                    <a:lstStyle/>
                    <a:p>
                      <a:pPr lvl="0" indent="0" marL="0" algn="l">
                        <a:buNone/>
                      </a:pPr>
                      <a:r>
                        <a:rPr/>
                        <a:t>-312.2</a:t>
                      </a:r>
                    </a:p>
                  </a:txBody>
                </a:tc>
                <a:tc>
                  <a:txBody>
                    <a:bodyPr/>
                    <a:lstStyle/>
                    <a:p>
                      <a:pPr lvl="0" indent="0" marL="0" algn="l">
                        <a:buNone/>
                      </a:pPr>
                      <a:r>
                        <a:rPr/>
                        <a:t>-171.9</a:t>
                      </a:r>
                    </a:p>
                  </a:txBody>
                </a:tc>
                <a:tc>
                  <a:txBody>
                    <a:bodyPr/>
                    <a:lstStyle/>
                    <a:p>
                      <a:pPr lvl="0" indent="0" marL="0" algn="l">
                        <a:buNone/>
                      </a:pPr>
                      <a:r>
                        <a:rPr/>
                        <a:t>FALSE</a:t>
                      </a:r>
                    </a:p>
                  </a:txBody>
                </a:tc>
              </a:tr>
              <a:tr h="0">
                <a:tc>
                  <a:txBody>
                    <a:bodyPr/>
                    <a:lstStyle/>
                    <a:p>
                      <a:pPr lvl="0" indent="0" marL="0" algn="l">
                        <a:buNone/>
                      </a:pPr>
                      <a:r>
                        <a:rPr/>
                        <a:t>C3</a:t>
                      </a:r>
                    </a:p>
                  </a:txBody>
                </a:tc>
                <a:tc>
                  <a:txBody>
                    <a:bodyPr/>
                    <a:lstStyle/>
                    <a:p>
                      <a:pPr lvl="0" indent="0" marL="0" algn="l">
                        <a:buNone/>
                      </a:pPr>
                      <a:r>
                        <a:rPr/>
                        <a:t>ATT</a:t>
                      </a:r>
                    </a:p>
                  </a:txBody>
                </a:tc>
                <a:tc>
                  <a:txBody>
                    <a:bodyPr/>
                    <a:lstStyle/>
                    <a:p>
                      <a:pPr lvl="0" indent="0" marL="0" algn="l">
                        <a:buNone/>
                      </a:pPr>
                      <a:r>
                        <a:rPr/>
                        <a:t>-295.8</a:t>
                      </a:r>
                    </a:p>
                  </a:txBody>
                </a:tc>
                <a:tc>
                  <a:txBody>
                    <a:bodyPr/>
                    <a:lstStyle/>
                    <a:p>
                      <a:pPr lvl="0" indent="0" marL="0" algn="l">
                        <a:buNone/>
                      </a:pPr>
                      <a:r>
                        <a:rPr/>
                        <a:t>-381.6</a:t>
                      </a:r>
                    </a:p>
                  </a:txBody>
                </a:tc>
                <a:tc>
                  <a:txBody>
                    <a:bodyPr/>
                    <a:lstStyle/>
                    <a:p>
                      <a:pPr lvl="0" indent="0" marL="0" algn="l">
                        <a:buNone/>
                      </a:pPr>
                      <a:r>
                        <a:rPr/>
                        <a:t>-210.0</a:t>
                      </a:r>
                    </a:p>
                  </a:txBody>
                </a:tc>
                <a:tc>
                  <a:txBody>
                    <a:bodyPr/>
                    <a:lstStyle/>
                    <a:p>
                      <a:pPr lvl="0" indent="0" marL="0" algn="l">
                        <a:buNone/>
                      </a:pPr>
                      <a:r>
                        <a:rPr/>
                        <a:t>FALSE</a:t>
                      </a:r>
                    </a:p>
                  </a:txBody>
                </a:tc>
              </a:tr>
              <a:tr h="0">
                <a:tc>
                  <a:txBody>
                    <a:bodyPr/>
                    <a:lstStyle/>
                    <a:p>
                      <a:pPr lvl="0" indent="0" marL="0" algn="l">
                        <a:buNone/>
                      </a:pPr>
                      <a:r>
                        <a:rPr/>
                        <a:t>C3</a:t>
                      </a:r>
                    </a:p>
                  </a:txBody>
                </a:tc>
                <a:tc>
                  <a:txBody>
                    <a:bodyPr/>
                    <a:lstStyle/>
                    <a:p>
                      <a:pPr lvl="0" indent="0" marL="0" algn="l">
                        <a:buNone/>
                      </a:pPr>
                      <a:r>
                        <a:rPr/>
                        <a:t>ATO</a:t>
                      </a:r>
                    </a:p>
                  </a:txBody>
                </a:tc>
                <a:tc>
                  <a:txBody>
                    <a:bodyPr/>
                    <a:lstStyle/>
                    <a:p>
                      <a:pPr lvl="0" indent="0" marL="0" algn="l">
                        <a:buNone/>
                      </a:pPr>
                      <a:r>
                        <a:rPr/>
                        <a:t>-248.2</a:t>
                      </a:r>
                    </a:p>
                  </a:txBody>
                </a:tc>
                <a:tc>
                  <a:txBody>
                    <a:bodyPr/>
                    <a:lstStyle/>
                    <a:p>
                      <a:pPr lvl="0" indent="0" marL="0" algn="l">
                        <a:buNone/>
                      </a:pPr>
                      <a:r>
                        <a:rPr/>
                        <a:t>-316.7</a:t>
                      </a:r>
                    </a:p>
                  </a:txBody>
                </a:tc>
                <a:tc>
                  <a:txBody>
                    <a:bodyPr/>
                    <a:lstStyle/>
                    <a:p>
                      <a:pPr lvl="0" indent="0" marL="0" algn="l">
                        <a:buNone/>
                      </a:pPr>
                      <a:r>
                        <a:rPr/>
                        <a:t>-179.7</a:t>
                      </a:r>
                    </a:p>
                  </a:txBody>
                </a:tc>
                <a:tc>
                  <a:txBody>
                    <a:bodyPr/>
                    <a:lstStyle/>
                    <a:p>
                      <a:pPr lvl="0" indent="0" marL="0" algn="l">
                        <a:buNone/>
                      </a:pPr>
                      <a:r>
                        <a:rPr/>
                        <a:t>FALSE</a:t>
                      </a:r>
                    </a:p>
                  </a:txBody>
                </a:tc>
              </a:tr>
              <a:tr h="0">
                <a:tc>
                  <a:txBody>
                    <a:bodyPr/>
                    <a:lstStyle/>
                    <a:p>
                      <a:pPr lvl="0" indent="0" marL="0" algn="l">
                        <a:buNone/>
                      </a:pPr>
                      <a:r>
                        <a:rPr/>
                        <a:t>C4</a:t>
                      </a:r>
                    </a:p>
                  </a:txBody>
                </a:tc>
                <a:tc>
                  <a:txBody>
                    <a:bodyPr/>
                    <a:lstStyle/>
                    <a:p>
                      <a:pPr lvl="0" indent="0" marL="0" algn="l">
                        <a:buNone/>
                      </a:pPr>
                      <a:r>
                        <a:rPr/>
                        <a:t>ATE</a:t>
                      </a:r>
                    </a:p>
                  </a:txBody>
                </a:tc>
                <a:tc>
                  <a:txBody>
                    <a:bodyPr/>
                    <a:lstStyle/>
                    <a:p>
                      <a:pPr lvl="0" indent="0" marL="0" algn="l">
                        <a:buNone/>
                      </a:pPr>
                      <a:r>
                        <a:rPr/>
                        <a:t>-204.7</a:t>
                      </a:r>
                    </a:p>
                  </a:txBody>
                </a:tc>
                <a:tc>
                  <a:txBody>
                    <a:bodyPr/>
                    <a:lstStyle/>
                    <a:p>
                      <a:pPr lvl="0" indent="0" marL="0" algn="l">
                        <a:buNone/>
                      </a:pPr>
                      <a:r>
                        <a:rPr/>
                        <a:t>-284.0</a:t>
                      </a:r>
                    </a:p>
                  </a:txBody>
                </a:tc>
                <a:tc>
                  <a:txBody>
                    <a:bodyPr/>
                    <a:lstStyle/>
                    <a:p>
                      <a:pPr lvl="0" indent="0" marL="0" algn="l">
                        <a:buNone/>
                      </a:pPr>
                      <a:r>
                        <a:rPr/>
                        <a:t>-125.3</a:t>
                      </a:r>
                    </a:p>
                  </a:txBody>
                </a:tc>
                <a:tc>
                  <a:txBody>
                    <a:bodyPr/>
                    <a:lstStyle/>
                    <a:p>
                      <a:pPr lvl="0" indent="0" marL="0" algn="l">
                        <a:buNone/>
                      </a:pPr>
                      <a:r>
                        <a:rPr/>
                        <a:t>FALSE</a:t>
                      </a:r>
                    </a:p>
                  </a:txBody>
                </a:tc>
              </a:tr>
              <a:tr h="0">
                <a:tc>
                  <a:txBody>
                    <a:bodyPr/>
                    <a:lstStyle/>
                    <a:p>
                      <a:pPr lvl="0" indent="0" marL="0" algn="l">
                        <a:buNone/>
                      </a:pPr>
                      <a:r>
                        <a:rPr/>
                        <a:t>C4</a:t>
                      </a:r>
                    </a:p>
                  </a:txBody>
                </a:tc>
                <a:tc>
                  <a:txBody>
                    <a:bodyPr/>
                    <a:lstStyle/>
                    <a:p>
                      <a:pPr lvl="0" indent="0" marL="0" algn="l">
                        <a:buNone/>
                      </a:pPr>
                      <a:r>
                        <a:rPr/>
                        <a:t>trimmed_ATE</a:t>
                      </a:r>
                    </a:p>
                  </a:txBody>
                </a:tc>
                <a:tc>
                  <a:txBody>
                    <a:bodyPr/>
                    <a:lstStyle/>
                    <a:p>
                      <a:pPr lvl="0" indent="0" marL="0" algn="l">
                        <a:buNone/>
                      </a:pPr>
                      <a:r>
                        <a:rPr/>
                        <a:t>-134.3</a:t>
                      </a:r>
                    </a:p>
                  </a:txBody>
                </a:tc>
                <a:tc>
                  <a:txBody>
                    <a:bodyPr/>
                    <a:lstStyle/>
                    <a:p>
                      <a:pPr lvl="0" indent="0" marL="0" algn="l">
                        <a:buNone/>
                      </a:pPr>
                      <a:r>
                        <a:rPr/>
                        <a:t>-220.6</a:t>
                      </a:r>
                    </a:p>
                  </a:txBody>
                </a:tc>
                <a:tc>
                  <a:txBody>
                    <a:bodyPr/>
                    <a:lstStyle/>
                    <a:p>
                      <a:pPr lvl="0" indent="0" marL="0" algn="l">
                        <a:buNone/>
                      </a:pPr>
                      <a:r>
                        <a:rPr/>
                        <a:t>-48.0</a:t>
                      </a:r>
                    </a:p>
                  </a:txBody>
                </a:tc>
                <a:tc>
                  <a:txBody>
                    <a:bodyPr/>
                    <a:lstStyle/>
                    <a:p>
                      <a:pPr lvl="0" indent="0" marL="0" algn="l">
                        <a:buNone/>
                      </a:pPr>
                      <a:r>
                        <a:rPr/>
                        <a:t>FALSE</a:t>
                      </a:r>
                    </a:p>
                  </a:txBody>
                </a:tc>
              </a:tr>
              <a:tr h="0">
                <a:tc>
                  <a:txBody>
                    <a:bodyPr/>
                    <a:lstStyle/>
                    <a:p>
                      <a:pPr lvl="0" indent="0" marL="0" algn="l">
                        <a:buNone/>
                      </a:pPr>
                      <a:r>
                        <a:rPr/>
                        <a:t>C4</a:t>
                      </a:r>
                    </a:p>
                  </a:txBody>
                </a:tc>
                <a:tc>
                  <a:txBody>
                    <a:bodyPr/>
                    <a:lstStyle/>
                    <a:p>
                      <a:pPr lvl="0" indent="0" marL="0" algn="l">
                        <a:buNone/>
                      </a:pPr>
                      <a:r>
                        <a:rPr/>
                        <a:t>ATT</a:t>
                      </a:r>
                    </a:p>
                  </a:txBody>
                </a:tc>
                <a:tc>
                  <a:txBody>
                    <a:bodyPr/>
                    <a:lstStyle/>
                    <a:p>
                      <a:pPr lvl="0" indent="0" marL="0" algn="l">
                        <a:buNone/>
                      </a:pPr>
                      <a:r>
                        <a:rPr/>
                        <a:t>-99.7</a:t>
                      </a:r>
                    </a:p>
                  </a:txBody>
                </a:tc>
                <a:tc>
                  <a:txBody>
                    <a:bodyPr/>
                    <a:lstStyle/>
                    <a:p>
                      <a:pPr lvl="0" indent="0" marL="0" algn="l">
                        <a:buNone/>
                      </a:pPr>
                      <a:r>
                        <a:rPr/>
                        <a:t>-158.9</a:t>
                      </a:r>
                    </a:p>
                  </a:txBody>
                </a:tc>
                <a:tc>
                  <a:txBody>
                    <a:bodyPr/>
                    <a:lstStyle/>
                    <a:p>
                      <a:pPr lvl="0" indent="0" marL="0" algn="l">
                        <a:buNone/>
                      </a:pPr>
                      <a:r>
                        <a:rPr/>
                        <a:t>-40.5</a:t>
                      </a:r>
                    </a:p>
                  </a:txBody>
                </a:tc>
                <a:tc>
                  <a:txBody>
                    <a:bodyPr/>
                    <a:lstStyle/>
                    <a:p>
                      <a:pPr lvl="0" indent="0" marL="0" algn="l">
                        <a:buNone/>
                      </a:pPr>
                      <a:r>
                        <a:rPr/>
                        <a:t>FALSE</a:t>
                      </a:r>
                    </a:p>
                  </a:txBody>
                </a:tc>
              </a:tr>
              <a:tr h="0">
                <a:tc>
                  <a:txBody>
                    <a:bodyPr/>
                    <a:lstStyle/>
                    <a:p>
                      <a:pPr lvl="0" indent="0" marL="0" algn="l">
                        <a:buNone/>
                      </a:pPr>
                      <a:r>
                        <a:rPr/>
                        <a:t>C4</a:t>
                      </a:r>
                    </a:p>
                  </a:txBody>
                </a:tc>
                <a:tc>
                  <a:txBody>
                    <a:bodyPr/>
                    <a:lstStyle/>
                    <a:p>
                      <a:pPr lvl="0" indent="0" marL="0" algn="l">
                        <a:buNone/>
                      </a:pPr>
                      <a:r>
                        <a:rPr/>
                        <a:t>ATO</a:t>
                      </a:r>
                    </a:p>
                  </a:txBody>
                </a:tc>
                <a:tc>
                  <a:txBody>
                    <a:bodyPr/>
                    <a:lstStyle/>
                    <a:p>
                      <a:pPr lvl="0" indent="0" marL="0" algn="l">
                        <a:buNone/>
                      </a:pPr>
                      <a:r>
                        <a:rPr/>
                        <a:t>-89.7</a:t>
                      </a:r>
                    </a:p>
                  </a:txBody>
                </a:tc>
                <a:tc>
                  <a:txBody>
                    <a:bodyPr/>
                    <a:lstStyle/>
                    <a:p>
                      <a:pPr lvl="0" indent="0" marL="0" algn="l">
                        <a:buNone/>
                      </a:pPr>
                      <a:r>
                        <a:rPr/>
                        <a:t>-165.8</a:t>
                      </a:r>
                    </a:p>
                  </a:txBody>
                </a:tc>
                <a:tc>
                  <a:txBody>
                    <a:bodyPr/>
                    <a:lstStyle/>
                    <a:p>
                      <a:pPr lvl="0" indent="0" marL="0" algn="l">
                        <a:buNone/>
                      </a:pPr>
                      <a:r>
                        <a:rPr/>
                        <a:t>-13.6</a:t>
                      </a:r>
                    </a:p>
                  </a:txBody>
                </a:tc>
                <a:tc>
                  <a:txBody>
                    <a:bodyPr/>
                    <a:lstStyle/>
                    <a:p>
                      <a:pPr lvl="0" indent="0" marL="0" algn="l">
                        <a:buNone/>
                      </a:pPr>
                      <a:r>
                        <a:rPr/>
                        <a:t>FALSE</a:t>
                      </a:r>
                    </a:p>
                  </a:txBody>
                </a:tc>
              </a:tr>
              <a:tr h="0">
                <a:tc>
                  <a:txBody>
                    <a:bodyPr/>
                    <a:lstStyle/>
                    <a:p>
                      <a:pPr lvl="0" indent="0" marL="0" algn="l">
                        <a:buNone/>
                      </a:pPr>
                      <a:r>
                        <a:rPr/>
                        <a:t>PRIMARY</a:t>
                      </a:r>
                    </a:p>
                  </a:txBody>
                </a:tc>
                <a:tc>
                  <a:txBody>
                    <a:bodyPr/>
                    <a:lstStyle/>
                    <a:p>
                      <a:pPr lvl="0" indent="0" marL="0" algn="l">
                        <a:buNone/>
                      </a:pPr>
                      <a:r>
                        <a:rPr/>
                        <a:t>ATE</a:t>
                      </a:r>
                    </a:p>
                  </a:txBody>
                </a:tc>
                <a:tc>
                  <a:txBody>
                    <a:bodyPr/>
                    <a:lstStyle/>
                    <a:p>
                      <a:pPr lvl="0" indent="0" marL="0" algn="l">
                        <a:buNone/>
                      </a:pPr>
                      <a:r>
                        <a:rPr/>
                        <a:t>-0.1</a:t>
                      </a:r>
                    </a:p>
                  </a:txBody>
                </a:tc>
                <a:tc>
                  <a:txBody>
                    <a:bodyPr/>
                    <a:lstStyle/>
                    <a:p>
                      <a:pPr lvl="0" indent="0" marL="0" algn="l">
                        <a:buNone/>
                      </a:pPr>
                      <a:r>
                        <a:rPr/>
                        <a:t>-31.6</a:t>
                      </a:r>
                    </a:p>
                  </a:txBody>
                </a:tc>
                <a:tc>
                  <a:txBody>
                    <a:bodyPr/>
                    <a:lstStyle/>
                    <a:p>
                      <a:pPr lvl="0" indent="0" marL="0" algn="l">
                        <a:buNone/>
                      </a:pPr>
                      <a:r>
                        <a:rPr/>
                        <a:t>31.5</a:t>
                      </a:r>
                    </a:p>
                  </a:txBody>
                </a:tc>
                <a:tc>
                  <a:txBody>
                    <a:bodyPr/>
                    <a:lstStyle/>
                    <a:p>
                      <a:pPr lvl="0" indent="0" marL="0" algn="l">
                        <a:buNone/>
                      </a:pPr>
                      <a:r>
                        <a:rPr/>
                        <a:t>FALSE</a:t>
                      </a:r>
                    </a:p>
                  </a:txBody>
                </a:tc>
              </a:tr>
              <a:tr h="0">
                <a:tc>
                  <a:txBody>
                    <a:bodyPr/>
                    <a:lstStyle/>
                    <a:p>
                      <a:pPr lvl="0" indent="0" marL="0" algn="l">
                        <a:buNone/>
                      </a:pPr>
                      <a:r>
                        <a:rPr/>
                        <a:t>PRIMARY</a:t>
                      </a:r>
                    </a:p>
                  </a:txBody>
                </a:tc>
                <a:tc>
                  <a:txBody>
                    <a:bodyPr/>
                    <a:lstStyle/>
                    <a:p>
                      <a:pPr lvl="0" indent="0" marL="0" algn="l">
                        <a:buNone/>
                      </a:pPr>
                      <a:r>
                        <a:rPr/>
                        <a:t>trimmed_ATE</a:t>
                      </a:r>
                    </a:p>
                  </a:txBody>
                </a:tc>
                <a:tc>
                  <a:txBody>
                    <a:bodyPr/>
                    <a:lstStyle/>
                    <a:p>
                      <a:pPr lvl="0" indent="0" marL="0" algn="l">
                        <a:buNone/>
                      </a:pPr>
                      <a:r>
                        <a:rPr/>
                        <a:t>-2.8</a:t>
                      </a:r>
                    </a:p>
                  </a:txBody>
                </a:tc>
                <a:tc>
                  <a:txBody>
                    <a:bodyPr/>
                    <a:lstStyle/>
                    <a:p>
                      <a:pPr lvl="0" indent="0" marL="0" algn="l">
                        <a:buNone/>
                      </a:pPr>
                      <a:r>
                        <a:rPr/>
                        <a:t>-34.4</a:t>
                      </a:r>
                    </a:p>
                  </a:txBody>
                </a:tc>
                <a:tc>
                  <a:txBody>
                    <a:bodyPr/>
                    <a:lstStyle/>
                    <a:p>
                      <a:pPr lvl="0" indent="0" marL="0" algn="l">
                        <a:buNone/>
                      </a:pPr>
                      <a:r>
                        <a:rPr/>
                        <a:t>28.7</a:t>
                      </a:r>
                    </a:p>
                  </a:txBody>
                </a:tc>
                <a:tc>
                  <a:txBody>
                    <a:bodyPr/>
                    <a:lstStyle/>
                    <a:p>
                      <a:pPr lvl="0" indent="0" marL="0" algn="l">
                        <a:buNone/>
                      </a:pPr>
                      <a:r>
                        <a:rPr/>
                        <a:t>FALSE</a:t>
                      </a:r>
                    </a:p>
                  </a:txBody>
                </a:tc>
              </a:tr>
              <a:tr h="0">
                <a:tc>
                  <a:txBody>
                    <a:bodyPr/>
                    <a:lstStyle/>
                    <a:p>
                      <a:pPr lvl="0" indent="0" marL="0" algn="l">
                        <a:buNone/>
                      </a:pPr>
                      <a:r>
                        <a:rPr/>
                        <a:t>PRIMARY</a:t>
                      </a:r>
                    </a:p>
                  </a:txBody>
                </a:tc>
                <a:tc>
                  <a:txBody>
                    <a:bodyPr/>
                    <a:lstStyle/>
                    <a:p>
                      <a:pPr lvl="0" indent="0" marL="0" algn="l">
                        <a:buNone/>
                      </a:pPr>
                      <a:r>
                        <a:rPr/>
                        <a:t>ATT</a:t>
                      </a:r>
                    </a:p>
                  </a:txBody>
                </a:tc>
                <a:tc>
                  <a:txBody>
                    <a:bodyPr/>
                    <a:lstStyle/>
                    <a:p>
                      <a:pPr lvl="0" indent="0" marL="0" algn="l">
                        <a:buNone/>
                      </a:pPr>
                      <a:r>
                        <a:rPr/>
                        <a:t>-4.0</a:t>
                      </a:r>
                    </a:p>
                  </a:txBody>
                </a:tc>
                <a:tc>
                  <a:txBody>
                    <a:bodyPr/>
                    <a:lstStyle/>
                    <a:p>
                      <a:pPr lvl="0" indent="0" marL="0" algn="l">
                        <a:buNone/>
                      </a:pPr>
                      <a:r>
                        <a:rPr/>
                        <a:t>-35.1</a:t>
                      </a:r>
                    </a:p>
                  </a:txBody>
                </a:tc>
                <a:tc>
                  <a:txBody>
                    <a:bodyPr/>
                    <a:lstStyle/>
                    <a:p>
                      <a:pPr lvl="0" indent="0" marL="0" algn="l">
                        <a:buNone/>
                      </a:pPr>
                      <a:r>
                        <a:rPr/>
                        <a:t>27.1</a:t>
                      </a:r>
                    </a:p>
                  </a:txBody>
                </a:tc>
                <a:tc>
                  <a:txBody>
                    <a:bodyPr/>
                    <a:lstStyle/>
                    <a:p>
                      <a:pPr lvl="0" indent="0" marL="0" algn="l">
                        <a:buNone/>
                      </a:pPr>
                      <a:r>
                        <a:rPr/>
                        <a:t>FALSE</a:t>
                      </a:r>
                    </a:p>
                  </a:txBody>
                </a:tc>
              </a:tr>
              <a:tr h="0">
                <a:tc>
                  <a:txBody>
                    <a:bodyPr/>
                    <a:lstStyle/>
                    <a:p>
                      <a:pPr lvl="0" indent="0" marL="0" algn="l">
                        <a:buNone/>
                      </a:pPr>
                      <a:r>
                        <a:rPr/>
                        <a:t>PRIMARY</a:t>
                      </a:r>
                    </a:p>
                  </a:txBody>
                </a:tc>
                <a:tc>
                  <a:txBody>
                    <a:bodyPr/>
                    <a:lstStyle/>
                    <a:p>
                      <a:pPr lvl="0" indent="0" marL="0" algn="l">
                        <a:buNone/>
                      </a:pPr>
                      <a:r>
                        <a:rPr/>
                        <a:t>ATO</a:t>
                      </a:r>
                    </a:p>
                  </a:txBody>
                </a:tc>
                <a:tc>
                  <a:txBody>
                    <a:bodyPr/>
                    <a:lstStyle/>
                    <a:p>
                      <a:pPr lvl="0" indent="0" marL="0" algn="l">
                        <a:buNone/>
                      </a:pPr>
                      <a:r>
                        <a:rPr/>
                        <a:t>2.6</a:t>
                      </a:r>
                    </a:p>
                  </a:txBody>
                </a:tc>
                <a:tc>
                  <a:txBody>
                    <a:bodyPr/>
                    <a:lstStyle/>
                    <a:p>
                      <a:pPr lvl="0" indent="0" marL="0" algn="l">
                        <a:buNone/>
                      </a:pPr>
                      <a:r>
                        <a:rPr/>
                        <a:t>-34.4</a:t>
                      </a:r>
                    </a:p>
                  </a:txBody>
                </a:tc>
                <a:tc>
                  <a:txBody>
                    <a:bodyPr/>
                    <a:lstStyle/>
                    <a:p>
                      <a:pPr lvl="0" indent="0" marL="0" algn="l">
                        <a:buNone/>
                      </a:pPr>
                      <a:r>
                        <a:rPr/>
                        <a:t>39.6</a:t>
                      </a:r>
                    </a:p>
                  </a:txBody>
                </a:tc>
                <a:tc>
                  <a:txBody>
                    <a:bodyPr/>
                    <a:lstStyle/>
                    <a:p>
                      <a:pPr lvl="0" indent="0" marL="0" algn="l">
                        <a:buNone/>
                      </a:pPr>
                      <a:r>
                        <a:rPr/>
                        <a:t>FALSE</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Keeping the observed treatment, on real data</a:t>
            </a:r>
          </a:p>
        </p:txBody>
      </p:sp>
      <p:sp>
        <p:nvSpPr>
          <p:cNvPr id="4" name="Text Placeholder 3"/>
          <p:cNvSpPr>
            <a:spLocks noGrp="1"/>
          </p:cNvSpPr>
          <p:nvPr>
            <p:ph idx="2" sz="half" type="body"/>
          </p:nvPr>
        </p:nvSpPr>
        <p:spPr/>
        <p:txBody>
          <a:bodyPr/>
          <a:lstStyle/>
          <a:p>
            <a:pPr lvl="0" indent="0" marL="0">
              <a:buNone/>
            </a:pPr>
            <a:r>
              <a:rPr/>
              <a:t>A support map that kept the observed treatment would have declared the sound designs infeasible too.</a:t>
            </a:r>
          </a:p>
        </p:txBody>
      </p:sp>
      <p:pic>
        <p:nvPicPr>
          <p:cNvPr descr="cleanTMLE_presentation_files/figure-pptx/fig-designcmp-1.png" id="0" name="Picture 1"/>
          <p:cNvPicPr>
            <a:picLocks noGrp="1" noChangeAspect="1"/>
          </p:cNvPicPr>
          <p:nvPr/>
        </p:nvPicPr>
        <p:blipFill>
          <a:blip r:embed="rId2"/>
          <a:stretch>
            <a:fillRect/>
          </a:stretch>
        </p:blipFill>
        <p:spPr bwMode="auto">
          <a:xfrm>
            <a:off x="3568700" y="990600"/>
            <a:ext cx="5105400" cy="2311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5: Coverage under the stressed outcome surface, 200 replicates per design. Keeping the observed treatment degrades every estimand, on the sound design too.</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record showed an earlier mistake of ours</a:t>
            </a:r>
          </a:p>
        </p:txBody>
      </p:sp>
      <p:sp>
        <p:nvSpPr>
          <p:cNvPr id="3" name="Content Placeholder 2"/>
          <p:cNvSpPr>
            <a:spLocks noGrp="1"/>
          </p:cNvSpPr>
          <p:nvPr>
            <p:ph idx="1"/>
          </p:nvPr>
        </p:nvSpPr>
        <p:spPr/>
        <p:txBody>
          <a:bodyPr/>
          <a:lstStyle/>
          <a:p>
            <a:pPr lvl="0"/>
            <a:r>
              <a:rPr/>
              <a:t>The first single-contrast run used a primary outcome with 92% prevalence, the common category of a two-level variable.</a:t>
            </a:r>
          </a:p>
          <a:p>
            <a:pPr lvl="0"/>
            <a:r>
              <a:rPr/>
              <a:t>The cohort-adequacy check recorded a stop. The pipeline went ahead anyway, and nothing recorded why.</a:t>
            </a:r>
          </a:p>
          <a:p>
            <a:pPr lvl="0"/>
            <a:r>
              <a:rPr/>
              <a:t>The rebuild found this because both entries were still in the record, a stop followed by an estimate with nothing in between.</a:t>
            </a:r>
          </a:p>
          <a:p>
            <a:pPr lvl="0"/>
            <a:r>
              <a:rPr/>
              <a:t>Mortality is now the primary outcome, and an override cannot be recorded without a reason.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reviewer can check</a:t>
            </a:r>
          </a:p>
        </p:txBody>
      </p:sp>
      <p:sp>
        <p:nvSpPr>
          <p:cNvPr id="3" name="Content Placeholder 2"/>
          <p:cNvSpPr>
            <a:spLocks noGrp="1"/>
          </p:cNvSpPr>
          <p:nvPr>
            <p:ph idx="1"/>
          </p:nvPr>
        </p:nvSpPr>
        <p:spPr/>
        <p:txBody>
          <a:bodyPr/>
          <a:lstStyle/>
          <a:p>
            <a:pPr lvl="0"/>
            <a:r>
              <a:rPr/>
              <a:t>Every verdict, declaration, and estimand switch was logged before the outcome data were attached.</a:t>
            </a:r>
          </a:p>
          <a:p>
            <a:pPr lvl="0"/>
            <a:r>
              <a:rPr/>
              <a:t>The protocol’s primary comparison was refused, and the reason is in the record. Each reported estimate says which population it applies to.</a:t>
            </a:r>
          </a:p>
          <a:p>
            <a:pPr lvl="0"/>
            <a:r>
              <a:rPr/>
              <a:t>Where the two pipelines overlap, the clean-room estimates agree with the parallel unblinded analysis to within a fraction of a standard error. The comparison is published row by row.</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5. Compared with existing tools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Side by side</a:t>
            </a:r>
          </a:p>
        </p:txBody>
      </p:sp>
      <p:sp>
        <p:nvSpPr>
          <p:cNvPr id="4" name="Text Placeholder 3"/>
          <p:cNvSpPr>
            <a:spLocks noGrp="1"/>
          </p:cNvSpPr>
          <p:nvPr>
            <p:ph idx="2" sz="half" type="body"/>
          </p:nvPr>
        </p:nvSpPr>
        <p:spPr/>
        <p:txBody>
          <a:bodyPr/>
          <a:lstStyle/>
          <a:p>
            <a:pPr lvl="0" indent="0" marL="0">
              <a:buNone/>
            </a:pPr>
            <a:r>
              <a:rPr/>
              <a:t>TMLE has been around for over a decade and the staged design is published guidance. What is new here is checking whether the comparison can be estimated during the blind phase, and keeping a record of when that was checked.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660400"/>
                <a:gridCol w="1104900"/>
                <a:gridCol w="1104900"/>
                <a:gridCol w="1104900"/>
                <a:gridCol w="1104900"/>
              </a:tblGrid>
              <a:tr h="0">
                <a:tc>
                  <a:txBody>
                    <a:bodyPr/>
                    <a:lstStyle/>
                    <a:p>
                      <a:pPr lvl="0" indent="0" marL="0">
                        <a:buNone/>
                      </a:pPr>
                      <a:r>
                        <a:rPr/>
                        <a:t>Feature</a:t>
                      </a:r>
                    </a:p>
                  </a:txBody>
                  <a:tcPr/>
                </a:tc>
                <a:tc>
                  <a:txBody>
                    <a:bodyPr/>
                    <a:lstStyle/>
                    <a:p>
                      <a:pPr lvl="0" indent="0" marL="0" algn="ctr">
                        <a:buNone/>
                      </a:pPr>
                      <a:r>
                        <a:rPr/>
                        <a:t>TMLE packages</a:t>
                      </a:r>
                    </a:p>
                  </a:txBody>
                  <a:tcPr/>
                </a:tc>
                <a:tc>
                  <a:txBody>
                    <a:bodyPr/>
                    <a:lstStyle/>
                    <a:p>
                      <a:pPr lvl="0" indent="0" marL="0" algn="ctr">
                        <a:buNone/>
                      </a:pPr>
                      <a:r>
                        <a:rPr/>
                        <a:t>causalRisk</a:t>
                      </a:r>
                    </a:p>
                  </a:txBody>
                  <a:tcPr/>
                </a:tc>
                <a:tc>
                  <a:txBody>
                    <a:bodyPr/>
                    <a:lstStyle/>
                    <a:p>
                      <a:pPr lvl="0" indent="0" marL="0" algn="ctr">
                        <a:buNone/>
                      </a:pPr>
                      <a:r>
                        <a:rPr/>
                        <a:t>Clean-room papers</a:t>
                      </a:r>
                    </a:p>
                  </a:txBody>
                  <a:tcPr/>
                </a:tc>
                <a:tc>
                  <a:txBody>
                    <a:bodyPr/>
                    <a:lstStyle/>
                    <a:p>
                      <a:pPr lvl="0" indent="0" marL="0" algn="ctr">
                        <a:buNone/>
                      </a:pPr>
                      <a:r>
                        <a:rPr/>
                        <a:t>cleanTMLE</a:t>
                      </a:r>
                    </a:p>
                  </a:txBody>
                  <a:tcPr/>
                </a:tc>
              </a:tr>
              <a:tr h="0">
                <a:tc>
                  <a:txBody>
                    <a:bodyPr/>
                    <a:lstStyle/>
                    <a:p>
                      <a:pPr lvl="0" indent="0" marL="0">
                        <a:buNone/>
                      </a:pPr>
                      <a:r>
                        <a:rPr/>
                        <a:t>Targeted-learning estimation</a:t>
                      </a:r>
                    </a:p>
                  </a:txBody>
                </a:tc>
                <a:tc>
                  <a:txBody>
                    <a:bodyPr/>
                    <a:lstStyle/>
                    <a:p>
                      <a:pPr lvl="0" indent="0" marL="0" algn="ctr">
                        <a:buNone/>
                      </a:pPr>
                      <a:r>
                        <a:rPr/>
                        <a:t>yes</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Cohort grammar, cumulative-risk reporting</a:t>
                      </a:r>
                    </a:p>
                  </a:txBody>
                </a:tc>
                <a:tc>
                  <a:txBody>
                    <a:bodyPr/>
                    <a:lstStyle/>
                    <a:p>
                      <a:pPr lvl="0" indent="0" marL="0" algn="ctr">
                        <a:buNone/>
                      </a:pPr>
                      <a:r>
                        <a:rPr/>
                        <a:t>partial</a:t>
                      </a:r>
                    </a:p>
                  </a:txBody>
                </a:tc>
                <a:tc>
                  <a:txBody>
                    <a:bodyPr/>
                    <a:lstStyle/>
                    <a:p>
                      <a:pPr lvl="0" indent="0" marL="0" algn="ctr">
                        <a:buNone/>
                      </a:pPr>
                      <a:r>
                        <a:rPr/>
                        <a:t>yes</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Graded support verdict, per-estimand feasibility</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Pre-registered estimand ladder, logged switching</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Outcome-blind support map</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Plasmode candidate selection, DQ stress test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Fingerprinted lock and design log</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yes</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to use it, and what it does not do</a:t>
            </a:r>
          </a:p>
        </p:txBody>
      </p:sp>
      <p:sp>
        <p:nvSpPr>
          <p:cNvPr id="3" name="Content Placeholder 2"/>
          <p:cNvSpPr>
            <a:spLocks noGrp="1"/>
          </p:cNvSpPr>
          <p:nvPr>
            <p:ph idx="1"/>
          </p:nvPr>
        </p:nvSpPr>
        <p:spPr/>
        <p:txBody>
          <a:bodyPr/>
          <a:lstStyle/>
          <a:p>
            <a:pPr lvl="0" indent="0" marL="0">
              <a:buNone/>
            </a:pPr>
            <a:r>
              <a:rPr/>
              <a:t>Use it when someone will ask whether an analytic decision was made before or after you saw the result.</a:t>
            </a:r>
          </a:p>
          <a:p>
            <a:pPr lvl="0" indent="0" marL="0">
              <a:buNone/>
            </a:pPr>
            <a:r>
              <a:rPr/>
              <a:t>It does not design the study, check the data or the outcome definitions, or replace negative controls and post-outcome sensitivity analyses. For confirmatory work it should sit inside institutional governance, with separate roles and independent review. If an institution wants the sign-off enforced in software, </a:t>
            </a:r>
            <a:r>
              <a:rPr>
                <a:latin typeface="Courier"/>
              </a:rPr>
              <a:t>enforce = TRUE</a:t>
            </a:r>
            <a:r>
              <a:rPr/>
              <a:t> blocks estimation until a named person unmasks the outcome.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I want input</a:t>
            </a:r>
          </a:p>
        </p:txBody>
      </p:sp>
      <p:sp>
        <p:nvSpPr>
          <p:cNvPr id="3" name="Content Placeholder 2"/>
          <p:cNvSpPr>
            <a:spLocks noGrp="1"/>
          </p:cNvSpPr>
          <p:nvPr>
            <p:ph idx="1"/>
          </p:nvPr>
        </p:nvSpPr>
        <p:spPr/>
        <p:txBody>
          <a:bodyPr/>
          <a:lstStyle/>
          <a:p>
            <a:pPr lvl="0" indent="-342900" marL="342900">
              <a:buAutoNum type="arabicPeriod"/>
            </a:pPr>
            <a:r>
              <a:rPr/>
              <a:t>The harshest support-map scenarios look the same as strong unmeasured confounding, so a rule that requires passing the whole grid mixes up two different problems. How should the plausible range be chosen and written down in advance?</a:t>
            </a:r>
          </a:p>
          <a:p>
            <a:pPr lvl="0" indent="-342900" marL="342900">
              <a:buAutoNum type="arabicPeriod"/>
            </a:pPr>
            <a:r>
              <a:rPr/>
              <a:t>Is SEVERE the right default trigger, and is trimmed ATE, then ATT, then ATO the right order?</a:t>
            </a:r>
          </a:p>
          <a:p>
            <a:pPr lvl="0" indent="-342900" marL="342900">
              <a:buAutoNum type="arabicPeriod"/>
            </a:pPr>
            <a:r>
              <a:rPr/>
              <a:t>How should the stress-test severity ranges be documented so that a reviewer accepts them?</a:t>
            </a:r>
          </a:p>
          <a:p>
            <a:pPr lvl="0" indent="-342900" marL="342900">
              <a:buAutoNum type="arabicPeriod"/>
            </a:pPr>
            <a:r>
              <a:rPr/>
              <a:t>The matched ATT is the most stable estimand in every map and the hardest population to describe. Should it be a sensitivity analysis or a candidate primary?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Resources</a:t>
            </a:r>
          </a:p>
        </p:txBody>
      </p:sp>
      <p:sp>
        <p:nvSpPr>
          <p:cNvPr id="3" name="Content Placeholder 2"/>
          <p:cNvSpPr>
            <a:spLocks noGrp="1"/>
          </p:cNvSpPr>
          <p:nvPr>
            <p:ph idx="1"/>
          </p:nvPr>
        </p:nvSpPr>
        <p:spPr/>
        <p:txBody>
          <a:bodyPr/>
          <a:lstStyle/>
          <a:p>
            <a:pPr lvl="0"/>
            <a:r>
              <a:rPr/>
              <a:t>Package: </a:t>
            </a:r>
            <a:r>
              <a:rPr>
                <a:hlinkClick r:id="rId2"/>
              </a:rPr>
              <a:t>https://github.com/amertens/cleanTMLE</a:t>
            </a:r>
            <a:r>
              <a:rPr/>
              <a:t> (v0.3.0)</a:t>
            </a:r>
          </a:p>
          <a:p>
            <a:pPr lvl="0"/>
            <a:r>
              <a:rPr/>
              <a:t>Manuscript draft: </a:t>
            </a:r>
            <a:r>
              <a:rPr>
                <a:latin typeface="Courier"/>
              </a:rPr>
              <a:t>reports/manuscript_outcome_blind_dq.qmd</a:t>
            </a:r>
          </a:p>
          <a:p>
            <a:pPr lvl="0"/>
            <a:r>
              <a:rPr/>
              <a:t>Case-study artifacts: </a:t>
            </a:r>
            <a:r>
              <a:rPr>
                <a:latin typeface="Courier"/>
              </a:rPr>
              <a:t>rescueCo/results/multiarm/</a:t>
            </a:r>
          </a:p>
          <a:p>
            <a:pPr lvl="0"/>
            <a:r>
              <a:rPr/>
              <a:t>Vignettes: get started (five verbs), and the full workflow</a:t>
            </a:r>
          </a:p>
          <a:p>
            <a:pPr lvl="0"/>
            <a:r>
              <a:rPr/>
              <a:t>Tutorial: </a:t>
            </a:r>
            <a:r>
              <a:rPr>
                <a:latin typeface="Courier"/>
              </a:rPr>
              <a:t>tutorials/clean_room_targeted_learning_tutorial.qmd</a:t>
            </a:r>
          </a:p>
          <a:p>
            <a:pPr lvl="0" indent="0" marL="0">
              <a:buNone/>
            </a:pPr>
            <a:r>
              <a:rPr/>
              <a:t>Questions welcome.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A: Concepts and alignment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layers in the staged workflow</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Description</a:t>
                      </a:r>
                    </a:p>
                  </a:txBody>
                  <a:tcPr/>
                </a:tc>
              </a:tr>
              <a:tr h="0">
                <a:tc>
                  <a:txBody>
                    <a:bodyPr/>
                    <a:lstStyle/>
                    <a:p>
                      <a:pPr lvl="0" indent="0" marL="0">
                        <a:buNone/>
                      </a:pPr>
                      <a:r>
                        <a:rPr/>
                        <a:t>Causal question</a:t>
                      </a:r>
                    </a:p>
                  </a:txBody>
                </a:tc>
                <a:tc>
                  <a:txBody>
                    <a:bodyPr/>
                    <a:lstStyle/>
                    <a:p>
                      <a:pPr lvl="0" indent="0" marL="0">
                        <a:buNone/>
                      </a:pPr>
                      <a:r>
                        <a:rPr/>
                        <a:t>Clinical or policy question framed as a target trial.</a:t>
                      </a:r>
                    </a:p>
                  </a:txBody>
                </a:tc>
              </a:tr>
              <a:tr h="0">
                <a:tc>
                  <a:txBody>
                    <a:bodyPr/>
                    <a:lstStyle/>
                    <a:p>
                      <a:pPr lvl="0" indent="0" marL="0">
                        <a:buNone/>
                      </a:pPr>
                      <a:r>
                        <a:rPr/>
                        <a:t>Causal estimand</a:t>
                      </a:r>
                    </a:p>
                  </a:txBody>
                </a:tc>
                <a:tc>
                  <a:txBody>
                    <a:bodyPr/>
                    <a:lstStyle/>
                    <a:p>
                      <a:pPr lvl="0" indent="0" marL="0">
                        <a:buNone/>
                      </a:pPr>
                      <a:r>
                        <a:rPr/>
                        <a:t>Counterfactual effect of interest, e.g. marginal risk difference.</a:t>
                      </a:r>
                    </a:p>
                  </a:txBody>
                </a:tc>
              </a:tr>
              <a:tr h="0">
                <a:tc>
                  <a:txBody>
                    <a:bodyPr/>
                    <a:lstStyle/>
                    <a:p>
                      <a:pPr lvl="0" indent="0" marL="0">
                        <a:buNone/>
                      </a:pPr>
                      <a:r>
                        <a:rPr/>
                        <a:t>Identification assumptions</a:t>
                      </a:r>
                    </a:p>
                  </a:txBody>
                </a:tc>
                <a:tc>
                  <a:txBody>
                    <a:bodyPr/>
                    <a:lstStyle/>
                    <a:p>
                      <a:pPr lvl="0" indent="0" marL="0">
                        <a:buNone/>
                      </a:pPr>
                      <a:r>
                        <a:rPr/>
                        <a:t>Conditions under which the estimand equals an observed-data parameter.</a:t>
                      </a:r>
                    </a:p>
                  </a:txBody>
                </a:tc>
              </a:tr>
              <a:tr h="0">
                <a:tc>
                  <a:txBody>
                    <a:bodyPr/>
                    <a:lstStyle/>
                    <a:p>
                      <a:pPr lvl="0" indent="0" marL="0">
                        <a:buNone/>
                      </a:pPr>
                      <a:r>
                        <a:rPr/>
                        <a:t>Statistical estimand</a:t>
                      </a:r>
                    </a:p>
                  </a:txBody>
                </a:tc>
                <a:tc>
                  <a:txBody>
                    <a:bodyPr/>
                    <a:lstStyle/>
                    <a:p>
                      <a:pPr lvl="0" indent="0" marL="0">
                        <a:buNone/>
                      </a:pPr>
                      <a:r>
                        <a:rPr/>
                        <a:t>That observed-data parameter.</a:t>
                      </a:r>
                    </a:p>
                  </a:txBody>
                </a:tc>
              </a:tr>
              <a:tr h="0">
                <a:tc>
                  <a:txBody>
                    <a:bodyPr/>
                    <a:lstStyle/>
                    <a:p>
                      <a:pPr lvl="0" indent="0" marL="0">
                        <a:buNone/>
                      </a:pPr>
                      <a:r>
                        <a:rPr/>
                        <a:t>Estimand ladder</a:t>
                      </a:r>
                    </a:p>
                  </a:txBody>
                </a:tc>
                <a:tc>
                  <a:txBody>
                    <a:bodyPr/>
                    <a:lstStyle/>
                    <a:p>
                      <a:pPr lvl="0" indent="0" marL="0">
                        <a:buNone/>
                      </a:pPr>
                      <a:r>
                        <a:rPr/>
                        <a:t>Pre-registered fallbacks and the verdict that triggers a switch.</a:t>
                      </a:r>
                    </a:p>
                  </a:txBody>
                </a:tc>
              </a:tr>
              <a:tr h="0">
                <a:tc>
                  <a:txBody>
                    <a:bodyPr/>
                    <a:lstStyle/>
                    <a:p>
                      <a:pPr lvl="0" indent="0" marL="0">
                        <a:buNone/>
                      </a:pPr>
                      <a:r>
                        <a:rPr/>
                        <a:t>Estimator</a:t>
                      </a:r>
                    </a:p>
                  </a:txBody>
                </a:tc>
                <a:tc>
                  <a:txBody>
                    <a:bodyPr/>
                    <a:lstStyle/>
                    <a:p>
                      <a:pPr lvl="0" indent="0" marL="0">
                        <a:buNone/>
                      </a:pPr>
                      <a:r>
                        <a:rPr/>
                        <a:t>TMLE, IPTW, matching.</a:t>
                      </a:r>
                    </a:p>
                  </a:txBody>
                </a:tc>
              </a:tr>
              <a:tr h="0">
                <a:tc>
                  <a:txBody>
                    <a:bodyPr/>
                    <a:lstStyle/>
                    <a:p>
                      <a:pPr lvl="0" indent="0" marL="0">
                        <a:buNone/>
                      </a:pPr>
                      <a:r>
                        <a:rPr/>
                        <a:t>Pre-outcome diagnostic</a:t>
                      </a:r>
                    </a:p>
                  </a:txBody>
                </a:tc>
                <a:tc>
                  <a:txBody>
                    <a:bodyPr/>
                    <a:lstStyle/>
                    <a:p>
                      <a:pPr lvl="0" indent="0" marL="0">
                        <a:buNone/>
                      </a:pPr>
                      <a:r>
                        <a:rPr/>
                        <a:t>Support verdict, feasibility, simulated bias and coverage, balance, negative controls.</a:t>
                      </a:r>
                    </a:p>
                  </a:txBody>
                </a:tc>
              </a:tr>
              <a:tr h="0">
                <a:tc>
                  <a:txBody>
                    <a:bodyPr/>
                    <a:lstStyle/>
                    <a:p>
                      <a:pPr lvl="0" indent="0" marL="0">
                        <a:buNone/>
                      </a:pPr>
                      <a:r>
                        <a:rPr/>
                        <a:t>Governance decision</a:t>
                      </a:r>
                    </a:p>
                  </a:txBody>
                </a:tc>
                <a:tc>
                  <a:txBody>
                    <a:bodyPr/>
                    <a:lstStyle/>
                    <a:p>
                      <a:pPr lvl="0" indent="0" marL="0">
                        <a:buNone/>
                      </a:pPr>
                      <a:r>
                        <a:rPr/>
                        <a:t>Proceed, proceed with qualification, or stop (Muntner et al. 2024).</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causal roadmap, and what the package covers</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2.png" id="0" name="Picture 1"/>
          <p:cNvPicPr>
            <a:picLocks noGrp="1" noChangeAspect="1"/>
          </p:cNvPicPr>
          <p:nvPr/>
        </p:nvPicPr>
        <p:blipFill>
          <a:blip r:embed="rId2"/>
          <a:stretch>
            <a:fillRect/>
          </a:stretch>
        </p:blipFill>
        <p:spPr bwMode="auto">
          <a:xfrm>
            <a:off x="5664200" y="203200"/>
            <a:ext cx="914400" cy="43815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Regulatory alignment (excerpt)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Roadmap component</a:t>
                      </a:r>
                    </a:p>
                  </a:txBody>
                  <a:tcPr/>
                </a:tc>
                <a:tc>
                  <a:txBody>
                    <a:bodyPr/>
                    <a:lstStyle/>
                    <a:p>
                      <a:pPr lvl="0" indent="0" marL="0">
                        <a:buNone/>
                      </a:pPr>
                      <a:r>
                        <a:rPr/>
                        <a:t>FDA / EMA / ICH anchor</a:t>
                      </a:r>
                    </a:p>
                  </a:txBody>
                  <a:tcPr/>
                </a:tc>
                <a:tc>
                  <a:txBody>
                    <a:bodyPr/>
                    <a:lstStyle/>
                    <a:p>
                      <a:pPr lvl="0" indent="0" marL="0">
                        <a:buNone/>
                      </a:pPr>
                      <a:r>
                        <a:rPr/>
                        <a:t>cleanTMLE</a:t>
                      </a:r>
                    </a:p>
                  </a:txBody>
                  <a:tcPr/>
                </a:tc>
              </a:tr>
              <a:tr h="0">
                <a:tc>
                  <a:txBody>
                    <a:bodyPr/>
                    <a:lstStyle/>
                    <a:p>
                      <a:pPr lvl="0" indent="0" marL="0">
                        <a:buNone/>
                      </a:pPr>
                      <a:r>
                        <a:rPr/>
                        <a:t>Causal question</a:t>
                      </a:r>
                    </a:p>
                  </a:txBody>
                </a:tc>
                <a:tc>
                  <a:txBody>
                    <a:bodyPr/>
                    <a:lstStyle/>
                    <a:p>
                      <a:pPr lvl="0" indent="0" marL="0">
                        <a:buNone/>
                      </a:pPr>
                      <a:r>
                        <a:rPr/>
                        <a:t>Target-trial framework; FDA RWE Framework; ICH M14</a:t>
                      </a:r>
                    </a:p>
                  </a:txBody>
                </a:tc>
                <a:tc>
                  <a:txBody>
                    <a:bodyPr/>
                    <a:lstStyle/>
                    <a:p>
                      <a:pPr lvl="0" indent="0" marL="0">
                        <a:buNone/>
                      </a:pPr>
                      <a:r>
                        <a:rPr/>
                        <a:t>Lock record; </a:t>
                      </a:r>
                      <a:r>
                        <a:rPr>
                          <a:latin typeface="Courier"/>
                        </a:rPr>
                        <a:t>design_report(protocol = ...)</a:t>
                      </a:r>
                      <a:r>
                        <a:rPr/>
                        <a:t> emulation table</a:t>
                      </a:r>
                    </a:p>
                  </a:txBody>
                </a:tc>
              </a:tr>
              <a:tr h="0">
                <a:tc>
                  <a:txBody>
                    <a:bodyPr/>
                    <a:lstStyle/>
                    <a:p>
                      <a:pPr lvl="0" indent="0" marL="0">
                        <a:buNone/>
                      </a:pPr>
                      <a:r>
                        <a:rPr/>
                        <a:t>Identification (positivity)</a:t>
                      </a:r>
                    </a:p>
                  </a:txBody>
                </a:tc>
                <a:tc>
                  <a:txBody>
                    <a:bodyPr/>
                    <a:lstStyle/>
                    <a:p>
                      <a:pPr lvl="0" indent="0" marL="0">
                        <a:buNone/>
                      </a:pPr>
                      <a:r>
                        <a:rPr/>
                        <a:t>ICH E9(R1)</a:t>
                      </a:r>
                    </a:p>
                  </a:txBody>
                </a:tc>
                <a:tc>
                  <a:txBody>
                    <a:bodyPr/>
                    <a:lstStyle/>
                    <a:p>
                      <a:pPr lvl="0" indent="0" marL="0">
                        <a:buNone/>
                      </a:pPr>
                      <a:r>
                        <a:rPr>
                          <a:latin typeface="Courier"/>
                        </a:rPr>
                        <a:t>assess_support()</a:t>
                      </a:r>
                      <a:r>
                        <a:rPr/>
                        <a:t>, </a:t>
                      </a:r>
                      <a:r>
                        <a:rPr>
                          <a:latin typeface="Courier"/>
                        </a:rPr>
                        <a:t>estimand_feasibility()</a:t>
                      </a:r>
                    </a:p>
                  </a:txBody>
                </a:tc>
              </a:tr>
              <a:tr h="0">
                <a:tc>
                  <a:txBody>
                    <a:bodyPr/>
                    <a:lstStyle/>
                    <a:p>
                      <a:pPr lvl="0" indent="0" marL="0">
                        <a:buNone/>
                      </a:pPr>
                      <a:r>
                        <a:rPr/>
                        <a:t>Statistical estimand</a:t>
                      </a:r>
                    </a:p>
                  </a:txBody>
                </a:tc>
                <a:tc>
                  <a:txBody>
                    <a:bodyPr/>
                    <a:lstStyle/>
                    <a:p>
                      <a:pPr lvl="0" indent="0" marL="0">
                        <a:buNone/>
                      </a:pPr>
                      <a:r>
                        <a:rPr/>
                        <a:t>ICH E9(R1); FDA RWE Considerations</a:t>
                      </a:r>
                    </a:p>
                  </a:txBody>
                </a:tc>
                <a:tc>
                  <a:txBody>
                    <a:bodyPr/>
                    <a:lstStyle/>
                    <a:p>
                      <a:pPr lvl="0" indent="0" marL="0">
                        <a:buNone/>
                      </a:pPr>
                      <a:r>
                        <a:rPr>
                          <a:latin typeface="Courier"/>
                        </a:rPr>
                        <a:t>declare_estimand_ladder()</a:t>
                      </a:r>
                      <a:r>
                        <a:rPr/>
                        <a:t>, </a:t>
                      </a:r>
                      <a:r>
                        <a:rPr>
                          <a:latin typeface="Courier"/>
                        </a:rPr>
                        <a:t>run_estimand_ladder()</a:t>
                      </a:r>
                    </a:p>
                  </a:txBody>
                </a:tc>
              </a:tr>
              <a:tr h="0">
                <a:tc>
                  <a:txBody>
                    <a:bodyPr/>
                    <a:lstStyle/>
                    <a:p>
                      <a:pPr lvl="0" indent="0" marL="0">
                        <a:buNone/>
                      </a:pPr>
                      <a:r>
                        <a:rPr/>
                        <a:t>Estimator selection</a:t>
                      </a:r>
                    </a:p>
                  </a:txBody>
                </a:tc>
                <a:tc>
                  <a:txBody>
                    <a:bodyPr/>
                    <a:lstStyle/>
                    <a:p>
                      <a:pPr lvl="0" indent="0" marL="0">
                        <a:buNone/>
                      </a:pPr>
                      <a:r>
                        <a:rPr/>
                        <a:t>FDA non-interventional studies; ICH M14</a:t>
                      </a:r>
                    </a:p>
                  </a:txBody>
                </a:tc>
                <a:tc>
                  <a:txBody>
                    <a:bodyPr/>
                    <a:lstStyle/>
                    <a:p>
                      <a:pPr lvl="0" indent="0" marL="0">
                        <a:buNone/>
                      </a:pPr>
                      <a:r>
                        <a:rPr>
                          <a:latin typeface="Courier"/>
                        </a:rPr>
                        <a:t>define_candidates()</a:t>
                      </a:r>
                      <a:r>
                        <a:rPr/>
                        <a:t>, </a:t>
                      </a:r>
                      <a:r>
                        <a:rPr>
                          <a:latin typeface="Courier"/>
                        </a:rPr>
                        <a:t>select_candidate()</a:t>
                      </a:r>
                    </a:p>
                  </a:txBody>
                </a:tc>
              </a:tr>
              <a:tr h="0">
                <a:tc>
                  <a:txBody>
                    <a:bodyPr/>
                    <a:lstStyle/>
                    <a:p>
                      <a:pPr lvl="0" indent="0" marL="0">
                        <a:buNone/>
                      </a:pPr>
                      <a:r>
                        <a:rPr/>
                        <a:t>Pre-outcome DQ stress</a:t>
                      </a:r>
                    </a:p>
                  </a:txBody>
                </a:tc>
                <a:tc>
                  <a:txBody>
                    <a:bodyPr/>
                    <a:lstStyle/>
                    <a:p>
                      <a:pPr lvl="0" indent="0" marL="0">
                        <a:buNone/>
                      </a:pPr>
                      <a:r>
                        <a:rPr/>
                        <a:t>Source reliability (FDA, EMA)</a:t>
                      </a:r>
                    </a:p>
                  </a:txBody>
                </a:tc>
                <a:tc>
                  <a:txBody>
                    <a:bodyPr/>
                    <a:lstStyle/>
                    <a:p>
                      <a:pPr lvl="0" indent="0" marL="0">
                        <a:buNone/>
                      </a:pPr>
                      <a:r>
                        <a:rPr>
                          <a:latin typeface="Courier"/>
                        </a:rPr>
                        <a:t>stress_test()</a:t>
                      </a:r>
                      <a:r>
                        <a:rPr/>
                        <a:t>, </a:t>
                      </a:r>
                      <a:r>
                        <a:rPr>
                          <a:latin typeface="Courier"/>
                        </a:rPr>
                        <a:t>simulate_support()</a:t>
                      </a:r>
                    </a:p>
                  </a:txBody>
                </a:tc>
              </a:tr>
              <a:tr h="0">
                <a:tc>
                  <a:txBody>
                    <a:bodyPr/>
                    <a:lstStyle/>
                    <a:p>
                      <a:pPr lvl="0" indent="0" marL="0">
                        <a:buNone/>
                      </a:pPr>
                      <a:r>
                        <a:rPr/>
                        <a:t>Post-outcome sensitivity</a:t>
                      </a:r>
                    </a:p>
                  </a:txBody>
                </a:tc>
                <a:tc>
                  <a:txBody>
                    <a:bodyPr/>
                    <a:lstStyle/>
                    <a:p>
                      <a:pPr lvl="0" indent="0" marL="0">
                        <a:buNone/>
                      </a:pPr>
                      <a:r>
                        <a:rPr/>
                        <a:t>FDA non-interventional; ICH E9(R1)</a:t>
                      </a:r>
                    </a:p>
                  </a:txBody>
                </a:tc>
                <a:tc>
                  <a:txBody>
                    <a:bodyPr/>
                    <a:lstStyle/>
                    <a:p>
                      <a:pPr lvl="0" indent="0" marL="0">
                        <a:buNone/>
                      </a:pPr>
                      <a:r>
                        <a:rPr>
                          <a:latin typeface="Courier"/>
                        </a:rPr>
                        <a:t>compute_evalue()</a:t>
                      </a:r>
                      <a:r>
                        <a:rPr/>
                        <a:t>, </a:t>
                      </a:r>
                      <a:r>
                        <a:rPr>
                          <a:latin typeface="Courier"/>
                        </a:rPr>
                        <a:t>run_delta_sensitivity()</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stress-test threat families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Threat</a:t>
                      </a:r>
                    </a:p>
                  </a:txBody>
                  <a:tcPr/>
                </a:tc>
                <a:tc>
                  <a:txBody>
                    <a:bodyPr/>
                    <a:lstStyle/>
                    <a:p>
                      <a:pPr lvl="0" indent="0" marL="0">
                        <a:buNone/>
                      </a:pPr>
                      <a:r>
                        <a:rPr/>
                        <a:t>Mechanism</a:t>
                      </a:r>
                    </a:p>
                  </a:txBody>
                  <a:tcPr/>
                </a:tc>
                <a:tc>
                  <a:txBody>
                    <a:bodyPr/>
                    <a:lstStyle/>
                    <a:p>
                      <a:pPr lvl="0" indent="0" marL="0">
                        <a:buNone/>
                      </a:pPr>
                      <a:r>
                        <a:rPr/>
                        <a:t>Probes</a:t>
                      </a:r>
                    </a:p>
                  </a:txBody>
                  <a:tcPr/>
                </a:tc>
                <a:tc>
                  <a:txBody>
                    <a:bodyPr/>
                    <a:lstStyle/>
                    <a:p>
                      <a:pPr lvl="0" indent="0" marL="0">
                        <a:buNone/>
                      </a:pPr>
                      <a:r>
                        <a:rPr/>
                        <a:t>Does not probe</a:t>
                      </a:r>
                    </a:p>
                  </a:txBody>
                  <a:tcPr/>
                </a:tc>
              </a:tr>
              <a:tr h="0">
                <a:tc>
                  <a:txBody>
                    <a:bodyPr/>
                    <a:lstStyle/>
                    <a:p>
                      <a:pPr lvl="0" indent="0" marL="0">
                        <a:buNone/>
                      </a:pPr>
                      <a:r>
                        <a:rPr/>
                        <a:t>Covariate missingness</a:t>
                      </a:r>
                    </a:p>
                  </a:txBody>
                </a:tc>
                <a:tc>
                  <a:txBody>
                    <a:bodyPr/>
                    <a:lstStyle/>
                    <a:p>
                      <a:pPr lvl="0" indent="0" marL="0">
                        <a:buNone/>
                      </a:pPr>
                      <a:r>
                        <a:rPr/>
                        <a:t>MCAR, MAR, MNAR masks; median impute</a:t>
                      </a:r>
                    </a:p>
                  </a:txBody>
                </a:tc>
                <a:tc>
                  <a:txBody>
                    <a:bodyPr/>
                    <a:lstStyle/>
                    <a:p>
                      <a:pPr lvl="0" indent="0" marL="0">
                        <a:buNone/>
                      </a:pPr>
                      <a:r>
                        <a:rPr/>
                        <a:t>Imputation robustness</a:t>
                      </a:r>
                    </a:p>
                  </a:txBody>
                </a:tc>
                <a:tc>
                  <a:txBody>
                    <a:bodyPr/>
                    <a:lstStyle/>
                    <a:p>
                      <a:pPr lvl="0" indent="0" marL="0">
                        <a:buNone/>
                      </a:pPr>
                      <a:r>
                        <a:rPr/>
                        <a:t>Phenotype validity</a:t>
                      </a:r>
                    </a:p>
                  </a:txBody>
                </a:tc>
              </a:tr>
              <a:tr h="0">
                <a:tc>
                  <a:txBody>
                    <a:bodyPr/>
                    <a:lstStyle/>
                    <a:p>
                      <a:pPr lvl="0" indent="0" marL="0">
                        <a:buNone/>
                      </a:pPr>
                      <a:r>
                        <a:rPr/>
                        <a:t>Exposure misclassification</a:t>
                      </a:r>
                    </a:p>
                  </a:txBody>
                </a:tc>
                <a:tc>
                  <a:txBody>
                    <a:bodyPr/>
                    <a:lstStyle/>
                    <a:p>
                      <a:pPr lvl="0" indent="0" marL="0">
                        <a:buNone/>
                      </a:pPr>
                      <a:r>
                        <a:rPr/>
                        <a:t>Flip A at given sens and spec</a:t>
                      </a:r>
                    </a:p>
                  </a:txBody>
                </a:tc>
                <a:tc>
                  <a:txBody>
                    <a:bodyPr/>
                    <a:lstStyle/>
                    <a:p>
                      <a:pPr lvl="0" indent="0" marL="0">
                        <a:buNone/>
                      </a:pPr>
                      <a:r>
                        <a:rPr/>
                        <a:t>Treatment measurement</a:t>
                      </a:r>
                    </a:p>
                  </a:txBody>
                </a:tc>
                <a:tc>
                  <a:txBody>
                    <a:bodyPr/>
                    <a:lstStyle/>
                    <a:p>
                      <a:pPr lvl="0" indent="0" marL="0">
                        <a:buNone/>
                      </a:pPr>
                      <a:r>
                        <a:rPr/>
                        <a:t>Differential error by outcome</a:t>
                      </a:r>
                    </a:p>
                  </a:txBody>
                </a:tc>
              </a:tr>
              <a:tr h="0">
                <a:tc>
                  <a:txBody>
                    <a:bodyPr/>
                    <a:lstStyle/>
                    <a:p>
                      <a:pPr lvl="0" indent="0" marL="0">
                        <a:buNone/>
                      </a:pPr>
                      <a:r>
                        <a:rPr/>
                        <a:t>Outcome misclassification</a:t>
                      </a:r>
                    </a:p>
                  </a:txBody>
                </a:tc>
                <a:tc>
                  <a:txBody>
                    <a:bodyPr/>
                    <a:lstStyle/>
                    <a:p>
                      <a:pPr lvl="0" indent="0" marL="0">
                        <a:buNone/>
                      </a:pPr>
                      <a:r>
                        <a:rPr/>
                        <a:t>Flip Y, optionally per arm</a:t>
                      </a:r>
                    </a:p>
                  </a:txBody>
                </a:tc>
                <a:tc>
                  <a:txBody>
                    <a:bodyPr/>
                    <a:lstStyle/>
                    <a:p>
                      <a:pPr lvl="0" indent="0" marL="0">
                        <a:buNone/>
                      </a:pPr>
                      <a:r>
                        <a:rPr/>
                        <a:t>Outcome measurement</a:t>
                      </a:r>
                    </a:p>
                  </a:txBody>
                </a:tc>
                <a:tc>
                  <a:txBody>
                    <a:bodyPr/>
                    <a:lstStyle/>
                    <a:p>
                      <a:pPr lvl="0" indent="0" marL="0">
                        <a:buNone/>
                      </a:pPr>
                      <a:r>
                        <a:rPr/>
                        <a:t>Time-varying ascertainment</a:t>
                      </a:r>
                    </a:p>
                  </a:txBody>
                </a:tc>
              </a:tr>
              <a:tr h="0">
                <a:tc>
                  <a:txBody>
                    <a:bodyPr/>
                    <a:lstStyle/>
                    <a:p>
                      <a:pPr lvl="0" indent="0" marL="0">
                        <a:buNone/>
                      </a:pPr>
                      <a:r>
                        <a:rPr/>
                        <a:t>Near-positivity</a:t>
                      </a:r>
                    </a:p>
                  </a:txBody>
                </a:tc>
                <a:tc>
                  <a:txBody>
                    <a:bodyPr/>
                    <a:lstStyle/>
                    <a:p>
                      <a:pPr lvl="0" indent="0" marL="0">
                        <a:buNone/>
                      </a:pPr>
                      <a:r>
                        <a:rPr/>
                        <a:t>Amplify covariate-treatment association</a:t>
                      </a:r>
                    </a:p>
                  </a:txBody>
                </a:tc>
                <a:tc>
                  <a:txBody>
                    <a:bodyPr/>
                    <a:lstStyle/>
                    <a:p>
                      <a:pPr lvl="0" indent="0" marL="0">
                        <a:buNone/>
                      </a:pPr>
                      <a:r>
                        <a:rPr/>
                        <a:t>Estimator strain</a:t>
                      </a:r>
                    </a:p>
                  </a:txBody>
                </a:tc>
                <a:tc>
                  <a:txBody>
                    <a:bodyPr/>
                    <a:lstStyle/>
                    <a:p>
                      <a:pPr lvl="0" indent="0" marL="0">
                        <a:buNone/>
                      </a:pPr>
                      <a:r>
                        <a:rPr/>
                        <a:t>The realised design’s support</a:t>
                      </a:r>
                    </a:p>
                  </a:txBody>
                </a:tc>
              </a:tr>
              <a:tr h="0">
                <a:tc>
                  <a:txBody>
                    <a:bodyPr/>
                    <a:lstStyle/>
                    <a:p>
                      <a:pPr lvl="0" indent="0" marL="0">
                        <a:buNone/>
                      </a:pPr>
                      <a:r>
                        <a:rPr/>
                        <a:t>Unmeasured confounding</a:t>
                      </a:r>
                    </a:p>
                  </a:txBody>
                </a:tc>
                <a:tc>
                  <a:txBody>
                    <a:bodyPr/>
                    <a:lstStyle/>
                    <a:p>
                      <a:pPr lvl="0" indent="0" marL="0">
                        <a:buNone/>
                      </a:pPr>
                      <a:r>
                        <a:rPr/>
                        <a:t>Latent U shifts A and Y</a:t>
                      </a:r>
                    </a:p>
                  </a:txBody>
                </a:tc>
                <a:tc>
                  <a:txBody>
                    <a:bodyPr/>
                    <a:lstStyle/>
                    <a:p>
                      <a:pPr lvl="0" indent="0" marL="0">
                        <a:buNone/>
                      </a:pPr>
                      <a:r>
                        <a:rPr/>
                        <a:t>Exchangeability</a:t>
                      </a:r>
                    </a:p>
                  </a:txBody>
                </a:tc>
                <a:tc>
                  <a:txBody>
                    <a:bodyPr/>
                    <a:lstStyle/>
                    <a:p>
                      <a:pPr lvl="0" indent="0" marL="0">
                        <a:buNone/>
                      </a:pPr>
                      <a:r>
                        <a:rPr/>
                        <a:t>Multiple latent confounders</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B: Case-study detail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declared ladder, per lock</a:t>
            </a:r>
          </a:p>
        </p:txBody>
      </p:sp>
      <p:sp>
        <p:nvSpPr>
          <p:cNvPr id="3" name="Content Placeholder 2"/>
          <p:cNvSpPr>
            <a:spLocks noGrp="1"/>
          </p:cNvSpPr>
          <p:nvPr>
            <p:ph idx="1"/>
          </p:nvPr>
        </p:nvSpPr>
        <p:spPr/>
        <p:txBody>
          <a:bodyPr/>
          <a:lstStyle/>
          <a:p>
            <a:pPr lvl="0" indent="0" marL="0">
              <a:buNone/>
            </a:pPr>
            <a:r>
              <a:rPr/>
              <a:t>The same for all five locks, declared before outcome access: primary ATE with IPCW for missing outcomes; fallbacks trimmed ATE [0.05, 0.95], then ATT, then ATO; trigger SEVERE. The matched ATT appears in the feasibility table and support map as a design-stage sensitivity analysis and is not estimated on the ladder.</a:t>
            </a:r>
          </a:p>
          <a:p>
            <a:pPr lvl="0" indent="0" marL="0">
              <a:buNone/>
            </a:pPr>
            <a:r>
              <a:rPr/>
              <a:t>Propensity library: the </a:t>
            </a:r>
            <a:r>
              <a:rPr>
                <a:latin typeface="Courier"/>
              </a:rPr>
              <a:t>build_sl_library()</a:t>
            </a:r>
            <a:r>
              <a:rPr/>
              <a:t> preset for wide registry designs (penalised logistic learners, PCA-reduced GLMs, marginal mean; no tree learners, which can separate arms on wide indicator sets), ten folds.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Negative-control ladder, exact rows</a:t>
            </a:r>
          </a:p>
        </p:txBody>
      </p:sp>
      <p:sp>
        <p:nvSpPr>
          <p:cNvPr id="4" name="Text Placeholder 3"/>
          <p:cNvSpPr>
            <a:spLocks noGrp="1"/>
          </p:cNvSpPr>
          <p:nvPr>
            <p:ph idx="2" sz="half" type="body"/>
          </p:nvPr>
        </p:nvSpPr>
        <p:spPr/>
        <p:txBody>
          <a:bodyPr/>
          <a:lstStyle/>
          <a:p>
            <a:pPr lvl="0" indent="0" marL="0">
              <a:buNone/>
            </a:pPr>
            <a:r>
              <a:rPr/>
              <a:t>Hypertension is null on every rung. Insulin-treated diabetes and HIV on ART are inestimable (a cell below 5 events) and labelled as such. A TMLE-adjusted variant is released with a caveat: on restricted rungs it conditions on design columns that are near-copies of the socioeconomic controls.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Contrast</a:t>
                      </a:r>
                    </a:p>
                  </a:txBody>
                  <a:tcPr/>
                </a:tc>
                <a:tc>
                  <a:txBody>
                    <a:bodyPr/>
                    <a:lstStyle/>
                    <a:p>
                      <a:pPr lvl="0" indent="0" marL="0">
                        <a:buNone/>
                      </a:pPr>
                      <a:r>
                        <a:rPr/>
                        <a:t>Cohort</a:t>
                      </a:r>
                    </a:p>
                  </a:txBody>
                  <a:tcPr/>
                </a:tc>
                <a:tc>
                  <a:txBody>
                    <a:bodyPr/>
                    <a:lstStyle/>
                    <a:p>
                      <a:pPr lvl="0" indent="0" marL="0" algn="r">
                        <a:buNone/>
                      </a:pPr>
                      <a:r>
                        <a:rPr/>
                        <a:t>Urban household</a:t>
                      </a:r>
                    </a:p>
                  </a:txBody>
                  <a:tcPr/>
                </a:tc>
                <a:tc>
                  <a:txBody>
                    <a:bodyPr/>
                    <a:lstStyle/>
                    <a:p>
                      <a:pPr lvl="0" indent="0" marL="0" algn="r">
                        <a:buNone/>
                      </a:pPr>
                      <a:r>
                        <a:rPr/>
                        <a:t>Wood or charcoal fuel</a:t>
                      </a:r>
                    </a:p>
                  </a:txBody>
                  <a:tcPr/>
                </a:tc>
              </a:tr>
              <a:tr h="0">
                <a:tc>
                  <a:txBody>
                    <a:bodyPr/>
                    <a:lstStyle/>
                    <a:p>
                      <a:pPr lvl="0" indent="0" marL="0">
                        <a:buNone/>
                      </a:pPr>
                      <a:r>
                        <a:rPr/>
                        <a:t>C4</a:t>
                      </a:r>
                    </a:p>
                  </a:txBody>
                </a:tc>
                <a:tc>
                  <a:txBody>
                    <a:bodyPr/>
                    <a:lstStyle/>
                    <a:p>
                      <a:pPr lvl="0" indent="0" marL="0">
                        <a:buNone/>
                      </a:pPr>
                      <a:r>
                        <a:rPr/>
                        <a:t>Full (n = 2,197)</a:t>
                      </a:r>
                    </a:p>
                  </a:txBody>
                </a:tc>
                <a:tc>
                  <a:txBody>
                    <a:bodyPr/>
                    <a:lstStyle/>
                    <a:p>
                      <a:pPr lvl="0" indent="0" marL="0" algn="r">
                        <a:buNone/>
                      </a:pPr>
                      <a:r>
                        <a:rPr/>
                        <a:t>+0.068</a:t>
                      </a:r>
                    </a:p>
                  </a:txBody>
                </a:tc>
                <a:tc>
                  <a:txBody>
                    <a:bodyPr/>
                    <a:lstStyle/>
                    <a:p>
                      <a:pPr lvl="0" indent="0" marL="0" algn="r">
                        <a:buNone/>
                      </a:pPr>
                      <a:r>
                        <a:rPr/>
                        <a:t>-0.052</a:t>
                      </a:r>
                    </a:p>
                  </a:txBody>
                </a:tc>
              </a:tr>
              <a:tr h="0">
                <a:tc>
                  <a:txBody>
                    <a:bodyPr/>
                    <a:lstStyle/>
                    <a:p>
                      <a:pPr lvl="0" indent="0" marL="0">
                        <a:buNone/>
                      </a:pPr>
                      <a:r>
                        <a:rPr/>
                        <a:t>C4</a:t>
                      </a:r>
                    </a:p>
                  </a:txBody>
                </a:tc>
                <a:tc>
                  <a:txBody>
                    <a:bodyPr/>
                    <a:lstStyle/>
                    <a:p>
                      <a:pPr lvl="0" indent="0" marL="0">
                        <a:buNone/>
                      </a:pPr>
                      <a:r>
                        <a:rPr/>
                        <a:t>Transfers excluded (n = 1,703)</a:t>
                      </a:r>
                    </a:p>
                  </a:txBody>
                </a:tc>
                <a:tc>
                  <a:txBody>
                    <a:bodyPr/>
                    <a:lstStyle/>
                    <a:p>
                      <a:pPr lvl="0" indent="0" marL="0" algn="r">
                        <a:buNone/>
                      </a:pPr>
                      <a:r>
                        <a:rPr/>
                        <a:t>+0.001</a:t>
                      </a:r>
                    </a:p>
                  </a:txBody>
                </a:tc>
                <a:tc>
                  <a:txBody>
                    <a:bodyPr/>
                    <a:lstStyle/>
                    <a:p>
                      <a:pPr lvl="0" indent="0" marL="0" algn="r">
                        <a:buNone/>
                      </a:pPr>
                      <a:r>
                        <a:rPr/>
                        <a:t>+0.000</a:t>
                      </a:r>
                    </a:p>
                  </a:txBody>
                </a:tc>
              </a:tr>
              <a:tr h="0">
                <a:tc>
                  <a:txBody>
                    <a:bodyPr/>
                    <a:lstStyle/>
                    <a:p>
                      <a:pPr lvl="0" indent="0" marL="0">
                        <a:buNone/>
                      </a:pPr>
                      <a:r>
                        <a:rPr/>
                        <a:t>C4</a:t>
                      </a:r>
                    </a:p>
                  </a:txBody>
                </a:tc>
                <a:tc>
                  <a:txBody>
                    <a:bodyPr/>
                    <a:lstStyle/>
                    <a:p>
                      <a:pPr lvl="0" indent="0" marL="0">
                        <a:buNone/>
                      </a:pPr>
                      <a:r>
                        <a:rPr/>
                        <a:t>Prior care also excluded (n = 1,616)</a:t>
                      </a:r>
                    </a:p>
                  </a:txBody>
                </a:tc>
                <a:tc>
                  <a:txBody>
                    <a:bodyPr/>
                    <a:lstStyle/>
                    <a:p>
                      <a:pPr lvl="0" indent="0" marL="0" algn="r">
                        <a:buNone/>
                      </a:pPr>
                      <a:r>
                        <a:rPr/>
                        <a:t>-0.003</a:t>
                      </a:r>
                    </a:p>
                  </a:txBody>
                </a:tc>
                <a:tc>
                  <a:txBody>
                    <a:bodyPr/>
                    <a:lstStyle/>
                    <a:p>
                      <a:pPr lvl="0" indent="0" marL="0" algn="r">
                        <a:buNone/>
                      </a:pPr>
                      <a:r>
                        <a:rPr/>
                        <a:t>-0.001</a:t>
                      </a:r>
                    </a:p>
                  </a:txBody>
                </a:tc>
              </a:tr>
              <a:tr h="0">
                <a:tc>
                  <a:txBody>
                    <a:bodyPr/>
                    <a:lstStyle/>
                    <a:p>
                      <a:pPr lvl="0" indent="0" marL="0">
                        <a:buNone/>
                      </a:pPr>
                      <a:r>
                        <a:rPr/>
                        <a:t>C1</a:t>
                      </a:r>
                    </a:p>
                  </a:txBody>
                </a:tc>
                <a:tc>
                  <a:txBody>
                    <a:bodyPr/>
                    <a:lstStyle/>
                    <a:p>
                      <a:pPr lvl="0" indent="0" marL="0">
                        <a:buNone/>
                      </a:pPr>
                      <a:r>
                        <a:rPr/>
                        <a:t>Full (n = 8,323)</a:t>
                      </a:r>
                    </a:p>
                  </a:txBody>
                </a:tc>
                <a:tc>
                  <a:txBody>
                    <a:bodyPr/>
                    <a:lstStyle/>
                    <a:p>
                      <a:pPr lvl="0" indent="0" marL="0" algn="r">
                        <a:buNone/>
                      </a:pPr>
                      <a:r>
                        <a:rPr/>
                        <a:t>+0.013</a:t>
                      </a:r>
                    </a:p>
                  </a:txBody>
                </a:tc>
                <a:tc>
                  <a:txBody>
                    <a:bodyPr/>
                    <a:lstStyle/>
                    <a:p>
                      <a:pPr lvl="0" indent="0" marL="0" algn="r">
                        <a:buNone/>
                      </a:pPr>
                      <a:r>
                        <a:rPr/>
                        <a:t>-0.006</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support-map reading rule, from the design log</a:t>
            </a:r>
          </a:p>
        </p:txBody>
      </p:sp>
      <p:sp>
        <p:nvSpPr>
          <p:cNvPr id="3" name="Content Placeholder 2"/>
          <p:cNvSpPr>
            <a:spLocks noGrp="1"/>
          </p:cNvSpPr>
          <p:nvPr>
            <p:ph idx="1"/>
          </p:nvPr>
        </p:nvSpPr>
        <p:spPr/>
        <p:txBody>
          <a:bodyPr/>
          <a:lstStyle/>
          <a:p>
            <a:pPr lvl="0" indent="0" marL="0">
              <a:buNone/>
            </a:pPr>
            <a:r>
              <a:rPr/>
              <a:t>Recorded before estimation: the maps are read over the moderate-confounding region (simulated confounding strength up to 1), with the whole-grid pass reported as a conservative bound.</a:t>
            </a:r>
          </a:p>
          <a:p>
            <a:pPr lvl="0" indent="0" marL="0">
              <a:buNone/>
            </a:pPr>
            <a:r>
              <a:rPr/>
              <a:t>The harshest rung stresses every weighting-based estimand at once, including on the PASS-verdict primary cohort, so a whole-grid rule conflates support failure with confounding stress. The signature used instead: failure at the mildest surface means a support problem (C1’s ATE, coverage 0.87 before any simulated confounding); failure only under stress, hitting all unmatched estimands together, means stress (the primary cohort at strength 2, where the matched ATT holds 0.93 to 0.96).</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Candidate selection under stress (earlier single-contrast lock)</a:t>
            </a:r>
          </a:p>
        </p:txBody>
      </p:sp>
      <p:sp>
        <p:nvSpPr>
          <p:cNvPr id="3" name="Content Placeholder 2"/>
          <p:cNvSpPr>
            <a:spLocks noGrp="1"/>
          </p:cNvSpPr>
          <p:nvPr>
            <p:ph idx="1"/>
          </p:nvPr>
        </p:nvSpPr>
        <p:spPr/>
        <p:txBody>
          <a:bodyPr/>
          <a:lstStyle/>
          <a:p>
            <a:pPr lvl="0" indent="0" marL="0">
              <a:buNone/>
            </a:pPr>
            <a:r>
              <a:rPr/>
              <a:t>Four TMLE candidates varying propensity library and truncation tie on the clean baseline (RMSE within 0.0002), where the minimum-RMSE rule would lock </a:t>
            </a:r>
            <a:r>
              <a:rPr>
                <a:latin typeface="Courier"/>
              </a:rPr>
              <a:t>glm_t01</a:t>
            </a:r>
            <a:r>
              <a:rPr/>
              <a:t>. Under the five-threat sweep the worst-case RMSE ratios separate: 1.82, 1.73, 1.53, and 1.27 for </a:t>
            </a:r>
            <a:r>
              <a:rPr>
                <a:latin typeface="Courier"/>
              </a:rPr>
              <a:t>ensemble_t05</a:t>
            </a:r>
            <a:r>
              <a:rPr/>
              <a:t>.</a:t>
            </a:r>
          </a:p>
          <a:p>
            <a:pPr lvl="0" indent="0" marL="0">
              <a:buNone/>
            </a:pPr>
            <a:r>
              <a:rPr/>
              <a:t>The minimax rule locks </a:t>
            </a:r>
            <a:r>
              <a:rPr>
                <a:latin typeface="Courier"/>
              </a:rPr>
              <a:t>ensemble_t05</a:t>
            </a:r>
            <a:r>
              <a:rPr/>
              <a:t>. The candidate that looked best on clean data did worst under the prespecified stress scenarios. This was run with 50 replicates to illustrate the workflow; 200 is the bar for drawing conclusions.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Effect estimates, exact rows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43000"/>
                <a:gridCol w="1524000"/>
                <a:gridCol w="635000"/>
                <a:gridCol w="889000"/>
                <a:gridCol w="1143000"/>
                <a:gridCol w="1143000"/>
                <a:gridCol w="762000"/>
                <a:gridCol w="1016000"/>
              </a:tblGrid>
              <a:tr h="0">
                <a:tc>
                  <a:txBody>
                    <a:bodyPr/>
                    <a:lstStyle/>
                    <a:p>
                      <a:pPr lvl="0" indent="0" marL="0" algn="l">
                        <a:buNone/>
                      </a:pPr>
                      <a:r>
                        <a:rPr/>
                        <a:t>Contrast</a:t>
                      </a:r>
                    </a:p>
                  </a:txBody>
                  <a:tcPr/>
                </a:tc>
                <a:tc>
                  <a:txBody>
                    <a:bodyPr/>
                    <a:lstStyle/>
                    <a:p>
                      <a:pPr lvl="0" indent="0" marL="0" algn="l">
                        <a:buNone/>
                      </a:pPr>
                      <a:r>
                        <a:rPr/>
                        <a:t>Estimand</a:t>
                      </a:r>
                    </a:p>
                  </a:txBody>
                  <a:tcPr/>
                </a:tc>
                <a:tc>
                  <a:txBody>
                    <a:bodyPr/>
                    <a:lstStyle/>
                    <a:p>
                      <a:pPr lvl="0" indent="0" marL="0" algn="r">
                        <a:buNone/>
                      </a:pPr>
                      <a:r>
                        <a:rPr/>
                        <a:t>N</a:t>
                      </a:r>
                    </a:p>
                  </a:txBody>
                  <a:tcPr/>
                </a:tc>
                <a:tc>
                  <a:txBody>
                    <a:bodyPr/>
                    <a:lstStyle/>
                    <a:p>
                      <a:pPr lvl="0" indent="0" marL="0" algn="l">
                        <a:buNone/>
                      </a:pPr>
                      <a:r>
                        <a:rPr/>
                        <a:t>RD</a:t>
                      </a:r>
                    </a:p>
                  </a:txBody>
                  <a:tcPr/>
                </a:tc>
                <a:tc>
                  <a:txBody>
                    <a:bodyPr/>
                    <a:lstStyle/>
                    <a:p>
                      <a:pPr lvl="0" indent="0" marL="0" algn="l">
                        <a:buNone/>
                      </a:pPr>
                      <a:r>
                        <a:rPr/>
                        <a:t>CI lower</a:t>
                      </a:r>
                    </a:p>
                  </a:txBody>
                  <a:tcPr/>
                </a:tc>
                <a:tc>
                  <a:txBody>
                    <a:bodyPr/>
                    <a:lstStyle/>
                    <a:p>
                      <a:pPr lvl="0" indent="0" marL="0" algn="l">
                        <a:buNone/>
                      </a:pPr>
                      <a:r>
                        <a:rPr/>
                        <a:t>CI upper</a:t>
                      </a:r>
                    </a:p>
                  </a:txBody>
                  <a:tcPr/>
                </a:tc>
                <a:tc>
                  <a:txBody>
                    <a:bodyPr/>
                    <a:lstStyle/>
                    <a:p>
                      <a:pPr lvl="0" indent="0" marL="0" algn="l">
                        <a:buNone/>
                      </a:pPr>
                      <a:r>
                        <a:rPr/>
                        <a:t>p</a:t>
                      </a:r>
                    </a:p>
                  </a:txBody>
                  <a:tcPr/>
                </a:tc>
                <a:tc>
                  <a:txBody>
                    <a:bodyPr/>
                    <a:lstStyle/>
                    <a:p>
                      <a:pPr lvl="0" indent="0" marL="0" algn="l">
                        <a:buNone/>
                      </a:pPr>
                      <a:r>
                        <a:rPr/>
                        <a:t>Support</a:t>
                      </a:r>
                    </a:p>
                  </a:txBody>
                  <a:tcPr/>
                </a:tc>
              </a:tr>
              <a:tr h="0">
                <a:tc>
                  <a:txBody>
                    <a:bodyPr/>
                    <a:lstStyle/>
                    <a:p>
                      <a:pPr lvl="0" indent="0" marL="0" algn="l">
                        <a:buNone/>
                      </a:pPr>
                      <a:r>
                        <a:rPr/>
                        <a:t>C1</a:t>
                      </a:r>
                    </a:p>
                  </a:txBody>
                </a:tc>
                <a:tc>
                  <a:txBody>
                    <a:bodyPr/>
                    <a:lstStyle/>
                    <a:p>
                      <a:pPr lvl="0" indent="0" marL="0" algn="l">
                        <a:buNone/>
                      </a:pPr>
                      <a:r>
                        <a:rPr/>
                        <a:t>ATE</a:t>
                      </a:r>
                    </a:p>
                  </a:txBody>
                </a:tc>
                <a:tc>
                  <a:txBody>
                    <a:bodyPr/>
                    <a:lstStyle/>
                    <a:p>
                      <a:pPr lvl="0" indent="0" marL="0" algn="r">
                        <a:buNone/>
                      </a:pPr>
                      <a:r>
                        <a:rPr/>
                        <a:t>8323</a:t>
                      </a:r>
                    </a:p>
                  </a:txBody>
                </a:tc>
                <a:tc>
                  <a:txBody>
                    <a:bodyPr/>
                    <a:lstStyle/>
                    <a:p>
                      <a:pPr lvl="0" indent="0" marL="0" algn="l">
                        <a:buNone/>
                      </a:pPr>
                      <a:r>
                        <a:rPr/>
                        <a:t>0.006</a:t>
                      </a:r>
                    </a:p>
                  </a:txBody>
                </a:tc>
                <a:tc>
                  <a:txBody>
                    <a:bodyPr/>
                    <a:lstStyle/>
                    <a:p>
                      <a:pPr lvl="0" indent="0" marL="0" algn="l">
                        <a:buNone/>
                      </a:pPr>
                      <a:r>
                        <a:rPr/>
                        <a:t>-0.017</a:t>
                      </a:r>
                    </a:p>
                  </a:txBody>
                </a:tc>
                <a:tc>
                  <a:txBody>
                    <a:bodyPr/>
                    <a:lstStyle/>
                    <a:p>
                      <a:pPr lvl="0" indent="0" marL="0" algn="l">
                        <a:buNone/>
                      </a:pPr>
                      <a:r>
                        <a:rPr/>
                        <a:t>0.028</a:t>
                      </a:r>
                    </a:p>
                  </a:txBody>
                </a:tc>
                <a:tc>
                  <a:txBody>
                    <a:bodyPr/>
                    <a:lstStyle/>
                    <a:p>
                      <a:pPr lvl="0" indent="0" marL="0" algn="l">
                        <a:buNone/>
                      </a:pPr>
                      <a:r>
                        <a:rPr/>
                        <a:t>0.633</a:t>
                      </a:r>
                    </a:p>
                  </a:txBody>
                </a:tc>
                <a:tc>
                  <a:txBody>
                    <a:bodyPr/>
                    <a:lstStyle/>
                    <a:p>
                      <a:pPr lvl="0" indent="0" marL="0" algn="l">
                        <a:buNone/>
                      </a:pPr>
                      <a:r>
                        <a:rPr/>
                        <a:t>SEVERE</a:t>
                      </a:r>
                    </a:p>
                  </a:txBody>
                </a:tc>
              </a:tr>
              <a:tr h="0">
                <a:tc>
                  <a:txBody>
                    <a:bodyPr/>
                    <a:lstStyle/>
                    <a:p>
                      <a:pPr lvl="0" indent="0" marL="0" algn="l">
                        <a:buNone/>
                      </a:pPr>
                      <a:r>
                        <a:rPr/>
                        <a:t>C1</a:t>
                      </a:r>
                    </a:p>
                  </a:txBody>
                </a:tc>
                <a:tc>
                  <a:txBody>
                    <a:bodyPr/>
                    <a:lstStyle/>
                    <a:p>
                      <a:pPr lvl="0" indent="0" marL="0" algn="l">
                        <a:buNone/>
                      </a:pPr>
                      <a:r>
                        <a:rPr/>
                        <a:t>trimmed_ATE</a:t>
                      </a:r>
                    </a:p>
                  </a:txBody>
                </a:tc>
                <a:tc>
                  <a:txBody>
                    <a:bodyPr/>
                    <a:lstStyle/>
                    <a:p>
                      <a:pPr lvl="0" indent="0" marL="0" algn="r">
                        <a:buNone/>
                      </a:pPr>
                      <a:r>
                        <a:rPr/>
                        <a:t>4946</a:t>
                      </a:r>
                    </a:p>
                  </a:txBody>
                </a:tc>
                <a:tc>
                  <a:txBody>
                    <a:bodyPr/>
                    <a:lstStyle/>
                    <a:p>
                      <a:pPr lvl="0" indent="0" marL="0" algn="l">
                        <a:buNone/>
                      </a:pPr>
                      <a:r>
                        <a:rPr/>
                        <a:t>0.006</a:t>
                      </a:r>
                    </a:p>
                  </a:txBody>
                </a:tc>
                <a:tc>
                  <a:txBody>
                    <a:bodyPr/>
                    <a:lstStyle/>
                    <a:p>
                      <a:pPr lvl="0" indent="0" marL="0" algn="l">
                        <a:buNone/>
                      </a:pPr>
                      <a:r>
                        <a:rPr/>
                        <a:t>-0.006</a:t>
                      </a:r>
                    </a:p>
                  </a:txBody>
                </a:tc>
                <a:tc>
                  <a:txBody>
                    <a:bodyPr/>
                    <a:lstStyle/>
                    <a:p>
                      <a:pPr lvl="0" indent="0" marL="0" algn="l">
                        <a:buNone/>
                      </a:pPr>
                      <a:r>
                        <a:rPr/>
                        <a:t>0.018</a:t>
                      </a:r>
                    </a:p>
                  </a:txBody>
                </a:tc>
                <a:tc>
                  <a:txBody>
                    <a:bodyPr/>
                    <a:lstStyle/>
                    <a:p>
                      <a:pPr lvl="0" indent="0" marL="0" algn="l">
                        <a:buNone/>
                      </a:pPr>
                      <a:r>
                        <a:rPr/>
                        <a:t>0.349</a:t>
                      </a:r>
                    </a:p>
                  </a:txBody>
                </a:tc>
                <a:tc>
                  <a:txBody>
                    <a:bodyPr/>
                    <a:lstStyle/>
                    <a:p>
                      <a:pPr lvl="0" indent="0" marL="0" algn="l">
                        <a:buNone/>
                      </a:pPr>
                      <a:r>
                        <a:rPr/>
                        <a:t>PASS</a:t>
                      </a:r>
                    </a:p>
                  </a:txBody>
                </a:tc>
              </a:tr>
              <a:tr h="0">
                <a:tc>
                  <a:txBody>
                    <a:bodyPr/>
                    <a:lstStyle/>
                    <a:p>
                      <a:pPr lvl="0" indent="0" marL="0" algn="l">
                        <a:buNone/>
                      </a:pPr>
                      <a:r>
                        <a:rPr/>
                        <a:t>C1</a:t>
                      </a:r>
                    </a:p>
                  </a:txBody>
                </a:tc>
                <a:tc>
                  <a:txBody>
                    <a:bodyPr/>
                    <a:lstStyle/>
                    <a:p>
                      <a:pPr lvl="0" indent="0" marL="0" algn="l">
                        <a:buNone/>
                      </a:pPr>
                      <a:r>
                        <a:rPr/>
                        <a:t>ATT</a:t>
                      </a:r>
                    </a:p>
                  </a:txBody>
                </a:tc>
                <a:tc>
                  <a:txBody>
                    <a:bodyPr/>
                    <a:lstStyle/>
                    <a:p>
                      <a:pPr lvl="0" indent="0" marL="0" algn="r">
                        <a:buNone/>
                      </a:pPr>
                      <a:r>
                        <a:rPr/>
                        <a:t>6557</a:t>
                      </a:r>
                    </a:p>
                  </a:txBody>
                </a:tc>
                <a:tc>
                  <a:txBody>
                    <a:bodyPr/>
                    <a:lstStyle/>
                    <a:p>
                      <a:pPr lvl="0" indent="0" marL="0" algn="l">
                        <a:buNone/>
                      </a:pPr>
                      <a:r>
                        <a:rPr/>
                        <a:t>-0.005</a:t>
                      </a:r>
                    </a:p>
                  </a:txBody>
                </a:tc>
                <a:tc>
                  <a:txBody>
                    <a:bodyPr/>
                    <a:lstStyle/>
                    <a:p>
                      <a:pPr lvl="0" indent="0" marL="0" algn="l">
                        <a:buNone/>
                      </a:pPr>
                      <a:r>
                        <a:rPr/>
                        <a:t>-0.018</a:t>
                      </a:r>
                    </a:p>
                  </a:txBody>
                </a:tc>
                <a:tc>
                  <a:txBody>
                    <a:bodyPr/>
                    <a:lstStyle/>
                    <a:p>
                      <a:pPr lvl="0" indent="0" marL="0" algn="l">
                        <a:buNone/>
                      </a:pPr>
                      <a:r>
                        <a:rPr/>
                        <a:t>0.008</a:t>
                      </a:r>
                    </a:p>
                  </a:txBody>
                </a:tc>
                <a:tc>
                  <a:txBody>
                    <a:bodyPr/>
                    <a:lstStyle/>
                    <a:p>
                      <a:pPr lvl="0" indent="0" marL="0" algn="l">
                        <a:buNone/>
                      </a:pPr>
                      <a:r>
                        <a:rPr/>
                        <a:t>0.434</a:t>
                      </a:r>
                    </a:p>
                  </a:txBody>
                </a:tc>
                <a:tc>
                  <a:txBody>
                    <a:bodyPr/>
                    <a:lstStyle/>
                    <a:p>
                      <a:pPr lvl="0" indent="0" marL="0" algn="l">
                        <a:buNone/>
                      </a:pPr>
                      <a:r>
                        <a:rPr/>
                        <a:t>PASS</a:t>
                      </a:r>
                    </a:p>
                  </a:txBody>
                </a:tc>
              </a:tr>
              <a:tr h="0">
                <a:tc>
                  <a:txBody>
                    <a:bodyPr/>
                    <a:lstStyle/>
                    <a:p>
                      <a:pPr lvl="0" indent="0" marL="0" algn="l">
                        <a:buNone/>
                      </a:pPr>
                      <a:r>
                        <a:rPr/>
                        <a:t>C1</a:t>
                      </a:r>
                    </a:p>
                  </a:txBody>
                </a:tc>
                <a:tc>
                  <a:txBody>
                    <a:bodyPr/>
                    <a:lstStyle/>
                    <a:p>
                      <a:pPr lvl="0" indent="0" marL="0" algn="l">
                        <a:buNone/>
                      </a:pPr>
                      <a:r>
                        <a:rPr/>
                        <a:t>ATO</a:t>
                      </a:r>
                    </a:p>
                  </a:txBody>
                </a:tc>
                <a:tc>
                  <a:txBody>
                    <a:bodyPr/>
                    <a:lstStyle/>
                    <a:p>
                      <a:pPr lvl="0" indent="0" marL="0" algn="r">
                        <a:buNone/>
                      </a:pPr>
                      <a:r>
                        <a:rPr/>
                        <a:t>6557</a:t>
                      </a:r>
                    </a:p>
                  </a:txBody>
                </a:tc>
                <a:tc>
                  <a:txBody>
                    <a:bodyPr/>
                    <a:lstStyle/>
                    <a:p>
                      <a:pPr lvl="0" indent="0" marL="0" algn="l">
                        <a:buNone/>
                      </a:pPr>
                      <a:r>
                        <a:rPr/>
                        <a:t>0.000</a:t>
                      </a:r>
                    </a:p>
                  </a:txBody>
                </a:tc>
                <a:tc>
                  <a:txBody>
                    <a:bodyPr/>
                    <a:lstStyle/>
                    <a:p>
                      <a:pPr lvl="0" indent="0" marL="0" algn="l">
                        <a:buNone/>
                      </a:pPr>
                      <a:r>
                        <a:rPr/>
                        <a:t>-0.011</a:t>
                      </a:r>
                    </a:p>
                  </a:txBody>
                </a:tc>
                <a:tc>
                  <a:txBody>
                    <a:bodyPr/>
                    <a:lstStyle/>
                    <a:p>
                      <a:pPr lvl="0" indent="0" marL="0" algn="l">
                        <a:buNone/>
                      </a:pPr>
                      <a:r>
                        <a:rPr/>
                        <a:t>0.012</a:t>
                      </a:r>
                    </a:p>
                  </a:txBody>
                </a:tc>
                <a:tc>
                  <a:txBody>
                    <a:bodyPr/>
                    <a:lstStyle/>
                    <a:p>
                      <a:pPr lvl="0" indent="0" marL="0" algn="l">
                        <a:buNone/>
                      </a:pPr>
                      <a:r>
                        <a:rPr/>
                        <a:t>0.945</a:t>
                      </a:r>
                    </a:p>
                  </a:txBody>
                </a:tc>
                <a:tc>
                  <a:txBody>
                    <a:bodyPr/>
                    <a:lstStyle/>
                    <a:p>
                      <a:pPr lvl="0" indent="0" marL="0" algn="l">
                        <a:buNone/>
                      </a:pPr>
                      <a:r>
                        <a:rPr/>
                        <a:t>PASS</a:t>
                      </a:r>
                    </a:p>
                  </a:txBody>
                </a:tc>
              </a:tr>
              <a:tr h="0">
                <a:tc>
                  <a:txBody>
                    <a:bodyPr/>
                    <a:lstStyle/>
                    <a:p>
                      <a:pPr lvl="0" indent="0" marL="0" algn="l">
                        <a:buNone/>
                      </a:pPr>
                      <a:r>
                        <a:rPr/>
                        <a:t>C2</a:t>
                      </a:r>
                    </a:p>
                  </a:txBody>
                </a:tc>
                <a:tc>
                  <a:txBody>
                    <a:bodyPr/>
                    <a:lstStyle/>
                    <a:p>
                      <a:pPr lvl="0" indent="0" marL="0" algn="l">
                        <a:buNone/>
                      </a:pPr>
                      <a:r>
                        <a:rPr/>
                        <a:t>trimmed_ATE</a:t>
                      </a:r>
                    </a:p>
                  </a:txBody>
                </a:tc>
                <a:tc>
                  <a:txBody>
                    <a:bodyPr/>
                    <a:lstStyle/>
                    <a:p>
                      <a:pPr lvl="0" indent="0" marL="0" algn="r">
                        <a:buNone/>
                      </a:pPr>
                      <a:r>
                        <a:rPr/>
                        <a:t>4327</a:t>
                      </a:r>
                    </a:p>
                  </a:txBody>
                </a:tc>
                <a:tc>
                  <a:txBody>
                    <a:bodyPr/>
                    <a:lstStyle/>
                    <a:p>
                      <a:pPr lvl="0" indent="0" marL="0" algn="l">
                        <a:buNone/>
                      </a:pPr>
                      <a:r>
                        <a:rPr/>
                        <a:t>0.003</a:t>
                      </a:r>
                    </a:p>
                  </a:txBody>
                </a:tc>
                <a:tc>
                  <a:txBody>
                    <a:bodyPr/>
                    <a:lstStyle/>
                    <a:p>
                      <a:pPr lvl="0" indent="0" marL="0" algn="l">
                        <a:buNone/>
                      </a:pPr>
                      <a:r>
                        <a:rPr/>
                        <a:t>-0.008</a:t>
                      </a:r>
                    </a:p>
                  </a:txBody>
                </a:tc>
                <a:tc>
                  <a:txBody>
                    <a:bodyPr/>
                    <a:lstStyle/>
                    <a:p>
                      <a:pPr lvl="0" indent="0" marL="0" algn="l">
                        <a:buNone/>
                      </a:pPr>
                      <a:r>
                        <a:rPr/>
                        <a:t>0.014</a:t>
                      </a:r>
                    </a:p>
                  </a:txBody>
                </a:tc>
                <a:tc>
                  <a:txBody>
                    <a:bodyPr/>
                    <a:lstStyle/>
                    <a:p>
                      <a:pPr lvl="0" indent="0" marL="0" algn="l">
                        <a:buNone/>
                      </a:pPr>
                      <a:r>
                        <a:rPr/>
                        <a:t>0.570</a:t>
                      </a:r>
                    </a:p>
                  </a:txBody>
                </a:tc>
                <a:tc>
                  <a:txBody>
                    <a:bodyPr/>
                    <a:lstStyle/>
                    <a:p>
                      <a:pPr lvl="0" indent="0" marL="0" algn="l">
                        <a:buNone/>
                      </a:pPr>
                      <a:r>
                        <a:rPr/>
                        <a:t>PASS</a:t>
                      </a:r>
                    </a:p>
                  </a:txBody>
                </a:tc>
              </a:tr>
              <a:tr h="0">
                <a:tc>
                  <a:txBody>
                    <a:bodyPr/>
                    <a:lstStyle/>
                    <a:p>
                      <a:pPr lvl="0" indent="0" marL="0" algn="l">
                        <a:buNone/>
                      </a:pPr>
                      <a:r>
                        <a:rPr/>
                        <a:t>C2</a:t>
                      </a:r>
                    </a:p>
                  </a:txBody>
                </a:tc>
                <a:tc>
                  <a:txBody>
                    <a:bodyPr/>
                    <a:lstStyle/>
                    <a:p>
                      <a:pPr lvl="0" indent="0" marL="0" algn="l">
                        <a:buNone/>
                      </a:pPr>
                      <a:r>
                        <a:rPr/>
                        <a:t>ATT</a:t>
                      </a:r>
                    </a:p>
                  </a:txBody>
                </a:tc>
                <a:tc>
                  <a:txBody>
                    <a:bodyPr/>
                    <a:lstStyle/>
                    <a:p>
                      <a:pPr lvl="0" indent="0" marL="0" algn="r">
                        <a:buNone/>
                      </a:pPr>
                      <a:r>
                        <a:rPr/>
                        <a:t>5632</a:t>
                      </a:r>
                    </a:p>
                  </a:txBody>
                </a:tc>
                <a:tc>
                  <a:txBody>
                    <a:bodyPr/>
                    <a:lstStyle/>
                    <a:p>
                      <a:pPr lvl="0" indent="0" marL="0" algn="l">
                        <a:buNone/>
                      </a:pPr>
                      <a:r>
                        <a:rPr/>
                        <a:t>0.001</a:t>
                      </a:r>
                    </a:p>
                  </a:txBody>
                </a:tc>
                <a:tc>
                  <a:txBody>
                    <a:bodyPr/>
                    <a:lstStyle/>
                    <a:p>
                      <a:pPr lvl="0" indent="0" marL="0" algn="l">
                        <a:buNone/>
                      </a:pPr>
                      <a:r>
                        <a:rPr/>
                        <a:t>-0.014</a:t>
                      </a:r>
                    </a:p>
                  </a:txBody>
                </a:tc>
                <a:tc>
                  <a:txBody>
                    <a:bodyPr/>
                    <a:lstStyle/>
                    <a:p>
                      <a:pPr lvl="0" indent="0" marL="0" algn="l">
                        <a:buNone/>
                      </a:pPr>
                      <a:r>
                        <a:rPr/>
                        <a:t>0.016</a:t>
                      </a:r>
                    </a:p>
                  </a:txBody>
                </a:tc>
                <a:tc>
                  <a:txBody>
                    <a:bodyPr/>
                    <a:lstStyle/>
                    <a:p>
                      <a:pPr lvl="0" indent="0" marL="0" algn="l">
                        <a:buNone/>
                      </a:pPr>
                      <a:r>
                        <a:rPr/>
                        <a:t>0.918</a:t>
                      </a:r>
                    </a:p>
                  </a:txBody>
                </a:tc>
                <a:tc>
                  <a:txBody>
                    <a:bodyPr/>
                    <a:lstStyle/>
                    <a:p>
                      <a:pPr lvl="0" indent="0" marL="0" algn="l">
                        <a:buNone/>
                      </a:pPr>
                      <a:r>
                        <a:rPr/>
                        <a:t>PASS</a:t>
                      </a:r>
                    </a:p>
                  </a:txBody>
                </a:tc>
              </a:tr>
              <a:tr h="0">
                <a:tc>
                  <a:txBody>
                    <a:bodyPr/>
                    <a:lstStyle/>
                    <a:p>
                      <a:pPr lvl="0" indent="0" marL="0" algn="l">
                        <a:buNone/>
                      </a:pPr>
                      <a:r>
                        <a:rPr/>
                        <a:t>C2</a:t>
                      </a:r>
                    </a:p>
                  </a:txBody>
                </a:tc>
                <a:tc>
                  <a:txBody>
                    <a:bodyPr/>
                    <a:lstStyle/>
                    <a:p>
                      <a:pPr lvl="0" indent="0" marL="0" algn="l">
                        <a:buNone/>
                      </a:pPr>
                      <a:r>
                        <a:rPr/>
                        <a:t>ATO</a:t>
                      </a:r>
                    </a:p>
                  </a:txBody>
                </a:tc>
                <a:tc>
                  <a:txBody>
                    <a:bodyPr/>
                    <a:lstStyle/>
                    <a:p>
                      <a:pPr lvl="0" indent="0" marL="0" algn="r">
                        <a:buNone/>
                      </a:pPr>
                      <a:r>
                        <a:rPr/>
                        <a:t>5632</a:t>
                      </a:r>
                    </a:p>
                  </a:txBody>
                </a:tc>
                <a:tc>
                  <a:txBody>
                    <a:bodyPr/>
                    <a:lstStyle/>
                    <a:p>
                      <a:pPr lvl="0" indent="0" marL="0" algn="l">
                        <a:buNone/>
                      </a:pPr>
                      <a:r>
                        <a:rPr/>
                        <a:t>0.005</a:t>
                      </a:r>
                    </a:p>
                  </a:txBody>
                </a:tc>
                <a:tc>
                  <a:txBody>
                    <a:bodyPr/>
                    <a:lstStyle/>
                    <a:p>
                      <a:pPr lvl="0" indent="0" marL="0" algn="l">
                        <a:buNone/>
                      </a:pPr>
                      <a:r>
                        <a:rPr/>
                        <a:t>-0.006</a:t>
                      </a:r>
                    </a:p>
                  </a:txBody>
                </a:tc>
                <a:tc>
                  <a:txBody>
                    <a:bodyPr/>
                    <a:lstStyle/>
                    <a:p>
                      <a:pPr lvl="0" indent="0" marL="0" algn="l">
                        <a:buNone/>
                      </a:pPr>
                      <a:r>
                        <a:rPr/>
                        <a:t>0.016</a:t>
                      </a:r>
                    </a:p>
                  </a:txBody>
                </a:tc>
                <a:tc>
                  <a:txBody>
                    <a:bodyPr/>
                    <a:lstStyle/>
                    <a:p>
                      <a:pPr lvl="0" indent="0" marL="0" algn="l">
                        <a:buNone/>
                      </a:pPr>
                      <a:r>
                        <a:rPr/>
                        <a:t>0.376</a:t>
                      </a:r>
                    </a:p>
                  </a:txBody>
                </a:tc>
                <a:tc>
                  <a:txBody>
                    <a:bodyPr/>
                    <a:lstStyle/>
                    <a:p>
                      <a:pPr lvl="0" indent="0" marL="0" algn="l">
                        <a:buNone/>
                      </a:pPr>
                      <a:r>
                        <a:rPr/>
                        <a:t>PASS</a:t>
                      </a:r>
                    </a:p>
                  </a:txBody>
                </a:tc>
              </a:tr>
              <a:tr h="0">
                <a:tc>
                  <a:txBody>
                    <a:bodyPr/>
                    <a:lstStyle/>
                    <a:p>
                      <a:pPr lvl="0" indent="0" marL="0" algn="l">
                        <a:buNone/>
                      </a:pPr>
                      <a:r>
                        <a:rPr/>
                        <a:t>C3</a:t>
                      </a:r>
                    </a:p>
                  </a:txBody>
                </a:tc>
                <a:tc>
                  <a:txBody>
                    <a:bodyPr/>
                    <a:lstStyle/>
                    <a:p>
                      <a:pPr lvl="0" indent="0" marL="0" algn="l">
                        <a:buNone/>
                      </a:pPr>
                      <a:r>
                        <a:rPr/>
                        <a:t>ATE</a:t>
                      </a:r>
                    </a:p>
                  </a:txBody>
                </a:tc>
                <a:tc>
                  <a:txBody>
                    <a:bodyPr/>
                    <a:lstStyle/>
                    <a:p>
                      <a:pPr lvl="0" indent="0" marL="0" algn="r">
                        <a:buNone/>
                      </a:pPr>
                      <a:r>
                        <a:rPr/>
                        <a:t>8323</a:t>
                      </a:r>
                    </a:p>
                  </a:txBody>
                </a:tc>
                <a:tc>
                  <a:txBody>
                    <a:bodyPr/>
                    <a:lstStyle/>
                    <a:p>
                      <a:pPr lvl="0" indent="0" marL="0" algn="l">
                        <a:buNone/>
                      </a:pPr>
                      <a:r>
                        <a:rPr/>
                        <a:t>0.018</a:t>
                      </a:r>
                    </a:p>
                  </a:txBody>
                </a:tc>
                <a:tc>
                  <a:txBody>
                    <a:bodyPr/>
                    <a:lstStyle/>
                    <a:p>
                      <a:pPr lvl="0" indent="0" marL="0" algn="l">
                        <a:buNone/>
                      </a:pPr>
                      <a:r>
                        <a:rPr/>
                        <a:t>0.008</a:t>
                      </a:r>
                    </a:p>
                  </a:txBody>
                </a:tc>
                <a:tc>
                  <a:txBody>
                    <a:bodyPr/>
                    <a:lstStyle/>
                    <a:p>
                      <a:pPr lvl="0" indent="0" marL="0" algn="l">
                        <a:buNone/>
                      </a:pPr>
                      <a:r>
                        <a:rPr/>
                        <a:t>0.028</a:t>
                      </a:r>
                    </a:p>
                  </a:txBody>
                </a:tc>
                <a:tc>
                  <a:txBody>
                    <a:bodyPr/>
                    <a:lstStyle/>
                    <a:p>
                      <a:pPr lvl="0" indent="0" marL="0" algn="l">
                        <a:buNone/>
                      </a:pPr>
                      <a:r>
                        <a:rPr/>
                        <a:t>0.000</a:t>
                      </a:r>
                    </a:p>
                  </a:txBody>
                </a:tc>
                <a:tc>
                  <a:txBody>
                    <a:bodyPr/>
                    <a:lstStyle/>
                    <a:p>
                      <a:pPr lvl="0" indent="0" marL="0" algn="l">
                        <a:buNone/>
                      </a:pPr>
                      <a:r>
                        <a:rPr/>
                        <a:t>FLAG</a:t>
                      </a:r>
                    </a:p>
                  </a:txBody>
                </a:tc>
              </a:tr>
              <a:tr h="0">
                <a:tc>
                  <a:txBody>
                    <a:bodyPr/>
                    <a:lstStyle/>
                    <a:p>
                      <a:pPr lvl="0" indent="0" marL="0" algn="l">
                        <a:buNone/>
                      </a:pPr>
                      <a:r>
                        <a:rPr/>
                        <a:t>C3</a:t>
                      </a:r>
                    </a:p>
                  </a:txBody>
                </a:tc>
                <a:tc>
                  <a:txBody>
                    <a:bodyPr/>
                    <a:lstStyle/>
                    <a:p>
                      <a:pPr lvl="0" indent="0" marL="0" algn="l">
                        <a:buNone/>
                      </a:pPr>
                      <a:r>
                        <a:rPr/>
                        <a:t>trimmed_ATE</a:t>
                      </a:r>
                    </a:p>
                  </a:txBody>
                </a:tc>
                <a:tc>
                  <a:txBody>
                    <a:bodyPr/>
                    <a:lstStyle/>
                    <a:p>
                      <a:pPr lvl="0" indent="0" marL="0" algn="r">
                        <a:buNone/>
                      </a:pPr>
                      <a:r>
                        <a:rPr/>
                        <a:t>8009</a:t>
                      </a:r>
                    </a:p>
                  </a:txBody>
                </a:tc>
                <a:tc>
                  <a:txBody>
                    <a:bodyPr/>
                    <a:lstStyle/>
                    <a:p>
                      <a:pPr lvl="0" indent="0" marL="0" algn="l">
                        <a:buNone/>
                      </a:pPr>
                      <a:r>
                        <a:rPr/>
                        <a:t>0.019</a:t>
                      </a:r>
                    </a:p>
                  </a:txBody>
                </a:tc>
                <a:tc>
                  <a:txBody>
                    <a:bodyPr/>
                    <a:lstStyle/>
                    <a:p>
                      <a:pPr lvl="0" indent="0" marL="0" algn="l">
                        <a:buNone/>
                      </a:pPr>
                      <a:r>
                        <a:rPr/>
                        <a:t>0.008</a:t>
                      </a:r>
                    </a:p>
                  </a:txBody>
                </a:tc>
                <a:tc>
                  <a:txBody>
                    <a:bodyPr/>
                    <a:lstStyle/>
                    <a:p>
                      <a:pPr lvl="0" indent="0" marL="0" algn="l">
                        <a:buNone/>
                      </a:pPr>
                      <a:r>
                        <a:rPr/>
                        <a:t>0.029</a:t>
                      </a:r>
                    </a:p>
                  </a:txBody>
                </a:tc>
                <a:tc>
                  <a:txBody>
                    <a:bodyPr/>
                    <a:lstStyle/>
                    <a:p>
                      <a:pPr lvl="0" indent="0" marL="0" algn="l">
                        <a:buNone/>
                      </a:pPr>
                      <a:r>
                        <a:rPr/>
                        <a:t>0.000</a:t>
                      </a:r>
                    </a:p>
                  </a:txBody>
                </a:tc>
                <a:tc>
                  <a:txBody>
                    <a:bodyPr/>
                    <a:lstStyle/>
                    <a:p>
                      <a:pPr lvl="0" indent="0" marL="0" algn="l">
                        <a:buNone/>
                      </a:pPr>
                      <a:r>
                        <a:rPr/>
                        <a:t>PASS</a:t>
                      </a:r>
                    </a:p>
                  </a:txBody>
                </a:tc>
              </a:tr>
              <a:tr h="0">
                <a:tc>
                  <a:txBody>
                    <a:bodyPr/>
                    <a:lstStyle/>
                    <a:p>
                      <a:pPr lvl="0" indent="0" marL="0" algn="l">
                        <a:buNone/>
                      </a:pPr>
                      <a:r>
                        <a:rPr/>
                        <a:t>C3</a:t>
                      </a:r>
                    </a:p>
                  </a:txBody>
                </a:tc>
                <a:tc>
                  <a:txBody>
                    <a:bodyPr/>
                    <a:lstStyle/>
                    <a:p>
                      <a:pPr lvl="0" indent="0" marL="0" algn="l">
                        <a:buNone/>
                      </a:pPr>
                      <a:r>
                        <a:rPr/>
                        <a:t>ATT</a:t>
                      </a:r>
                    </a:p>
                  </a:txBody>
                </a:tc>
                <a:tc>
                  <a:txBody>
                    <a:bodyPr/>
                    <a:lstStyle/>
                    <a:p>
                      <a:pPr lvl="0" indent="0" marL="0" algn="r">
                        <a:buNone/>
                      </a:pPr>
                      <a:r>
                        <a:rPr/>
                        <a:t>6557</a:t>
                      </a:r>
                    </a:p>
                  </a:txBody>
                </a:tc>
                <a:tc>
                  <a:txBody>
                    <a:bodyPr/>
                    <a:lstStyle/>
                    <a:p>
                      <a:pPr lvl="0" indent="0" marL="0" algn="l">
                        <a:buNone/>
                      </a:pPr>
                      <a:r>
                        <a:rPr/>
                        <a:t>0.019</a:t>
                      </a:r>
                    </a:p>
                  </a:txBody>
                </a:tc>
                <a:tc>
                  <a:txBody>
                    <a:bodyPr/>
                    <a:lstStyle/>
                    <a:p>
                      <a:pPr lvl="0" indent="0" marL="0" algn="l">
                        <a:buNone/>
                      </a:pPr>
                      <a:r>
                        <a:rPr/>
                        <a:t>0.006</a:t>
                      </a:r>
                    </a:p>
                  </a:txBody>
                </a:tc>
                <a:tc>
                  <a:txBody>
                    <a:bodyPr/>
                    <a:lstStyle/>
                    <a:p>
                      <a:pPr lvl="0" indent="0" marL="0" algn="l">
                        <a:buNone/>
                      </a:pPr>
                      <a:r>
                        <a:rPr/>
                        <a:t>0.033</a:t>
                      </a:r>
                    </a:p>
                  </a:txBody>
                </a:tc>
                <a:tc>
                  <a:txBody>
                    <a:bodyPr/>
                    <a:lstStyle/>
                    <a:p>
                      <a:pPr lvl="0" indent="0" marL="0" algn="l">
                        <a:buNone/>
                      </a:pPr>
                      <a:r>
                        <a:rPr/>
                        <a:t>0.005</a:t>
                      </a:r>
                    </a:p>
                  </a:txBody>
                </a:tc>
                <a:tc>
                  <a:txBody>
                    <a:bodyPr/>
                    <a:lstStyle/>
                    <a:p>
                      <a:pPr lvl="0" indent="0" marL="0" algn="l">
                        <a:buNone/>
                      </a:pPr>
                      <a:r>
                        <a:rPr/>
                        <a:t>PASS</a:t>
                      </a:r>
                    </a:p>
                  </a:txBody>
                </a:tc>
              </a:tr>
              <a:tr h="0">
                <a:tc>
                  <a:txBody>
                    <a:bodyPr/>
                    <a:lstStyle/>
                    <a:p>
                      <a:pPr lvl="0" indent="0" marL="0" algn="l">
                        <a:buNone/>
                      </a:pPr>
                      <a:r>
                        <a:rPr/>
                        <a:t>C3</a:t>
                      </a:r>
                    </a:p>
                  </a:txBody>
                </a:tc>
                <a:tc>
                  <a:txBody>
                    <a:bodyPr/>
                    <a:lstStyle/>
                    <a:p>
                      <a:pPr lvl="0" indent="0" marL="0" algn="l">
                        <a:buNone/>
                      </a:pPr>
                      <a:r>
                        <a:rPr/>
                        <a:t>ATO</a:t>
                      </a:r>
                    </a:p>
                  </a:txBody>
                </a:tc>
                <a:tc>
                  <a:txBody>
                    <a:bodyPr/>
                    <a:lstStyle/>
                    <a:p>
                      <a:pPr lvl="0" indent="0" marL="0" algn="r">
                        <a:buNone/>
                      </a:pPr>
                      <a:r>
                        <a:rPr/>
                        <a:t>6557</a:t>
                      </a:r>
                    </a:p>
                  </a:txBody>
                </a:tc>
                <a:tc>
                  <a:txBody>
                    <a:bodyPr/>
                    <a:lstStyle/>
                    <a:p>
                      <a:pPr lvl="0" indent="0" marL="0" algn="l">
                        <a:buNone/>
                      </a:pPr>
                      <a:r>
                        <a:rPr/>
                        <a:t>0.017</a:t>
                      </a:r>
                    </a:p>
                  </a:txBody>
                </a:tc>
                <a:tc>
                  <a:txBody>
                    <a:bodyPr/>
                    <a:lstStyle/>
                    <a:p>
                      <a:pPr lvl="0" indent="0" marL="0" algn="l">
                        <a:buNone/>
                      </a:pPr>
                      <a:r>
                        <a:rPr/>
                        <a:t>0.007</a:t>
                      </a:r>
                    </a:p>
                  </a:txBody>
                </a:tc>
                <a:tc>
                  <a:txBody>
                    <a:bodyPr/>
                    <a:lstStyle/>
                    <a:p>
                      <a:pPr lvl="0" indent="0" marL="0" algn="l">
                        <a:buNone/>
                      </a:pPr>
                      <a:r>
                        <a:rPr/>
                        <a:t>0.026</a:t>
                      </a:r>
                    </a:p>
                  </a:txBody>
                </a:tc>
                <a:tc>
                  <a:txBody>
                    <a:bodyPr/>
                    <a:lstStyle/>
                    <a:p>
                      <a:pPr lvl="0" indent="0" marL="0" algn="l">
                        <a:buNone/>
                      </a:pPr>
                      <a:r>
                        <a:rPr/>
                        <a:t>0.000</a:t>
                      </a:r>
                    </a:p>
                  </a:txBody>
                </a:tc>
                <a:tc>
                  <a:txBody>
                    <a:bodyPr/>
                    <a:lstStyle/>
                    <a:p>
                      <a:pPr lvl="0" indent="0" marL="0" algn="l">
                        <a:buNone/>
                      </a:pPr>
                      <a:r>
                        <a:rPr/>
                        <a:t>PASS</a:t>
                      </a:r>
                    </a:p>
                  </a:txBody>
                </a:tc>
              </a:tr>
              <a:tr h="0">
                <a:tc>
                  <a:txBody>
                    <a:bodyPr/>
                    <a:lstStyle/>
                    <a:p>
                      <a:pPr lvl="0" indent="0" marL="0" algn="l">
                        <a:buNone/>
                      </a:pPr>
                      <a:r>
                        <a:rPr/>
                        <a:t>C4</a:t>
                      </a:r>
                    </a:p>
                  </a:txBody>
                </a:tc>
                <a:tc>
                  <a:txBody>
                    <a:bodyPr/>
                    <a:lstStyle/>
                    <a:p>
                      <a:pPr lvl="0" indent="0" marL="0" algn="l">
                        <a:buNone/>
                      </a:pPr>
                      <a:r>
                        <a:rPr/>
                        <a:t>ATE</a:t>
                      </a:r>
                    </a:p>
                  </a:txBody>
                </a:tc>
                <a:tc>
                  <a:txBody>
                    <a:bodyPr/>
                    <a:lstStyle/>
                    <a:p>
                      <a:pPr lvl="0" indent="0" marL="0" algn="r">
                        <a:buNone/>
                      </a:pPr>
                      <a:r>
                        <a:rPr/>
                        <a:t>2197</a:t>
                      </a:r>
                    </a:p>
                  </a:txBody>
                </a:tc>
                <a:tc>
                  <a:txBody>
                    <a:bodyPr/>
                    <a:lstStyle/>
                    <a:p>
                      <a:pPr lvl="0" indent="0" marL="0" algn="l">
                        <a:buNone/>
                      </a:pPr>
                      <a:r>
                        <a:rPr/>
                        <a:t>-0.029</a:t>
                      </a:r>
                    </a:p>
                  </a:txBody>
                </a:tc>
                <a:tc>
                  <a:txBody>
                    <a:bodyPr/>
                    <a:lstStyle/>
                    <a:p>
                      <a:pPr lvl="0" indent="0" marL="0" algn="l">
                        <a:buNone/>
                      </a:pPr>
                      <a:r>
                        <a:rPr/>
                        <a:t>-0.049</a:t>
                      </a:r>
                    </a:p>
                  </a:txBody>
                </a:tc>
                <a:tc>
                  <a:txBody>
                    <a:bodyPr/>
                    <a:lstStyle/>
                    <a:p>
                      <a:pPr lvl="0" indent="0" marL="0" algn="l">
                        <a:buNone/>
                      </a:pPr>
                      <a:r>
                        <a:rPr/>
                        <a:t>-0.009</a:t>
                      </a:r>
                    </a:p>
                  </a:txBody>
                </a:tc>
                <a:tc>
                  <a:txBody>
                    <a:bodyPr/>
                    <a:lstStyle/>
                    <a:p>
                      <a:pPr lvl="0" indent="0" marL="0" algn="l">
                        <a:buNone/>
                      </a:pPr>
                      <a:r>
                        <a:rPr/>
                        <a:t>0.004</a:t>
                      </a:r>
                    </a:p>
                  </a:txBody>
                </a:tc>
                <a:tc>
                  <a:txBody>
                    <a:bodyPr/>
                    <a:lstStyle/>
                    <a:p>
                      <a:pPr lvl="0" indent="0" marL="0" algn="l">
                        <a:buNone/>
                      </a:pPr>
                      <a:r>
                        <a:rPr/>
                        <a:t>FLAG</a:t>
                      </a:r>
                    </a:p>
                  </a:txBody>
                </a:tc>
              </a:tr>
              <a:tr h="0">
                <a:tc>
                  <a:txBody>
                    <a:bodyPr/>
                    <a:lstStyle/>
                    <a:p>
                      <a:pPr lvl="0" indent="0" marL="0" algn="l">
                        <a:buNone/>
                      </a:pPr>
                      <a:r>
                        <a:rPr/>
                        <a:t>C4</a:t>
                      </a:r>
                    </a:p>
                  </a:txBody>
                </a:tc>
                <a:tc>
                  <a:txBody>
                    <a:bodyPr/>
                    <a:lstStyle/>
                    <a:p>
                      <a:pPr lvl="0" indent="0" marL="0" algn="l">
                        <a:buNone/>
                      </a:pPr>
                      <a:r>
                        <a:rPr/>
                        <a:t>trimmed_ATE</a:t>
                      </a:r>
                    </a:p>
                  </a:txBody>
                </a:tc>
                <a:tc>
                  <a:txBody>
                    <a:bodyPr/>
                    <a:lstStyle/>
                    <a:p>
                      <a:pPr lvl="0" indent="0" marL="0" algn="r">
                        <a:buNone/>
                      </a:pPr>
                      <a:r>
                        <a:rPr/>
                        <a:t>2098</a:t>
                      </a:r>
                    </a:p>
                  </a:txBody>
                </a:tc>
                <a:tc>
                  <a:txBody>
                    <a:bodyPr/>
                    <a:lstStyle/>
                    <a:p>
                      <a:pPr lvl="0" indent="0" marL="0" algn="l">
                        <a:buNone/>
                      </a:pPr>
                      <a:r>
                        <a:rPr/>
                        <a:t>-0.021</a:t>
                      </a:r>
                    </a:p>
                  </a:txBody>
                </a:tc>
                <a:tc>
                  <a:txBody>
                    <a:bodyPr/>
                    <a:lstStyle/>
                    <a:p>
                      <a:pPr lvl="0" indent="0" marL="0" algn="l">
                        <a:buNone/>
                      </a:pPr>
                      <a:r>
                        <a:rPr/>
                        <a:t>-0.040</a:t>
                      </a:r>
                    </a:p>
                  </a:txBody>
                </a:tc>
                <a:tc>
                  <a:txBody>
                    <a:bodyPr/>
                    <a:lstStyle/>
                    <a:p>
                      <a:pPr lvl="0" indent="0" marL="0" algn="l">
                        <a:buNone/>
                      </a:pPr>
                      <a:r>
                        <a:rPr/>
                        <a:t>-0.002</a:t>
                      </a:r>
                    </a:p>
                  </a:txBody>
                </a:tc>
                <a:tc>
                  <a:txBody>
                    <a:bodyPr/>
                    <a:lstStyle/>
                    <a:p>
                      <a:pPr lvl="0" indent="0" marL="0" algn="l">
                        <a:buNone/>
                      </a:pPr>
                      <a:r>
                        <a:rPr/>
                        <a:t>0.031</a:t>
                      </a:r>
                    </a:p>
                  </a:txBody>
                </a:tc>
                <a:tc>
                  <a:txBody>
                    <a:bodyPr/>
                    <a:lstStyle/>
                    <a:p>
                      <a:pPr lvl="0" indent="0" marL="0" algn="l">
                        <a:buNone/>
                      </a:pPr>
                      <a:r>
                        <a:rPr/>
                        <a:t>PASS</a:t>
                      </a:r>
                    </a:p>
                  </a:txBody>
                </a:tc>
              </a:tr>
              <a:tr h="0">
                <a:tc>
                  <a:txBody>
                    <a:bodyPr/>
                    <a:lstStyle/>
                    <a:p>
                      <a:pPr lvl="0" indent="0" marL="0" algn="l">
                        <a:buNone/>
                      </a:pPr>
                      <a:r>
                        <a:rPr/>
                        <a:t>C4</a:t>
                      </a:r>
                    </a:p>
                  </a:txBody>
                </a:tc>
                <a:tc>
                  <a:txBody>
                    <a:bodyPr/>
                    <a:lstStyle/>
                    <a:p>
                      <a:pPr lvl="0" indent="0" marL="0" algn="l">
                        <a:buNone/>
                      </a:pPr>
                      <a:r>
                        <a:rPr/>
                        <a:t>ATT</a:t>
                      </a:r>
                    </a:p>
                  </a:txBody>
                </a:tc>
                <a:tc>
                  <a:txBody>
                    <a:bodyPr/>
                    <a:lstStyle/>
                    <a:p>
                      <a:pPr lvl="0" indent="0" marL="0" algn="r">
                        <a:buNone/>
                      </a:pPr>
                      <a:r>
                        <a:rPr/>
                        <a:t>1704</a:t>
                      </a:r>
                    </a:p>
                  </a:txBody>
                </a:tc>
                <a:tc>
                  <a:txBody>
                    <a:bodyPr/>
                    <a:lstStyle/>
                    <a:p>
                      <a:pPr lvl="0" indent="0" marL="0" algn="l">
                        <a:buNone/>
                      </a:pPr>
                      <a:r>
                        <a:rPr/>
                        <a:t>-0.019</a:t>
                      </a:r>
                    </a:p>
                  </a:txBody>
                </a:tc>
                <a:tc>
                  <a:txBody>
                    <a:bodyPr/>
                    <a:lstStyle/>
                    <a:p>
                      <a:pPr lvl="0" indent="0" marL="0" algn="l">
                        <a:buNone/>
                      </a:pPr>
                      <a:r>
                        <a:rPr/>
                        <a:t>-0.036</a:t>
                      </a:r>
                    </a:p>
                  </a:txBody>
                </a:tc>
                <a:tc>
                  <a:txBody>
                    <a:bodyPr/>
                    <a:lstStyle/>
                    <a:p>
                      <a:pPr lvl="0" indent="0" marL="0" algn="l">
                        <a:buNone/>
                      </a:pPr>
                      <a:r>
                        <a:rPr/>
                        <a:t>-0.002</a:t>
                      </a:r>
                    </a:p>
                  </a:txBody>
                </a:tc>
                <a:tc>
                  <a:txBody>
                    <a:bodyPr/>
                    <a:lstStyle/>
                    <a:p>
                      <a:pPr lvl="0" indent="0" marL="0" algn="l">
                        <a:buNone/>
                      </a:pPr>
                      <a:r>
                        <a:rPr/>
                        <a:t>0.033</a:t>
                      </a:r>
                    </a:p>
                  </a:txBody>
                </a:tc>
                <a:tc>
                  <a:txBody>
                    <a:bodyPr/>
                    <a:lstStyle/>
                    <a:p>
                      <a:pPr lvl="0" indent="0" marL="0" algn="l">
                        <a:buNone/>
                      </a:pPr>
                      <a:r>
                        <a:rPr/>
                        <a:t>PASS</a:t>
                      </a:r>
                    </a:p>
                  </a:txBody>
                </a:tc>
              </a:tr>
              <a:tr h="0">
                <a:tc>
                  <a:txBody>
                    <a:bodyPr/>
                    <a:lstStyle/>
                    <a:p>
                      <a:pPr lvl="0" indent="0" marL="0" algn="l">
                        <a:buNone/>
                      </a:pPr>
                      <a:r>
                        <a:rPr/>
                        <a:t>C4</a:t>
                      </a:r>
                    </a:p>
                  </a:txBody>
                </a:tc>
                <a:tc>
                  <a:txBody>
                    <a:bodyPr/>
                    <a:lstStyle/>
                    <a:p>
                      <a:pPr lvl="0" indent="0" marL="0" algn="l">
                        <a:buNone/>
                      </a:pPr>
                      <a:r>
                        <a:rPr/>
                        <a:t>ATO</a:t>
                      </a:r>
                    </a:p>
                  </a:txBody>
                </a:tc>
                <a:tc>
                  <a:txBody>
                    <a:bodyPr/>
                    <a:lstStyle/>
                    <a:p>
                      <a:pPr lvl="0" indent="0" marL="0" algn="r">
                        <a:buNone/>
                      </a:pPr>
                      <a:r>
                        <a:rPr/>
                        <a:t>1704</a:t>
                      </a:r>
                    </a:p>
                  </a:txBody>
                </a:tc>
                <a:tc>
                  <a:txBody>
                    <a:bodyPr/>
                    <a:lstStyle/>
                    <a:p>
                      <a:pPr lvl="0" indent="0" marL="0" algn="l">
                        <a:buNone/>
                      </a:pPr>
                      <a:r>
                        <a:rPr/>
                        <a:t>-0.008</a:t>
                      </a:r>
                    </a:p>
                  </a:txBody>
                </a:tc>
                <a:tc>
                  <a:txBody>
                    <a:bodyPr/>
                    <a:lstStyle/>
                    <a:p>
                      <a:pPr lvl="0" indent="0" marL="0" algn="l">
                        <a:buNone/>
                      </a:pPr>
                      <a:r>
                        <a:rPr/>
                        <a:t>-0.025</a:t>
                      </a:r>
                    </a:p>
                  </a:txBody>
                </a:tc>
                <a:tc>
                  <a:txBody>
                    <a:bodyPr/>
                    <a:lstStyle/>
                    <a:p>
                      <a:pPr lvl="0" indent="0" marL="0" algn="l">
                        <a:buNone/>
                      </a:pPr>
                      <a:r>
                        <a:rPr/>
                        <a:t>0.009</a:t>
                      </a:r>
                    </a:p>
                  </a:txBody>
                </a:tc>
                <a:tc>
                  <a:txBody>
                    <a:bodyPr/>
                    <a:lstStyle/>
                    <a:p>
                      <a:pPr lvl="0" indent="0" marL="0" algn="l">
                        <a:buNone/>
                      </a:pPr>
                      <a:r>
                        <a:rPr/>
                        <a:t>0.367</a:t>
                      </a:r>
                    </a:p>
                  </a:txBody>
                </a:tc>
                <a:tc>
                  <a:txBody>
                    <a:bodyPr/>
                    <a:lstStyle/>
                    <a:p>
                      <a:pPr lvl="0" indent="0" marL="0" algn="l">
                        <a:buNone/>
                      </a:pPr>
                      <a:r>
                        <a:rPr/>
                        <a:t>PASS</a:t>
                      </a:r>
                    </a:p>
                  </a:txBody>
                </a:tc>
              </a:tr>
              <a:tr h="0">
                <a:tc>
                  <a:txBody>
                    <a:bodyPr/>
                    <a:lstStyle/>
                    <a:p>
                      <a:pPr lvl="0" indent="0" marL="0" algn="l">
                        <a:buNone/>
                      </a:pPr>
                      <a:r>
                        <a:rPr/>
                        <a:t>PRIMARY</a:t>
                      </a:r>
                    </a:p>
                  </a:txBody>
                </a:tc>
                <a:tc>
                  <a:txBody>
                    <a:bodyPr/>
                    <a:lstStyle/>
                    <a:p>
                      <a:pPr lvl="0" indent="0" marL="0" algn="l">
                        <a:buNone/>
                      </a:pPr>
                      <a:r>
                        <a:rPr/>
                        <a:t>ATE</a:t>
                      </a:r>
                    </a:p>
                  </a:txBody>
                </a:tc>
                <a:tc>
                  <a:txBody>
                    <a:bodyPr/>
                    <a:lstStyle/>
                    <a:p>
                      <a:pPr lvl="0" indent="0" marL="0" algn="r">
                        <a:buNone/>
                      </a:pPr>
                      <a:r>
                        <a:rPr/>
                        <a:t>1616</a:t>
                      </a:r>
                    </a:p>
                  </a:txBody>
                </a:tc>
                <a:tc>
                  <a:txBody>
                    <a:bodyPr/>
                    <a:lstStyle/>
                    <a:p>
                      <a:pPr lvl="0" indent="0" marL="0" algn="l">
                        <a:buNone/>
                      </a:pPr>
                      <a:r>
                        <a:rPr/>
                        <a:t>-0.017</a:t>
                      </a:r>
                    </a:p>
                  </a:txBody>
                </a:tc>
                <a:tc>
                  <a:txBody>
                    <a:bodyPr/>
                    <a:lstStyle/>
                    <a:p>
                      <a:pPr lvl="0" indent="0" marL="0" algn="l">
                        <a:buNone/>
                      </a:pPr>
                      <a:r>
                        <a:rPr/>
                        <a:t>-0.035</a:t>
                      </a:r>
                    </a:p>
                  </a:txBody>
                </a:tc>
                <a:tc>
                  <a:txBody>
                    <a:bodyPr/>
                    <a:lstStyle/>
                    <a:p>
                      <a:pPr lvl="0" indent="0" marL="0" algn="l">
                        <a:buNone/>
                      </a:pPr>
                      <a:r>
                        <a:rPr/>
                        <a:t>0.001</a:t>
                      </a:r>
                    </a:p>
                  </a:txBody>
                </a:tc>
                <a:tc>
                  <a:txBody>
                    <a:bodyPr/>
                    <a:lstStyle/>
                    <a:p>
                      <a:pPr lvl="0" indent="0" marL="0" algn="l">
                        <a:buNone/>
                      </a:pPr>
                      <a:r>
                        <a:rPr/>
                        <a:t>0.068</a:t>
                      </a:r>
                    </a:p>
                  </a:txBody>
                </a:tc>
                <a:tc>
                  <a:txBody>
                    <a:bodyPr/>
                    <a:lstStyle/>
                    <a:p>
                      <a:pPr lvl="0" indent="0" marL="0" algn="l">
                        <a:buNone/>
                      </a:pPr>
                      <a:r>
                        <a:rPr/>
                        <a:t>PASS</a:t>
                      </a:r>
                    </a:p>
                  </a:txBody>
                </a:tc>
              </a:tr>
              <a:tr h="0">
                <a:tc>
                  <a:txBody>
                    <a:bodyPr/>
                    <a:lstStyle/>
                    <a:p>
                      <a:pPr lvl="0" indent="0" marL="0" algn="l">
                        <a:buNone/>
                      </a:pPr>
                      <a:r>
                        <a:rPr/>
                        <a:t>PRIMARY</a:t>
                      </a:r>
                    </a:p>
                  </a:txBody>
                </a:tc>
                <a:tc>
                  <a:txBody>
                    <a:bodyPr/>
                    <a:lstStyle/>
                    <a:p>
                      <a:pPr lvl="0" indent="0" marL="0" algn="l">
                        <a:buNone/>
                      </a:pPr>
                      <a:r>
                        <a:rPr/>
                        <a:t>trimmed_ATE</a:t>
                      </a:r>
                    </a:p>
                  </a:txBody>
                </a:tc>
                <a:tc>
                  <a:txBody>
                    <a:bodyPr/>
                    <a:lstStyle/>
                    <a:p>
                      <a:pPr lvl="0" indent="0" marL="0" algn="r">
                        <a:buNone/>
                      </a:pPr>
                      <a:r>
                        <a:rPr/>
                        <a:t>1615</a:t>
                      </a:r>
                    </a:p>
                  </a:txBody>
                </a:tc>
                <a:tc>
                  <a:txBody>
                    <a:bodyPr/>
                    <a:lstStyle/>
                    <a:p>
                      <a:pPr lvl="0" indent="0" marL="0" algn="l">
                        <a:buNone/>
                      </a:pPr>
                      <a:r>
                        <a:rPr/>
                        <a:t>-0.017</a:t>
                      </a:r>
                    </a:p>
                  </a:txBody>
                </a:tc>
                <a:tc>
                  <a:txBody>
                    <a:bodyPr/>
                    <a:lstStyle/>
                    <a:p>
                      <a:pPr lvl="0" indent="0" marL="0" algn="l">
                        <a:buNone/>
                      </a:pPr>
                      <a:r>
                        <a:rPr/>
                        <a:t>-0.035</a:t>
                      </a:r>
                    </a:p>
                  </a:txBody>
                </a:tc>
                <a:tc>
                  <a:txBody>
                    <a:bodyPr/>
                    <a:lstStyle/>
                    <a:p>
                      <a:pPr lvl="0" indent="0" marL="0" algn="l">
                        <a:buNone/>
                      </a:pPr>
                      <a:r>
                        <a:rPr/>
                        <a:t>0.001</a:t>
                      </a:r>
                    </a:p>
                  </a:txBody>
                </a:tc>
                <a:tc>
                  <a:txBody>
                    <a:bodyPr/>
                    <a:lstStyle/>
                    <a:p>
                      <a:pPr lvl="0" indent="0" marL="0" algn="l">
                        <a:buNone/>
                      </a:pPr>
                      <a:r>
                        <a:rPr/>
                        <a:t>0.062</a:t>
                      </a:r>
                    </a:p>
                  </a:txBody>
                </a:tc>
                <a:tc>
                  <a:txBody>
                    <a:bodyPr/>
                    <a:lstStyle/>
                    <a:p>
                      <a:pPr lvl="0" indent="0" marL="0" algn="l">
                        <a:buNone/>
                      </a:pPr>
                      <a:r>
                        <a:rPr/>
                        <a:t>PASS</a:t>
                      </a:r>
                    </a:p>
                  </a:txBody>
                </a:tc>
              </a:tr>
              <a:tr h="0">
                <a:tc>
                  <a:txBody>
                    <a:bodyPr/>
                    <a:lstStyle/>
                    <a:p>
                      <a:pPr lvl="0" indent="0" marL="0" algn="l">
                        <a:buNone/>
                      </a:pPr>
                      <a:r>
                        <a:rPr/>
                        <a:t>PRIMARY</a:t>
                      </a:r>
                    </a:p>
                  </a:txBody>
                </a:tc>
                <a:tc>
                  <a:txBody>
                    <a:bodyPr/>
                    <a:lstStyle/>
                    <a:p>
                      <a:pPr lvl="0" indent="0" marL="0" algn="l">
                        <a:buNone/>
                      </a:pPr>
                      <a:r>
                        <a:rPr/>
                        <a:t>ATT</a:t>
                      </a:r>
                    </a:p>
                  </a:txBody>
                </a:tc>
                <a:tc>
                  <a:txBody>
                    <a:bodyPr/>
                    <a:lstStyle/>
                    <a:p>
                      <a:pPr lvl="0" indent="0" marL="0" algn="r">
                        <a:buNone/>
                      </a:pPr>
                      <a:r>
                        <a:rPr/>
                        <a:t>1227</a:t>
                      </a:r>
                    </a:p>
                  </a:txBody>
                </a:tc>
                <a:tc>
                  <a:txBody>
                    <a:bodyPr/>
                    <a:lstStyle/>
                    <a:p>
                      <a:pPr lvl="0" indent="0" marL="0" algn="l">
                        <a:buNone/>
                      </a:pPr>
                      <a:r>
                        <a:rPr/>
                        <a:t>-0.028</a:t>
                      </a:r>
                    </a:p>
                  </a:txBody>
                </a:tc>
                <a:tc>
                  <a:txBody>
                    <a:bodyPr/>
                    <a:lstStyle/>
                    <a:p>
                      <a:pPr lvl="0" indent="0" marL="0" algn="l">
                        <a:buNone/>
                      </a:pPr>
                      <a:r>
                        <a:rPr/>
                        <a:t>-0.048</a:t>
                      </a:r>
                    </a:p>
                  </a:txBody>
                </a:tc>
                <a:tc>
                  <a:txBody>
                    <a:bodyPr/>
                    <a:lstStyle/>
                    <a:p>
                      <a:pPr lvl="0" indent="0" marL="0" algn="l">
                        <a:buNone/>
                      </a:pPr>
                      <a:r>
                        <a:rPr/>
                        <a:t>-0.009</a:t>
                      </a:r>
                    </a:p>
                  </a:txBody>
                </a:tc>
                <a:tc>
                  <a:txBody>
                    <a:bodyPr/>
                    <a:lstStyle/>
                    <a:p>
                      <a:pPr lvl="0" indent="0" marL="0" algn="l">
                        <a:buNone/>
                      </a:pPr>
                      <a:r>
                        <a:rPr/>
                        <a:t>0.005</a:t>
                      </a:r>
                    </a:p>
                  </a:txBody>
                </a:tc>
                <a:tc>
                  <a:txBody>
                    <a:bodyPr/>
                    <a:lstStyle/>
                    <a:p>
                      <a:pPr lvl="0" indent="0" marL="0" algn="l">
                        <a:buNone/>
                      </a:pPr>
                      <a:r>
                        <a:rPr/>
                        <a:t>PASS</a:t>
                      </a:r>
                    </a:p>
                  </a:txBody>
                </a:tc>
              </a:tr>
              <a:tr h="0">
                <a:tc>
                  <a:txBody>
                    <a:bodyPr/>
                    <a:lstStyle/>
                    <a:p>
                      <a:pPr lvl="0" indent="0" marL="0" algn="l">
                        <a:buNone/>
                      </a:pPr>
                      <a:r>
                        <a:rPr/>
                        <a:t>PRIMARY</a:t>
                      </a:r>
                    </a:p>
                  </a:txBody>
                </a:tc>
                <a:tc>
                  <a:txBody>
                    <a:bodyPr/>
                    <a:lstStyle/>
                    <a:p>
                      <a:pPr lvl="0" indent="0" marL="0" algn="l">
                        <a:buNone/>
                      </a:pPr>
                      <a:r>
                        <a:rPr/>
                        <a:t>ATO</a:t>
                      </a:r>
                    </a:p>
                  </a:txBody>
                </a:tc>
                <a:tc>
                  <a:txBody>
                    <a:bodyPr/>
                    <a:lstStyle/>
                    <a:p>
                      <a:pPr lvl="0" indent="0" marL="0" algn="r">
                        <a:buNone/>
                      </a:pPr>
                      <a:r>
                        <a:rPr/>
                        <a:t>1227</a:t>
                      </a:r>
                    </a:p>
                  </a:txBody>
                </a:tc>
                <a:tc>
                  <a:txBody>
                    <a:bodyPr/>
                    <a:lstStyle/>
                    <a:p>
                      <a:pPr lvl="0" indent="0" marL="0" algn="l">
                        <a:buNone/>
                      </a:pPr>
                      <a:r>
                        <a:rPr/>
                        <a:t>-0.012</a:t>
                      </a:r>
                    </a:p>
                  </a:txBody>
                </a:tc>
                <a:tc>
                  <a:txBody>
                    <a:bodyPr/>
                    <a:lstStyle/>
                    <a:p>
                      <a:pPr lvl="0" indent="0" marL="0" algn="l">
                        <a:buNone/>
                      </a:pPr>
                      <a:r>
                        <a:rPr/>
                        <a:t>-0.030</a:t>
                      </a:r>
                    </a:p>
                  </a:txBody>
                </a:tc>
                <a:tc>
                  <a:txBody>
                    <a:bodyPr/>
                    <a:lstStyle/>
                    <a:p>
                      <a:pPr lvl="0" indent="0" marL="0" algn="l">
                        <a:buNone/>
                      </a:pPr>
                      <a:r>
                        <a:rPr/>
                        <a:t>0.005</a:t>
                      </a:r>
                    </a:p>
                  </a:txBody>
                </a:tc>
                <a:tc>
                  <a:txBody>
                    <a:bodyPr/>
                    <a:lstStyle/>
                    <a:p>
                      <a:pPr lvl="0" indent="0" marL="0" algn="l">
                        <a:buNone/>
                      </a:pPr>
                      <a:r>
                        <a:rPr/>
                        <a:t>0.172</a:t>
                      </a:r>
                    </a:p>
                  </a:txBody>
                </a:tc>
                <a:tc>
                  <a:txBody>
                    <a:bodyPr/>
                    <a:lstStyle/>
                    <a:p>
                      <a:pPr lvl="0" indent="0" marL="0" algn="l">
                        <a:buNone/>
                      </a:pPr>
                      <a:r>
                        <a:rPr/>
                        <a:t>PASS</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C: Figures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Support maps</a:t>
            </a:r>
          </a:p>
        </p:txBody>
      </p:sp>
      <p:pic>
        <p:nvPicPr>
          <p:cNvPr descr="../rescueCo/results/multiarm/fig_supportmap_C1.png"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C1: the ATE fails at the mildest surface</a:t>
            </a:r>
          </a:p>
        </p:txBody>
      </p:sp>
      <p:pic>
        <p:nvPicPr>
          <p:cNvPr descr="../rescueCo/results/multiarm/fig_supportmap_PRIMARY.pn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Primary cohort: degradation arrives only with stress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Support histograms, flagged contrasts</a:t>
            </a:r>
          </a:p>
        </p:txBody>
      </p:sp>
      <p:pic>
        <p:nvPicPr>
          <p:cNvPr descr="../rescueCo/results/multiarm/fig_support_C2.png" id="0" name="Picture 1"/>
          <p:cNvPicPr>
            <a:picLocks noGrp="1" noChangeAspect="1"/>
          </p:cNvPicPr>
          <p:nvPr/>
        </p:nvPicPr>
        <p:blipFill>
          <a:blip r:embed="rId2"/>
          <a:stretch>
            <a:fillRect/>
          </a:stretch>
        </p:blipFill>
        <p:spPr bwMode="auto">
          <a:xfrm>
            <a:off x="457200" y="1422400"/>
            <a:ext cx="4038600" cy="2425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C2: SEVERE</a:t>
            </a:r>
          </a:p>
        </p:txBody>
      </p:sp>
      <p:pic>
        <p:nvPicPr>
          <p:cNvPr descr="../rescueCo/results/multiarm/fig_support_C3.png" id="0" name="Picture 1"/>
          <p:cNvPicPr>
            <a:picLocks noGrp="1" noChangeAspect="1"/>
          </p:cNvPicPr>
          <p:nvPr/>
        </p:nvPicPr>
        <p:blipFill>
          <a:blip r:embed="rId3"/>
          <a:stretch>
            <a:fillRect/>
          </a:stretch>
        </p:blipFill>
        <p:spPr bwMode="auto">
          <a:xfrm>
            <a:off x="4648200" y="1422400"/>
            <a:ext cx="4038600" cy="24257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C3: FLAG</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Earlier single-contrast diagnostics</a:t>
            </a:r>
          </a:p>
        </p:txBody>
      </p:sp>
      <p:pic>
        <p:nvPicPr>
          <p:cNvPr descr="../rescueCo/results/plasmode_performance.png" id="0" name="Picture 1"/>
          <p:cNvPicPr>
            <a:picLocks noGrp="1" noChangeAspect="1"/>
          </p:cNvPicPr>
          <p:nvPr/>
        </p:nvPicPr>
        <p:blipFill>
          <a:blip r:embed="rId2"/>
          <a:stretch>
            <a:fillRect/>
          </a:stretch>
        </p:blipFill>
        <p:spPr bwMode="auto">
          <a:xfrm>
            <a:off x="457200" y="1625600"/>
            <a:ext cx="4038600" cy="2019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Plasmode candidate performance</a:t>
            </a:r>
          </a:p>
        </p:txBody>
      </p:sp>
      <p:pic>
        <p:nvPicPr>
          <p:cNvPr descr="../rescueCo/results/manuscript_artifacts/fig_dq_gradient.png" id="0" name="Picture 1"/>
          <p:cNvPicPr>
            <a:picLocks noGrp="1" noChangeAspect="1"/>
          </p:cNvPicPr>
          <p:nvPr/>
        </p:nvPicPr>
        <p:blipFill>
          <a:blip r:embed="rId3"/>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DQ degradation gradient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TMLE internals (earlier lock)</a:t>
            </a:r>
          </a:p>
        </p:txBody>
      </p:sp>
      <p:pic>
        <p:nvPicPr>
          <p:cNvPr descr="../rescueCo/results/manuscript_artifacts/fig_ic_plot.png" id="0" name="Picture 1"/>
          <p:cNvPicPr>
            <a:picLocks noGrp="1" noChangeAspect="1"/>
          </p:cNvPicPr>
          <p:nvPr/>
        </p:nvPicPr>
        <p:blipFill>
          <a:blip r:embed="rId2"/>
          <a:stretch>
            <a:fillRect/>
          </a:stretch>
        </p:blipFill>
        <p:spPr bwMode="auto">
          <a:xfrm>
            <a:off x="457200" y="1371600"/>
            <a:ext cx="4038600" cy="2527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Influence-curve distribution</a:t>
            </a:r>
          </a:p>
        </p:txBody>
      </p:sp>
      <p:pic>
        <p:nvPicPr>
          <p:cNvPr descr="../rescueCo/results/manuscript_artifacts/fig_clever_covariate.png" id="0" name="Picture 1"/>
          <p:cNvPicPr>
            <a:picLocks noGrp="1" noChangeAspect="1"/>
          </p:cNvPicPr>
          <p:nvPr/>
        </p:nvPicPr>
        <p:blipFill>
          <a:blip r:embed="rId3"/>
          <a:stretch>
            <a:fillRect/>
          </a:stretch>
        </p:blipFill>
        <p:spPr bwMode="auto">
          <a:xfrm>
            <a:off x="4648200" y="1371600"/>
            <a:ext cx="4038600" cy="2527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Clever covariate by arm</a:t>
            </a:r>
          </a:p>
        </p:txBody>
      </p:sp>
    </p:spTree>
  </p:cSld>
</p:sld>
</file>

<file path=ppt/theme/theme1.xml><?xml version="1.0" encoding="utf-8"?>
<a:theme xmlns:a="http://schemas.openxmlformats.org/drawingml/2006/main" name="BMGF_ki_Theme_v002">
  <a:themeElements>
    <a:clrScheme name="HBGDki_color_v1">
      <a:dk1>
        <a:srgbClr val="343131"/>
      </a:dk1>
      <a:lt1>
        <a:srgbClr val="FFFFFF"/>
      </a:lt1>
      <a:dk2>
        <a:srgbClr val="9B242D"/>
      </a:dk2>
      <a:lt2>
        <a:srgbClr val="FFFFFF"/>
      </a:lt2>
      <a:accent1>
        <a:srgbClr val="3086AB"/>
      </a:accent1>
      <a:accent2>
        <a:srgbClr val="E67021"/>
      </a:accent2>
      <a:accent3>
        <a:srgbClr val="F29B0E"/>
      </a:accent3>
      <a:accent4>
        <a:srgbClr val="B51F29"/>
      </a:accent4>
      <a:accent5>
        <a:srgbClr val="823B69"/>
      </a:accent5>
      <a:accent6>
        <a:srgbClr val="AAA092"/>
      </a:accent6>
      <a:hlink>
        <a:srgbClr val="3086AB"/>
      </a:hlink>
      <a:folHlink>
        <a:srgbClr val="823B69"/>
      </a:folHlink>
    </a:clrScheme>
    <a:fontScheme name="Foundation PPT Fonts - Jan 2014">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lgn="ctr">
          <a:defRPr sz="800" dirty="0" smtClean="0">
            <a:latin typeface="Arial" pitchFamily="34" charset="0"/>
            <a:cs typeface="Arial" pitchFamily="34" charset="0"/>
          </a:defRPr>
        </a:defPPr>
      </a:lstStyle>
    </a:txDef>
  </a:objectDefaults>
  <a:extraClrSchemeLst/>
  <a:extLst>
    <a:ext uri="{05A4C25C-085E-4340-85A3-A5531E510DB2}">
      <thm15:themeFamily xmlns:thm15="http://schemas.microsoft.com/office/thememl/2012/main" name="BMGF_ki_Theme_v002" id="{246C18AA-3F48-4B76-BAE8-BB32034B1366}" vid="{791D82C9-73BB-4286-B133-6928F947903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cleanTMLE</dc:title>
  <dc:creator>Andrew Mertens</dc:creator>
  <cp:keywords/>
  <dcterms:created xsi:type="dcterms:W3CDTF">2026-09-14T16:58:47Z</dcterms:created>
  <dcterms:modified xsi:type="dcterms:W3CDTF">2026-09-14T16:58:47Z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2026-09-14</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University of California, Berkeley</vt:lpwstr>
  </property>
  <property fmtid="{D5CDD505-2E9C-101B-9397-08002B2CF9AE}" pid="13" name="institutes">
    <vt:lpwstr/>
  </property>
  <property fmtid="{D5CDD505-2E9C-101B-9397-08002B2CF9AE}" pid="14" name="labels">
    <vt:lpwstr/>
  </property>
  <property fmtid="{D5CDD505-2E9C-101B-9397-08002B2CF9AE}" pid="15" name="subtitle">
    <vt:lpwstr>Deciding the estimand before outcomes</vt:lpwstr>
  </property>
  <property fmtid="{D5CDD505-2E9C-101B-9397-08002B2CF9AE}" pid="16" name="toc-title">
    <vt:lpwstr>Table of contents</vt:lpwstr>
  </property>
</Properties>
</file>