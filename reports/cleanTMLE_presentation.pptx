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 b="1"/>
              <a:t>Cohort attrition ledger</a:t>
            </a:r>
            <a:r>
              <a:rPr/>
              <a:t> (</a:t>
            </a:r>
            <a:r>
              <a:rPr>
                <a:latin typeface="Courier"/>
              </a:rPr>
              <a:t>attrition_table()</a:t>
            </a:r>
            <a:r>
              <a:rPr/>
              <a:t>) for a code-level CONSORT-style flow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 b="1"/>
              <a:t>Estimator spectrum</a:t>
            </a:r>
            <a:r>
              <a:rPr/>
              <a:t> for the binary RD scope: IPTW (stabilised), g-computation (</a:t>
            </a:r>
            <a:r>
              <a:rPr>
                <a:latin typeface="Courier"/>
              </a:rPr>
              <a:t>estimate_gcomprisk()</a:t>
            </a:r>
            <a:r>
              <a:rPr/>
              <a:t>), AIPW (</a:t>
            </a:r>
            <a:r>
              <a:rPr>
                <a:latin typeface="Courier"/>
              </a:rPr>
              <a:t>estimate_aipwrisk()</a:t>
            </a:r>
            <a:r>
              <a:rPr/>
              <a:t>), TMLE, IPCW-TMLE (</a:t>
            </a:r>
            <a:r>
              <a:rPr>
                <a:latin typeface="Courier"/>
              </a:rPr>
              <a:t>run_ipcw_tmle()</a:t>
            </a:r>
            <a:r>
              <a:rPr/>
              <a:t>)</a:t>
            </a:r>
          </a:p>
          <a:p>
            <a:pPr lvl="0"/>
            <a:r>
              <a:rPr/>
              <a:t>IPW Cox-style hazard ratio (</a:t>
            </a:r>
            <a:r>
              <a:rPr>
                <a:latin typeface="Courier"/>
              </a:rPr>
              <a:t>estimate_ipwhr()</a:t>
            </a:r>
            <a:r>
              <a:rPr/>
              <a:t>) for analyses where a hazard-scale estimand is the primary scientific question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preregistration is not enough for RWE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incompleteness and coding limitations emerge during implementation, not at protocol time</a:t>
            </a:r>
          </a:p>
          <a:p>
            <a:pPr lvl="0"/>
            <a:r>
              <a:rPr/>
              <a:t>Sample size, event counts, covariate distributions, and model convergence affect which specifications are feasible</a:t>
            </a:r>
          </a:p>
          <a:p>
            <a:pPr lvl="0"/>
            <a:r>
              <a:rPr/>
              <a:t>Decisions must therefore be made </a:t>
            </a:r>
            <a:r>
              <a:rPr i="1"/>
              <a:t>after</a:t>
            </a:r>
            <a:r>
              <a:rPr/>
              <a:t> data access but </a:t>
            </a:r>
            <a:r>
              <a:rPr i="1"/>
              <a:t>before</a:t>
            </a:r>
            <a:r>
              <a:rPr/>
              <a:t> comparative outcome results are inspected</a:t>
            </a:r>
          </a:p>
          <a:p>
            <a:pPr lvl="0"/>
            <a:r>
              <a:rPr/>
              <a:t>cleanTMLE records those decisions in a decision log and gates the primary analysis behind authorisation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Reviewer-facing pre-outcome dossier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Protocol setup → cohort flow → event counts → overlap / balance → weights / ESS → baseline plasmode → DQ stress test → negative controls → GO / FLAG / STOP → authorisation.</a:t>
            </a:r>
          </a:p>
          <a:p>
            <a:pPr lvl="0" indent="0" marL="0">
              <a:buNone/>
            </a:pPr>
            <a:r>
              <a:rPr/>
              <a:t>The dossier is the artefact the reviewer reads. Comparative treatment-outcome estimates are not part of the dossier and are produced only after authorisation.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the review team sees before authorisation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Summary outputs available</a:t></a:r></a:p></a:txBody><a:tcPr /></a:tc><a:tc><a:txBody><a:bodyPr /><a:lstStyle /><a:p><a:pPr lvl="0" indent="0" marL="0"><a:buNone /></a:pPr><a:r><a:rPr /><a:t>Not available</a:t></a:r></a:p></a:txBody><a:tcPr /></a:tc><a:tc><a:txBody><a:bodyPr /><a:lstStyle /><a:p><a:pPr lvl="0" indent="0" marL="0"><a:buNone /></a:pPr><a:r><a:rPr /><a:t>Decision</a:t></a:r></a:p></a:txBody><a:tcPr /></a:tc></a:tr><a:tr h="0"><a:tc><a:txBody><a:bodyPr /><a:lstStyle /><a:p><a:pPr lvl="0" indent="0" marL="0"><a:buNone /></a:pPr><a:r><a:rPr /><a:t>Cohort flow and attrition</a:t></a:r></a:p></a:txBody></a:tc><a:tc><a:txBody><a:bodyPr /><a:lstStyle /><a:p><a:pPr lvl="0" indent="0" marL="0"><a:buNone /></a:pPr><a:r><a:rPr /><a:t>The observed primary </a:t></a:r><a14:m><m:oMath xmlns:m="http://schemas.openxmlformats.org/officeDocument/2006/math"><m:r><m:t>A</m:t></m:r><m:r><m:rPr><m:sty m:val="p" /></m:rPr><m:t>→</m:t></m:r><m:r><m:t>Y</m:t></m:r></m:oMath></a14:m><a:r><a:rPr /><a:t> association</a:t></a:r></a:p></a:txBody></a:tc><a:tc><a:txBody><a:bodyPr /><a:lstStyle /><a:p><a:pPr lvl="0" indent="0" marL="0"><a:buNone /></a:pPr><a:r><a:rPr /><a:t>Proceed (GO)</a:t></a:r></a:p></a:txBody></a:tc></a:tr><a:tr h="0"><a:tc><a:txBody><a:bodyPr /><a:lstStyle /><a:p><a:pPr lvl="0" indent="0" marL="0"><a:buNone /></a:pPr><a:r><a:rPr /><a:t>Event counts and adequacy</a:t></a:r></a:p></a:txBody></a:tc><a:tc><a:txBody><a:bodyPr /><a:lstStyle /><a:p><a:pPr lvl="0" indent="0" marL="0"><a:buNone /></a:pPr><a:r><a:rPr /><a:t>Primary comparative estimate</a:t></a:r></a:p></a:txBody></a:tc><a:tc><a:txBody><a:bodyPr /><a:lstStyle /><a:p><a:pPr lvl="0" indent="0" marL="0"><a:buNone /></a:pPr><a:r><a:rPr /><a:t>Revise / qualify (FLAG)</a:t></a:r></a:p></a:txBody></a:tc></a:tr><a:tr h="0"><a:tc><a:txBody><a:bodyPr /><a:lstStyle /><a:p><a:pPr lvl="0" indent="0" marL="0"><a:buNone /></a:pPr><a:r><a:rPr /><a:t>Missingness summary</a:t></a:r></a:p></a:txBody></a:tc><a:tc><a:txBody><a:bodyPr /><a:lstStyle /><a:p><a:endParaRPr /></a:p></a:txBody></a:tc><a:tc><a:txBody><a:bodyPr /><a:lstStyle /><a:p><a:pPr lvl="0" indent="0" marL="0"><a:buNone /></a:pPr><a:r><a:rPr /><a:t>Stop</a:t></a:r></a:p></a:txBody></a:tc></a:tr><a:tr h="0"><a:tc><a:txBody><a:bodyPr /><a:lstStyle /><a:p><a:pPr lvl="0" indent="0" marL="0"><a:buNone /></a:pPr><a:r><a:rPr /><a:t>PS overlap and balance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Treatment and IPCW weight diagnostics, ESS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Model-convergence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Baseline plasmode / DQ stress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Negative-control results</a:t></a:r></a:p></a:txBody></a:tc><a:tc><a:txBody><a:bodyPr /><a:lstStyle /><a:p><a:endParaRPr /></a:p></a:txBody></a:tc><a:tc><a:txBody><a:bodyPr /><a:lstStyle /><a:p><a:endParaRPr /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Gated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checkpoint records complete</a:t>
            </a:r>
            <a:r>
              <a:rPr/>
              <a:t> → </a:t>
            </a:r>
            <a:r>
              <a:rPr>
                <a:latin typeface="Courier"/>
              </a:rPr>
              <a:t>authorisation object created</a:t>
            </a:r>
            <a:r>
              <a:rPr/>
              <a:t> → </a:t>
            </a:r>
            <a:r>
              <a:rPr>
                <a:latin typeface="Courier"/>
              </a:rPr>
              <a:t>primary-analysis function allowed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software gate complements external access control; it does not replace it. cleanTMLE cannot prevent a user with raw-data access from inspecting outcomes outside the package.</a:t>
            </a:r>
          </a:p>
        </p:txBody>
      </p:sp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Case-study checkpoint dashboard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511300" /><a:gridCol w="3390900" /><a:gridCol w="2806700" /><a:gridCol w="520700" /></a:tblGrid><a:tr h="0"><a:tc><a:txBody><a:bodyPr /><a:lstStyle /><a:p><a:pPr lvl="0" indent="0" marL="0"><a:buNone /></a:pPr><a:r><a:rPr /><a:t>Stage</a:t></a:r></a:p></a:txBody><a:tcPr /></a:tc><a:tc><a:txBody><a:bodyPr /><a:lstStyle /><a:p><a:pPr lvl="0" indent="0" marL="0"><a:buNone /></a:pPr><a:r><a:rPr /><a:t>Evidence</a:t></a:r></a:p></a:txBody><a:tcPr /></a:tc><a:tc><a:txBody><a:bodyPr /><a:lstStyle /><a:p><a:pPr lvl="0" indent="0" marL="0"><a:buNone /></a:pPr><a:r><a:rPr /><a:t>Threshold</a:t></a:r></a:p></a:txBody><a:tcPr /></a:tc><a:tc><a:txBody><a:bodyPr /><a:lstStyle /><a:p><a:pPr lvl="0" indent="0" marL="0" algn="ctr"><a:buNone /></a:pPr><a:r><a:rPr /><a:t>Decision</a:t></a:r></a:p></a:txBody><a:tcPr /></a:tc></a:tr><a:tr h="0"><a:tc><a:txBody><a:bodyPr /><a:lstStyle /><a:p><a:pPr lvl="0" indent="0" marL="0"><a:buNone /></a:pPr><a:r><a:rPr /><a:t>Stage 0 protocol/setup</a:t></a:r></a:p></a:txBody></a:tc><a:tc><a:txBody><a:bodyPr /><a:lstStyle /><a:p><a:pPr lvl="0" indent="0" marL="0"><a:buNone /></a:pPr><a:r><a:rPr /><a:t>Target-trial timing table, SAP, lock fingerprint</a:t></a:r></a:p></a:txBody></a:tc><a:tc><a:txBody><a:bodyPr /><a:lstStyle /><a:p><a:pPr lvl="0" indent="0" marL="0"><a:buNone /></a:pPr><a:r><a:rPr /><a:t>All design elements specified before data access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1b cohort adequacy</a:t></a:r></a:p></a:txBody></a:tc><a:tc><a:txBody><a:bodyPr /><a:lstStyle /><a:p><a:pPr lvl="0" indent="0" marL="0"><a:buNone /></a:pPr><a:r><a:rPr><a:latin typeface="Courier" /></a:rPr><a:t>checkpoint_cohort_adequacy()</a:t></a:r><a:r><a:rPr /><a:t>, attrition table</a:t></a:r></a:p></a:txBody></a:tc><a:tc><a:txBody><a:bodyPr /><a:lstStyle /><a:p><a:pPr lvl="0" indent="0" marL="0"><a:buNone /></a:pPr><a:r><a:rPr /><a:t>min_n_per_arm = 200; min_events = 50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2a overlap / balance</a:t></a:r></a:p></a:txBody></a:tc><a:tc><a:txBody><a:bodyPr /><a:lstStyle /><a:p><a:pPr lvl="0" indent="0" marL="0"><a:buNone /></a:pPr><a:r><a:rPr /><a:t>PS in [0.21, 0.81]; SMDs balanced; ESS retention 78 %</a:t></a:r></a:p></a:txBody></a:tc><a:tc><a:txBody><a:bodyPr /><a:lstStyle /><a:p><a:pPr lvl="0" indent="0" marL="0"><a:buNone /></a:pPr><a:r><a:rPr /><a:t>PS in [0.01, 0.99]; SMD &lt;= 0.10; max weight &lt;= 10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2b baseline plasmode</a:t></a:r></a:p></a:txBody></a:tc><a:tc><a:txBody><a:bodyPr /><a:lstStyle /><a:p><a:pPr lvl="0" indent="0" marL="0"><a:buNone /></a:pPr><a:r><a:rPr /><a:t>bias &lt; 0.001; coverage 0.94</a:t></a:r></a:p></a:txBody></a:tc><a:tc><a:txBody><a:bodyPr /><a:lstStyle /><a:p><a:pPr lvl="0" indent="0" marL="0"><a:buNone /></a:pPr><a:r><a:rPr /><a:t>bias &lt;= 0.01; coverage &gt;= 0.90; SE/SD in (0.8, 1.2)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2c DQ stress</a:t></a:r></a:p></a:txBody></a:tc><a:tc><a:txBody><a:bodyPr /><a:lstStyle /><a:p><a:pPr lvl="0" indent="0" marL="0"><a:buNone /></a:pPr><a:r><a:rPr /><a:t>Minimax rule selects </a:t></a:r><a:r><a:rPr><a:latin typeface="Courier" /></a:rPr><a:t>glm_t01</a:t></a:r></a:p></a:txBody></a:tc><a:tc><a:txBody><a:bodyPr /><a:lstStyle /><a:p><a:pPr lvl="0" indent="0" marL="0"><a:buNone /></a:pPr><a:r><a:rPr /><a:t>Each scenario within thresholds across severities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3 negative controls</a:t></a:r></a:p></a:txBody></a:tc><a:tc><a:txBody><a:bodyPr /><a:lstStyle /><a:p><a:pPr lvl="0" indent="0" marL="0"><a:buNone /></a:pPr><a:r><a:rPr /><a:t>2 of 5 NCs survived NZV; both pass</a:t></a:r></a:p></a:txBody></a:tc><a:tc><a:txBody><a:bodyPr /><a:lstStyle /><a:p><a:pPr lvl="0" indent="0" marL="0"><a:buNone /></a:pPr><a:r><a:rPr /><a:t>All analysed NCs pass at </a:t></a:r><a14:m><m:oMath xmlns:m="http://schemas.openxmlformats.org/officeDocument/2006/math"><m:r><m:t>α</m:t></m:r><m:r><m:rPr><m:sty m:val="p" /></m:rPr><m:t>=</m:t></m:r><m:r><m:t>0.05</m:t></m:r></m:oMath></a14:m></a:p></a:txBody></a:tc><a:tc><a:txBody><a:bodyPr /><a:lstStyle /><a:p><a:pPr lvl="0" indent="0" marL="0" algn="ctr"><a:buNone /></a:pPr><a:r><a:rPr /><a:t>GO with FLAG</a:t></a:r></a:p></a:txBody></a:tc></a:tr><a:tr h="0"><a:tc><a:txBody><a:bodyPr /><a:lstStyle /><a:p><a:pPr lvl="0" indent="0" marL="0"><a:buNone /></a:pPr><a:r><a:rPr /><a:t>Gate authorisation</a:t></a:r></a:p></a:txBody></a:tc><a:tc><a:txBody><a:bodyPr /><a:lstStyle /><a:p><a:pPr lvl="0" indent="0" marL="0"><a:buNone /></a:pPr><a:r><a:rPr><a:latin typeface="Courier" /></a:rPr><a:t>authorize_outcome_analysis()</a:t></a:r></a:p></a:txBody></a:tc><a:tc><a:txBody><a:bodyPr /><a:lstStyle /><a:p><a:pPr lvl="0" indent="0" marL="0"><a:buNone /></a:pPr><a:r><a:rPr /><a:t>All preceding GO or documented FLAG</a:t></a:r></a:p></a:txBody></a:tc><a:tc><a:txBody><a:bodyPr /><a:lstStyle /><a:p><a:pPr lvl="0" indent="0" marL="0" algn="ctr"><a:buNone /></a:pPr><a:r><a:rPr /><a:t>GO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RD; outcome missingness handled through complete-case and IPCW sensitivity paths under prespecified missingness assumptions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2026-05-11T15:51:56Z</dcterms:created>
  <dcterms:modified xsi:type="dcterms:W3CDTF">2026-05-11T15:51:56Z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