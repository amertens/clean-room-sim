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RWE studies typically separate three activities:</a:t>
            </a:r>
          </a:p>
          <a:p>
            <a:pPr lvl="0"/>
            <a:r>
              <a:rPr b="1"/>
              <a:t>Protocol / target-trial design</a:t>
            </a:r>
          </a:p>
          <a:p>
            <a:pPr lvl="0"/>
            <a:r>
              <a:rPr b="1"/>
              <a:t>Qualitative fit-for-purpose data review</a:t>
            </a:r>
            <a:r>
              <a:rPr/>
              <a:t> (SPIFD2, HARPER, START-RWE)</a:t>
            </a:r>
          </a:p>
          <a:p>
            <a:pPr lvl="0"/>
            <a:r>
              <a:rPr b="1"/>
              <a:t>Estimator selection</a:t>
            </a:r>
            <a:r>
              <a:rPr/>
              <a:t> (PS diagnostics; increasingly, plasmode simulation)</a:t>
            </a:r>
          </a:p>
          <a:p>
            <a:pPr lvl="0" indent="0" marL="0">
              <a:buNone/>
            </a:pPr>
            <a:r>
              <a:rPr/>
              <a:t>Reviewers then have difficulty seeing whether the chosen estimator remains credible under the same data-quality concerns documented in the protocol.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The standard pre-outcome review vs. what cleanTMLE adds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The DQ stress test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quantitative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plasmode loop is under the analyst’s control:</a:t>
            </a:r>
          </a:p>
          <a:p>
            <a:pPr lvl="0" indent="0" marL="1270000">
              <a:buNone/>
            </a:pPr>
            <a:r>
              <a:rPr sz="2000" b="1"/>
              <a:t>Standard plasmode:</a:t>
            </a:r>
            <a:r>
              <a:rPr sz="2000"/>
              <a:t> which estimator performs best under the locked synthetic outcome model?</a:t>
            </a:r>
          </a:p>
          <a:p>
            <a:pPr lvl="0" indent="0" marL="1270000">
              <a:buNone/>
            </a:pPr>
            <a:r>
              <a:rPr sz="2000" b="1"/>
              <a:t>DQ stress test:</a:t>
            </a:r>
            <a:r>
              <a:rPr sz="2000"/>
              <a:t> does that estimator remain acceptable under prespecified threats from the fit-for-purpose review?</a:t>
            </a:r>
          </a:p>
          <a:p>
            <a:pPr lvl="0" indent="0" marL="0">
              <a:buNone/>
            </a:pPr>
            <a:r>
              <a:rPr/>
              <a:t>This turns the qualitative data-fitness argument into a quantitative supplement on the same bias / RMSE / coverage scale as the baseline simulation.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outcome-blind means 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Decisions about cohort, candidates, simulation scenarios, decision thresholds, and primary-estimator selection are made </a:t>
                </a:r>
                <a:r>
                  <a:rPr b="1"/>
                  <a:t>without inspecting the observed treatment-outcome association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Allowed pre-decision: baseline covariates, treatment assignment, missingness indicators, synthetic outcomes, and the marginal mean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 (used internally for the plasmode generator).</a:t>
                </a:r>
              </a:p>
              <a:p>
                <a:pPr lvl="0" indent="0" marL="0">
                  <a:buNone/>
                </a:pPr>
                <a:r>
                  <a:rPr/>
                  <a:t>The package can restrict its own exported functions and record an audit trail. It cannot substitute for external access controls or personnel role separation.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 has six logically ordered activities: question, observed data, identification, estimand, estimator selection, pre-outcome diagnostics + decision.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</a:t>
            </a:r>
            <a:r>
              <a:rPr b="1"/>
              <a:t>pre-outcome diagnostics + decision</a:t>
            </a:r>
            <a:r>
              <a:rPr/>
              <a:t>.</a:t>
            </a:r>
          </a:p>
          <a:p>
            <a:pPr lvl="0"/>
            <a:r>
              <a:rPr/>
              <a:t>Steps 1 to 4 remain external study-level work.</a:t>
            </a:r>
          </a:p>
          <a:p>
            <a:pPr lvl="0" indent="0" marL="0">
              <a:buNone/>
            </a:pPr>
            <a:r>
              <a:rPr/>
              <a:t>cleanTMLE is the software layer of the broader Muntner-style clean-room governance, not the full governance system.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1</a:t>
            </a:r>
            <a:r>
              <a:rPr/>
              <a:t> — estimand metadata and analysis lock</a:t>
            </a:r>
          </a:p>
          <a:p>
            <a:pPr lvl="0"/>
            <a:r>
              <a:rPr b="1"/>
              <a:t>Stage 2a</a:t>
            </a:r>
            <a:r>
              <a:rPr/>
              <a:t> — PS / design diagnostics: overlap, balance, ESS, SMDs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plasmode DQ stress test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locked primary analysis</a:t>
            </a:r>
          </a:p>
          <a:p>
            <a:pPr lvl="0"/>
            <a:r>
              <a:rPr b="1"/>
              <a:t>Post-outcome</a:t>
            </a:r>
            <a:r>
              <a:rPr/>
              <a:t> — sensitivity (E-value, QBA, causal-gap), interpretation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 target-trial design or phenotype validation</a:t>
            </a:r>
          </a:p>
          <a:p>
            <a:pPr lvl="0"/>
            <a:r>
              <a:rPr/>
              <a:t>Validate source data, linkage, or representativeness</a:t>
            </a:r>
          </a:p>
          <a:p>
            <a:pPr lvl="0"/>
            <a:r>
              <a:rPr/>
              <a:t>Replace clean-room personnel governance, role separation, or access controls</a:t>
            </a:r>
          </a:p>
          <a:p>
            <a:pPr lvl="0"/>
            <a:r>
              <a:rPr/>
              <a:t>Guarantee causal identification — a GO only says the prespecified diagnostics did not trigger STOP under the locked assumptions and stress scenarios</a:t>
            </a:r>
          </a:p>
          <a:p>
            <a:pPr lvl="0"/>
            <a:r>
              <a:rPr/>
              <a:t>Remove the need for post-outcome sensitivity analyses (E-value, QBA, causal-gap)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DQ stress test</a:t>
            </a:r>
          </a:p>
        </p:txBody>
      </p:sp>
    </p:spTree>
  </p:cSld>
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numerical severity ranges.</a:t>
            </a:r>
          </a:p>
          <a:p>
            <a:pPr lvl="0" indent="-342900" marL="342900">
              <a:buAutoNum type="arabicPeriod"/>
            </a:pPr>
            <a:r>
              <a:rPr/>
              <a:t>The severity ranges are locked.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pre-outcome decision rule applies the prespecified thresholds.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severity ranges come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External validation studies (PPV, sensitivity from chart-review studies)</a:t>
            </a:r>
          </a:p>
          <a:p>
            <a:pPr lvl="0"/>
            <a:r>
              <a:rPr/>
              <a:t>Source-specific data profiling</a:t>
            </a:r>
          </a:p>
          <a:p>
            <a:pPr lvl="0"/>
            <a:r>
              <a:rPr/>
              <a:t>Expert elicitation, with the elicitor and rationale logged</a:t>
            </a:r>
          </a:p>
          <a:p>
            <a:pPr lvl="0" indent="0" marL="0">
              <a:buNone/>
            </a:pPr>
            <a:r>
              <a:rPr/>
              <a:t>The package records the values in use as part of the lock fingerprint.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a substitute.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Match, G-comp, AIPW, TMLE, CV-TMLE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(conservative; 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the prespecified decision rule returns STOP; under the workflow, the primary analysis should not be run or interpreted without redesign or a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Lock: 18 baseline covariates, IPCW for missingness, six prespecified estimators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 test: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Negative-control diagnostic: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IPCW-weighted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cohort under censoring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  <a:p>
            <a:pPr lvl="0"/>
            <a:r>
              <a:rPr i="1"/>
              <a:t>Workflow demonstration; not a causal claim about Rescue.Co.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Plasmode loop extended to robustness screening</a:t>
            </a:r>
            <a:r>
              <a:rPr/>
              <a:t> — each candidate produces a degradation gradient on the same bias / RMSE / coverage scale as the baseline</a:t>
            </a:r>
          </a:p>
          <a:p>
            <a:pPr lvl="0"/>
            <a:r>
              <a:rPr b="1"/>
              <a:t>Lock + audit + decision logs as code artefacts</a:t>
            </a:r>
            <a:r>
              <a:rPr/>
              <a:t> — a fingerprinted record an external reviewer can reconstruct</a:t>
            </a:r>
          </a:p>
          <a:p>
            <a:pPr lvl="0"/>
            <a:r>
              <a:rPr b="1"/>
              <a:t>Modular TMLE API</a:t>
            </a:r>
            <a:r>
              <a:rPr/>
              <a:t> — treatment fit, outcome fit, targeting, extract; each step callable at the right stage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 — distinct from this pre-outcome screen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v0.1 scope: binary point exposure, binary outcome, marginal RD, MCAR outcome missingness handled by IPCW</a:t>
            </a:r>
          </a:p>
          <a:p>
            <a:pPr lvl="0"/>
            <a:r>
              <a:rPr/>
              <a:t>DQ covariate-missingness mechanism is MCAR-only; MAR / MNAR variants are on the 0.2 roadmap</a:t>
            </a:r>
          </a:p>
          <a:p>
            <a:pPr lvl="0"/>
            <a:r>
              <a:rPr/>
              <a:t>Decision-threshold defaults are heuristic, not derived from a regulatory specification; analysts set them from study context</a:t>
            </a:r>
          </a:p>
          <a:p>
            <a:pPr lvl="0"/>
            <a:r>
              <a:rPr/>
              <a:t>The package cannot enforce personnel-level blinding or prevent a user with raw data access from inspecting outcomes outside the package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2026-05-11T04:40:08Z</dcterms:created>
  <dcterms:modified xsi:type="dcterms:W3CDTF">2026-05-11T04:40:08Z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2026-05-10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